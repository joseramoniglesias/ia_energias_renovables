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35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9F45D-856A-4E64-8ED7-FCEE6D37A023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29D14-04DB-41CC-91D1-3A905E78503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9943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496315"/>
            <a:ext cx="557212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47AE4-6EE7-DC77-94DA-4F32204CC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47477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673AE4-BB25-077A-B8B8-48F089BCE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F508C3-0091-A168-2A1E-AFEB73B6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A34F9FB0-9324-4949-8B44-23032F14BF0D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800EB1-22A8-AD1B-9A61-45307698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FDBD3D-D86B-F6CF-322B-6719CA32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/>
          <a:p>
            <a:fld id="{BB0A4068-D66C-40F4-B989-B5BAF9D9D4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47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047" y="255854"/>
            <a:ext cx="7800467" cy="9714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49942"/>
            <a:ext cx="7767955" cy="167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text.cc/" TargetMode="External"/><Relationship Id="rId2" Type="http://schemas.openxmlformats.org/officeDocument/2006/relationships/hyperlink" Target="https://nlp.stanford.edu/projects/glove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lena-voita.github.io/nlp_course/word_embeddings.html#analysis_interpretability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hyperlink" Target="https://nlp.stanford.edu/projects/glove/" TargetMode="Externa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hyperlink" Target="https://nlp.stanford.edu/~lmthang/data/papers/conll13_morpho.pdf" TargetMode="Externa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hyperlink" Target="https://arxiv.org/pdf/1301.3781.pdf" TargetMode="Externa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s://lena-voita.github.io/nlp_course/text_classification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hyperlink" Target="https://andhint.github.io/machine-learning/nlp/Feature-Extraction-From-Text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44750" y="1499250"/>
            <a:ext cx="7127700" cy="12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 dirty="0">
                <a:latin typeface="Nunito"/>
                <a:ea typeface="Nunito"/>
                <a:cs typeface="Nunito"/>
                <a:sym typeface="Nunito"/>
              </a:rPr>
              <a:t>Inteligencia Artificial</a:t>
            </a:r>
            <a:endParaRPr sz="2200" dirty="0">
              <a:latin typeface="Nunito"/>
              <a:ea typeface="Nunito"/>
              <a:cs typeface="Nunito"/>
              <a:sym typeface="Nunito"/>
            </a:endParaRPr>
          </a:p>
          <a:p>
            <a:r>
              <a:rPr lang="en" sz="2100" dirty="0">
                <a:latin typeface="Nunito"/>
                <a:ea typeface="Nunito"/>
                <a:cs typeface="Nunito"/>
                <a:sym typeface="Nunito"/>
              </a:rPr>
              <a:t>Vectorización de Textos</a:t>
            </a:r>
            <a:endParaRPr sz="21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" name="Google Shape;30;p1">
            <a:extLst>
              <a:ext uri="{FF2B5EF4-FFF2-40B4-BE49-F238E27FC236}">
                <a16:creationId xmlns:a16="http://schemas.microsoft.com/office/drawing/2014/main" id="{995B4B61-945C-1AFD-13F5-940E16BDEF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6154" y="679743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83ACB726-AAE6-B6CB-C1DC-2F05789EB9A5}"/>
              </a:ext>
            </a:extLst>
          </p:cNvPr>
          <p:cNvSpPr txBox="1"/>
          <p:nvPr/>
        </p:nvSpPr>
        <p:spPr>
          <a:xfrm>
            <a:off x="1663819" y="2894245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37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37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37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081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31876" y="1205483"/>
            <a:ext cx="8100059" cy="1507490"/>
            <a:chOff x="531876" y="1205483"/>
            <a:chExt cx="8100059" cy="1507490"/>
          </a:xfrm>
        </p:grpSpPr>
        <p:sp>
          <p:nvSpPr>
            <p:cNvPr id="6" name="object 6"/>
            <p:cNvSpPr/>
            <p:nvPr/>
          </p:nvSpPr>
          <p:spPr>
            <a:xfrm>
              <a:off x="894588" y="1303019"/>
              <a:ext cx="7475220" cy="0"/>
            </a:xfrm>
            <a:custGeom>
              <a:avLst/>
              <a:gdLst/>
              <a:ahLst/>
              <a:cxnLst/>
              <a:rect l="l" t="t" r="r" b="b"/>
              <a:pathLst>
                <a:path w="7475220">
                  <a:moveTo>
                    <a:pt x="0" y="0"/>
                  </a:moveTo>
                  <a:lnTo>
                    <a:pt x="7475219" y="0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1876" y="1205483"/>
              <a:ext cx="8100059" cy="1507490"/>
            </a:xfrm>
            <a:custGeom>
              <a:avLst/>
              <a:gdLst/>
              <a:ahLst/>
              <a:cxnLst/>
              <a:rect l="l" t="t" r="r" b="b"/>
              <a:pathLst>
                <a:path w="8100059" h="1507489">
                  <a:moveTo>
                    <a:pt x="7949310" y="0"/>
                  </a:moveTo>
                  <a:lnTo>
                    <a:pt x="150723" y="0"/>
                  </a:lnTo>
                  <a:lnTo>
                    <a:pt x="103085" y="7679"/>
                  </a:lnTo>
                  <a:lnTo>
                    <a:pt x="61711" y="29069"/>
                  </a:lnTo>
                  <a:lnTo>
                    <a:pt x="29082" y="61694"/>
                  </a:lnTo>
                  <a:lnTo>
                    <a:pt x="7684" y="103079"/>
                  </a:lnTo>
                  <a:lnTo>
                    <a:pt x="0" y="150749"/>
                  </a:lnTo>
                  <a:lnTo>
                    <a:pt x="0" y="1356486"/>
                  </a:lnTo>
                  <a:lnTo>
                    <a:pt x="7684" y="1404156"/>
                  </a:lnTo>
                  <a:lnTo>
                    <a:pt x="29082" y="1445541"/>
                  </a:lnTo>
                  <a:lnTo>
                    <a:pt x="61711" y="1478166"/>
                  </a:lnTo>
                  <a:lnTo>
                    <a:pt x="103085" y="1499556"/>
                  </a:lnTo>
                  <a:lnTo>
                    <a:pt x="150723" y="1507235"/>
                  </a:lnTo>
                  <a:lnTo>
                    <a:pt x="7949310" y="1507235"/>
                  </a:lnTo>
                  <a:lnTo>
                    <a:pt x="7996980" y="1499556"/>
                  </a:lnTo>
                  <a:lnTo>
                    <a:pt x="8038365" y="1478166"/>
                  </a:lnTo>
                  <a:lnTo>
                    <a:pt x="8070990" y="1445541"/>
                  </a:lnTo>
                  <a:lnTo>
                    <a:pt x="8092380" y="1404156"/>
                  </a:lnTo>
                  <a:lnTo>
                    <a:pt x="8100059" y="1356486"/>
                  </a:lnTo>
                  <a:lnTo>
                    <a:pt x="8100059" y="150749"/>
                  </a:lnTo>
                  <a:lnTo>
                    <a:pt x="8092380" y="103079"/>
                  </a:lnTo>
                  <a:lnTo>
                    <a:pt x="8070990" y="61694"/>
                  </a:lnTo>
                  <a:lnTo>
                    <a:pt x="8038365" y="29069"/>
                  </a:lnTo>
                  <a:lnTo>
                    <a:pt x="7996980" y="7679"/>
                  </a:lnTo>
                  <a:lnTo>
                    <a:pt x="7949310" y="0"/>
                  </a:lnTo>
                  <a:close/>
                </a:path>
              </a:pathLst>
            </a:custGeom>
            <a:solidFill>
              <a:srgbClr val="D4D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0270" y="1640090"/>
              <a:ext cx="576580" cy="601345"/>
            </a:xfrm>
            <a:custGeom>
              <a:avLst/>
              <a:gdLst/>
              <a:ahLst/>
              <a:cxnLst/>
              <a:rect l="l" t="t" r="r" b="b"/>
              <a:pathLst>
                <a:path w="576580" h="601344">
                  <a:moveTo>
                    <a:pt x="243433" y="108077"/>
                  </a:moveTo>
                  <a:lnTo>
                    <a:pt x="243319" y="101727"/>
                  </a:lnTo>
                  <a:lnTo>
                    <a:pt x="243268" y="97917"/>
                  </a:lnTo>
                  <a:lnTo>
                    <a:pt x="239483" y="94107"/>
                  </a:lnTo>
                  <a:lnTo>
                    <a:pt x="230085" y="94107"/>
                  </a:lnTo>
                  <a:lnTo>
                    <a:pt x="226326" y="97917"/>
                  </a:lnTo>
                  <a:lnTo>
                    <a:pt x="226250" y="111887"/>
                  </a:lnTo>
                  <a:lnTo>
                    <a:pt x="226161" y="113157"/>
                  </a:lnTo>
                  <a:lnTo>
                    <a:pt x="192786" y="132194"/>
                  </a:lnTo>
                  <a:lnTo>
                    <a:pt x="190715" y="132194"/>
                  </a:lnTo>
                  <a:lnTo>
                    <a:pt x="188772" y="133464"/>
                  </a:lnTo>
                  <a:lnTo>
                    <a:pt x="229222" y="133477"/>
                  </a:lnTo>
                  <a:lnTo>
                    <a:pt x="234340" y="128397"/>
                  </a:lnTo>
                  <a:lnTo>
                    <a:pt x="239166" y="122047"/>
                  </a:lnTo>
                  <a:lnTo>
                    <a:pt x="242239" y="115697"/>
                  </a:lnTo>
                  <a:lnTo>
                    <a:pt x="243433" y="108077"/>
                  </a:lnTo>
                  <a:close/>
                </a:path>
                <a:path w="576580" h="601344">
                  <a:moveTo>
                    <a:pt x="393560" y="158877"/>
                  </a:moveTo>
                  <a:lnTo>
                    <a:pt x="387350" y="152527"/>
                  </a:lnTo>
                  <a:lnTo>
                    <a:pt x="382079" y="152527"/>
                  </a:lnTo>
                  <a:lnTo>
                    <a:pt x="378587" y="155067"/>
                  </a:lnTo>
                  <a:lnTo>
                    <a:pt x="373646" y="158877"/>
                  </a:lnTo>
                  <a:lnTo>
                    <a:pt x="367842" y="161417"/>
                  </a:lnTo>
                  <a:lnTo>
                    <a:pt x="361632" y="162687"/>
                  </a:lnTo>
                  <a:lnTo>
                    <a:pt x="349656" y="163957"/>
                  </a:lnTo>
                  <a:lnTo>
                    <a:pt x="337743" y="162687"/>
                  </a:lnTo>
                  <a:lnTo>
                    <a:pt x="326110" y="160147"/>
                  </a:lnTo>
                  <a:lnTo>
                    <a:pt x="314960" y="156337"/>
                  </a:lnTo>
                  <a:lnTo>
                    <a:pt x="310603" y="153797"/>
                  </a:lnTo>
                  <a:lnTo>
                    <a:pt x="308559" y="152527"/>
                  </a:lnTo>
                  <a:lnTo>
                    <a:pt x="306514" y="151257"/>
                  </a:lnTo>
                  <a:lnTo>
                    <a:pt x="302742" y="148717"/>
                  </a:lnTo>
                  <a:lnTo>
                    <a:pt x="310299" y="144907"/>
                  </a:lnTo>
                  <a:lnTo>
                    <a:pt x="312826" y="143637"/>
                  </a:lnTo>
                  <a:lnTo>
                    <a:pt x="320040" y="138557"/>
                  </a:lnTo>
                  <a:lnTo>
                    <a:pt x="321843" y="137287"/>
                  </a:lnTo>
                  <a:lnTo>
                    <a:pt x="329615" y="129667"/>
                  </a:lnTo>
                  <a:lnTo>
                    <a:pt x="335991" y="122047"/>
                  </a:lnTo>
                  <a:lnTo>
                    <a:pt x="338124" y="118237"/>
                  </a:lnTo>
                  <a:lnTo>
                    <a:pt x="336486" y="113157"/>
                  </a:lnTo>
                  <a:lnTo>
                    <a:pt x="328168" y="109347"/>
                  </a:lnTo>
                  <a:lnTo>
                    <a:pt x="323062" y="111887"/>
                  </a:lnTo>
                  <a:lnTo>
                    <a:pt x="320929" y="115697"/>
                  </a:lnTo>
                  <a:lnTo>
                    <a:pt x="315582" y="122047"/>
                  </a:lnTo>
                  <a:lnTo>
                    <a:pt x="309029" y="127127"/>
                  </a:lnTo>
                  <a:lnTo>
                    <a:pt x="301434" y="132207"/>
                  </a:lnTo>
                  <a:lnTo>
                    <a:pt x="292950" y="136017"/>
                  </a:lnTo>
                  <a:lnTo>
                    <a:pt x="279730" y="138557"/>
                  </a:lnTo>
                  <a:lnTo>
                    <a:pt x="252882" y="138557"/>
                  </a:lnTo>
                  <a:lnTo>
                    <a:pt x="239547" y="137287"/>
                  </a:lnTo>
                  <a:lnTo>
                    <a:pt x="236245" y="136017"/>
                  </a:lnTo>
                  <a:lnTo>
                    <a:pt x="232105" y="136017"/>
                  </a:lnTo>
                  <a:lnTo>
                    <a:pt x="227939" y="134747"/>
                  </a:lnTo>
                  <a:lnTo>
                    <a:pt x="229222" y="133477"/>
                  </a:lnTo>
                  <a:lnTo>
                    <a:pt x="186740" y="133464"/>
                  </a:lnTo>
                  <a:lnTo>
                    <a:pt x="185140" y="129654"/>
                  </a:lnTo>
                  <a:lnTo>
                    <a:pt x="182854" y="125844"/>
                  </a:lnTo>
                  <a:lnTo>
                    <a:pt x="179959" y="123304"/>
                  </a:lnTo>
                  <a:lnTo>
                    <a:pt x="174332" y="118224"/>
                  </a:lnTo>
                  <a:lnTo>
                    <a:pt x="167081" y="114414"/>
                  </a:lnTo>
                  <a:lnTo>
                    <a:pt x="159004" y="111874"/>
                  </a:lnTo>
                  <a:lnTo>
                    <a:pt x="154495" y="110604"/>
                  </a:lnTo>
                  <a:lnTo>
                    <a:pt x="149834" y="113144"/>
                  </a:lnTo>
                  <a:lnTo>
                    <a:pt x="147370" y="120764"/>
                  </a:lnTo>
                  <a:lnTo>
                    <a:pt x="150037" y="124574"/>
                  </a:lnTo>
                  <a:lnTo>
                    <a:pt x="154546" y="125844"/>
                  </a:lnTo>
                  <a:lnTo>
                    <a:pt x="159385" y="127114"/>
                  </a:lnTo>
                  <a:lnTo>
                    <a:pt x="163639" y="129654"/>
                  </a:lnTo>
                  <a:lnTo>
                    <a:pt x="167043" y="133464"/>
                  </a:lnTo>
                  <a:lnTo>
                    <a:pt x="168744" y="134734"/>
                  </a:lnTo>
                  <a:lnTo>
                    <a:pt x="170091" y="137274"/>
                  </a:lnTo>
                  <a:lnTo>
                    <a:pt x="171030" y="139814"/>
                  </a:lnTo>
                  <a:lnTo>
                    <a:pt x="164719" y="142354"/>
                  </a:lnTo>
                  <a:lnTo>
                    <a:pt x="158762" y="146164"/>
                  </a:lnTo>
                  <a:lnTo>
                    <a:pt x="133565" y="180454"/>
                  </a:lnTo>
                  <a:lnTo>
                    <a:pt x="132168" y="179184"/>
                  </a:lnTo>
                  <a:lnTo>
                    <a:pt x="121500" y="155054"/>
                  </a:lnTo>
                  <a:lnTo>
                    <a:pt x="120942" y="151244"/>
                  </a:lnTo>
                  <a:lnTo>
                    <a:pt x="116725" y="147434"/>
                  </a:lnTo>
                  <a:lnTo>
                    <a:pt x="107442" y="148704"/>
                  </a:lnTo>
                  <a:lnTo>
                    <a:pt x="104127" y="152514"/>
                  </a:lnTo>
                  <a:lnTo>
                    <a:pt x="120942" y="190614"/>
                  </a:lnTo>
                  <a:lnTo>
                    <a:pt x="132816" y="198234"/>
                  </a:lnTo>
                  <a:lnTo>
                    <a:pt x="133985" y="207124"/>
                  </a:lnTo>
                  <a:lnTo>
                    <a:pt x="136245" y="214744"/>
                  </a:lnTo>
                  <a:lnTo>
                    <a:pt x="139560" y="222364"/>
                  </a:lnTo>
                  <a:lnTo>
                    <a:pt x="143916" y="229984"/>
                  </a:lnTo>
                  <a:lnTo>
                    <a:pt x="141033" y="232524"/>
                  </a:lnTo>
                  <a:lnTo>
                    <a:pt x="137922" y="235064"/>
                  </a:lnTo>
                  <a:lnTo>
                    <a:pt x="134594" y="237604"/>
                  </a:lnTo>
                  <a:lnTo>
                    <a:pt x="129806" y="241414"/>
                  </a:lnTo>
                  <a:lnTo>
                    <a:pt x="122491" y="245224"/>
                  </a:lnTo>
                  <a:lnTo>
                    <a:pt x="118605" y="247764"/>
                  </a:lnTo>
                  <a:lnTo>
                    <a:pt x="117729" y="252844"/>
                  </a:lnTo>
                  <a:lnTo>
                    <a:pt x="123075" y="259194"/>
                  </a:lnTo>
                  <a:lnTo>
                    <a:pt x="128117" y="260464"/>
                  </a:lnTo>
                  <a:lnTo>
                    <a:pt x="132232" y="257924"/>
                  </a:lnTo>
                  <a:lnTo>
                    <a:pt x="154584" y="241414"/>
                  </a:lnTo>
                  <a:lnTo>
                    <a:pt x="159054" y="245224"/>
                  </a:lnTo>
                  <a:lnTo>
                    <a:pt x="163766" y="247764"/>
                  </a:lnTo>
                  <a:lnTo>
                    <a:pt x="168694" y="250304"/>
                  </a:lnTo>
                  <a:lnTo>
                    <a:pt x="177253" y="256654"/>
                  </a:lnTo>
                  <a:lnTo>
                    <a:pt x="198031" y="294754"/>
                  </a:lnTo>
                  <a:lnTo>
                    <a:pt x="198107" y="353174"/>
                  </a:lnTo>
                  <a:lnTo>
                    <a:pt x="215049" y="353174"/>
                  </a:lnTo>
                  <a:lnTo>
                    <a:pt x="214972" y="294754"/>
                  </a:lnTo>
                  <a:lnTo>
                    <a:pt x="198412" y="252844"/>
                  </a:lnTo>
                  <a:lnTo>
                    <a:pt x="182448" y="241414"/>
                  </a:lnTo>
                  <a:lnTo>
                    <a:pt x="178422" y="238874"/>
                  </a:lnTo>
                  <a:lnTo>
                    <a:pt x="173075" y="235064"/>
                  </a:lnTo>
                  <a:lnTo>
                    <a:pt x="168135" y="232524"/>
                  </a:lnTo>
                  <a:lnTo>
                    <a:pt x="163677" y="228714"/>
                  </a:lnTo>
                  <a:lnTo>
                    <a:pt x="159626" y="223634"/>
                  </a:lnTo>
                  <a:lnTo>
                    <a:pt x="156362" y="219824"/>
                  </a:lnTo>
                  <a:lnTo>
                    <a:pt x="154025" y="213474"/>
                  </a:lnTo>
                  <a:lnTo>
                    <a:pt x="164223" y="210934"/>
                  </a:lnTo>
                  <a:lnTo>
                    <a:pt x="190627" y="210934"/>
                  </a:lnTo>
                  <a:lnTo>
                    <a:pt x="194665" y="208394"/>
                  </a:lnTo>
                  <a:lnTo>
                    <a:pt x="195287" y="199504"/>
                  </a:lnTo>
                  <a:lnTo>
                    <a:pt x="191757" y="195694"/>
                  </a:lnTo>
                  <a:lnTo>
                    <a:pt x="167220" y="195694"/>
                  </a:lnTo>
                  <a:lnTo>
                    <a:pt x="149936" y="199504"/>
                  </a:lnTo>
                  <a:lnTo>
                    <a:pt x="149504" y="196964"/>
                  </a:lnTo>
                  <a:lnTo>
                    <a:pt x="149440" y="195694"/>
                  </a:lnTo>
                  <a:lnTo>
                    <a:pt x="149364" y="189344"/>
                  </a:lnTo>
                  <a:lnTo>
                    <a:pt x="150482" y="181724"/>
                  </a:lnTo>
                  <a:lnTo>
                    <a:pt x="177647" y="152514"/>
                  </a:lnTo>
                  <a:lnTo>
                    <a:pt x="202133" y="144894"/>
                  </a:lnTo>
                  <a:lnTo>
                    <a:pt x="204330" y="144907"/>
                  </a:lnTo>
                  <a:lnTo>
                    <a:pt x="215341" y="147447"/>
                  </a:lnTo>
                  <a:lnTo>
                    <a:pt x="224345" y="148717"/>
                  </a:lnTo>
                  <a:lnTo>
                    <a:pt x="228714" y="155067"/>
                  </a:lnTo>
                  <a:lnTo>
                    <a:pt x="232117" y="160147"/>
                  </a:lnTo>
                  <a:lnTo>
                    <a:pt x="234518" y="166497"/>
                  </a:lnTo>
                  <a:lnTo>
                    <a:pt x="235648" y="172847"/>
                  </a:lnTo>
                  <a:lnTo>
                    <a:pt x="235534" y="177927"/>
                  </a:lnTo>
                  <a:lnTo>
                    <a:pt x="235419" y="179197"/>
                  </a:lnTo>
                  <a:lnTo>
                    <a:pt x="235305" y="180467"/>
                  </a:lnTo>
                  <a:lnTo>
                    <a:pt x="215595" y="210934"/>
                  </a:lnTo>
                  <a:lnTo>
                    <a:pt x="215506" y="212204"/>
                  </a:lnTo>
                  <a:lnTo>
                    <a:pt x="215430" y="213474"/>
                  </a:lnTo>
                  <a:lnTo>
                    <a:pt x="215341" y="214744"/>
                  </a:lnTo>
                  <a:lnTo>
                    <a:pt x="215252" y="216014"/>
                  </a:lnTo>
                  <a:lnTo>
                    <a:pt x="221424" y="222364"/>
                  </a:lnTo>
                  <a:lnTo>
                    <a:pt x="226783" y="222364"/>
                  </a:lnTo>
                  <a:lnTo>
                    <a:pt x="230301" y="219824"/>
                  </a:lnTo>
                  <a:lnTo>
                    <a:pt x="234276" y="216014"/>
                  </a:lnTo>
                  <a:lnTo>
                    <a:pt x="237756" y="213474"/>
                  </a:lnTo>
                  <a:lnTo>
                    <a:pt x="241922" y="208407"/>
                  </a:lnTo>
                  <a:lnTo>
                    <a:pt x="242938" y="205867"/>
                  </a:lnTo>
                  <a:lnTo>
                    <a:pt x="243852" y="204597"/>
                  </a:lnTo>
                  <a:lnTo>
                    <a:pt x="284543" y="194437"/>
                  </a:lnTo>
                  <a:lnTo>
                    <a:pt x="289026" y="189357"/>
                  </a:lnTo>
                  <a:lnTo>
                    <a:pt x="289585" y="186817"/>
                  </a:lnTo>
                  <a:lnTo>
                    <a:pt x="284530" y="180467"/>
                  </a:lnTo>
                  <a:lnTo>
                    <a:pt x="279400" y="179197"/>
                  </a:lnTo>
                  <a:lnTo>
                    <a:pt x="271526" y="183007"/>
                  </a:lnTo>
                  <a:lnTo>
                    <a:pt x="267322" y="185547"/>
                  </a:lnTo>
                  <a:lnTo>
                    <a:pt x="262940" y="186817"/>
                  </a:lnTo>
                  <a:lnTo>
                    <a:pt x="258927" y="186817"/>
                  </a:lnTo>
                  <a:lnTo>
                    <a:pt x="250748" y="189357"/>
                  </a:lnTo>
                  <a:lnTo>
                    <a:pt x="252107" y="184277"/>
                  </a:lnTo>
                  <a:lnTo>
                    <a:pt x="252793" y="179197"/>
                  </a:lnTo>
                  <a:lnTo>
                    <a:pt x="252691" y="170307"/>
                  </a:lnTo>
                  <a:lnTo>
                    <a:pt x="252641" y="169037"/>
                  </a:lnTo>
                  <a:lnTo>
                    <a:pt x="252564" y="166497"/>
                  </a:lnTo>
                  <a:lnTo>
                    <a:pt x="250494" y="158877"/>
                  </a:lnTo>
                  <a:lnTo>
                    <a:pt x="246773" y="152527"/>
                  </a:lnTo>
                  <a:lnTo>
                    <a:pt x="252806" y="153797"/>
                  </a:lnTo>
                  <a:lnTo>
                    <a:pt x="277215" y="153797"/>
                  </a:lnTo>
                  <a:lnTo>
                    <a:pt x="283298" y="152527"/>
                  </a:lnTo>
                  <a:lnTo>
                    <a:pt x="288747" y="157607"/>
                  </a:lnTo>
                  <a:lnTo>
                    <a:pt x="323011" y="175387"/>
                  </a:lnTo>
                  <a:lnTo>
                    <a:pt x="323138" y="175387"/>
                  </a:lnTo>
                  <a:lnTo>
                    <a:pt x="331597" y="179197"/>
                  </a:lnTo>
                  <a:lnTo>
                    <a:pt x="363258" y="204597"/>
                  </a:lnTo>
                  <a:lnTo>
                    <a:pt x="367017" y="218567"/>
                  </a:lnTo>
                  <a:lnTo>
                    <a:pt x="367017" y="222377"/>
                  </a:lnTo>
                  <a:lnTo>
                    <a:pt x="370776" y="226187"/>
                  </a:lnTo>
                  <a:lnTo>
                    <a:pt x="380149" y="226187"/>
                  </a:lnTo>
                  <a:lnTo>
                    <a:pt x="383933" y="222377"/>
                  </a:lnTo>
                  <a:lnTo>
                    <a:pt x="383959" y="218567"/>
                  </a:lnTo>
                  <a:lnTo>
                    <a:pt x="382460" y="208407"/>
                  </a:lnTo>
                  <a:lnTo>
                    <a:pt x="379158" y="199517"/>
                  </a:lnTo>
                  <a:lnTo>
                    <a:pt x="374167" y="191897"/>
                  </a:lnTo>
                  <a:lnTo>
                    <a:pt x="367563" y="183007"/>
                  </a:lnTo>
                  <a:lnTo>
                    <a:pt x="365429" y="181737"/>
                  </a:lnTo>
                  <a:lnTo>
                    <a:pt x="363093" y="179197"/>
                  </a:lnTo>
                  <a:lnTo>
                    <a:pt x="360578" y="177927"/>
                  </a:lnTo>
                  <a:lnTo>
                    <a:pt x="363550" y="177927"/>
                  </a:lnTo>
                  <a:lnTo>
                    <a:pt x="364947" y="176657"/>
                  </a:lnTo>
                  <a:lnTo>
                    <a:pt x="393407" y="161417"/>
                  </a:lnTo>
                  <a:lnTo>
                    <a:pt x="393484" y="160147"/>
                  </a:lnTo>
                  <a:lnTo>
                    <a:pt x="393560" y="158877"/>
                  </a:lnTo>
                  <a:close/>
                </a:path>
                <a:path w="576580" h="601344">
                  <a:moveTo>
                    <a:pt x="459016" y="200850"/>
                  </a:moveTo>
                  <a:lnTo>
                    <a:pt x="457987" y="185521"/>
                  </a:lnTo>
                  <a:lnTo>
                    <a:pt x="452501" y="171221"/>
                  </a:lnTo>
                  <a:lnTo>
                    <a:pt x="442963" y="158673"/>
                  </a:lnTo>
                  <a:lnTo>
                    <a:pt x="429780" y="148615"/>
                  </a:lnTo>
                  <a:lnTo>
                    <a:pt x="424116" y="126936"/>
                  </a:lnTo>
                  <a:lnTo>
                    <a:pt x="410197" y="109220"/>
                  </a:lnTo>
                  <a:lnTo>
                    <a:pt x="389940" y="97142"/>
                  </a:lnTo>
                  <a:lnTo>
                    <a:pt x="365252" y="92354"/>
                  </a:lnTo>
                  <a:lnTo>
                    <a:pt x="358152" y="81762"/>
                  </a:lnTo>
                  <a:lnTo>
                    <a:pt x="348780" y="72821"/>
                  </a:lnTo>
                  <a:lnTo>
                    <a:pt x="337489" y="65811"/>
                  </a:lnTo>
                  <a:lnTo>
                    <a:pt x="324624" y="60998"/>
                  </a:lnTo>
                  <a:lnTo>
                    <a:pt x="311200" y="58648"/>
                  </a:lnTo>
                  <a:lnTo>
                    <a:pt x="297637" y="58686"/>
                  </a:lnTo>
                  <a:lnTo>
                    <a:pt x="284353" y="61099"/>
                  </a:lnTo>
                  <a:lnTo>
                    <a:pt x="271754" y="65824"/>
                  </a:lnTo>
                  <a:lnTo>
                    <a:pt x="261569" y="60299"/>
                  </a:lnTo>
                  <a:lnTo>
                    <a:pt x="250507" y="56489"/>
                  </a:lnTo>
                  <a:lnTo>
                    <a:pt x="238861" y="54457"/>
                  </a:lnTo>
                  <a:lnTo>
                    <a:pt x="226898" y="54254"/>
                  </a:lnTo>
                  <a:lnTo>
                    <a:pt x="214896" y="56146"/>
                  </a:lnTo>
                  <a:lnTo>
                    <a:pt x="203530" y="59804"/>
                  </a:lnTo>
                  <a:lnTo>
                    <a:pt x="193052" y="65138"/>
                  </a:lnTo>
                  <a:lnTo>
                    <a:pt x="183718" y="72021"/>
                  </a:lnTo>
                  <a:lnTo>
                    <a:pt x="173189" y="71348"/>
                  </a:lnTo>
                  <a:lnTo>
                    <a:pt x="153631" y="73774"/>
                  </a:lnTo>
                  <a:lnTo>
                    <a:pt x="136105" y="80962"/>
                  </a:lnTo>
                  <a:lnTo>
                    <a:pt x="121678" y="92290"/>
                  </a:lnTo>
                  <a:lnTo>
                    <a:pt x="111429" y="107137"/>
                  </a:lnTo>
                  <a:lnTo>
                    <a:pt x="91694" y="115112"/>
                  </a:lnTo>
                  <a:lnTo>
                    <a:pt x="76276" y="127901"/>
                  </a:lnTo>
                  <a:lnTo>
                    <a:pt x="66205" y="144297"/>
                  </a:lnTo>
                  <a:lnTo>
                    <a:pt x="62534" y="163131"/>
                  </a:lnTo>
                  <a:lnTo>
                    <a:pt x="63233" y="172529"/>
                  </a:lnTo>
                  <a:lnTo>
                    <a:pt x="64604" y="177088"/>
                  </a:lnTo>
                  <a:lnTo>
                    <a:pt x="56197" y="192227"/>
                  </a:lnTo>
                  <a:lnTo>
                    <a:pt x="53124" y="208508"/>
                  </a:lnTo>
                  <a:lnTo>
                    <a:pt x="55397" y="224904"/>
                  </a:lnTo>
                  <a:lnTo>
                    <a:pt x="63068" y="240334"/>
                  </a:lnTo>
                  <a:lnTo>
                    <a:pt x="63665" y="245084"/>
                  </a:lnTo>
                  <a:lnTo>
                    <a:pt x="74574" y="268605"/>
                  </a:lnTo>
                  <a:lnTo>
                    <a:pt x="91465" y="285330"/>
                  </a:lnTo>
                  <a:lnTo>
                    <a:pt x="109410" y="295884"/>
                  </a:lnTo>
                  <a:lnTo>
                    <a:pt x="124434" y="301104"/>
                  </a:lnTo>
                  <a:lnTo>
                    <a:pt x="138379" y="308610"/>
                  </a:lnTo>
                  <a:lnTo>
                    <a:pt x="146456" y="322186"/>
                  </a:lnTo>
                  <a:lnTo>
                    <a:pt x="150190" y="338239"/>
                  </a:lnTo>
                  <a:lnTo>
                    <a:pt x="151091" y="353187"/>
                  </a:lnTo>
                  <a:lnTo>
                    <a:pt x="168033" y="353187"/>
                  </a:lnTo>
                  <a:lnTo>
                    <a:pt x="163868" y="321449"/>
                  </a:lnTo>
                  <a:lnTo>
                    <a:pt x="153581" y="301599"/>
                  </a:lnTo>
                  <a:lnTo>
                    <a:pt x="140423" y="290868"/>
                  </a:lnTo>
                  <a:lnTo>
                    <a:pt x="117729" y="282816"/>
                  </a:lnTo>
                  <a:lnTo>
                    <a:pt x="103390" y="274472"/>
                  </a:lnTo>
                  <a:lnTo>
                    <a:pt x="89344" y="261035"/>
                  </a:lnTo>
                  <a:lnTo>
                    <a:pt x="80010" y="240690"/>
                  </a:lnTo>
                  <a:lnTo>
                    <a:pt x="79895" y="235635"/>
                  </a:lnTo>
                  <a:lnTo>
                    <a:pt x="71869" y="221449"/>
                  </a:lnTo>
                  <a:lnTo>
                    <a:pt x="70053" y="208203"/>
                  </a:lnTo>
                  <a:lnTo>
                    <a:pt x="72948" y="195110"/>
                  </a:lnTo>
                  <a:lnTo>
                    <a:pt x="80530" y="183197"/>
                  </a:lnTo>
                  <a:lnTo>
                    <a:pt x="83413" y="180035"/>
                  </a:lnTo>
                  <a:lnTo>
                    <a:pt x="80340" y="171983"/>
                  </a:lnTo>
                  <a:lnTo>
                    <a:pt x="79502" y="167576"/>
                  </a:lnTo>
                  <a:lnTo>
                    <a:pt x="79476" y="163131"/>
                  </a:lnTo>
                  <a:lnTo>
                    <a:pt x="82537" y="148361"/>
                  </a:lnTo>
                  <a:lnTo>
                    <a:pt x="90843" y="135699"/>
                  </a:lnTo>
                  <a:lnTo>
                    <a:pt x="103441" y="126174"/>
                  </a:lnTo>
                  <a:lnTo>
                    <a:pt x="119380" y="120777"/>
                  </a:lnTo>
                  <a:lnTo>
                    <a:pt x="124129" y="119951"/>
                  </a:lnTo>
                  <a:lnTo>
                    <a:pt x="125717" y="115912"/>
                  </a:lnTo>
                  <a:lnTo>
                    <a:pt x="133019" y="103720"/>
                  </a:lnTo>
                  <a:lnTo>
                    <a:pt x="143992" y="94322"/>
                  </a:lnTo>
                  <a:lnTo>
                    <a:pt x="157683" y="88303"/>
                  </a:lnTo>
                  <a:lnTo>
                    <a:pt x="173189" y="86258"/>
                  </a:lnTo>
                  <a:lnTo>
                    <a:pt x="181102" y="86626"/>
                  </a:lnTo>
                  <a:lnTo>
                    <a:pt x="189992" y="88341"/>
                  </a:lnTo>
                  <a:lnTo>
                    <a:pt x="200596" y="78752"/>
                  </a:lnTo>
                  <a:lnTo>
                    <a:pt x="209003" y="74015"/>
                  </a:lnTo>
                  <a:lnTo>
                    <a:pt x="218287" y="70764"/>
                  </a:lnTo>
                  <a:lnTo>
                    <a:pt x="228193" y="69126"/>
                  </a:lnTo>
                  <a:lnTo>
                    <a:pt x="238315" y="69392"/>
                  </a:lnTo>
                  <a:lnTo>
                    <a:pt x="248056" y="71437"/>
                  </a:lnTo>
                  <a:lnTo>
                    <a:pt x="257136" y="75145"/>
                  </a:lnTo>
                  <a:lnTo>
                    <a:pt x="265264" y="80441"/>
                  </a:lnTo>
                  <a:lnTo>
                    <a:pt x="270205" y="84416"/>
                  </a:lnTo>
                  <a:lnTo>
                    <a:pt x="275742" y="81127"/>
                  </a:lnTo>
                  <a:lnTo>
                    <a:pt x="285927" y="76390"/>
                  </a:lnTo>
                  <a:lnTo>
                    <a:pt x="296913" y="73799"/>
                  </a:lnTo>
                  <a:lnTo>
                    <a:pt x="308292" y="73393"/>
                  </a:lnTo>
                  <a:lnTo>
                    <a:pt x="319608" y="75234"/>
                  </a:lnTo>
                  <a:lnTo>
                    <a:pt x="351586" y="102311"/>
                  </a:lnTo>
                  <a:lnTo>
                    <a:pt x="353606" y="107226"/>
                  </a:lnTo>
                  <a:lnTo>
                    <a:pt x="362966" y="107226"/>
                  </a:lnTo>
                  <a:lnTo>
                    <a:pt x="382231" y="110490"/>
                  </a:lnTo>
                  <a:lnTo>
                    <a:pt x="398056" y="119672"/>
                  </a:lnTo>
                  <a:lnTo>
                    <a:pt x="408800" y="133400"/>
                  </a:lnTo>
                  <a:lnTo>
                    <a:pt x="412889" y="150291"/>
                  </a:lnTo>
                  <a:lnTo>
                    <a:pt x="412889" y="157264"/>
                  </a:lnTo>
                  <a:lnTo>
                    <a:pt x="417271" y="159385"/>
                  </a:lnTo>
                  <a:lnTo>
                    <a:pt x="428358" y="166776"/>
                  </a:lnTo>
                  <a:lnTo>
                    <a:pt x="436460" y="176428"/>
                  </a:lnTo>
                  <a:lnTo>
                    <a:pt x="441172" y="187693"/>
                  </a:lnTo>
                  <a:lnTo>
                    <a:pt x="442099" y="199898"/>
                  </a:lnTo>
                  <a:lnTo>
                    <a:pt x="436613" y="216077"/>
                  </a:lnTo>
                  <a:lnTo>
                    <a:pt x="425132" y="228942"/>
                  </a:lnTo>
                  <a:lnTo>
                    <a:pt x="409168" y="237299"/>
                  </a:lnTo>
                  <a:lnTo>
                    <a:pt x="390220" y="240004"/>
                  </a:lnTo>
                  <a:lnTo>
                    <a:pt x="314794" y="240004"/>
                  </a:lnTo>
                  <a:lnTo>
                    <a:pt x="288848" y="244627"/>
                  </a:lnTo>
                  <a:lnTo>
                    <a:pt x="267589" y="257124"/>
                  </a:lnTo>
                  <a:lnTo>
                    <a:pt x="253085" y="275653"/>
                  </a:lnTo>
                  <a:lnTo>
                    <a:pt x="247434" y="298386"/>
                  </a:lnTo>
                  <a:lnTo>
                    <a:pt x="247434" y="353174"/>
                  </a:lnTo>
                  <a:lnTo>
                    <a:pt x="264375" y="353174"/>
                  </a:lnTo>
                  <a:lnTo>
                    <a:pt x="264375" y="298500"/>
                  </a:lnTo>
                  <a:lnTo>
                    <a:pt x="268630" y="281508"/>
                  </a:lnTo>
                  <a:lnTo>
                    <a:pt x="279488" y="267677"/>
                  </a:lnTo>
                  <a:lnTo>
                    <a:pt x="295402" y="258356"/>
                  </a:lnTo>
                  <a:lnTo>
                    <a:pt x="314794" y="254901"/>
                  </a:lnTo>
                  <a:lnTo>
                    <a:pt x="390220" y="254901"/>
                  </a:lnTo>
                  <a:lnTo>
                    <a:pt x="415493" y="251129"/>
                  </a:lnTo>
                  <a:lnTo>
                    <a:pt x="436727" y="239814"/>
                  </a:lnTo>
                  <a:lnTo>
                    <a:pt x="451904" y="222529"/>
                  </a:lnTo>
                  <a:lnTo>
                    <a:pt x="459016" y="200850"/>
                  </a:lnTo>
                  <a:close/>
                </a:path>
                <a:path w="576580" h="601344">
                  <a:moveTo>
                    <a:pt x="576148" y="345020"/>
                  </a:moveTo>
                  <a:lnTo>
                    <a:pt x="567766" y="325551"/>
                  </a:lnTo>
                  <a:lnTo>
                    <a:pt x="560692" y="314731"/>
                  </a:lnTo>
                  <a:lnTo>
                    <a:pt x="560692" y="347433"/>
                  </a:lnTo>
                  <a:lnTo>
                    <a:pt x="557847" y="354596"/>
                  </a:lnTo>
                  <a:lnTo>
                    <a:pt x="555459" y="358927"/>
                  </a:lnTo>
                  <a:lnTo>
                    <a:pt x="550849" y="361988"/>
                  </a:lnTo>
                  <a:lnTo>
                    <a:pt x="545452" y="362813"/>
                  </a:lnTo>
                  <a:lnTo>
                    <a:pt x="492391" y="362813"/>
                  </a:lnTo>
                  <a:lnTo>
                    <a:pt x="492391" y="422440"/>
                  </a:lnTo>
                  <a:lnTo>
                    <a:pt x="478777" y="463765"/>
                  </a:lnTo>
                  <a:lnTo>
                    <a:pt x="441426" y="491337"/>
                  </a:lnTo>
                  <a:lnTo>
                    <a:pt x="409359" y="496989"/>
                  </a:lnTo>
                  <a:lnTo>
                    <a:pt x="350913" y="496989"/>
                  </a:lnTo>
                  <a:lnTo>
                    <a:pt x="350913" y="586435"/>
                  </a:lnTo>
                  <a:lnTo>
                    <a:pt x="117094" y="586435"/>
                  </a:lnTo>
                  <a:lnTo>
                    <a:pt x="117094" y="405447"/>
                  </a:lnTo>
                  <a:lnTo>
                    <a:pt x="110515" y="400964"/>
                  </a:lnTo>
                  <a:lnTo>
                    <a:pt x="70840" y="366890"/>
                  </a:lnTo>
                  <a:lnTo>
                    <a:pt x="41414" y="326275"/>
                  </a:lnTo>
                  <a:lnTo>
                    <a:pt x="23190" y="280860"/>
                  </a:lnTo>
                  <a:lnTo>
                    <a:pt x="17132" y="232371"/>
                  </a:lnTo>
                  <a:lnTo>
                    <a:pt x="17119" y="231838"/>
                  </a:lnTo>
                  <a:lnTo>
                    <a:pt x="20078" y="189585"/>
                  </a:lnTo>
                  <a:lnTo>
                    <a:pt x="32181" y="149910"/>
                  </a:lnTo>
                  <a:lnTo>
                    <a:pt x="52501" y="113690"/>
                  </a:lnTo>
                  <a:lnTo>
                    <a:pt x="80137" y="81788"/>
                  </a:lnTo>
                  <a:lnTo>
                    <a:pt x="114134" y="55079"/>
                  </a:lnTo>
                  <a:lnTo>
                    <a:pt x="153619" y="34442"/>
                  </a:lnTo>
                  <a:lnTo>
                    <a:pt x="197650" y="20739"/>
                  </a:lnTo>
                  <a:lnTo>
                    <a:pt x="245300" y="14846"/>
                  </a:lnTo>
                  <a:lnTo>
                    <a:pt x="256171" y="14846"/>
                  </a:lnTo>
                  <a:lnTo>
                    <a:pt x="302641" y="18923"/>
                  </a:lnTo>
                  <a:lnTo>
                    <a:pt x="347256" y="31064"/>
                  </a:lnTo>
                  <a:lnTo>
                    <a:pt x="387629" y="50292"/>
                  </a:lnTo>
                  <a:lnTo>
                    <a:pt x="422821" y="75780"/>
                  </a:lnTo>
                  <a:lnTo>
                    <a:pt x="451866" y="106692"/>
                  </a:lnTo>
                  <a:lnTo>
                    <a:pt x="473811" y="142176"/>
                  </a:lnTo>
                  <a:lnTo>
                    <a:pt x="487705" y="181394"/>
                  </a:lnTo>
                  <a:lnTo>
                    <a:pt x="492582" y="223520"/>
                  </a:lnTo>
                  <a:lnTo>
                    <a:pt x="492506" y="229425"/>
                  </a:lnTo>
                  <a:lnTo>
                    <a:pt x="492391" y="240080"/>
                  </a:lnTo>
                  <a:lnTo>
                    <a:pt x="553313" y="333311"/>
                  </a:lnTo>
                  <a:lnTo>
                    <a:pt x="553567" y="333654"/>
                  </a:lnTo>
                  <a:lnTo>
                    <a:pt x="559066" y="339496"/>
                  </a:lnTo>
                  <a:lnTo>
                    <a:pt x="560692" y="347433"/>
                  </a:lnTo>
                  <a:lnTo>
                    <a:pt x="560692" y="314731"/>
                  </a:lnTo>
                  <a:lnTo>
                    <a:pt x="509320" y="236105"/>
                  </a:lnTo>
                  <a:lnTo>
                    <a:pt x="509282" y="231838"/>
                  </a:lnTo>
                  <a:lnTo>
                    <a:pt x="506133" y="187109"/>
                  </a:lnTo>
                  <a:lnTo>
                    <a:pt x="493166" y="144614"/>
                  </a:lnTo>
                  <a:lnTo>
                    <a:pt x="471385" y="105816"/>
                  </a:lnTo>
                  <a:lnTo>
                    <a:pt x="441782" y="71640"/>
                  </a:lnTo>
                  <a:lnTo>
                    <a:pt x="405345" y="43053"/>
                  </a:lnTo>
                  <a:lnTo>
                    <a:pt x="363054" y="20955"/>
                  </a:lnTo>
                  <a:lnTo>
                    <a:pt x="315887" y="6299"/>
                  </a:lnTo>
                  <a:lnTo>
                    <a:pt x="264820" y="0"/>
                  </a:lnTo>
                  <a:lnTo>
                    <a:pt x="252641" y="0"/>
                  </a:lnTo>
                  <a:lnTo>
                    <a:pt x="203454" y="4318"/>
                  </a:lnTo>
                  <a:lnTo>
                    <a:pt x="155663" y="17335"/>
                  </a:lnTo>
                  <a:lnTo>
                    <a:pt x="112407" y="37934"/>
                  </a:lnTo>
                  <a:lnTo>
                    <a:pt x="74714" y="65252"/>
                  </a:lnTo>
                  <a:lnTo>
                    <a:pt x="43599" y="98361"/>
                  </a:lnTo>
                  <a:lnTo>
                    <a:pt x="20091" y="136372"/>
                  </a:lnTo>
                  <a:lnTo>
                    <a:pt x="5207" y="178396"/>
                  </a:lnTo>
                  <a:lnTo>
                    <a:pt x="0" y="223520"/>
                  </a:lnTo>
                  <a:lnTo>
                    <a:pt x="50" y="229057"/>
                  </a:lnTo>
                  <a:lnTo>
                    <a:pt x="6756" y="284238"/>
                  </a:lnTo>
                  <a:lnTo>
                    <a:pt x="26289" y="332803"/>
                  </a:lnTo>
                  <a:lnTo>
                    <a:pt x="57759" y="376262"/>
                  </a:lnTo>
                  <a:lnTo>
                    <a:pt x="100152" y="412762"/>
                  </a:lnTo>
                  <a:lnTo>
                    <a:pt x="100152" y="601332"/>
                  </a:lnTo>
                  <a:lnTo>
                    <a:pt x="367855" y="601332"/>
                  </a:lnTo>
                  <a:lnTo>
                    <a:pt x="367855" y="586435"/>
                  </a:lnTo>
                  <a:lnTo>
                    <a:pt x="367855" y="511886"/>
                  </a:lnTo>
                  <a:lnTo>
                    <a:pt x="409359" y="511886"/>
                  </a:lnTo>
                  <a:lnTo>
                    <a:pt x="429107" y="510133"/>
                  </a:lnTo>
                  <a:lnTo>
                    <a:pt x="465035" y="496989"/>
                  </a:lnTo>
                  <a:lnTo>
                    <a:pt x="501929" y="456590"/>
                  </a:lnTo>
                  <a:lnTo>
                    <a:pt x="509320" y="422440"/>
                  </a:lnTo>
                  <a:lnTo>
                    <a:pt x="509320" y="377723"/>
                  </a:lnTo>
                  <a:lnTo>
                    <a:pt x="546595" y="377723"/>
                  </a:lnTo>
                  <a:lnTo>
                    <a:pt x="562051" y="372503"/>
                  </a:lnTo>
                  <a:lnTo>
                    <a:pt x="573074" y="361137"/>
                  </a:lnTo>
                  <a:lnTo>
                    <a:pt x="576148" y="34502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5696" y="1580387"/>
              <a:ext cx="822960" cy="723900"/>
            </a:xfrm>
            <a:custGeom>
              <a:avLst/>
              <a:gdLst/>
              <a:ahLst/>
              <a:cxnLst/>
              <a:rect l="l" t="t" r="r" b="b"/>
              <a:pathLst>
                <a:path w="822960" h="723900">
                  <a:moveTo>
                    <a:pt x="0" y="723900"/>
                  </a:moveTo>
                  <a:lnTo>
                    <a:pt x="822960" y="72390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92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i="1" spc="-50" dirty="0">
                <a:solidFill>
                  <a:srgbClr val="374151"/>
                </a:solidFill>
                <a:latin typeface="Calibri"/>
                <a:cs typeface="Calibri"/>
              </a:rPr>
              <a:t>Aprendizaje</a:t>
            </a:r>
            <a:r>
              <a:rPr i="1" spc="-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i="1" spc="-50" dirty="0">
                <a:solidFill>
                  <a:srgbClr val="374151"/>
                </a:solidFill>
                <a:latin typeface="Calibri"/>
                <a:cs typeface="Calibri"/>
              </a:rPr>
              <a:t>Automático</a:t>
            </a:r>
            <a:r>
              <a:rPr i="1" spc="-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i="1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i="1" spc="-25" dirty="0">
                <a:solidFill>
                  <a:srgbClr val="374151"/>
                </a:solidFill>
                <a:latin typeface="Calibri"/>
                <a:cs typeface="Calibri"/>
              </a:rPr>
              <a:t>PLN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52356" y="4867757"/>
            <a:ext cx="7683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5191" y="1606422"/>
            <a:ext cx="5727700" cy="302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alibri"/>
                <a:cs typeface="Calibri"/>
              </a:rPr>
              <a:t>El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Aprendizaje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Automático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esencial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el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PLN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para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100" dirty="0">
                <a:latin typeface="Calibri"/>
                <a:cs typeface="Calibri"/>
              </a:rPr>
              <a:t>tareas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como: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100">
              <a:latin typeface="Calibri"/>
              <a:cs typeface="Calibri"/>
            </a:endParaRPr>
          </a:p>
          <a:p>
            <a:pPr marL="1008380" indent="-286385">
              <a:lnSpc>
                <a:spcPct val="100000"/>
              </a:lnSpc>
              <a:buFont typeface="Microsoft Sans Serif"/>
              <a:buChar char="•"/>
              <a:tabLst>
                <a:tab pos="1008380" algn="l"/>
              </a:tabLst>
            </a:pPr>
            <a:r>
              <a:rPr sz="2400" spc="-10" dirty="0">
                <a:latin typeface="Calibri"/>
                <a:cs typeface="Calibri"/>
              </a:rPr>
              <a:t>Traducción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automática</a:t>
            </a:r>
            <a:endParaRPr sz="2400">
              <a:latin typeface="Calibri"/>
              <a:cs typeface="Calibri"/>
            </a:endParaRPr>
          </a:p>
          <a:p>
            <a:pPr marL="1008380" indent="-286385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1008380" algn="l"/>
              </a:tabLst>
            </a:pPr>
            <a:r>
              <a:rPr sz="2400" dirty="0">
                <a:latin typeface="Calibri"/>
                <a:cs typeface="Calibri"/>
              </a:rPr>
              <a:t>Análisis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sentimientos</a:t>
            </a:r>
            <a:endParaRPr sz="2400">
              <a:latin typeface="Calibri"/>
              <a:cs typeface="Calibri"/>
            </a:endParaRPr>
          </a:p>
          <a:p>
            <a:pPr marL="1008380" indent="-286385">
              <a:lnSpc>
                <a:spcPct val="100000"/>
              </a:lnSpc>
              <a:buFont typeface="Microsoft Sans Serif"/>
              <a:buChar char="•"/>
              <a:tabLst>
                <a:tab pos="1008380" algn="l"/>
              </a:tabLst>
            </a:pPr>
            <a:r>
              <a:rPr sz="2400" dirty="0">
                <a:latin typeface="Calibri"/>
                <a:cs typeface="Calibri"/>
              </a:rPr>
              <a:t>Resumen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texto</a:t>
            </a:r>
            <a:endParaRPr sz="2400">
              <a:latin typeface="Calibri"/>
              <a:cs typeface="Calibri"/>
            </a:endParaRPr>
          </a:p>
          <a:p>
            <a:pPr marL="1008380" indent="-286385">
              <a:lnSpc>
                <a:spcPct val="100000"/>
              </a:lnSpc>
              <a:buFont typeface="Microsoft Sans Serif"/>
              <a:buChar char="•"/>
              <a:tabLst>
                <a:tab pos="1008380" algn="l"/>
              </a:tabLst>
            </a:pPr>
            <a:r>
              <a:rPr sz="2400" spc="-25" dirty="0">
                <a:latin typeface="Calibri"/>
                <a:cs typeface="Calibri"/>
              </a:rPr>
              <a:t>Q/A</a:t>
            </a:r>
            <a:endParaRPr sz="2400">
              <a:latin typeface="Calibri"/>
              <a:cs typeface="Calibri"/>
            </a:endParaRPr>
          </a:p>
          <a:p>
            <a:pPr marL="1008380" indent="-286385">
              <a:lnSpc>
                <a:spcPct val="100000"/>
              </a:lnSpc>
              <a:buFont typeface="Microsoft Sans Serif"/>
              <a:buChar char="•"/>
              <a:tabLst>
                <a:tab pos="1008380" algn="l"/>
              </a:tabLst>
            </a:pPr>
            <a:r>
              <a:rPr sz="2400" dirty="0">
                <a:latin typeface="Calibri"/>
                <a:cs typeface="Calibri"/>
              </a:rPr>
              <a:t>Extracción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entidades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081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4588" y="1303019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92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  <a:latin typeface="Calibri Light"/>
                <a:cs typeface="Calibri Light"/>
              </a:rPr>
              <a:t>Aprendizaje</a:t>
            </a:r>
            <a:r>
              <a:rPr spc="-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pc="-25" dirty="0">
                <a:solidFill>
                  <a:srgbClr val="404040"/>
                </a:solidFill>
                <a:latin typeface="Calibri Light"/>
                <a:cs typeface="Calibri Light"/>
              </a:rPr>
              <a:t>supervisado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52356" y="4867757"/>
            <a:ext cx="7683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02392" y="1818203"/>
            <a:ext cx="1502410" cy="1365250"/>
            <a:chOff x="1602392" y="1818203"/>
            <a:chExt cx="1502410" cy="13652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0278" y="2754029"/>
              <a:ext cx="178906" cy="1789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81370" y="2944581"/>
              <a:ext cx="314325" cy="158750"/>
            </a:xfrm>
            <a:custGeom>
              <a:avLst/>
              <a:gdLst/>
              <a:ahLst/>
              <a:cxnLst/>
              <a:rect l="l" t="t" r="r" b="b"/>
              <a:pathLst>
                <a:path w="314325" h="158750">
                  <a:moveTo>
                    <a:pt x="157139" y="0"/>
                  </a:moveTo>
                  <a:lnTo>
                    <a:pt x="108289" y="5700"/>
                  </a:lnTo>
                  <a:lnTo>
                    <a:pt x="52439" y="25383"/>
                  </a:lnTo>
                  <a:lnTo>
                    <a:pt x="15713" y="47492"/>
                  </a:lnTo>
                  <a:lnTo>
                    <a:pt x="0" y="79096"/>
                  </a:lnTo>
                  <a:lnTo>
                    <a:pt x="0" y="158366"/>
                  </a:lnTo>
                  <a:lnTo>
                    <a:pt x="314279" y="158366"/>
                  </a:lnTo>
                  <a:lnTo>
                    <a:pt x="314279" y="79096"/>
                  </a:lnTo>
                  <a:lnTo>
                    <a:pt x="280894" y="35221"/>
                  </a:lnTo>
                  <a:lnTo>
                    <a:pt x="242426" y="16294"/>
                  </a:lnTo>
                  <a:lnTo>
                    <a:pt x="189893" y="2488"/>
                  </a:lnTo>
                  <a:lnTo>
                    <a:pt x="157139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1370" y="2944581"/>
              <a:ext cx="314325" cy="158750"/>
            </a:xfrm>
            <a:custGeom>
              <a:avLst/>
              <a:gdLst/>
              <a:ahLst/>
              <a:cxnLst/>
              <a:rect l="l" t="t" r="r" b="b"/>
              <a:pathLst>
                <a:path w="314325" h="158750">
                  <a:moveTo>
                    <a:pt x="314279" y="158366"/>
                  </a:moveTo>
                  <a:lnTo>
                    <a:pt x="314279" y="79096"/>
                  </a:lnTo>
                  <a:lnTo>
                    <a:pt x="280894" y="35221"/>
                  </a:lnTo>
                  <a:lnTo>
                    <a:pt x="242426" y="16294"/>
                  </a:lnTo>
                  <a:lnTo>
                    <a:pt x="189893" y="2488"/>
                  </a:lnTo>
                  <a:lnTo>
                    <a:pt x="157139" y="0"/>
                  </a:lnTo>
                  <a:lnTo>
                    <a:pt x="140730" y="803"/>
                  </a:lnTo>
                  <a:lnTo>
                    <a:pt x="92363" y="9777"/>
                  </a:lnTo>
                  <a:lnTo>
                    <a:pt x="52439" y="25383"/>
                  </a:lnTo>
                  <a:lnTo>
                    <a:pt x="15713" y="47492"/>
                  </a:lnTo>
                  <a:lnTo>
                    <a:pt x="0" y="79096"/>
                  </a:lnTo>
                  <a:lnTo>
                    <a:pt x="0" y="158366"/>
                  </a:lnTo>
                  <a:lnTo>
                    <a:pt x="314279" y="158366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7033" y="2754029"/>
              <a:ext cx="178906" cy="1789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0569" y="2944581"/>
              <a:ext cx="314325" cy="158750"/>
            </a:xfrm>
            <a:custGeom>
              <a:avLst/>
              <a:gdLst/>
              <a:ahLst/>
              <a:cxnLst/>
              <a:rect l="l" t="t" r="r" b="b"/>
              <a:pathLst>
                <a:path w="314325" h="158750">
                  <a:moveTo>
                    <a:pt x="157139" y="0"/>
                  </a:moveTo>
                  <a:lnTo>
                    <a:pt x="108289" y="5700"/>
                  </a:lnTo>
                  <a:lnTo>
                    <a:pt x="52439" y="25383"/>
                  </a:lnTo>
                  <a:lnTo>
                    <a:pt x="15713" y="47492"/>
                  </a:lnTo>
                  <a:lnTo>
                    <a:pt x="0" y="79096"/>
                  </a:lnTo>
                  <a:lnTo>
                    <a:pt x="0" y="158366"/>
                  </a:lnTo>
                  <a:lnTo>
                    <a:pt x="314279" y="158366"/>
                  </a:lnTo>
                  <a:lnTo>
                    <a:pt x="314279" y="79096"/>
                  </a:lnTo>
                  <a:lnTo>
                    <a:pt x="280894" y="35221"/>
                  </a:lnTo>
                  <a:lnTo>
                    <a:pt x="242426" y="16294"/>
                  </a:lnTo>
                  <a:lnTo>
                    <a:pt x="189893" y="2488"/>
                  </a:lnTo>
                  <a:lnTo>
                    <a:pt x="157139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0569" y="2944581"/>
              <a:ext cx="314325" cy="158750"/>
            </a:xfrm>
            <a:custGeom>
              <a:avLst/>
              <a:gdLst/>
              <a:ahLst/>
              <a:cxnLst/>
              <a:rect l="l" t="t" r="r" b="b"/>
              <a:pathLst>
                <a:path w="314325" h="158750">
                  <a:moveTo>
                    <a:pt x="314279" y="158366"/>
                  </a:moveTo>
                  <a:lnTo>
                    <a:pt x="314279" y="79096"/>
                  </a:lnTo>
                  <a:lnTo>
                    <a:pt x="280894" y="35221"/>
                  </a:lnTo>
                  <a:lnTo>
                    <a:pt x="242426" y="16294"/>
                  </a:lnTo>
                  <a:lnTo>
                    <a:pt x="189893" y="2488"/>
                  </a:lnTo>
                  <a:lnTo>
                    <a:pt x="157139" y="0"/>
                  </a:lnTo>
                  <a:lnTo>
                    <a:pt x="140730" y="803"/>
                  </a:lnTo>
                  <a:lnTo>
                    <a:pt x="92363" y="9777"/>
                  </a:lnTo>
                  <a:lnTo>
                    <a:pt x="52439" y="25383"/>
                  </a:lnTo>
                  <a:lnTo>
                    <a:pt x="15713" y="47492"/>
                  </a:lnTo>
                  <a:lnTo>
                    <a:pt x="0" y="79096"/>
                  </a:lnTo>
                  <a:lnTo>
                    <a:pt x="0" y="158366"/>
                  </a:lnTo>
                  <a:lnTo>
                    <a:pt x="314279" y="158366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6232" y="2754029"/>
              <a:ext cx="178848" cy="17891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79768" y="2944581"/>
              <a:ext cx="314325" cy="158750"/>
            </a:xfrm>
            <a:custGeom>
              <a:avLst/>
              <a:gdLst/>
              <a:ahLst/>
              <a:cxnLst/>
              <a:rect l="l" t="t" r="r" b="b"/>
              <a:pathLst>
                <a:path w="314325" h="158750">
                  <a:moveTo>
                    <a:pt x="157139" y="0"/>
                  </a:moveTo>
                  <a:lnTo>
                    <a:pt x="108289" y="5700"/>
                  </a:lnTo>
                  <a:lnTo>
                    <a:pt x="52439" y="25383"/>
                  </a:lnTo>
                  <a:lnTo>
                    <a:pt x="15713" y="47492"/>
                  </a:lnTo>
                  <a:lnTo>
                    <a:pt x="0" y="79096"/>
                  </a:lnTo>
                  <a:lnTo>
                    <a:pt x="0" y="158366"/>
                  </a:lnTo>
                  <a:lnTo>
                    <a:pt x="314279" y="158366"/>
                  </a:lnTo>
                  <a:lnTo>
                    <a:pt x="314279" y="79096"/>
                  </a:lnTo>
                  <a:lnTo>
                    <a:pt x="280855" y="35221"/>
                  </a:lnTo>
                  <a:lnTo>
                    <a:pt x="242379" y="16294"/>
                  </a:lnTo>
                  <a:lnTo>
                    <a:pt x="189889" y="2488"/>
                  </a:lnTo>
                  <a:lnTo>
                    <a:pt x="157139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79768" y="2944581"/>
              <a:ext cx="314325" cy="158750"/>
            </a:xfrm>
            <a:custGeom>
              <a:avLst/>
              <a:gdLst/>
              <a:ahLst/>
              <a:cxnLst/>
              <a:rect l="l" t="t" r="r" b="b"/>
              <a:pathLst>
                <a:path w="314325" h="158750">
                  <a:moveTo>
                    <a:pt x="314279" y="158366"/>
                  </a:moveTo>
                  <a:lnTo>
                    <a:pt x="314279" y="79096"/>
                  </a:lnTo>
                  <a:lnTo>
                    <a:pt x="280855" y="35221"/>
                  </a:lnTo>
                  <a:lnTo>
                    <a:pt x="242379" y="16294"/>
                  </a:lnTo>
                  <a:lnTo>
                    <a:pt x="189889" y="2488"/>
                  </a:lnTo>
                  <a:lnTo>
                    <a:pt x="157139" y="0"/>
                  </a:lnTo>
                  <a:lnTo>
                    <a:pt x="140730" y="803"/>
                  </a:lnTo>
                  <a:lnTo>
                    <a:pt x="92363" y="9777"/>
                  </a:lnTo>
                  <a:lnTo>
                    <a:pt x="52439" y="25383"/>
                  </a:lnTo>
                  <a:lnTo>
                    <a:pt x="15713" y="47492"/>
                  </a:lnTo>
                  <a:lnTo>
                    <a:pt x="0" y="79096"/>
                  </a:lnTo>
                  <a:lnTo>
                    <a:pt x="0" y="158366"/>
                  </a:lnTo>
                  <a:lnTo>
                    <a:pt x="314279" y="158366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3793" y="1996591"/>
              <a:ext cx="227794" cy="2278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12577" y="2062923"/>
              <a:ext cx="904875" cy="1109980"/>
            </a:xfrm>
            <a:custGeom>
              <a:avLst/>
              <a:gdLst/>
              <a:ahLst/>
              <a:cxnLst/>
              <a:rect l="l" t="t" r="r" b="b"/>
              <a:pathLst>
                <a:path w="904875" h="1109980">
                  <a:moveTo>
                    <a:pt x="878233" y="0"/>
                  </a:moveTo>
                  <a:lnTo>
                    <a:pt x="868395" y="1896"/>
                  </a:lnTo>
                  <a:lnTo>
                    <a:pt x="859720" y="7584"/>
                  </a:lnTo>
                  <a:lnTo>
                    <a:pt x="634138" y="233174"/>
                  </a:lnTo>
                  <a:lnTo>
                    <a:pt x="620480" y="231211"/>
                  </a:lnTo>
                  <a:lnTo>
                    <a:pt x="607004" y="232825"/>
                  </a:lnTo>
                  <a:lnTo>
                    <a:pt x="594393" y="237843"/>
                  </a:lnTo>
                  <a:lnTo>
                    <a:pt x="583329" y="246095"/>
                  </a:lnTo>
                  <a:lnTo>
                    <a:pt x="514537" y="356271"/>
                  </a:lnTo>
                  <a:lnTo>
                    <a:pt x="492529" y="265109"/>
                  </a:lnTo>
                  <a:lnTo>
                    <a:pt x="454435" y="226104"/>
                  </a:lnTo>
                  <a:lnTo>
                    <a:pt x="399756" y="197537"/>
                  </a:lnTo>
                  <a:lnTo>
                    <a:pt x="306622" y="178246"/>
                  </a:lnTo>
                  <a:lnTo>
                    <a:pt x="263442" y="178193"/>
                  </a:lnTo>
                  <a:lnTo>
                    <a:pt x="220592" y="184666"/>
                  </a:lnTo>
                  <a:lnTo>
                    <a:pt x="170082" y="199589"/>
                  </a:lnTo>
                  <a:lnTo>
                    <a:pt x="115433" y="228185"/>
                  </a:lnTo>
                  <a:lnTo>
                    <a:pt x="77658" y="267707"/>
                  </a:lnTo>
                  <a:lnTo>
                    <a:pt x="0" y="596877"/>
                  </a:lnTo>
                  <a:lnTo>
                    <a:pt x="4116" y="617264"/>
                  </a:lnTo>
                  <a:lnTo>
                    <a:pt x="15340" y="633915"/>
                  </a:lnTo>
                  <a:lnTo>
                    <a:pt x="31987" y="645141"/>
                  </a:lnTo>
                  <a:lnTo>
                    <a:pt x="52372" y="649258"/>
                  </a:lnTo>
                  <a:lnTo>
                    <a:pt x="69005" y="646099"/>
                  </a:lnTo>
                  <a:lnTo>
                    <a:pt x="83434" y="638051"/>
                  </a:lnTo>
                  <a:lnTo>
                    <a:pt x="94642" y="625916"/>
                  </a:lnTo>
                  <a:lnTo>
                    <a:pt x="101609" y="610496"/>
                  </a:lnTo>
                  <a:lnTo>
                    <a:pt x="156084" y="385080"/>
                  </a:lnTo>
                  <a:lnTo>
                    <a:pt x="156084" y="1109867"/>
                  </a:lnTo>
                  <a:lnTo>
                    <a:pt x="259273" y="1109867"/>
                  </a:lnTo>
                  <a:lnTo>
                    <a:pt x="259273" y="643496"/>
                  </a:lnTo>
                  <a:lnTo>
                    <a:pt x="311652" y="643496"/>
                  </a:lnTo>
                  <a:lnTo>
                    <a:pt x="311653" y="1109867"/>
                  </a:lnTo>
                  <a:lnTo>
                    <a:pt x="414666" y="1109867"/>
                  </a:lnTo>
                  <a:lnTo>
                    <a:pt x="414666" y="381763"/>
                  </a:lnTo>
                  <a:lnTo>
                    <a:pt x="435211" y="469502"/>
                  </a:lnTo>
                  <a:lnTo>
                    <a:pt x="477135" y="494793"/>
                  </a:lnTo>
                  <a:lnTo>
                    <a:pt x="526237" y="501503"/>
                  </a:lnTo>
                  <a:lnTo>
                    <a:pt x="537737" y="498115"/>
                  </a:lnTo>
                  <a:lnTo>
                    <a:pt x="547852" y="491684"/>
                  </a:lnTo>
                  <a:lnTo>
                    <a:pt x="555917" y="482510"/>
                  </a:lnTo>
                  <a:lnTo>
                    <a:pt x="666725" y="299489"/>
                  </a:lnTo>
                  <a:lnTo>
                    <a:pt x="670354" y="281184"/>
                  </a:lnTo>
                  <a:lnTo>
                    <a:pt x="669582" y="271762"/>
                  </a:lnTo>
                  <a:lnTo>
                    <a:pt x="896561" y="44775"/>
                  </a:lnTo>
                  <a:lnTo>
                    <a:pt x="902360" y="36101"/>
                  </a:lnTo>
                  <a:lnTo>
                    <a:pt x="904325" y="26218"/>
                  </a:lnTo>
                  <a:lnTo>
                    <a:pt x="902452" y="16315"/>
                  </a:lnTo>
                  <a:lnTo>
                    <a:pt x="896736" y="7584"/>
                  </a:lnTo>
                  <a:lnTo>
                    <a:pt x="888069" y="1896"/>
                  </a:lnTo>
                  <a:lnTo>
                    <a:pt x="878233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12577" y="2062923"/>
              <a:ext cx="904875" cy="1109980"/>
            </a:xfrm>
            <a:custGeom>
              <a:avLst/>
              <a:gdLst/>
              <a:ahLst/>
              <a:cxnLst/>
              <a:rect l="l" t="t" r="r" b="b"/>
              <a:pathLst>
                <a:path w="904875" h="1109980">
                  <a:moveTo>
                    <a:pt x="896736" y="7584"/>
                  </a:moveTo>
                  <a:lnTo>
                    <a:pt x="888069" y="1896"/>
                  </a:lnTo>
                  <a:lnTo>
                    <a:pt x="878233" y="0"/>
                  </a:lnTo>
                  <a:lnTo>
                    <a:pt x="868395" y="1896"/>
                  </a:lnTo>
                  <a:lnTo>
                    <a:pt x="859720" y="7584"/>
                  </a:lnTo>
                  <a:lnTo>
                    <a:pt x="634138" y="233174"/>
                  </a:lnTo>
                  <a:lnTo>
                    <a:pt x="620480" y="231211"/>
                  </a:lnTo>
                  <a:lnTo>
                    <a:pt x="583329" y="246095"/>
                  </a:lnTo>
                  <a:lnTo>
                    <a:pt x="547558" y="302558"/>
                  </a:lnTo>
                  <a:lnTo>
                    <a:pt x="524770" y="339571"/>
                  </a:lnTo>
                  <a:lnTo>
                    <a:pt x="514537" y="356271"/>
                  </a:lnTo>
                  <a:lnTo>
                    <a:pt x="494982" y="272984"/>
                  </a:lnTo>
                  <a:lnTo>
                    <a:pt x="454435" y="226104"/>
                  </a:lnTo>
                  <a:lnTo>
                    <a:pt x="399756" y="197537"/>
                  </a:lnTo>
                  <a:lnTo>
                    <a:pt x="349344" y="183401"/>
                  </a:lnTo>
                  <a:lnTo>
                    <a:pt x="306622" y="178246"/>
                  </a:lnTo>
                  <a:lnTo>
                    <a:pt x="285113" y="177126"/>
                  </a:lnTo>
                  <a:lnTo>
                    <a:pt x="263442" y="178193"/>
                  </a:lnTo>
                  <a:lnTo>
                    <a:pt x="220592" y="184666"/>
                  </a:lnTo>
                  <a:lnTo>
                    <a:pt x="170082" y="199589"/>
                  </a:lnTo>
                  <a:lnTo>
                    <a:pt x="115433" y="228185"/>
                  </a:lnTo>
                  <a:lnTo>
                    <a:pt x="85481" y="253292"/>
                  </a:lnTo>
                  <a:lnTo>
                    <a:pt x="63488" y="325065"/>
                  </a:lnTo>
                  <a:lnTo>
                    <a:pt x="37622" y="434275"/>
                  </a:lnTo>
                  <a:lnTo>
                    <a:pt x="11757" y="544468"/>
                  </a:lnTo>
                  <a:lnTo>
                    <a:pt x="0" y="596877"/>
                  </a:lnTo>
                  <a:lnTo>
                    <a:pt x="4116" y="617264"/>
                  </a:lnTo>
                  <a:lnTo>
                    <a:pt x="15340" y="633915"/>
                  </a:lnTo>
                  <a:lnTo>
                    <a:pt x="31987" y="645141"/>
                  </a:lnTo>
                  <a:lnTo>
                    <a:pt x="52372" y="649258"/>
                  </a:lnTo>
                  <a:lnTo>
                    <a:pt x="69005" y="646099"/>
                  </a:lnTo>
                  <a:lnTo>
                    <a:pt x="83434" y="638051"/>
                  </a:lnTo>
                  <a:lnTo>
                    <a:pt x="94642" y="625916"/>
                  </a:lnTo>
                  <a:lnTo>
                    <a:pt x="101609" y="610496"/>
                  </a:lnTo>
                  <a:lnTo>
                    <a:pt x="156084" y="385080"/>
                  </a:lnTo>
                  <a:lnTo>
                    <a:pt x="156084" y="1109867"/>
                  </a:lnTo>
                  <a:lnTo>
                    <a:pt x="259273" y="1109867"/>
                  </a:lnTo>
                  <a:lnTo>
                    <a:pt x="259273" y="643496"/>
                  </a:lnTo>
                  <a:lnTo>
                    <a:pt x="311652" y="643496"/>
                  </a:lnTo>
                  <a:lnTo>
                    <a:pt x="311653" y="1109867"/>
                  </a:lnTo>
                  <a:lnTo>
                    <a:pt x="414666" y="1109867"/>
                  </a:lnTo>
                  <a:lnTo>
                    <a:pt x="414666" y="381763"/>
                  </a:lnTo>
                  <a:lnTo>
                    <a:pt x="433872" y="463827"/>
                  </a:lnTo>
                  <a:lnTo>
                    <a:pt x="435211" y="469502"/>
                  </a:lnTo>
                  <a:lnTo>
                    <a:pt x="438979" y="474289"/>
                  </a:lnTo>
                  <a:lnTo>
                    <a:pt x="444174" y="476923"/>
                  </a:lnTo>
                  <a:lnTo>
                    <a:pt x="459999" y="487188"/>
                  </a:lnTo>
                  <a:lnTo>
                    <a:pt x="477135" y="494793"/>
                  </a:lnTo>
                  <a:lnTo>
                    <a:pt x="495250" y="499617"/>
                  </a:lnTo>
                  <a:lnTo>
                    <a:pt x="514013" y="501542"/>
                  </a:lnTo>
                  <a:lnTo>
                    <a:pt x="526237" y="501503"/>
                  </a:lnTo>
                  <a:lnTo>
                    <a:pt x="662423" y="307905"/>
                  </a:lnTo>
                  <a:lnTo>
                    <a:pt x="670354" y="281184"/>
                  </a:lnTo>
                  <a:lnTo>
                    <a:pt x="669582" y="271762"/>
                  </a:lnTo>
                  <a:lnTo>
                    <a:pt x="896561" y="44775"/>
                  </a:lnTo>
                  <a:lnTo>
                    <a:pt x="902360" y="36101"/>
                  </a:lnTo>
                  <a:lnTo>
                    <a:pt x="904325" y="26218"/>
                  </a:lnTo>
                  <a:lnTo>
                    <a:pt x="902452" y="16315"/>
                  </a:lnTo>
                  <a:lnTo>
                    <a:pt x="896736" y="7584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41690" y="1828388"/>
              <a:ext cx="995680" cy="716280"/>
            </a:xfrm>
            <a:custGeom>
              <a:avLst/>
              <a:gdLst/>
              <a:ahLst/>
              <a:cxnLst/>
              <a:rect l="l" t="t" r="r" b="b"/>
              <a:pathLst>
                <a:path w="995680" h="716280">
                  <a:moveTo>
                    <a:pt x="925377" y="0"/>
                  </a:moveTo>
                  <a:lnTo>
                    <a:pt x="69839" y="0"/>
                  </a:lnTo>
                  <a:lnTo>
                    <a:pt x="20460" y="20454"/>
                  </a:lnTo>
                  <a:lnTo>
                    <a:pt x="0" y="69783"/>
                  </a:lnTo>
                  <a:lnTo>
                    <a:pt x="0" y="132641"/>
                  </a:lnTo>
                  <a:lnTo>
                    <a:pt x="19508" y="139426"/>
                  </a:lnTo>
                  <a:lnTo>
                    <a:pt x="37817" y="148770"/>
                  </a:lnTo>
                  <a:lnTo>
                    <a:pt x="54677" y="160526"/>
                  </a:lnTo>
                  <a:lnTo>
                    <a:pt x="69839" y="174547"/>
                  </a:lnTo>
                  <a:lnTo>
                    <a:pt x="69839" y="69783"/>
                  </a:lnTo>
                  <a:lnTo>
                    <a:pt x="925377" y="69783"/>
                  </a:lnTo>
                  <a:lnTo>
                    <a:pt x="925377" y="645981"/>
                  </a:lnTo>
                  <a:lnTo>
                    <a:pt x="329469" y="645981"/>
                  </a:lnTo>
                  <a:lnTo>
                    <a:pt x="286867" y="715823"/>
                  </a:lnTo>
                  <a:lnTo>
                    <a:pt x="925377" y="715823"/>
                  </a:lnTo>
                  <a:lnTo>
                    <a:pt x="974762" y="695367"/>
                  </a:lnTo>
                  <a:lnTo>
                    <a:pt x="995217" y="645981"/>
                  </a:lnTo>
                  <a:lnTo>
                    <a:pt x="995217" y="69783"/>
                  </a:lnTo>
                  <a:lnTo>
                    <a:pt x="989729" y="42637"/>
                  </a:lnTo>
                  <a:lnTo>
                    <a:pt x="974762" y="20454"/>
                  </a:lnTo>
                  <a:lnTo>
                    <a:pt x="952562" y="5489"/>
                  </a:lnTo>
                  <a:lnTo>
                    <a:pt x="925377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41690" y="1828388"/>
              <a:ext cx="995680" cy="716280"/>
            </a:xfrm>
            <a:custGeom>
              <a:avLst/>
              <a:gdLst/>
              <a:ahLst/>
              <a:cxnLst/>
              <a:rect l="l" t="t" r="r" b="b"/>
              <a:pathLst>
                <a:path w="995680" h="716280">
                  <a:moveTo>
                    <a:pt x="925377" y="0"/>
                  </a:moveTo>
                  <a:lnTo>
                    <a:pt x="69839" y="0"/>
                  </a:lnTo>
                  <a:lnTo>
                    <a:pt x="20460" y="20454"/>
                  </a:lnTo>
                  <a:lnTo>
                    <a:pt x="0" y="69783"/>
                  </a:lnTo>
                  <a:lnTo>
                    <a:pt x="0" y="132641"/>
                  </a:lnTo>
                  <a:lnTo>
                    <a:pt x="19508" y="139426"/>
                  </a:lnTo>
                  <a:lnTo>
                    <a:pt x="37817" y="148770"/>
                  </a:lnTo>
                  <a:lnTo>
                    <a:pt x="54677" y="160526"/>
                  </a:lnTo>
                  <a:lnTo>
                    <a:pt x="69839" y="174547"/>
                  </a:lnTo>
                  <a:lnTo>
                    <a:pt x="69839" y="69783"/>
                  </a:lnTo>
                  <a:lnTo>
                    <a:pt x="925377" y="69783"/>
                  </a:lnTo>
                  <a:lnTo>
                    <a:pt x="925377" y="645981"/>
                  </a:lnTo>
                  <a:lnTo>
                    <a:pt x="329469" y="645981"/>
                  </a:lnTo>
                  <a:lnTo>
                    <a:pt x="286867" y="715823"/>
                  </a:lnTo>
                  <a:lnTo>
                    <a:pt x="925377" y="715823"/>
                  </a:lnTo>
                  <a:lnTo>
                    <a:pt x="974762" y="695367"/>
                  </a:lnTo>
                  <a:lnTo>
                    <a:pt x="995217" y="645981"/>
                  </a:lnTo>
                  <a:lnTo>
                    <a:pt x="995217" y="69783"/>
                  </a:lnTo>
                  <a:lnTo>
                    <a:pt x="989729" y="42637"/>
                  </a:lnTo>
                  <a:lnTo>
                    <a:pt x="974762" y="20454"/>
                  </a:lnTo>
                  <a:lnTo>
                    <a:pt x="952562" y="5489"/>
                  </a:lnTo>
                  <a:lnTo>
                    <a:pt x="925377" y="0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2023" y="3744874"/>
            <a:ext cx="3530600" cy="7061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65" marR="5080" indent="-635" algn="ctr">
              <a:lnSpc>
                <a:spcPct val="101899"/>
              </a:lnSpc>
              <a:spcBef>
                <a:spcPts val="75"/>
              </a:spcBef>
            </a:pP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sz="11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aprendizaje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supervisado</a:t>
            </a:r>
            <a:r>
              <a:rPr sz="11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es</a:t>
            </a:r>
            <a:r>
              <a:rPr sz="11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1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enfoque</a:t>
            </a:r>
            <a:r>
              <a:rPr sz="11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del</a:t>
            </a:r>
            <a:r>
              <a:rPr sz="11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aprendizaje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automático</a:t>
            </a:r>
            <a:r>
              <a:rPr sz="11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1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el que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sz="11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modelo</a:t>
            </a:r>
            <a:r>
              <a:rPr sz="11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se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entrena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1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conjunto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datos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etiquetados,</a:t>
            </a:r>
            <a:r>
              <a:rPr sz="11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es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decir,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datos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tienen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una respuesta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374151"/>
                </a:solidFill>
                <a:latin typeface="Calibri"/>
                <a:cs typeface="Calibri"/>
              </a:rPr>
              <a:t>o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 salida 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conocida.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9532" y="1922908"/>
            <a:ext cx="1557020" cy="1155700"/>
            <a:chOff x="6009532" y="1922908"/>
            <a:chExt cx="1557020" cy="1155700"/>
          </a:xfrm>
        </p:grpSpPr>
        <p:sp>
          <p:nvSpPr>
            <p:cNvPr id="25" name="object 25"/>
            <p:cNvSpPr/>
            <p:nvPr/>
          </p:nvSpPr>
          <p:spPr>
            <a:xfrm>
              <a:off x="6019718" y="2037856"/>
              <a:ext cx="1536700" cy="1030605"/>
            </a:xfrm>
            <a:custGeom>
              <a:avLst/>
              <a:gdLst/>
              <a:ahLst/>
              <a:cxnLst/>
              <a:rect l="l" t="t" r="r" b="b"/>
              <a:pathLst>
                <a:path w="1536700" h="1030605">
                  <a:moveTo>
                    <a:pt x="1536468" y="0"/>
                  </a:moveTo>
                  <a:lnTo>
                    <a:pt x="1431709" y="0"/>
                  </a:lnTo>
                  <a:lnTo>
                    <a:pt x="1431709" y="855565"/>
                  </a:lnTo>
                  <a:lnTo>
                    <a:pt x="104752" y="855565"/>
                  </a:lnTo>
                  <a:lnTo>
                    <a:pt x="104752" y="0"/>
                  </a:lnTo>
                  <a:lnTo>
                    <a:pt x="0" y="0"/>
                  </a:lnTo>
                  <a:lnTo>
                    <a:pt x="0" y="977789"/>
                  </a:lnTo>
                  <a:lnTo>
                    <a:pt x="611091" y="977789"/>
                  </a:lnTo>
                  <a:lnTo>
                    <a:pt x="615101" y="998496"/>
                  </a:lnTo>
                  <a:lnTo>
                    <a:pt x="626150" y="1015111"/>
                  </a:lnTo>
                  <a:lnTo>
                    <a:pt x="642765" y="1026160"/>
                  </a:lnTo>
                  <a:lnTo>
                    <a:pt x="663471" y="1030171"/>
                  </a:lnTo>
                  <a:lnTo>
                    <a:pt x="872991" y="1030171"/>
                  </a:lnTo>
                  <a:lnTo>
                    <a:pt x="893697" y="1026160"/>
                  </a:lnTo>
                  <a:lnTo>
                    <a:pt x="910311" y="1015111"/>
                  </a:lnTo>
                  <a:lnTo>
                    <a:pt x="921360" y="998496"/>
                  </a:lnTo>
                  <a:lnTo>
                    <a:pt x="925370" y="977789"/>
                  </a:lnTo>
                  <a:lnTo>
                    <a:pt x="1536469" y="977789"/>
                  </a:lnTo>
                  <a:lnTo>
                    <a:pt x="1536468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19718" y="2037856"/>
              <a:ext cx="1536700" cy="1030605"/>
            </a:xfrm>
            <a:custGeom>
              <a:avLst/>
              <a:gdLst/>
              <a:ahLst/>
              <a:cxnLst/>
              <a:rect l="l" t="t" r="r" b="b"/>
              <a:pathLst>
                <a:path w="1536700" h="1030605">
                  <a:moveTo>
                    <a:pt x="1431709" y="0"/>
                  </a:moveTo>
                  <a:lnTo>
                    <a:pt x="1431709" y="855565"/>
                  </a:lnTo>
                  <a:lnTo>
                    <a:pt x="104752" y="855565"/>
                  </a:lnTo>
                  <a:lnTo>
                    <a:pt x="104752" y="0"/>
                  </a:lnTo>
                  <a:lnTo>
                    <a:pt x="0" y="0"/>
                  </a:lnTo>
                  <a:lnTo>
                    <a:pt x="0" y="977789"/>
                  </a:lnTo>
                  <a:lnTo>
                    <a:pt x="611091" y="977789"/>
                  </a:lnTo>
                  <a:lnTo>
                    <a:pt x="615101" y="998496"/>
                  </a:lnTo>
                  <a:lnTo>
                    <a:pt x="626150" y="1015111"/>
                  </a:lnTo>
                  <a:lnTo>
                    <a:pt x="642765" y="1026160"/>
                  </a:lnTo>
                  <a:lnTo>
                    <a:pt x="663471" y="1030171"/>
                  </a:lnTo>
                  <a:lnTo>
                    <a:pt x="872991" y="1030171"/>
                  </a:lnTo>
                  <a:lnTo>
                    <a:pt x="893697" y="1026160"/>
                  </a:lnTo>
                  <a:lnTo>
                    <a:pt x="910311" y="1015111"/>
                  </a:lnTo>
                  <a:lnTo>
                    <a:pt x="921360" y="998496"/>
                  </a:lnTo>
                  <a:lnTo>
                    <a:pt x="925370" y="977789"/>
                  </a:lnTo>
                  <a:lnTo>
                    <a:pt x="1536469" y="977789"/>
                  </a:lnTo>
                  <a:lnTo>
                    <a:pt x="1536468" y="0"/>
                  </a:lnTo>
                  <a:lnTo>
                    <a:pt x="1431709" y="0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94298" y="1932927"/>
              <a:ext cx="1187450" cy="890905"/>
            </a:xfrm>
            <a:custGeom>
              <a:avLst/>
              <a:gdLst/>
              <a:ahLst/>
              <a:cxnLst/>
              <a:rect l="l" t="t" r="r" b="b"/>
              <a:pathLst>
                <a:path w="1187450" h="890905">
                  <a:moveTo>
                    <a:pt x="1187284" y="0"/>
                  </a:moveTo>
                  <a:lnTo>
                    <a:pt x="0" y="0"/>
                  </a:lnTo>
                  <a:lnTo>
                    <a:pt x="0" y="105410"/>
                  </a:lnTo>
                  <a:lnTo>
                    <a:pt x="0" y="786142"/>
                  </a:lnTo>
                  <a:lnTo>
                    <a:pt x="0" y="890282"/>
                  </a:lnTo>
                  <a:lnTo>
                    <a:pt x="1187284" y="890282"/>
                  </a:lnTo>
                  <a:lnTo>
                    <a:pt x="1187284" y="786142"/>
                  </a:lnTo>
                  <a:lnTo>
                    <a:pt x="104762" y="786142"/>
                  </a:lnTo>
                  <a:lnTo>
                    <a:pt x="104762" y="105410"/>
                  </a:lnTo>
                  <a:lnTo>
                    <a:pt x="558723" y="105410"/>
                  </a:lnTo>
                  <a:lnTo>
                    <a:pt x="558723" y="785901"/>
                  </a:lnTo>
                  <a:lnTo>
                    <a:pt x="628561" y="785901"/>
                  </a:lnTo>
                  <a:lnTo>
                    <a:pt x="628561" y="105410"/>
                  </a:lnTo>
                  <a:lnTo>
                    <a:pt x="1082522" y="105410"/>
                  </a:lnTo>
                  <a:lnTo>
                    <a:pt x="1082522" y="785901"/>
                  </a:lnTo>
                  <a:lnTo>
                    <a:pt x="1187284" y="785901"/>
                  </a:lnTo>
                  <a:lnTo>
                    <a:pt x="1187284" y="105410"/>
                  </a:lnTo>
                  <a:lnTo>
                    <a:pt x="1187284" y="104940"/>
                  </a:lnTo>
                  <a:lnTo>
                    <a:pt x="1187284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94310" y="1933093"/>
              <a:ext cx="1187450" cy="890905"/>
            </a:xfrm>
            <a:custGeom>
              <a:avLst/>
              <a:gdLst/>
              <a:ahLst/>
              <a:cxnLst/>
              <a:rect l="l" t="t" r="r" b="b"/>
              <a:pathLst>
                <a:path w="1187450" h="890905">
                  <a:moveTo>
                    <a:pt x="1187277" y="0"/>
                  </a:moveTo>
                  <a:lnTo>
                    <a:pt x="0" y="0"/>
                  </a:lnTo>
                  <a:lnTo>
                    <a:pt x="0" y="890486"/>
                  </a:lnTo>
                  <a:lnTo>
                    <a:pt x="1187277" y="890486"/>
                  </a:lnTo>
                  <a:lnTo>
                    <a:pt x="1187277" y="0"/>
                  </a:lnTo>
                  <a:close/>
                </a:path>
                <a:path w="1187450" h="890905">
                  <a:moveTo>
                    <a:pt x="104759" y="104763"/>
                  </a:moveTo>
                  <a:lnTo>
                    <a:pt x="558718" y="104763"/>
                  </a:lnTo>
                  <a:lnTo>
                    <a:pt x="558718" y="785723"/>
                  </a:lnTo>
                  <a:lnTo>
                    <a:pt x="104760" y="785723"/>
                  </a:lnTo>
                  <a:lnTo>
                    <a:pt x="104759" y="104763"/>
                  </a:lnTo>
                  <a:close/>
                </a:path>
                <a:path w="1187450" h="890905">
                  <a:moveTo>
                    <a:pt x="1082517" y="785723"/>
                  </a:moveTo>
                  <a:lnTo>
                    <a:pt x="628558" y="785723"/>
                  </a:lnTo>
                  <a:lnTo>
                    <a:pt x="628558" y="104763"/>
                  </a:lnTo>
                  <a:lnTo>
                    <a:pt x="1082517" y="104763"/>
                  </a:lnTo>
                  <a:lnTo>
                    <a:pt x="1082517" y="785723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27628" y="2212462"/>
              <a:ext cx="244475" cy="52705"/>
            </a:xfrm>
            <a:custGeom>
              <a:avLst/>
              <a:gdLst/>
              <a:ahLst/>
              <a:cxnLst/>
              <a:rect l="l" t="t" r="r" b="b"/>
              <a:pathLst>
                <a:path w="244475" h="52705">
                  <a:moveTo>
                    <a:pt x="244439" y="0"/>
                  </a:moveTo>
                  <a:lnTo>
                    <a:pt x="0" y="0"/>
                  </a:lnTo>
                  <a:lnTo>
                    <a:pt x="0" y="52381"/>
                  </a:lnTo>
                  <a:lnTo>
                    <a:pt x="244439" y="52381"/>
                  </a:lnTo>
                  <a:lnTo>
                    <a:pt x="244439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27628" y="2212462"/>
              <a:ext cx="244475" cy="52705"/>
            </a:xfrm>
            <a:custGeom>
              <a:avLst/>
              <a:gdLst/>
              <a:ahLst/>
              <a:cxnLst/>
              <a:rect l="l" t="t" r="r" b="b"/>
              <a:pathLst>
                <a:path w="244475" h="52705">
                  <a:moveTo>
                    <a:pt x="0" y="52381"/>
                  </a:moveTo>
                  <a:lnTo>
                    <a:pt x="244439" y="52381"/>
                  </a:lnTo>
                  <a:lnTo>
                    <a:pt x="244439" y="0"/>
                  </a:lnTo>
                  <a:lnTo>
                    <a:pt x="0" y="0"/>
                  </a:lnTo>
                  <a:lnTo>
                    <a:pt x="0" y="52381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7628" y="2317225"/>
              <a:ext cx="244475" cy="52705"/>
            </a:xfrm>
            <a:custGeom>
              <a:avLst/>
              <a:gdLst/>
              <a:ahLst/>
              <a:cxnLst/>
              <a:rect l="l" t="t" r="r" b="b"/>
              <a:pathLst>
                <a:path w="244475" h="52705">
                  <a:moveTo>
                    <a:pt x="244439" y="0"/>
                  </a:moveTo>
                  <a:lnTo>
                    <a:pt x="0" y="0"/>
                  </a:lnTo>
                  <a:lnTo>
                    <a:pt x="0" y="52381"/>
                  </a:lnTo>
                  <a:lnTo>
                    <a:pt x="244439" y="52381"/>
                  </a:lnTo>
                  <a:lnTo>
                    <a:pt x="244439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27628" y="2317225"/>
              <a:ext cx="244475" cy="52705"/>
            </a:xfrm>
            <a:custGeom>
              <a:avLst/>
              <a:gdLst/>
              <a:ahLst/>
              <a:cxnLst/>
              <a:rect l="l" t="t" r="r" b="b"/>
              <a:pathLst>
                <a:path w="244475" h="52705">
                  <a:moveTo>
                    <a:pt x="0" y="52381"/>
                  </a:moveTo>
                  <a:lnTo>
                    <a:pt x="244439" y="52381"/>
                  </a:lnTo>
                  <a:lnTo>
                    <a:pt x="244439" y="0"/>
                  </a:lnTo>
                  <a:lnTo>
                    <a:pt x="0" y="0"/>
                  </a:lnTo>
                  <a:lnTo>
                    <a:pt x="0" y="52381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7628" y="2421988"/>
              <a:ext cx="169545" cy="52705"/>
            </a:xfrm>
            <a:custGeom>
              <a:avLst/>
              <a:gdLst/>
              <a:ahLst/>
              <a:cxnLst/>
              <a:rect l="l" t="t" r="r" b="b"/>
              <a:pathLst>
                <a:path w="169545" h="52705">
                  <a:moveTo>
                    <a:pt x="169361" y="0"/>
                  </a:moveTo>
                  <a:lnTo>
                    <a:pt x="0" y="0"/>
                  </a:lnTo>
                  <a:lnTo>
                    <a:pt x="0" y="52381"/>
                  </a:lnTo>
                  <a:lnTo>
                    <a:pt x="169361" y="52381"/>
                  </a:lnTo>
                  <a:lnTo>
                    <a:pt x="169361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27628" y="2421988"/>
              <a:ext cx="169545" cy="52705"/>
            </a:xfrm>
            <a:custGeom>
              <a:avLst/>
              <a:gdLst/>
              <a:ahLst/>
              <a:cxnLst/>
              <a:rect l="l" t="t" r="r" b="b"/>
              <a:pathLst>
                <a:path w="169545" h="52705">
                  <a:moveTo>
                    <a:pt x="0" y="0"/>
                  </a:moveTo>
                  <a:lnTo>
                    <a:pt x="169361" y="0"/>
                  </a:lnTo>
                  <a:lnTo>
                    <a:pt x="169361" y="52381"/>
                  </a:lnTo>
                  <a:lnTo>
                    <a:pt x="0" y="52381"/>
                  </a:lnTo>
                  <a:lnTo>
                    <a:pt x="0" y="0"/>
                  </a:lnTo>
                  <a:close/>
                </a:path>
              </a:pathLst>
            </a:custGeom>
            <a:ln w="20370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93640" y="3744874"/>
            <a:ext cx="358267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6060" marR="5080" indent="-21336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Ejemplo:</a:t>
            </a:r>
            <a:r>
              <a:rPr sz="11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Clasificación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correos</a:t>
            </a:r>
            <a:r>
              <a:rPr sz="11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electrónicos</a:t>
            </a:r>
            <a:r>
              <a:rPr sz="11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como</a:t>
            </a:r>
            <a:r>
              <a:rPr sz="11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spam</a:t>
            </a:r>
            <a:r>
              <a:rPr sz="11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o </a:t>
            </a:r>
            <a:r>
              <a:rPr sz="1100" spc="-25" dirty="0">
                <a:solidFill>
                  <a:srgbClr val="374151"/>
                </a:solidFill>
                <a:latin typeface="Calibri"/>
                <a:cs typeface="Calibri"/>
              </a:rPr>
              <a:t>no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spam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1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función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1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ejemplos</a:t>
            </a:r>
            <a:r>
              <a:rPr sz="11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74151"/>
                </a:solidFill>
                <a:latin typeface="Calibri"/>
                <a:cs typeface="Calibri"/>
              </a:rPr>
              <a:t>previamente</a:t>
            </a:r>
            <a:r>
              <a:rPr sz="11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74151"/>
                </a:solidFill>
                <a:latin typeface="Calibri"/>
                <a:cs typeface="Calibri"/>
              </a:rPr>
              <a:t>etiquetados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081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4588" y="1303019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92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404040"/>
                </a:solidFill>
                <a:latin typeface="Calibri Light"/>
                <a:cs typeface="Calibri Light"/>
              </a:rPr>
              <a:t>Flujo</a:t>
            </a:r>
            <a:r>
              <a:rPr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dirty="0">
                <a:solidFill>
                  <a:srgbClr val="404040"/>
                </a:solidFill>
                <a:latin typeface="Calibri Light"/>
                <a:cs typeface="Calibri Light"/>
              </a:rPr>
              <a:t>de</a:t>
            </a:r>
            <a:r>
              <a:rPr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pc="-30" dirty="0">
                <a:solidFill>
                  <a:srgbClr val="404040"/>
                </a:solidFill>
                <a:latin typeface="Calibri Light"/>
                <a:cs typeface="Calibri Light"/>
              </a:rPr>
              <a:t>trabajo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28089"/>
            <a:ext cx="5026025" cy="17780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Proceso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aprendizaje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supervisado:</a:t>
            </a:r>
            <a:endParaRPr sz="2400">
              <a:latin typeface="Calibri"/>
              <a:cs typeface="Calibri"/>
            </a:endParaRPr>
          </a:p>
          <a:p>
            <a:pPr marL="927100" indent="-342900">
              <a:lnSpc>
                <a:spcPts val="2055"/>
              </a:lnSpc>
              <a:spcBef>
                <a:spcPts val="420"/>
              </a:spcBef>
              <a:buClr>
                <a:srgbClr val="6E6E74"/>
              </a:buClr>
              <a:buAutoNum type="arabicPeriod"/>
              <a:tabLst>
                <a:tab pos="92710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Estructurar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inicial</a:t>
            </a:r>
            <a:endParaRPr sz="1800">
              <a:latin typeface="Calibri"/>
              <a:cs typeface="Calibri"/>
            </a:endParaRPr>
          </a:p>
          <a:p>
            <a:pPr marL="927100" indent="-342900">
              <a:lnSpc>
                <a:spcPts val="1945"/>
              </a:lnSpc>
              <a:buClr>
                <a:srgbClr val="6E6E74"/>
              </a:buClr>
              <a:buAutoNum type="arabicPeriod"/>
              <a:tabLst>
                <a:tab pos="92710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Extraer</a:t>
            </a:r>
            <a:r>
              <a:rPr sz="18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descriptores</a:t>
            </a:r>
            <a:endParaRPr sz="1800">
              <a:latin typeface="Calibri"/>
              <a:cs typeface="Calibri"/>
            </a:endParaRPr>
          </a:p>
          <a:p>
            <a:pPr marL="927100" indent="-342900">
              <a:lnSpc>
                <a:spcPts val="1945"/>
              </a:lnSpc>
              <a:buClr>
                <a:srgbClr val="6E6E74"/>
              </a:buClr>
              <a:buAutoNum type="arabicPeriod"/>
              <a:tabLst>
                <a:tab pos="92710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Partir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dos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(o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tres)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partes</a:t>
            </a:r>
            <a:endParaRPr sz="1800">
              <a:latin typeface="Calibri"/>
              <a:cs typeface="Calibri"/>
            </a:endParaRPr>
          </a:p>
          <a:p>
            <a:pPr marL="927100" indent="-342900">
              <a:lnSpc>
                <a:spcPts val="1945"/>
              </a:lnSpc>
              <a:buClr>
                <a:srgbClr val="6E6E74"/>
              </a:buClr>
              <a:buAutoNum type="arabicPeriod"/>
              <a:tabLst>
                <a:tab pos="92710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Entrenar/construir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modelo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predicción</a:t>
            </a:r>
            <a:endParaRPr sz="1800">
              <a:latin typeface="Calibri"/>
              <a:cs typeface="Calibri"/>
            </a:endParaRPr>
          </a:p>
          <a:p>
            <a:pPr marL="927100" indent="-342900">
              <a:lnSpc>
                <a:spcPts val="2050"/>
              </a:lnSpc>
              <a:buClr>
                <a:srgbClr val="6E6E74"/>
              </a:buClr>
              <a:buAutoNum type="arabicPeriod"/>
              <a:tabLst>
                <a:tab pos="927100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Evaluar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el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modelo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2356" y="4867757"/>
            <a:ext cx="7683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081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4588" y="1303019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92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404040"/>
                </a:solidFill>
                <a:latin typeface="Calibri Light"/>
                <a:cs typeface="Calibri Light"/>
              </a:rPr>
              <a:t>Flujo</a:t>
            </a:r>
            <a:r>
              <a:rPr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dirty="0">
                <a:solidFill>
                  <a:srgbClr val="404040"/>
                </a:solidFill>
                <a:latin typeface="Calibri Light"/>
                <a:cs typeface="Calibri Light"/>
              </a:rPr>
              <a:t>de</a:t>
            </a:r>
            <a:r>
              <a:rPr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pc="-30" dirty="0">
                <a:solidFill>
                  <a:srgbClr val="404040"/>
                </a:solidFill>
                <a:latin typeface="Calibri Light"/>
                <a:cs typeface="Calibri Light"/>
              </a:rPr>
              <a:t>trabajo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52356" y="4867757"/>
            <a:ext cx="7683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323" y="1664437"/>
            <a:ext cx="7951781" cy="2896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0774" y="2301367"/>
            <a:ext cx="60032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85" dirty="0"/>
              <a:t>Vectorización</a:t>
            </a:r>
            <a:r>
              <a:rPr sz="4500" spc="195" dirty="0"/>
              <a:t> </a:t>
            </a:r>
            <a:r>
              <a:rPr sz="4500" dirty="0"/>
              <a:t>de</a:t>
            </a:r>
            <a:r>
              <a:rPr sz="4500" spc="250" dirty="0"/>
              <a:t> </a:t>
            </a:r>
            <a:r>
              <a:rPr sz="4500" spc="75" dirty="0"/>
              <a:t>textos</a:t>
            </a:r>
            <a:endParaRPr sz="4500" dirty="0"/>
          </a:p>
        </p:txBody>
      </p:sp>
      <p:sp>
        <p:nvSpPr>
          <p:cNvPr id="4" name="object 4"/>
          <p:cNvSpPr/>
          <p:nvPr/>
        </p:nvSpPr>
        <p:spPr>
          <a:xfrm>
            <a:off x="0" y="-1524"/>
            <a:ext cx="965200" cy="5143500"/>
          </a:xfrm>
          <a:custGeom>
            <a:avLst/>
            <a:gdLst/>
            <a:ahLst/>
            <a:cxnLst/>
            <a:rect l="l" t="t" r="r" b="b"/>
            <a:pathLst>
              <a:path w="965200" h="5143500">
                <a:moveTo>
                  <a:pt x="964691" y="0"/>
                </a:moveTo>
                <a:lnTo>
                  <a:pt x="0" y="0"/>
                </a:lnTo>
                <a:lnTo>
                  <a:pt x="0" y="5143500"/>
                </a:lnTo>
                <a:lnTo>
                  <a:pt x="964691" y="5143500"/>
                </a:lnTo>
                <a:lnTo>
                  <a:pt x="964691" y="0"/>
                </a:lnTo>
                <a:close/>
              </a:path>
            </a:pathLst>
          </a:custGeom>
          <a:solidFill>
            <a:srgbClr val="60819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13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5"/>
              </a:spcBef>
            </a:pPr>
            <a:r>
              <a:rPr sz="4400" spc="90" dirty="0"/>
              <a:t>Índice</a:t>
            </a:r>
            <a:endParaRPr sz="4400"/>
          </a:p>
        </p:txBody>
      </p:sp>
      <p:grpSp>
        <p:nvGrpSpPr>
          <p:cNvPr id="5" name="object 5"/>
          <p:cNvGrpSpPr/>
          <p:nvPr/>
        </p:nvGrpSpPr>
        <p:grpSpPr>
          <a:xfrm>
            <a:off x="1932432" y="1510283"/>
            <a:ext cx="1853564" cy="1853564"/>
            <a:chOff x="1932432" y="1510283"/>
            <a:chExt cx="1853564" cy="1853564"/>
          </a:xfrm>
        </p:grpSpPr>
        <p:sp>
          <p:nvSpPr>
            <p:cNvPr id="6" name="object 6"/>
            <p:cNvSpPr/>
            <p:nvPr/>
          </p:nvSpPr>
          <p:spPr>
            <a:xfrm>
              <a:off x="1932432" y="1510283"/>
              <a:ext cx="1853564" cy="1853564"/>
            </a:xfrm>
            <a:custGeom>
              <a:avLst/>
              <a:gdLst/>
              <a:ahLst/>
              <a:cxnLst/>
              <a:rect l="l" t="t" r="r" b="b"/>
              <a:pathLst>
                <a:path w="1853564" h="1853564">
                  <a:moveTo>
                    <a:pt x="926592" y="0"/>
                  </a:moveTo>
                  <a:lnTo>
                    <a:pt x="878914" y="1205"/>
                  </a:lnTo>
                  <a:lnTo>
                    <a:pt x="831863" y="4784"/>
                  </a:lnTo>
                  <a:lnTo>
                    <a:pt x="785494" y="10677"/>
                  </a:lnTo>
                  <a:lnTo>
                    <a:pt x="739868" y="18827"/>
                  </a:lnTo>
                  <a:lnTo>
                    <a:pt x="695042" y="29175"/>
                  </a:lnTo>
                  <a:lnTo>
                    <a:pt x="651074" y="41662"/>
                  </a:lnTo>
                  <a:lnTo>
                    <a:pt x="608022" y="56232"/>
                  </a:lnTo>
                  <a:lnTo>
                    <a:pt x="565945" y="72824"/>
                  </a:lnTo>
                  <a:lnTo>
                    <a:pt x="524902" y="91382"/>
                  </a:lnTo>
                  <a:lnTo>
                    <a:pt x="484949" y="111846"/>
                  </a:lnTo>
                  <a:lnTo>
                    <a:pt x="446146" y="134159"/>
                  </a:lnTo>
                  <a:lnTo>
                    <a:pt x="408551" y="158263"/>
                  </a:lnTo>
                  <a:lnTo>
                    <a:pt x="372222" y="184098"/>
                  </a:lnTo>
                  <a:lnTo>
                    <a:pt x="337218" y="211607"/>
                  </a:lnTo>
                  <a:lnTo>
                    <a:pt x="303596" y="240732"/>
                  </a:lnTo>
                  <a:lnTo>
                    <a:pt x="271414" y="271414"/>
                  </a:lnTo>
                  <a:lnTo>
                    <a:pt x="240732" y="303596"/>
                  </a:lnTo>
                  <a:lnTo>
                    <a:pt x="211607" y="337218"/>
                  </a:lnTo>
                  <a:lnTo>
                    <a:pt x="184098" y="372222"/>
                  </a:lnTo>
                  <a:lnTo>
                    <a:pt x="158263" y="408551"/>
                  </a:lnTo>
                  <a:lnTo>
                    <a:pt x="134159" y="446146"/>
                  </a:lnTo>
                  <a:lnTo>
                    <a:pt x="111846" y="484949"/>
                  </a:lnTo>
                  <a:lnTo>
                    <a:pt x="91382" y="524902"/>
                  </a:lnTo>
                  <a:lnTo>
                    <a:pt x="72824" y="565945"/>
                  </a:lnTo>
                  <a:lnTo>
                    <a:pt x="56232" y="608022"/>
                  </a:lnTo>
                  <a:lnTo>
                    <a:pt x="41662" y="651074"/>
                  </a:lnTo>
                  <a:lnTo>
                    <a:pt x="29175" y="695042"/>
                  </a:lnTo>
                  <a:lnTo>
                    <a:pt x="18827" y="739868"/>
                  </a:lnTo>
                  <a:lnTo>
                    <a:pt x="10677" y="785494"/>
                  </a:lnTo>
                  <a:lnTo>
                    <a:pt x="4784" y="831863"/>
                  </a:lnTo>
                  <a:lnTo>
                    <a:pt x="1205" y="878914"/>
                  </a:lnTo>
                  <a:lnTo>
                    <a:pt x="0" y="926591"/>
                  </a:lnTo>
                  <a:lnTo>
                    <a:pt x="1205" y="974269"/>
                  </a:lnTo>
                  <a:lnTo>
                    <a:pt x="4784" y="1021320"/>
                  </a:lnTo>
                  <a:lnTo>
                    <a:pt x="10677" y="1067689"/>
                  </a:lnTo>
                  <a:lnTo>
                    <a:pt x="18827" y="1113315"/>
                  </a:lnTo>
                  <a:lnTo>
                    <a:pt x="29175" y="1158141"/>
                  </a:lnTo>
                  <a:lnTo>
                    <a:pt x="41662" y="1202109"/>
                  </a:lnTo>
                  <a:lnTo>
                    <a:pt x="56232" y="1245161"/>
                  </a:lnTo>
                  <a:lnTo>
                    <a:pt x="72824" y="1287238"/>
                  </a:lnTo>
                  <a:lnTo>
                    <a:pt x="91382" y="1328281"/>
                  </a:lnTo>
                  <a:lnTo>
                    <a:pt x="111846" y="1368234"/>
                  </a:lnTo>
                  <a:lnTo>
                    <a:pt x="134159" y="1407037"/>
                  </a:lnTo>
                  <a:lnTo>
                    <a:pt x="158263" y="1444632"/>
                  </a:lnTo>
                  <a:lnTo>
                    <a:pt x="184098" y="1480961"/>
                  </a:lnTo>
                  <a:lnTo>
                    <a:pt x="211607" y="1515965"/>
                  </a:lnTo>
                  <a:lnTo>
                    <a:pt x="240732" y="1549587"/>
                  </a:lnTo>
                  <a:lnTo>
                    <a:pt x="271414" y="1581769"/>
                  </a:lnTo>
                  <a:lnTo>
                    <a:pt x="303596" y="1612451"/>
                  </a:lnTo>
                  <a:lnTo>
                    <a:pt x="337218" y="1641576"/>
                  </a:lnTo>
                  <a:lnTo>
                    <a:pt x="372222" y="1669085"/>
                  </a:lnTo>
                  <a:lnTo>
                    <a:pt x="408551" y="1694920"/>
                  </a:lnTo>
                  <a:lnTo>
                    <a:pt x="446146" y="1719024"/>
                  </a:lnTo>
                  <a:lnTo>
                    <a:pt x="484949" y="1741337"/>
                  </a:lnTo>
                  <a:lnTo>
                    <a:pt x="524902" y="1761801"/>
                  </a:lnTo>
                  <a:lnTo>
                    <a:pt x="565945" y="1780359"/>
                  </a:lnTo>
                  <a:lnTo>
                    <a:pt x="608022" y="1796951"/>
                  </a:lnTo>
                  <a:lnTo>
                    <a:pt x="651074" y="1811521"/>
                  </a:lnTo>
                  <a:lnTo>
                    <a:pt x="695042" y="1824008"/>
                  </a:lnTo>
                  <a:lnTo>
                    <a:pt x="739868" y="1834356"/>
                  </a:lnTo>
                  <a:lnTo>
                    <a:pt x="785494" y="1842506"/>
                  </a:lnTo>
                  <a:lnTo>
                    <a:pt x="831863" y="1848399"/>
                  </a:lnTo>
                  <a:lnTo>
                    <a:pt x="878914" y="1851978"/>
                  </a:lnTo>
                  <a:lnTo>
                    <a:pt x="926592" y="1853183"/>
                  </a:lnTo>
                  <a:lnTo>
                    <a:pt x="974269" y="1851978"/>
                  </a:lnTo>
                  <a:lnTo>
                    <a:pt x="1021320" y="1848399"/>
                  </a:lnTo>
                  <a:lnTo>
                    <a:pt x="1067689" y="1842506"/>
                  </a:lnTo>
                  <a:lnTo>
                    <a:pt x="1113315" y="1834356"/>
                  </a:lnTo>
                  <a:lnTo>
                    <a:pt x="1158141" y="1824008"/>
                  </a:lnTo>
                  <a:lnTo>
                    <a:pt x="1202109" y="1811521"/>
                  </a:lnTo>
                  <a:lnTo>
                    <a:pt x="1245161" y="1796951"/>
                  </a:lnTo>
                  <a:lnTo>
                    <a:pt x="1287238" y="1780359"/>
                  </a:lnTo>
                  <a:lnTo>
                    <a:pt x="1328281" y="1761801"/>
                  </a:lnTo>
                  <a:lnTo>
                    <a:pt x="1368234" y="1741337"/>
                  </a:lnTo>
                  <a:lnTo>
                    <a:pt x="1407037" y="1719024"/>
                  </a:lnTo>
                  <a:lnTo>
                    <a:pt x="1444632" y="1694920"/>
                  </a:lnTo>
                  <a:lnTo>
                    <a:pt x="1480961" y="1669085"/>
                  </a:lnTo>
                  <a:lnTo>
                    <a:pt x="1515965" y="1641576"/>
                  </a:lnTo>
                  <a:lnTo>
                    <a:pt x="1549587" y="1612451"/>
                  </a:lnTo>
                  <a:lnTo>
                    <a:pt x="1581769" y="1581769"/>
                  </a:lnTo>
                  <a:lnTo>
                    <a:pt x="1612451" y="1549587"/>
                  </a:lnTo>
                  <a:lnTo>
                    <a:pt x="1641576" y="1515965"/>
                  </a:lnTo>
                  <a:lnTo>
                    <a:pt x="1669085" y="1480961"/>
                  </a:lnTo>
                  <a:lnTo>
                    <a:pt x="1694920" y="1444632"/>
                  </a:lnTo>
                  <a:lnTo>
                    <a:pt x="1719024" y="1407037"/>
                  </a:lnTo>
                  <a:lnTo>
                    <a:pt x="1741337" y="1368234"/>
                  </a:lnTo>
                  <a:lnTo>
                    <a:pt x="1761801" y="1328281"/>
                  </a:lnTo>
                  <a:lnTo>
                    <a:pt x="1780359" y="1287238"/>
                  </a:lnTo>
                  <a:lnTo>
                    <a:pt x="1796951" y="1245161"/>
                  </a:lnTo>
                  <a:lnTo>
                    <a:pt x="1811521" y="1202109"/>
                  </a:lnTo>
                  <a:lnTo>
                    <a:pt x="1824008" y="1158141"/>
                  </a:lnTo>
                  <a:lnTo>
                    <a:pt x="1834356" y="1113315"/>
                  </a:lnTo>
                  <a:lnTo>
                    <a:pt x="1842506" y="1067689"/>
                  </a:lnTo>
                  <a:lnTo>
                    <a:pt x="1848399" y="1021320"/>
                  </a:lnTo>
                  <a:lnTo>
                    <a:pt x="1851978" y="974269"/>
                  </a:lnTo>
                  <a:lnTo>
                    <a:pt x="1853183" y="926591"/>
                  </a:lnTo>
                  <a:lnTo>
                    <a:pt x="1851978" y="878914"/>
                  </a:lnTo>
                  <a:lnTo>
                    <a:pt x="1848399" y="831863"/>
                  </a:lnTo>
                  <a:lnTo>
                    <a:pt x="1842506" y="785494"/>
                  </a:lnTo>
                  <a:lnTo>
                    <a:pt x="1834356" y="739868"/>
                  </a:lnTo>
                  <a:lnTo>
                    <a:pt x="1824008" y="695042"/>
                  </a:lnTo>
                  <a:lnTo>
                    <a:pt x="1811521" y="651074"/>
                  </a:lnTo>
                  <a:lnTo>
                    <a:pt x="1796951" y="608022"/>
                  </a:lnTo>
                  <a:lnTo>
                    <a:pt x="1780359" y="565945"/>
                  </a:lnTo>
                  <a:lnTo>
                    <a:pt x="1761801" y="524902"/>
                  </a:lnTo>
                  <a:lnTo>
                    <a:pt x="1741337" y="484949"/>
                  </a:lnTo>
                  <a:lnTo>
                    <a:pt x="1719024" y="446146"/>
                  </a:lnTo>
                  <a:lnTo>
                    <a:pt x="1694920" y="408551"/>
                  </a:lnTo>
                  <a:lnTo>
                    <a:pt x="1669085" y="372222"/>
                  </a:lnTo>
                  <a:lnTo>
                    <a:pt x="1641576" y="337218"/>
                  </a:lnTo>
                  <a:lnTo>
                    <a:pt x="1612451" y="303596"/>
                  </a:lnTo>
                  <a:lnTo>
                    <a:pt x="1581769" y="271414"/>
                  </a:lnTo>
                  <a:lnTo>
                    <a:pt x="1549587" y="240732"/>
                  </a:lnTo>
                  <a:lnTo>
                    <a:pt x="1515965" y="211607"/>
                  </a:lnTo>
                  <a:lnTo>
                    <a:pt x="1480961" y="184098"/>
                  </a:lnTo>
                  <a:lnTo>
                    <a:pt x="1444632" y="158263"/>
                  </a:lnTo>
                  <a:lnTo>
                    <a:pt x="1407037" y="134159"/>
                  </a:lnTo>
                  <a:lnTo>
                    <a:pt x="1368234" y="111846"/>
                  </a:lnTo>
                  <a:lnTo>
                    <a:pt x="1328281" y="91382"/>
                  </a:lnTo>
                  <a:lnTo>
                    <a:pt x="1287238" y="72824"/>
                  </a:lnTo>
                  <a:lnTo>
                    <a:pt x="1245161" y="56232"/>
                  </a:lnTo>
                  <a:lnTo>
                    <a:pt x="1202109" y="41662"/>
                  </a:lnTo>
                  <a:lnTo>
                    <a:pt x="1158141" y="29175"/>
                  </a:lnTo>
                  <a:lnTo>
                    <a:pt x="1113315" y="18827"/>
                  </a:lnTo>
                  <a:lnTo>
                    <a:pt x="1067689" y="10677"/>
                  </a:lnTo>
                  <a:lnTo>
                    <a:pt x="1021320" y="4784"/>
                  </a:lnTo>
                  <a:lnTo>
                    <a:pt x="974269" y="1205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94035" y="2003712"/>
              <a:ext cx="933450" cy="870585"/>
            </a:xfrm>
            <a:custGeom>
              <a:avLst/>
              <a:gdLst/>
              <a:ahLst/>
              <a:cxnLst/>
              <a:rect l="l" t="t" r="r" b="b"/>
              <a:pathLst>
                <a:path w="933450" h="870585">
                  <a:moveTo>
                    <a:pt x="547466" y="0"/>
                  </a:moveTo>
                  <a:lnTo>
                    <a:pt x="78831" y="164209"/>
                  </a:lnTo>
                  <a:lnTo>
                    <a:pt x="39002" y="219643"/>
                  </a:lnTo>
                  <a:lnTo>
                    <a:pt x="32843" y="295607"/>
                  </a:lnTo>
                  <a:lnTo>
                    <a:pt x="33193" y="306557"/>
                  </a:lnTo>
                  <a:lnTo>
                    <a:pt x="33237" y="307908"/>
                  </a:lnTo>
                  <a:lnTo>
                    <a:pt x="34349" y="320107"/>
                  </a:lnTo>
                  <a:lnTo>
                    <a:pt x="36077" y="332100"/>
                  </a:lnTo>
                  <a:lnTo>
                    <a:pt x="38318" y="343786"/>
                  </a:lnTo>
                  <a:lnTo>
                    <a:pt x="16627" y="367174"/>
                  </a:lnTo>
                  <a:lnTo>
                    <a:pt x="5200" y="398671"/>
                  </a:lnTo>
                  <a:lnTo>
                    <a:pt x="752" y="434481"/>
                  </a:lnTo>
                  <a:lnTo>
                    <a:pt x="0" y="470803"/>
                  </a:lnTo>
                  <a:lnTo>
                    <a:pt x="1744" y="498776"/>
                  </a:lnTo>
                  <a:lnTo>
                    <a:pt x="7390" y="524594"/>
                  </a:lnTo>
                  <a:lnTo>
                    <a:pt x="17551" y="547332"/>
                  </a:lnTo>
                  <a:lnTo>
                    <a:pt x="32843" y="566066"/>
                  </a:lnTo>
                  <a:lnTo>
                    <a:pt x="30191" y="580848"/>
                  </a:lnTo>
                  <a:lnTo>
                    <a:pt x="29811" y="593441"/>
                  </a:lnTo>
                  <a:lnTo>
                    <a:pt x="29695" y="597273"/>
                  </a:lnTo>
                  <a:lnTo>
                    <a:pt x="30226" y="615340"/>
                  </a:lnTo>
                  <a:lnTo>
                    <a:pt x="33391" y="670790"/>
                  </a:lnTo>
                  <a:lnTo>
                    <a:pt x="60217" y="727900"/>
                  </a:lnTo>
                  <a:lnTo>
                    <a:pt x="391984" y="870470"/>
                  </a:lnTo>
                  <a:lnTo>
                    <a:pt x="563632" y="799296"/>
                  </a:lnTo>
                  <a:lnTo>
                    <a:pt x="394174" y="799296"/>
                  </a:lnTo>
                  <a:lnTo>
                    <a:pt x="88685" y="678849"/>
                  </a:lnTo>
                  <a:lnTo>
                    <a:pt x="88685" y="593441"/>
                  </a:lnTo>
                  <a:lnTo>
                    <a:pt x="258361" y="593441"/>
                  </a:lnTo>
                  <a:lnTo>
                    <a:pt x="59122" y="514602"/>
                  </a:lnTo>
                  <a:lnTo>
                    <a:pt x="59122" y="416054"/>
                  </a:lnTo>
                  <a:lnTo>
                    <a:pt x="285675" y="416054"/>
                  </a:lnTo>
                  <a:lnTo>
                    <a:pt x="91970" y="339406"/>
                  </a:lnTo>
                  <a:lnTo>
                    <a:pt x="91970" y="240858"/>
                  </a:lnTo>
                  <a:lnTo>
                    <a:pt x="692141" y="240858"/>
                  </a:lnTo>
                  <a:lnTo>
                    <a:pt x="833246" y="183919"/>
                  </a:lnTo>
                  <a:lnTo>
                    <a:pt x="875948" y="183919"/>
                  </a:lnTo>
                  <a:lnTo>
                    <a:pt x="875948" y="166400"/>
                  </a:lnTo>
                  <a:lnTo>
                    <a:pt x="932885" y="142310"/>
                  </a:lnTo>
                  <a:lnTo>
                    <a:pt x="547466" y="0"/>
                  </a:lnTo>
                  <a:close/>
                </a:path>
                <a:path w="933450" h="870585">
                  <a:moveTo>
                    <a:pt x="873758" y="518982"/>
                  </a:moveTo>
                  <a:lnTo>
                    <a:pt x="832151" y="518982"/>
                  </a:lnTo>
                  <a:lnTo>
                    <a:pt x="831092" y="615340"/>
                  </a:lnTo>
                  <a:lnTo>
                    <a:pt x="831056" y="618625"/>
                  </a:lnTo>
                  <a:lnTo>
                    <a:pt x="394174" y="799296"/>
                  </a:lnTo>
                  <a:lnTo>
                    <a:pt x="563632" y="799296"/>
                  </a:lnTo>
                  <a:lnTo>
                    <a:pt x="930695" y="647095"/>
                  </a:lnTo>
                  <a:lnTo>
                    <a:pt x="873758" y="626290"/>
                  </a:lnTo>
                  <a:lnTo>
                    <a:pt x="873758" y="518982"/>
                  </a:lnTo>
                  <a:close/>
                </a:path>
                <a:path w="933450" h="870585">
                  <a:moveTo>
                    <a:pt x="258361" y="593441"/>
                  </a:moveTo>
                  <a:lnTo>
                    <a:pt x="88685" y="593441"/>
                  </a:lnTo>
                  <a:lnTo>
                    <a:pt x="361326" y="705128"/>
                  </a:lnTo>
                  <a:lnTo>
                    <a:pt x="538577" y="635050"/>
                  </a:lnTo>
                  <a:lnTo>
                    <a:pt x="363516" y="635050"/>
                  </a:lnTo>
                  <a:lnTo>
                    <a:pt x="258361" y="593441"/>
                  </a:lnTo>
                  <a:close/>
                </a:path>
                <a:path w="933450" h="870585">
                  <a:moveTo>
                    <a:pt x="843100" y="361306"/>
                  </a:moveTo>
                  <a:lnTo>
                    <a:pt x="801492" y="361306"/>
                  </a:lnTo>
                  <a:lnTo>
                    <a:pt x="801492" y="454379"/>
                  </a:lnTo>
                  <a:lnTo>
                    <a:pt x="800397" y="454379"/>
                  </a:lnTo>
                  <a:lnTo>
                    <a:pt x="363516" y="635050"/>
                  </a:lnTo>
                  <a:lnTo>
                    <a:pt x="538577" y="635050"/>
                  </a:lnTo>
                  <a:lnTo>
                    <a:pt x="832151" y="518982"/>
                  </a:lnTo>
                  <a:lnTo>
                    <a:pt x="873758" y="518982"/>
                  </a:lnTo>
                  <a:lnTo>
                    <a:pt x="873758" y="505842"/>
                  </a:lnTo>
                  <a:lnTo>
                    <a:pt x="930695" y="481753"/>
                  </a:lnTo>
                  <a:lnTo>
                    <a:pt x="843100" y="448904"/>
                  </a:lnTo>
                  <a:lnTo>
                    <a:pt x="843100" y="361306"/>
                  </a:lnTo>
                  <a:close/>
                </a:path>
                <a:path w="933450" h="870585">
                  <a:moveTo>
                    <a:pt x="285675" y="416054"/>
                  </a:moveTo>
                  <a:lnTo>
                    <a:pt x="59122" y="416054"/>
                  </a:lnTo>
                  <a:lnTo>
                    <a:pt x="372275" y="540882"/>
                  </a:lnTo>
                  <a:lnTo>
                    <a:pt x="565946" y="459853"/>
                  </a:lnTo>
                  <a:lnTo>
                    <a:pt x="396364" y="459853"/>
                  </a:lnTo>
                  <a:lnTo>
                    <a:pt x="285675" y="416054"/>
                  </a:lnTo>
                  <a:close/>
                </a:path>
                <a:path w="933450" h="870585">
                  <a:moveTo>
                    <a:pt x="875948" y="183919"/>
                  </a:moveTo>
                  <a:lnTo>
                    <a:pt x="833246" y="183919"/>
                  </a:lnTo>
                  <a:lnTo>
                    <a:pt x="833246" y="278087"/>
                  </a:lnTo>
                  <a:lnTo>
                    <a:pt x="396364" y="459853"/>
                  </a:lnTo>
                  <a:lnTo>
                    <a:pt x="565946" y="459853"/>
                  </a:lnTo>
                  <a:lnTo>
                    <a:pt x="801492" y="361306"/>
                  </a:lnTo>
                  <a:lnTo>
                    <a:pt x="843100" y="361306"/>
                  </a:lnTo>
                  <a:lnTo>
                    <a:pt x="843100" y="343786"/>
                  </a:lnTo>
                  <a:lnTo>
                    <a:pt x="932885" y="306557"/>
                  </a:lnTo>
                  <a:lnTo>
                    <a:pt x="875948" y="285752"/>
                  </a:lnTo>
                  <a:lnTo>
                    <a:pt x="875948" y="183919"/>
                  </a:lnTo>
                  <a:close/>
                </a:path>
                <a:path w="933450" h="870585">
                  <a:moveTo>
                    <a:pt x="692141" y="240858"/>
                  </a:moveTo>
                  <a:lnTo>
                    <a:pt x="91970" y="240858"/>
                  </a:lnTo>
                  <a:lnTo>
                    <a:pt x="396364" y="360210"/>
                  </a:lnTo>
                  <a:lnTo>
                    <a:pt x="692141" y="240858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91436" y="3899408"/>
            <a:ext cx="2533650" cy="51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939"/>
              </a:lnSpc>
              <a:spcBef>
                <a:spcPts val="105"/>
              </a:spcBef>
            </a:pPr>
            <a:r>
              <a:rPr sz="1700" spc="195" dirty="0">
                <a:latin typeface="Cambria"/>
                <a:cs typeface="Cambria"/>
              </a:rPr>
              <a:t>REPRESENTACIÓN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90" dirty="0">
                <a:latin typeface="Cambria"/>
                <a:cs typeface="Cambria"/>
              </a:rPr>
              <a:t>DE</a:t>
            </a:r>
            <a:endParaRPr sz="1700">
              <a:latin typeface="Cambria"/>
              <a:cs typeface="Cambria"/>
            </a:endParaRPr>
          </a:p>
          <a:p>
            <a:pPr marL="1270" algn="ctr">
              <a:lnSpc>
                <a:spcPts val="1939"/>
              </a:lnSpc>
            </a:pPr>
            <a:r>
              <a:rPr sz="1700" spc="180" dirty="0">
                <a:latin typeface="Cambria"/>
                <a:cs typeface="Cambria"/>
              </a:rPr>
              <a:t>TEXTOS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01640" y="1510283"/>
            <a:ext cx="1853564" cy="1853564"/>
            <a:chOff x="5501640" y="1510283"/>
            <a:chExt cx="1853564" cy="1853564"/>
          </a:xfrm>
        </p:grpSpPr>
        <p:sp>
          <p:nvSpPr>
            <p:cNvPr id="10" name="object 10"/>
            <p:cNvSpPr/>
            <p:nvPr/>
          </p:nvSpPr>
          <p:spPr>
            <a:xfrm>
              <a:off x="5501640" y="1510283"/>
              <a:ext cx="1853564" cy="1853564"/>
            </a:xfrm>
            <a:custGeom>
              <a:avLst/>
              <a:gdLst/>
              <a:ahLst/>
              <a:cxnLst/>
              <a:rect l="l" t="t" r="r" b="b"/>
              <a:pathLst>
                <a:path w="1853565" h="1853564">
                  <a:moveTo>
                    <a:pt x="926592" y="0"/>
                  </a:moveTo>
                  <a:lnTo>
                    <a:pt x="878914" y="1205"/>
                  </a:lnTo>
                  <a:lnTo>
                    <a:pt x="831863" y="4784"/>
                  </a:lnTo>
                  <a:lnTo>
                    <a:pt x="785494" y="10677"/>
                  </a:lnTo>
                  <a:lnTo>
                    <a:pt x="739868" y="18827"/>
                  </a:lnTo>
                  <a:lnTo>
                    <a:pt x="695042" y="29175"/>
                  </a:lnTo>
                  <a:lnTo>
                    <a:pt x="651074" y="41662"/>
                  </a:lnTo>
                  <a:lnTo>
                    <a:pt x="608022" y="56232"/>
                  </a:lnTo>
                  <a:lnTo>
                    <a:pt x="565945" y="72824"/>
                  </a:lnTo>
                  <a:lnTo>
                    <a:pt x="524902" y="91382"/>
                  </a:lnTo>
                  <a:lnTo>
                    <a:pt x="484949" y="111846"/>
                  </a:lnTo>
                  <a:lnTo>
                    <a:pt x="446146" y="134159"/>
                  </a:lnTo>
                  <a:lnTo>
                    <a:pt x="408551" y="158263"/>
                  </a:lnTo>
                  <a:lnTo>
                    <a:pt x="372222" y="184098"/>
                  </a:lnTo>
                  <a:lnTo>
                    <a:pt x="337218" y="211607"/>
                  </a:lnTo>
                  <a:lnTo>
                    <a:pt x="303596" y="240732"/>
                  </a:lnTo>
                  <a:lnTo>
                    <a:pt x="271414" y="271414"/>
                  </a:lnTo>
                  <a:lnTo>
                    <a:pt x="240732" y="303596"/>
                  </a:lnTo>
                  <a:lnTo>
                    <a:pt x="211607" y="337218"/>
                  </a:lnTo>
                  <a:lnTo>
                    <a:pt x="184098" y="372222"/>
                  </a:lnTo>
                  <a:lnTo>
                    <a:pt x="158263" y="408551"/>
                  </a:lnTo>
                  <a:lnTo>
                    <a:pt x="134159" y="446146"/>
                  </a:lnTo>
                  <a:lnTo>
                    <a:pt x="111846" y="484949"/>
                  </a:lnTo>
                  <a:lnTo>
                    <a:pt x="91382" y="524902"/>
                  </a:lnTo>
                  <a:lnTo>
                    <a:pt x="72824" y="565945"/>
                  </a:lnTo>
                  <a:lnTo>
                    <a:pt x="56232" y="608022"/>
                  </a:lnTo>
                  <a:lnTo>
                    <a:pt x="41662" y="651074"/>
                  </a:lnTo>
                  <a:lnTo>
                    <a:pt x="29175" y="695042"/>
                  </a:lnTo>
                  <a:lnTo>
                    <a:pt x="18827" y="739868"/>
                  </a:lnTo>
                  <a:lnTo>
                    <a:pt x="10677" y="785494"/>
                  </a:lnTo>
                  <a:lnTo>
                    <a:pt x="4784" y="831863"/>
                  </a:lnTo>
                  <a:lnTo>
                    <a:pt x="1205" y="878914"/>
                  </a:lnTo>
                  <a:lnTo>
                    <a:pt x="0" y="926591"/>
                  </a:lnTo>
                  <a:lnTo>
                    <a:pt x="1205" y="974269"/>
                  </a:lnTo>
                  <a:lnTo>
                    <a:pt x="4784" y="1021320"/>
                  </a:lnTo>
                  <a:lnTo>
                    <a:pt x="10677" y="1067689"/>
                  </a:lnTo>
                  <a:lnTo>
                    <a:pt x="18827" y="1113315"/>
                  </a:lnTo>
                  <a:lnTo>
                    <a:pt x="29175" y="1158141"/>
                  </a:lnTo>
                  <a:lnTo>
                    <a:pt x="41662" y="1202109"/>
                  </a:lnTo>
                  <a:lnTo>
                    <a:pt x="56232" y="1245161"/>
                  </a:lnTo>
                  <a:lnTo>
                    <a:pt x="72824" y="1287238"/>
                  </a:lnTo>
                  <a:lnTo>
                    <a:pt x="91382" y="1328281"/>
                  </a:lnTo>
                  <a:lnTo>
                    <a:pt x="111846" y="1368234"/>
                  </a:lnTo>
                  <a:lnTo>
                    <a:pt x="134159" y="1407037"/>
                  </a:lnTo>
                  <a:lnTo>
                    <a:pt x="158263" y="1444632"/>
                  </a:lnTo>
                  <a:lnTo>
                    <a:pt x="184098" y="1480961"/>
                  </a:lnTo>
                  <a:lnTo>
                    <a:pt x="211607" y="1515965"/>
                  </a:lnTo>
                  <a:lnTo>
                    <a:pt x="240732" y="1549587"/>
                  </a:lnTo>
                  <a:lnTo>
                    <a:pt x="271414" y="1581769"/>
                  </a:lnTo>
                  <a:lnTo>
                    <a:pt x="303596" y="1612451"/>
                  </a:lnTo>
                  <a:lnTo>
                    <a:pt x="337218" y="1641576"/>
                  </a:lnTo>
                  <a:lnTo>
                    <a:pt x="372222" y="1669085"/>
                  </a:lnTo>
                  <a:lnTo>
                    <a:pt x="408551" y="1694920"/>
                  </a:lnTo>
                  <a:lnTo>
                    <a:pt x="446146" y="1719024"/>
                  </a:lnTo>
                  <a:lnTo>
                    <a:pt x="484949" y="1741337"/>
                  </a:lnTo>
                  <a:lnTo>
                    <a:pt x="524902" y="1761801"/>
                  </a:lnTo>
                  <a:lnTo>
                    <a:pt x="565945" y="1780359"/>
                  </a:lnTo>
                  <a:lnTo>
                    <a:pt x="608022" y="1796951"/>
                  </a:lnTo>
                  <a:lnTo>
                    <a:pt x="651074" y="1811521"/>
                  </a:lnTo>
                  <a:lnTo>
                    <a:pt x="695042" y="1824008"/>
                  </a:lnTo>
                  <a:lnTo>
                    <a:pt x="739868" y="1834356"/>
                  </a:lnTo>
                  <a:lnTo>
                    <a:pt x="785494" y="1842506"/>
                  </a:lnTo>
                  <a:lnTo>
                    <a:pt x="831863" y="1848399"/>
                  </a:lnTo>
                  <a:lnTo>
                    <a:pt x="878914" y="1851978"/>
                  </a:lnTo>
                  <a:lnTo>
                    <a:pt x="926592" y="1853183"/>
                  </a:lnTo>
                  <a:lnTo>
                    <a:pt x="974269" y="1851978"/>
                  </a:lnTo>
                  <a:lnTo>
                    <a:pt x="1021320" y="1848399"/>
                  </a:lnTo>
                  <a:lnTo>
                    <a:pt x="1067689" y="1842506"/>
                  </a:lnTo>
                  <a:lnTo>
                    <a:pt x="1113315" y="1834356"/>
                  </a:lnTo>
                  <a:lnTo>
                    <a:pt x="1158141" y="1824008"/>
                  </a:lnTo>
                  <a:lnTo>
                    <a:pt x="1202109" y="1811521"/>
                  </a:lnTo>
                  <a:lnTo>
                    <a:pt x="1245161" y="1796951"/>
                  </a:lnTo>
                  <a:lnTo>
                    <a:pt x="1287238" y="1780359"/>
                  </a:lnTo>
                  <a:lnTo>
                    <a:pt x="1328281" y="1761801"/>
                  </a:lnTo>
                  <a:lnTo>
                    <a:pt x="1368234" y="1741337"/>
                  </a:lnTo>
                  <a:lnTo>
                    <a:pt x="1407037" y="1719024"/>
                  </a:lnTo>
                  <a:lnTo>
                    <a:pt x="1444632" y="1694920"/>
                  </a:lnTo>
                  <a:lnTo>
                    <a:pt x="1480961" y="1669085"/>
                  </a:lnTo>
                  <a:lnTo>
                    <a:pt x="1515965" y="1641576"/>
                  </a:lnTo>
                  <a:lnTo>
                    <a:pt x="1549587" y="1612451"/>
                  </a:lnTo>
                  <a:lnTo>
                    <a:pt x="1581769" y="1581769"/>
                  </a:lnTo>
                  <a:lnTo>
                    <a:pt x="1612451" y="1549587"/>
                  </a:lnTo>
                  <a:lnTo>
                    <a:pt x="1641576" y="1515965"/>
                  </a:lnTo>
                  <a:lnTo>
                    <a:pt x="1669085" y="1480961"/>
                  </a:lnTo>
                  <a:lnTo>
                    <a:pt x="1694920" y="1444632"/>
                  </a:lnTo>
                  <a:lnTo>
                    <a:pt x="1719024" y="1407037"/>
                  </a:lnTo>
                  <a:lnTo>
                    <a:pt x="1741337" y="1368234"/>
                  </a:lnTo>
                  <a:lnTo>
                    <a:pt x="1761801" y="1328281"/>
                  </a:lnTo>
                  <a:lnTo>
                    <a:pt x="1780359" y="1287238"/>
                  </a:lnTo>
                  <a:lnTo>
                    <a:pt x="1796951" y="1245161"/>
                  </a:lnTo>
                  <a:lnTo>
                    <a:pt x="1811521" y="1202109"/>
                  </a:lnTo>
                  <a:lnTo>
                    <a:pt x="1824008" y="1158141"/>
                  </a:lnTo>
                  <a:lnTo>
                    <a:pt x="1834356" y="1113315"/>
                  </a:lnTo>
                  <a:lnTo>
                    <a:pt x="1842506" y="1067689"/>
                  </a:lnTo>
                  <a:lnTo>
                    <a:pt x="1848399" y="1021320"/>
                  </a:lnTo>
                  <a:lnTo>
                    <a:pt x="1851978" y="974269"/>
                  </a:lnTo>
                  <a:lnTo>
                    <a:pt x="1853184" y="926591"/>
                  </a:lnTo>
                  <a:lnTo>
                    <a:pt x="1851978" y="878914"/>
                  </a:lnTo>
                  <a:lnTo>
                    <a:pt x="1848399" y="831863"/>
                  </a:lnTo>
                  <a:lnTo>
                    <a:pt x="1842506" y="785494"/>
                  </a:lnTo>
                  <a:lnTo>
                    <a:pt x="1834356" y="739868"/>
                  </a:lnTo>
                  <a:lnTo>
                    <a:pt x="1824008" y="695042"/>
                  </a:lnTo>
                  <a:lnTo>
                    <a:pt x="1811521" y="651074"/>
                  </a:lnTo>
                  <a:lnTo>
                    <a:pt x="1796951" y="608022"/>
                  </a:lnTo>
                  <a:lnTo>
                    <a:pt x="1780359" y="565945"/>
                  </a:lnTo>
                  <a:lnTo>
                    <a:pt x="1761801" y="524902"/>
                  </a:lnTo>
                  <a:lnTo>
                    <a:pt x="1741337" y="484949"/>
                  </a:lnTo>
                  <a:lnTo>
                    <a:pt x="1719024" y="446146"/>
                  </a:lnTo>
                  <a:lnTo>
                    <a:pt x="1694920" y="408551"/>
                  </a:lnTo>
                  <a:lnTo>
                    <a:pt x="1669085" y="372222"/>
                  </a:lnTo>
                  <a:lnTo>
                    <a:pt x="1641576" y="337218"/>
                  </a:lnTo>
                  <a:lnTo>
                    <a:pt x="1612451" y="303596"/>
                  </a:lnTo>
                  <a:lnTo>
                    <a:pt x="1581769" y="271414"/>
                  </a:lnTo>
                  <a:lnTo>
                    <a:pt x="1549587" y="240732"/>
                  </a:lnTo>
                  <a:lnTo>
                    <a:pt x="1515965" y="211607"/>
                  </a:lnTo>
                  <a:lnTo>
                    <a:pt x="1480961" y="184098"/>
                  </a:lnTo>
                  <a:lnTo>
                    <a:pt x="1444632" y="158263"/>
                  </a:lnTo>
                  <a:lnTo>
                    <a:pt x="1407037" y="134159"/>
                  </a:lnTo>
                  <a:lnTo>
                    <a:pt x="1368234" y="111846"/>
                  </a:lnTo>
                  <a:lnTo>
                    <a:pt x="1328281" y="91382"/>
                  </a:lnTo>
                  <a:lnTo>
                    <a:pt x="1287238" y="72824"/>
                  </a:lnTo>
                  <a:lnTo>
                    <a:pt x="1245161" y="56232"/>
                  </a:lnTo>
                  <a:lnTo>
                    <a:pt x="1202109" y="41662"/>
                  </a:lnTo>
                  <a:lnTo>
                    <a:pt x="1158141" y="29175"/>
                  </a:lnTo>
                  <a:lnTo>
                    <a:pt x="1113315" y="18827"/>
                  </a:lnTo>
                  <a:lnTo>
                    <a:pt x="1067689" y="10677"/>
                  </a:lnTo>
                  <a:lnTo>
                    <a:pt x="1021320" y="4784"/>
                  </a:lnTo>
                  <a:lnTo>
                    <a:pt x="974269" y="1205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3841" y="2128503"/>
              <a:ext cx="91975" cy="9197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5878" y="2350783"/>
              <a:ext cx="91975" cy="919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57403" y="1975086"/>
              <a:ext cx="744855" cy="883285"/>
            </a:xfrm>
            <a:custGeom>
              <a:avLst/>
              <a:gdLst/>
              <a:ahLst/>
              <a:cxnLst/>
              <a:rect l="l" t="t" r="r" b="b"/>
              <a:pathLst>
                <a:path w="744854" h="883285">
                  <a:moveTo>
                    <a:pt x="353883" y="0"/>
                  </a:moveTo>
                  <a:lnTo>
                    <a:pt x="304176" y="0"/>
                  </a:lnTo>
                  <a:lnTo>
                    <a:pt x="254891" y="7508"/>
                  </a:lnTo>
                  <a:lnTo>
                    <a:pt x="206870" y="22525"/>
                  </a:lnTo>
                  <a:lnTo>
                    <a:pt x="160956" y="45050"/>
                  </a:lnTo>
                  <a:lnTo>
                    <a:pt x="119057" y="74400"/>
                  </a:lnTo>
                  <a:lnTo>
                    <a:pt x="82790" y="109385"/>
                  </a:lnTo>
                  <a:lnTo>
                    <a:pt x="52557" y="149200"/>
                  </a:lnTo>
                  <a:lnTo>
                    <a:pt x="28758" y="193039"/>
                  </a:lnTo>
                  <a:lnTo>
                    <a:pt x="11798" y="240099"/>
                  </a:lnTo>
                  <a:lnTo>
                    <a:pt x="2152" y="289193"/>
                  </a:lnTo>
                  <a:lnTo>
                    <a:pt x="89" y="338467"/>
                  </a:lnTo>
                  <a:lnTo>
                    <a:pt x="0" y="340657"/>
                  </a:lnTo>
                  <a:lnTo>
                    <a:pt x="3794" y="391026"/>
                  </a:lnTo>
                  <a:lnTo>
                    <a:pt x="3867" y="391994"/>
                  </a:lnTo>
                  <a:lnTo>
                    <a:pt x="15248" y="441476"/>
                  </a:lnTo>
                  <a:lnTo>
                    <a:pt x="33806" y="488342"/>
                  </a:lnTo>
                  <a:lnTo>
                    <a:pt x="59208" y="531832"/>
                  </a:lnTo>
                  <a:lnTo>
                    <a:pt x="91118" y="571185"/>
                  </a:lnTo>
                  <a:lnTo>
                    <a:pt x="129203" y="605642"/>
                  </a:lnTo>
                  <a:lnTo>
                    <a:pt x="129203" y="882671"/>
                  </a:lnTo>
                  <a:lnTo>
                    <a:pt x="475205" y="882671"/>
                  </a:lnTo>
                  <a:lnTo>
                    <a:pt x="475204" y="751274"/>
                  </a:lnTo>
                  <a:lnTo>
                    <a:pt x="528857" y="751274"/>
                  </a:lnTo>
                  <a:lnTo>
                    <a:pt x="578950" y="741145"/>
                  </a:lnTo>
                  <a:lnTo>
                    <a:pt x="620832" y="712950"/>
                  </a:lnTo>
                  <a:lnTo>
                    <a:pt x="648479" y="670109"/>
                  </a:lnTo>
                  <a:lnTo>
                    <a:pt x="658060" y="619877"/>
                  </a:lnTo>
                  <a:lnTo>
                    <a:pt x="658060" y="554178"/>
                  </a:lnTo>
                  <a:lnTo>
                    <a:pt x="706237" y="554178"/>
                  </a:lnTo>
                  <a:lnTo>
                    <a:pt x="714801" y="550893"/>
                  </a:lnTo>
                  <a:lnTo>
                    <a:pt x="209134" y="550893"/>
                  </a:lnTo>
                  <a:lnTo>
                    <a:pt x="195994" y="523518"/>
                  </a:lnTo>
                  <a:lnTo>
                    <a:pt x="192213" y="522424"/>
                  </a:lnTo>
                  <a:lnTo>
                    <a:pt x="143437" y="522424"/>
                  </a:lnTo>
                  <a:lnTo>
                    <a:pt x="121538" y="500524"/>
                  </a:lnTo>
                  <a:lnTo>
                    <a:pt x="131393" y="472055"/>
                  </a:lnTo>
                  <a:lnTo>
                    <a:pt x="128313" y="466289"/>
                  </a:lnTo>
                  <a:lnTo>
                    <a:pt x="125644" y="460420"/>
                  </a:lnTo>
                  <a:lnTo>
                    <a:pt x="123386" y="454347"/>
                  </a:lnTo>
                  <a:lnTo>
                    <a:pt x="121538" y="447965"/>
                  </a:lnTo>
                  <a:lnTo>
                    <a:pt x="94165" y="434825"/>
                  </a:lnTo>
                  <a:lnTo>
                    <a:pt x="94165" y="404166"/>
                  </a:lnTo>
                  <a:lnTo>
                    <a:pt x="121538" y="391026"/>
                  </a:lnTo>
                  <a:lnTo>
                    <a:pt x="123386" y="384645"/>
                  </a:lnTo>
                  <a:lnTo>
                    <a:pt x="125644" y="378571"/>
                  </a:lnTo>
                  <a:lnTo>
                    <a:pt x="128313" y="372702"/>
                  </a:lnTo>
                  <a:lnTo>
                    <a:pt x="131393" y="366937"/>
                  </a:lnTo>
                  <a:lnTo>
                    <a:pt x="121538" y="338467"/>
                  </a:lnTo>
                  <a:lnTo>
                    <a:pt x="143437" y="316568"/>
                  </a:lnTo>
                  <a:lnTo>
                    <a:pt x="195994" y="316568"/>
                  </a:lnTo>
                  <a:lnTo>
                    <a:pt x="209133" y="289193"/>
                  </a:lnTo>
                  <a:lnTo>
                    <a:pt x="268260" y="289193"/>
                  </a:lnTo>
                  <a:lnTo>
                    <a:pt x="258406" y="279339"/>
                  </a:lnTo>
                  <a:lnTo>
                    <a:pt x="268260" y="250869"/>
                  </a:lnTo>
                  <a:lnTo>
                    <a:pt x="265181" y="245103"/>
                  </a:lnTo>
                  <a:lnTo>
                    <a:pt x="262512" y="239235"/>
                  </a:lnTo>
                  <a:lnTo>
                    <a:pt x="260253" y="233161"/>
                  </a:lnTo>
                  <a:lnTo>
                    <a:pt x="258406" y="226780"/>
                  </a:lnTo>
                  <a:lnTo>
                    <a:pt x="231032" y="213640"/>
                  </a:lnTo>
                  <a:lnTo>
                    <a:pt x="231032" y="182981"/>
                  </a:lnTo>
                  <a:lnTo>
                    <a:pt x="258406" y="169841"/>
                  </a:lnTo>
                  <a:lnTo>
                    <a:pt x="260253" y="163459"/>
                  </a:lnTo>
                  <a:lnTo>
                    <a:pt x="262512" y="157386"/>
                  </a:lnTo>
                  <a:lnTo>
                    <a:pt x="265181" y="151517"/>
                  </a:lnTo>
                  <a:lnTo>
                    <a:pt x="268260" y="145751"/>
                  </a:lnTo>
                  <a:lnTo>
                    <a:pt x="259501" y="117282"/>
                  </a:lnTo>
                  <a:lnTo>
                    <a:pt x="281399" y="95382"/>
                  </a:lnTo>
                  <a:lnTo>
                    <a:pt x="333957" y="95382"/>
                  </a:lnTo>
                  <a:lnTo>
                    <a:pt x="347096" y="68045"/>
                  </a:lnTo>
                  <a:lnTo>
                    <a:pt x="529548" y="68045"/>
                  </a:lnTo>
                  <a:lnTo>
                    <a:pt x="497103" y="45050"/>
                  </a:lnTo>
                  <a:lnTo>
                    <a:pt x="451189" y="22525"/>
                  </a:lnTo>
                  <a:lnTo>
                    <a:pt x="403168" y="7508"/>
                  </a:lnTo>
                  <a:lnTo>
                    <a:pt x="353883" y="0"/>
                  </a:lnTo>
                  <a:close/>
                </a:path>
                <a:path w="744854" h="883285">
                  <a:moveTo>
                    <a:pt x="275925" y="514759"/>
                  </a:moveTo>
                  <a:lnTo>
                    <a:pt x="270159" y="517838"/>
                  </a:lnTo>
                  <a:lnTo>
                    <a:pt x="264291" y="520507"/>
                  </a:lnTo>
                  <a:lnTo>
                    <a:pt x="258218" y="522766"/>
                  </a:lnTo>
                  <a:lnTo>
                    <a:pt x="251836" y="524613"/>
                  </a:lnTo>
                  <a:lnTo>
                    <a:pt x="239792" y="550893"/>
                  </a:lnTo>
                  <a:lnTo>
                    <a:pt x="714801" y="550893"/>
                  </a:lnTo>
                  <a:lnTo>
                    <a:pt x="726220" y="546513"/>
                  </a:lnTo>
                  <a:lnTo>
                    <a:pt x="740454" y="529815"/>
                  </a:lnTo>
                  <a:lnTo>
                    <a:pt x="741326" y="524614"/>
                  </a:lnTo>
                  <a:lnTo>
                    <a:pt x="304393" y="524613"/>
                  </a:lnTo>
                  <a:lnTo>
                    <a:pt x="275925" y="514759"/>
                  </a:lnTo>
                  <a:close/>
                </a:path>
                <a:path w="744854" h="883285">
                  <a:moveTo>
                    <a:pt x="340220" y="316568"/>
                  </a:moveTo>
                  <a:lnTo>
                    <a:pt x="306583" y="316568"/>
                  </a:lnTo>
                  <a:lnTo>
                    <a:pt x="328482" y="338467"/>
                  </a:lnTo>
                  <a:lnTo>
                    <a:pt x="318628" y="366937"/>
                  </a:lnTo>
                  <a:lnTo>
                    <a:pt x="321707" y="372703"/>
                  </a:lnTo>
                  <a:lnTo>
                    <a:pt x="324376" y="378571"/>
                  </a:lnTo>
                  <a:lnTo>
                    <a:pt x="326634" y="384645"/>
                  </a:lnTo>
                  <a:lnTo>
                    <a:pt x="328482" y="391026"/>
                  </a:lnTo>
                  <a:lnTo>
                    <a:pt x="355856" y="404166"/>
                  </a:lnTo>
                  <a:lnTo>
                    <a:pt x="354834" y="434825"/>
                  </a:lnTo>
                  <a:lnTo>
                    <a:pt x="354761" y="437015"/>
                  </a:lnTo>
                  <a:lnTo>
                    <a:pt x="327387" y="450155"/>
                  </a:lnTo>
                  <a:lnTo>
                    <a:pt x="325539" y="456537"/>
                  </a:lnTo>
                  <a:lnTo>
                    <a:pt x="323281" y="462610"/>
                  </a:lnTo>
                  <a:lnTo>
                    <a:pt x="320612" y="468479"/>
                  </a:lnTo>
                  <a:lnTo>
                    <a:pt x="317533" y="474245"/>
                  </a:lnTo>
                  <a:lnTo>
                    <a:pt x="326292" y="502714"/>
                  </a:lnTo>
                  <a:lnTo>
                    <a:pt x="304393" y="524613"/>
                  </a:lnTo>
                  <a:lnTo>
                    <a:pt x="741326" y="524614"/>
                  </a:lnTo>
                  <a:lnTo>
                    <a:pt x="744423" y="506136"/>
                  </a:lnTo>
                  <a:lnTo>
                    <a:pt x="733611" y="477530"/>
                  </a:lnTo>
                  <a:lnTo>
                    <a:pt x="658059" y="346132"/>
                  </a:lnTo>
                  <a:lnTo>
                    <a:pt x="657970" y="338467"/>
                  </a:lnTo>
                  <a:lnTo>
                    <a:pt x="657569" y="328613"/>
                  </a:lnTo>
                  <a:lnTo>
                    <a:pt x="346001" y="328613"/>
                  </a:lnTo>
                  <a:lnTo>
                    <a:pt x="340220" y="316568"/>
                  </a:lnTo>
                  <a:close/>
                </a:path>
                <a:path w="744854" h="883285">
                  <a:moveTo>
                    <a:pt x="171905" y="513664"/>
                  </a:moveTo>
                  <a:lnTo>
                    <a:pt x="143437" y="522424"/>
                  </a:lnTo>
                  <a:lnTo>
                    <a:pt x="192213" y="522424"/>
                  </a:lnTo>
                  <a:lnTo>
                    <a:pt x="189613" y="521671"/>
                  </a:lnTo>
                  <a:lnTo>
                    <a:pt x="183539" y="519412"/>
                  </a:lnTo>
                  <a:lnTo>
                    <a:pt x="177671" y="516743"/>
                  </a:lnTo>
                  <a:lnTo>
                    <a:pt x="171905" y="513664"/>
                  </a:lnTo>
                  <a:close/>
                </a:path>
                <a:path w="744854" h="883285">
                  <a:moveTo>
                    <a:pt x="413887" y="292478"/>
                  </a:moveTo>
                  <a:lnTo>
                    <a:pt x="408122" y="295558"/>
                  </a:lnTo>
                  <a:lnTo>
                    <a:pt x="402254" y="298227"/>
                  </a:lnTo>
                  <a:lnTo>
                    <a:pt x="396180" y="300485"/>
                  </a:lnTo>
                  <a:lnTo>
                    <a:pt x="389799" y="302333"/>
                  </a:lnTo>
                  <a:lnTo>
                    <a:pt x="376659" y="328613"/>
                  </a:lnTo>
                  <a:lnTo>
                    <a:pt x="657569" y="328613"/>
                  </a:lnTo>
                  <a:lnTo>
                    <a:pt x="656499" y="302333"/>
                  </a:lnTo>
                  <a:lnTo>
                    <a:pt x="442356" y="302333"/>
                  </a:lnTo>
                  <a:lnTo>
                    <a:pt x="413887" y="292478"/>
                  </a:lnTo>
                  <a:close/>
                </a:path>
                <a:path w="744854" h="883285">
                  <a:moveTo>
                    <a:pt x="195994" y="316568"/>
                  </a:moveTo>
                  <a:lnTo>
                    <a:pt x="143437" y="316568"/>
                  </a:lnTo>
                  <a:lnTo>
                    <a:pt x="171905" y="326423"/>
                  </a:lnTo>
                  <a:lnTo>
                    <a:pt x="177671" y="323343"/>
                  </a:lnTo>
                  <a:lnTo>
                    <a:pt x="183539" y="320674"/>
                  </a:lnTo>
                  <a:lnTo>
                    <a:pt x="189613" y="318416"/>
                  </a:lnTo>
                  <a:lnTo>
                    <a:pt x="195994" y="316568"/>
                  </a:lnTo>
                  <a:close/>
                </a:path>
                <a:path w="744854" h="883285">
                  <a:moveTo>
                    <a:pt x="268260" y="289193"/>
                  </a:moveTo>
                  <a:lnTo>
                    <a:pt x="240887" y="289193"/>
                  </a:lnTo>
                  <a:lnTo>
                    <a:pt x="254026" y="316568"/>
                  </a:lnTo>
                  <a:lnTo>
                    <a:pt x="260407" y="318416"/>
                  </a:lnTo>
                  <a:lnTo>
                    <a:pt x="266481" y="320674"/>
                  </a:lnTo>
                  <a:lnTo>
                    <a:pt x="272349" y="323343"/>
                  </a:lnTo>
                  <a:lnTo>
                    <a:pt x="278115" y="326423"/>
                  </a:lnTo>
                  <a:lnTo>
                    <a:pt x="306583" y="316568"/>
                  </a:lnTo>
                  <a:lnTo>
                    <a:pt x="340220" y="316568"/>
                  </a:lnTo>
                  <a:lnTo>
                    <a:pt x="332862" y="301238"/>
                  </a:lnTo>
                  <a:lnTo>
                    <a:pt x="280305" y="301238"/>
                  </a:lnTo>
                  <a:lnTo>
                    <a:pt x="268260" y="289193"/>
                  </a:lnTo>
                  <a:close/>
                </a:path>
                <a:path w="744854" h="883285">
                  <a:moveTo>
                    <a:pt x="559183" y="94288"/>
                  </a:moveTo>
                  <a:lnTo>
                    <a:pt x="443451" y="94287"/>
                  </a:lnTo>
                  <a:lnTo>
                    <a:pt x="465350" y="116187"/>
                  </a:lnTo>
                  <a:lnTo>
                    <a:pt x="455495" y="144656"/>
                  </a:lnTo>
                  <a:lnTo>
                    <a:pt x="458575" y="150422"/>
                  </a:lnTo>
                  <a:lnTo>
                    <a:pt x="461244" y="156291"/>
                  </a:lnTo>
                  <a:lnTo>
                    <a:pt x="463502" y="162364"/>
                  </a:lnTo>
                  <a:lnTo>
                    <a:pt x="465350" y="168746"/>
                  </a:lnTo>
                  <a:lnTo>
                    <a:pt x="492723" y="181886"/>
                  </a:lnTo>
                  <a:lnTo>
                    <a:pt x="492723" y="214735"/>
                  </a:lnTo>
                  <a:lnTo>
                    <a:pt x="465350" y="227875"/>
                  </a:lnTo>
                  <a:lnTo>
                    <a:pt x="463331" y="234256"/>
                  </a:lnTo>
                  <a:lnTo>
                    <a:pt x="460796" y="240099"/>
                  </a:lnTo>
                  <a:lnTo>
                    <a:pt x="460696" y="240330"/>
                  </a:lnTo>
                  <a:lnTo>
                    <a:pt x="457651" y="246198"/>
                  </a:lnTo>
                  <a:lnTo>
                    <a:pt x="454400" y="251964"/>
                  </a:lnTo>
                  <a:lnTo>
                    <a:pt x="464255" y="280434"/>
                  </a:lnTo>
                  <a:lnTo>
                    <a:pt x="442356" y="302333"/>
                  </a:lnTo>
                  <a:lnTo>
                    <a:pt x="656499" y="302333"/>
                  </a:lnTo>
                  <a:lnTo>
                    <a:pt x="656379" y="299390"/>
                  </a:lnTo>
                  <a:lnTo>
                    <a:pt x="656287" y="297132"/>
                  </a:lnTo>
                  <a:lnTo>
                    <a:pt x="656178" y="294463"/>
                  </a:lnTo>
                  <a:lnTo>
                    <a:pt x="656053" y="291383"/>
                  </a:lnTo>
                  <a:lnTo>
                    <a:pt x="655981" y="289631"/>
                  </a:lnTo>
                  <a:lnTo>
                    <a:pt x="646269" y="240330"/>
                  </a:lnTo>
                  <a:lnTo>
                    <a:pt x="629300" y="193384"/>
                  </a:lnTo>
                  <a:lnTo>
                    <a:pt x="605502" y="149659"/>
                  </a:lnTo>
                  <a:lnTo>
                    <a:pt x="575268" y="109864"/>
                  </a:lnTo>
                  <a:lnTo>
                    <a:pt x="559183" y="94288"/>
                  </a:lnTo>
                  <a:close/>
                </a:path>
                <a:path w="744854" h="883285">
                  <a:moveTo>
                    <a:pt x="308773" y="291383"/>
                  </a:moveTo>
                  <a:lnTo>
                    <a:pt x="280305" y="301238"/>
                  </a:lnTo>
                  <a:lnTo>
                    <a:pt x="332862" y="301238"/>
                  </a:lnTo>
                  <a:lnTo>
                    <a:pt x="326480" y="299390"/>
                  </a:lnTo>
                  <a:lnTo>
                    <a:pt x="320407" y="297132"/>
                  </a:lnTo>
                  <a:lnTo>
                    <a:pt x="314539" y="294463"/>
                  </a:lnTo>
                  <a:lnTo>
                    <a:pt x="308773" y="291383"/>
                  </a:lnTo>
                  <a:close/>
                </a:path>
                <a:path w="744854" h="883285">
                  <a:moveTo>
                    <a:pt x="333957" y="95382"/>
                  </a:moveTo>
                  <a:lnTo>
                    <a:pt x="281399" y="95382"/>
                  </a:lnTo>
                  <a:lnTo>
                    <a:pt x="309868" y="105237"/>
                  </a:lnTo>
                  <a:lnTo>
                    <a:pt x="315633" y="102158"/>
                  </a:lnTo>
                  <a:lnTo>
                    <a:pt x="321502" y="99489"/>
                  </a:lnTo>
                  <a:lnTo>
                    <a:pt x="327575" y="97230"/>
                  </a:lnTo>
                  <a:lnTo>
                    <a:pt x="333957" y="95382"/>
                  </a:lnTo>
                  <a:close/>
                </a:path>
                <a:path w="744854" h="883285">
                  <a:moveTo>
                    <a:pt x="529548" y="68045"/>
                  </a:moveTo>
                  <a:lnTo>
                    <a:pt x="377754" y="68045"/>
                  </a:lnTo>
                  <a:lnTo>
                    <a:pt x="390894" y="94287"/>
                  </a:lnTo>
                  <a:lnTo>
                    <a:pt x="397275" y="96135"/>
                  </a:lnTo>
                  <a:lnTo>
                    <a:pt x="403349" y="98394"/>
                  </a:lnTo>
                  <a:lnTo>
                    <a:pt x="409217" y="101063"/>
                  </a:lnTo>
                  <a:lnTo>
                    <a:pt x="414982" y="104142"/>
                  </a:lnTo>
                  <a:lnTo>
                    <a:pt x="443451" y="94287"/>
                  </a:lnTo>
                  <a:lnTo>
                    <a:pt x="559183" y="94288"/>
                  </a:lnTo>
                  <a:lnTo>
                    <a:pt x="539001" y="74745"/>
                  </a:lnTo>
                  <a:lnTo>
                    <a:pt x="529548" y="68045"/>
                  </a:lnTo>
                  <a:close/>
                </a:path>
              </a:pathLst>
            </a:custGeom>
            <a:solidFill>
              <a:srgbClr val="A7B7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85409" y="3899408"/>
            <a:ext cx="2484755" cy="7524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ctr">
              <a:lnSpc>
                <a:spcPct val="90100"/>
              </a:lnSpc>
              <a:spcBef>
                <a:spcPts val="305"/>
              </a:spcBef>
            </a:pPr>
            <a:r>
              <a:rPr sz="1700" spc="240" dirty="0">
                <a:latin typeface="Cambria"/>
                <a:cs typeface="Cambria"/>
              </a:rPr>
              <a:t>USO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35" dirty="0">
                <a:latin typeface="Cambria"/>
                <a:cs typeface="Cambria"/>
              </a:rPr>
              <a:t>EN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10" dirty="0">
                <a:latin typeface="Cambria"/>
                <a:cs typeface="Cambria"/>
              </a:rPr>
              <a:t>MODELOS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190" dirty="0">
                <a:latin typeface="Cambria"/>
                <a:cs typeface="Cambria"/>
              </a:rPr>
              <a:t>DE APRENDIZAJE </a:t>
            </a:r>
            <a:r>
              <a:rPr sz="1700" spc="175" dirty="0">
                <a:latin typeface="Cambria"/>
                <a:cs typeface="Cambria"/>
              </a:rPr>
              <a:t>AUTOMÁTICO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13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5"/>
              </a:spcBef>
            </a:pPr>
            <a:r>
              <a:rPr sz="4400" spc="85" dirty="0"/>
              <a:t>Representación</a:t>
            </a:r>
            <a:r>
              <a:rPr sz="4400" spc="155" dirty="0"/>
              <a:t> </a:t>
            </a:r>
            <a:r>
              <a:rPr sz="4400" dirty="0"/>
              <a:t>de</a:t>
            </a:r>
            <a:r>
              <a:rPr sz="4400" spc="180" dirty="0"/>
              <a:t> </a:t>
            </a:r>
            <a:r>
              <a:rPr sz="4400" spc="65" dirty="0"/>
              <a:t>texto</a:t>
            </a:r>
            <a:endParaRPr sz="4400"/>
          </a:p>
        </p:txBody>
      </p:sp>
      <p:sp>
        <p:nvSpPr>
          <p:cNvPr id="5" name="object 5"/>
          <p:cNvSpPr/>
          <p:nvPr/>
        </p:nvSpPr>
        <p:spPr>
          <a:xfrm>
            <a:off x="1939666" y="2026025"/>
            <a:ext cx="1445260" cy="1015365"/>
          </a:xfrm>
          <a:custGeom>
            <a:avLst/>
            <a:gdLst/>
            <a:ahLst/>
            <a:cxnLst/>
            <a:rect l="l" t="t" r="r" b="b"/>
            <a:pathLst>
              <a:path w="1445260" h="1015364">
                <a:moveTo>
                  <a:pt x="1318491" y="0"/>
                </a:moveTo>
                <a:lnTo>
                  <a:pt x="517695" y="757026"/>
                </a:lnTo>
                <a:lnTo>
                  <a:pt x="132938" y="362872"/>
                </a:lnTo>
                <a:lnTo>
                  <a:pt x="0" y="489564"/>
                </a:lnTo>
                <a:lnTo>
                  <a:pt x="511439" y="1015104"/>
                </a:lnTo>
                <a:lnTo>
                  <a:pt x="645948" y="889975"/>
                </a:lnTo>
                <a:lnTo>
                  <a:pt x="1445179" y="131384"/>
                </a:lnTo>
                <a:lnTo>
                  <a:pt x="1318491" y="0"/>
                </a:lnTo>
                <a:close/>
              </a:path>
            </a:pathLst>
          </a:custGeom>
          <a:solidFill>
            <a:srgbClr val="92A9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9962" y="3641852"/>
            <a:ext cx="3281679" cy="5187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23545" marR="5080" indent="-411480">
              <a:lnSpc>
                <a:spcPts val="1839"/>
              </a:lnSpc>
              <a:spcBef>
                <a:spcPts val="330"/>
              </a:spcBef>
            </a:pPr>
            <a:r>
              <a:rPr sz="1700" dirty="0">
                <a:latin typeface="Cambria"/>
                <a:cs typeface="Cambria"/>
              </a:rPr>
              <a:t>Modelos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aprendizaje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trabajan </a:t>
            </a:r>
            <a:r>
              <a:rPr sz="1700" dirty="0">
                <a:latin typeface="Cambria"/>
                <a:cs typeface="Cambria"/>
              </a:rPr>
              <a:t>con</a:t>
            </a:r>
            <a:r>
              <a:rPr sz="1700" spc="2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vectores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números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2676" y="1833692"/>
            <a:ext cx="855980" cy="1384300"/>
          </a:xfrm>
          <a:custGeom>
            <a:avLst/>
            <a:gdLst/>
            <a:ahLst/>
            <a:cxnLst/>
            <a:rect l="l" t="t" r="r" b="b"/>
            <a:pathLst>
              <a:path w="855979" h="1384300">
                <a:moveTo>
                  <a:pt x="282491" y="727256"/>
                </a:moveTo>
                <a:lnTo>
                  <a:pt x="184525" y="727256"/>
                </a:lnTo>
                <a:lnTo>
                  <a:pt x="82029" y="1064321"/>
                </a:lnTo>
                <a:lnTo>
                  <a:pt x="82029" y="1259052"/>
                </a:lnTo>
                <a:lnTo>
                  <a:pt x="84313" y="1273384"/>
                </a:lnTo>
                <a:lnTo>
                  <a:pt x="90676" y="1286067"/>
                </a:lnTo>
                <a:lnTo>
                  <a:pt x="100527" y="1296270"/>
                </a:lnTo>
                <a:lnTo>
                  <a:pt x="113278" y="1303160"/>
                </a:lnTo>
                <a:lnTo>
                  <a:pt x="113278" y="1337260"/>
                </a:lnTo>
                <a:lnTo>
                  <a:pt x="128902" y="1384183"/>
                </a:lnTo>
                <a:lnTo>
                  <a:pt x="144527" y="1337260"/>
                </a:lnTo>
                <a:lnTo>
                  <a:pt x="144527" y="1303160"/>
                </a:lnTo>
                <a:lnTo>
                  <a:pt x="157285" y="1296270"/>
                </a:lnTo>
                <a:lnTo>
                  <a:pt x="167138" y="1286067"/>
                </a:lnTo>
                <a:lnTo>
                  <a:pt x="173499" y="1273384"/>
                </a:lnTo>
                <a:lnTo>
                  <a:pt x="175776" y="1259052"/>
                </a:lnTo>
                <a:lnTo>
                  <a:pt x="175776" y="1078398"/>
                </a:lnTo>
                <a:lnTo>
                  <a:pt x="282491" y="727256"/>
                </a:lnTo>
                <a:close/>
              </a:path>
              <a:path w="855979" h="1384300">
                <a:moveTo>
                  <a:pt x="667011" y="727256"/>
                </a:moveTo>
                <a:lnTo>
                  <a:pt x="569045" y="727256"/>
                </a:lnTo>
                <a:lnTo>
                  <a:pt x="675761" y="1078398"/>
                </a:lnTo>
                <a:lnTo>
                  <a:pt x="675761" y="1259052"/>
                </a:lnTo>
                <a:lnTo>
                  <a:pt x="678046" y="1273384"/>
                </a:lnTo>
                <a:lnTo>
                  <a:pt x="684409" y="1286067"/>
                </a:lnTo>
                <a:lnTo>
                  <a:pt x="694260" y="1296270"/>
                </a:lnTo>
                <a:lnTo>
                  <a:pt x="707010" y="1303160"/>
                </a:lnTo>
                <a:lnTo>
                  <a:pt x="707010" y="1337260"/>
                </a:lnTo>
                <a:lnTo>
                  <a:pt x="722635" y="1384183"/>
                </a:lnTo>
                <a:lnTo>
                  <a:pt x="738260" y="1337260"/>
                </a:lnTo>
                <a:lnTo>
                  <a:pt x="738260" y="1303160"/>
                </a:lnTo>
                <a:lnTo>
                  <a:pt x="751017" y="1296270"/>
                </a:lnTo>
                <a:lnTo>
                  <a:pt x="760871" y="1286067"/>
                </a:lnTo>
                <a:lnTo>
                  <a:pt x="767231" y="1273384"/>
                </a:lnTo>
                <a:lnTo>
                  <a:pt x="769509" y="1259052"/>
                </a:lnTo>
                <a:lnTo>
                  <a:pt x="769509" y="1064321"/>
                </a:lnTo>
                <a:lnTo>
                  <a:pt x="667011" y="727256"/>
                </a:lnTo>
                <a:close/>
              </a:path>
              <a:path w="855979" h="1384300">
                <a:moveTo>
                  <a:pt x="472642" y="727256"/>
                </a:moveTo>
                <a:lnTo>
                  <a:pt x="378895" y="727256"/>
                </a:lnTo>
                <a:lnTo>
                  <a:pt x="378895" y="758538"/>
                </a:lnTo>
                <a:lnTo>
                  <a:pt x="382579" y="776802"/>
                </a:lnTo>
                <a:lnTo>
                  <a:pt x="392625" y="791717"/>
                </a:lnTo>
                <a:lnTo>
                  <a:pt x="407524" y="801774"/>
                </a:lnTo>
                <a:lnTo>
                  <a:pt x="425768" y="805462"/>
                </a:lnTo>
                <a:lnTo>
                  <a:pt x="444018" y="801774"/>
                </a:lnTo>
                <a:lnTo>
                  <a:pt x="458917" y="791717"/>
                </a:lnTo>
                <a:lnTo>
                  <a:pt x="468960" y="776802"/>
                </a:lnTo>
                <a:lnTo>
                  <a:pt x="472642" y="758538"/>
                </a:lnTo>
                <a:lnTo>
                  <a:pt x="472642" y="727256"/>
                </a:lnTo>
                <a:close/>
              </a:path>
              <a:path w="855979" h="1384300">
                <a:moveTo>
                  <a:pt x="808570" y="633410"/>
                </a:moveTo>
                <a:lnTo>
                  <a:pt x="46873" y="633410"/>
                </a:lnTo>
                <a:lnTo>
                  <a:pt x="3683" y="662070"/>
                </a:lnTo>
                <a:lnTo>
                  <a:pt x="0" y="680333"/>
                </a:lnTo>
                <a:lnTo>
                  <a:pt x="3683" y="698596"/>
                </a:lnTo>
                <a:lnTo>
                  <a:pt x="13730" y="713512"/>
                </a:lnTo>
                <a:lnTo>
                  <a:pt x="28629" y="723568"/>
                </a:lnTo>
                <a:lnTo>
                  <a:pt x="46873" y="727256"/>
                </a:lnTo>
                <a:lnTo>
                  <a:pt x="808570" y="727256"/>
                </a:lnTo>
                <a:lnTo>
                  <a:pt x="826819" y="723568"/>
                </a:lnTo>
                <a:lnTo>
                  <a:pt x="841718" y="713512"/>
                </a:lnTo>
                <a:lnTo>
                  <a:pt x="851761" y="698597"/>
                </a:lnTo>
                <a:lnTo>
                  <a:pt x="855443" y="680333"/>
                </a:lnTo>
                <a:lnTo>
                  <a:pt x="851761" y="662070"/>
                </a:lnTo>
                <a:lnTo>
                  <a:pt x="841718" y="647155"/>
                </a:lnTo>
                <a:lnTo>
                  <a:pt x="826819" y="637098"/>
                </a:lnTo>
                <a:lnTo>
                  <a:pt x="808570" y="633410"/>
                </a:lnTo>
                <a:close/>
              </a:path>
              <a:path w="855979" h="1384300">
                <a:moveTo>
                  <a:pt x="566389" y="148590"/>
                </a:moveTo>
                <a:lnTo>
                  <a:pt x="285147" y="148589"/>
                </a:lnTo>
                <a:lnTo>
                  <a:pt x="285147" y="396292"/>
                </a:lnTo>
                <a:lnTo>
                  <a:pt x="213118" y="633410"/>
                </a:lnTo>
                <a:lnTo>
                  <a:pt x="311084" y="633410"/>
                </a:lnTo>
                <a:lnTo>
                  <a:pt x="377645" y="414435"/>
                </a:lnTo>
                <a:lnTo>
                  <a:pt x="571901" y="414435"/>
                </a:lnTo>
                <a:lnTo>
                  <a:pt x="566389" y="396292"/>
                </a:lnTo>
                <a:lnTo>
                  <a:pt x="566389" y="148590"/>
                </a:lnTo>
                <a:close/>
              </a:path>
              <a:path w="855979" h="1384300">
                <a:moveTo>
                  <a:pt x="425768" y="555205"/>
                </a:moveTo>
                <a:lnTo>
                  <a:pt x="407524" y="558893"/>
                </a:lnTo>
                <a:lnTo>
                  <a:pt x="392625" y="568949"/>
                </a:lnTo>
                <a:lnTo>
                  <a:pt x="382579" y="583865"/>
                </a:lnTo>
                <a:lnTo>
                  <a:pt x="378895" y="602128"/>
                </a:lnTo>
                <a:lnTo>
                  <a:pt x="378895" y="633410"/>
                </a:lnTo>
                <a:lnTo>
                  <a:pt x="472642" y="633410"/>
                </a:lnTo>
                <a:lnTo>
                  <a:pt x="472642" y="602128"/>
                </a:lnTo>
                <a:lnTo>
                  <a:pt x="468960" y="583865"/>
                </a:lnTo>
                <a:lnTo>
                  <a:pt x="458917" y="568949"/>
                </a:lnTo>
                <a:lnTo>
                  <a:pt x="444018" y="558893"/>
                </a:lnTo>
                <a:lnTo>
                  <a:pt x="425768" y="555205"/>
                </a:lnTo>
                <a:close/>
              </a:path>
              <a:path w="855979" h="1384300">
                <a:moveTo>
                  <a:pt x="571901" y="414435"/>
                </a:moveTo>
                <a:lnTo>
                  <a:pt x="473892" y="414435"/>
                </a:lnTo>
                <a:lnTo>
                  <a:pt x="540452" y="633410"/>
                </a:lnTo>
                <a:lnTo>
                  <a:pt x="638418" y="633410"/>
                </a:lnTo>
                <a:lnTo>
                  <a:pt x="571901" y="414435"/>
                </a:lnTo>
                <a:close/>
              </a:path>
              <a:path w="855979" h="1384300">
                <a:moveTo>
                  <a:pt x="425768" y="0"/>
                </a:moveTo>
                <a:lnTo>
                  <a:pt x="407524" y="3684"/>
                </a:lnTo>
                <a:lnTo>
                  <a:pt x="392624" y="13734"/>
                </a:lnTo>
                <a:lnTo>
                  <a:pt x="382578" y="28648"/>
                </a:lnTo>
                <a:lnTo>
                  <a:pt x="378894" y="46923"/>
                </a:lnTo>
                <a:lnTo>
                  <a:pt x="378894" y="148589"/>
                </a:lnTo>
                <a:lnTo>
                  <a:pt x="472642" y="148590"/>
                </a:lnTo>
                <a:lnTo>
                  <a:pt x="472642" y="46923"/>
                </a:lnTo>
                <a:lnTo>
                  <a:pt x="468960" y="28648"/>
                </a:lnTo>
                <a:lnTo>
                  <a:pt x="458917" y="13734"/>
                </a:lnTo>
                <a:lnTo>
                  <a:pt x="444018" y="3684"/>
                </a:lnTo>
                <a:lnTo>
                  <a:pt x="425768" y="0"/>
                </a:lnTo>
                <a:close/>
              </a:path>
            </a:pathLst>
          </a:custGeom>
          <a:solidFill>
            <a:srgbClr val="A7B7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3558" y="3641852"/>
            <a:ext cx="2546350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065" marR="5080" indent="-635" algn="ctr">
              <a:lnSpc>
                <a:spcPts val="1839"/>
              </a:lnSpc>
              <a:spcBef>
                <a:spcPts val="330"/>
              </a:spcBef>
            </a:pPr>
            <a:r>
              <a:rPr sz="1700" spc="45" dirty="0">
                <a:latin typeface="Cambria"/>
                <a:cs typeface="Cambria"/>
              </a:rPr>
              <a:t>Vectorización: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proceso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de </a:t>
            </a:r>
            <a:r>
              <a:rPr sz="1700" dirty="0">
                <a:latin typeface="Cambria"/>
                <a:cs typeface="Cambria"/>
              </a:rPr>
              <a:t>convertir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texto</a:t>
            </a:r>
            <a:r>
              <a:rPr sz="1700" spc="275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vectores numéricos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Vectorización</a:t>
            </a:r>
          </a:p>
        </p:txBody>
      </p:sp>
      <p:sp>
        <p:nvSpPr>
          <p:cNvPr id="3" name="object 3"/>
          <p:cNvSpPr/>
          <p:nvPr/>
        </p:nvSpPr>
        <p:spPr>
          <a:xfrm>
            <a:off x="160781" y="1261110"/>
            <a:ext cx="8229600" cy="1153795"/>
          </a:xfrm>
          <a:custGeom>
            <a:avLst/>
            <a:gdLst/>
            <a:ahLst/>
            <a:cxnLst/>
            <a:rect l="l" t="t" r="r" b="b"/>
            <a:pathLst>
              <a:path w="8229600" h="1153795">
                <a:moveTo>
                  <a:pt x="8037322" y="0"/>
                </a:moveTo>
                <a:lnTo>
                  <a:pt x="192290" y="0"/>
                </a:lnTo>
                <a:lnTo>
                  <a:pt x="148200" y="5079"/>
                </a:lnTo>
                <a:lnTo>
                  <a:pt x="107726" y="19546"/>
                </a:lnTo>
                <a:lnTo>
                  <a:pt x="72023" y="42247"/>
                </a:lnTo>
                <a:lnTo>
                  <a:pt x="42244" y="72026"/>
                </a:lnTo>
                <a:lnTo>
                  <a:pt x="19544" y="107727"/>
                </a:lnTo>
                <a:lnTo>
                  <a:pt x="5078" y="148196"/>
                </a:lnTo>
                <a:lnTo>
                  <a:pt x="0" y="192277"/>
                </a:lnTo>
                <a:lnTo>
                  <a:pt x="0" y="961389"/>
                </a:lnTo>
                <a:lnTo>
                  <a:pt x="5078" y="1005471"/>
                </a:lnTo>
                <a:lnTo>
                  <a:pt x="19544" y="1045940"/>
                </a:lnTo>
                <a:lnTo>
                  <a:pt x="42244" y="1081641"/>
                </a:lnTo>
                <a:lnTo>
                  <a:pt x="72023" y="1111420"/>
                </a:lnTo>
                <a:lnTo>
                  <a:pt x="107726" y="1134121"/>
                </a:lnTo>
                <a:lnTo>
                  <a:pt x="148200" y="1148588"/>
                </a:lnTo>
                <a:lnTo>
                  <a:pt x="192290" y="1153667"/>
                </a:lnTo>
                <a:lnTo>
                  <a:pt x="8037322" y="1153667"/>
                </a:lnTo>
                <a:lnTo>
                  <a:pt x="8081403" y="1148588"/>
                </a:lnTo>
                <a:lnTo>
                  <a:pt x="8121872" y="1134121"/>
                </a:lnTo>
                <a:lnTo>
                  <a:pt x="8157573" y="1111420"/>
                </a:lnTo>
                <a:lnTo>
                  <a:pt x="8187352" y="1081641"/>
                </a:lnTo>
                <a:lnTo>
                  <a:pt x="8210053" y="1045940"/>
                </a:lnTo>
                <a:lnTo>
                  <a:pt x="8224520" y="1005471"/>
                </a:lnTo>
                <a:lnTo>
                  <a:pt x="8229600" y="961389"/>
                </a:lnTo>
                <a:lnTo>
                  <a:pt x="8229600" y="192277"/>
                </a:lnTo>
                <a:lnTo>
                  <a:pt x="8224520" y="148196"/>
                </a:lnTo>
                <a:lnTo>
                  <a:pt x="8210053" y="107727"/>
                </a:lnTo>
                <a:lnTo>
                  <a:pt x="8187352" y="72026"/>
                </a:lnTo>
                <a:lnTo>
                  <a:pt x="8157573" y="42247"/>
                </a:lnTo>
                <a:lnTo>
                  <a:pt x="8121872" y="19546"/>
                </a:lnTo>
                <a:lnTo>
                  <a:pt x="8081403" y="5079"/>
                </a:lnTo>
                <a:lnTo>
                  <a:pt x="8037322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0781" y="2498598"/>
            <a:ext cx="8229600" cy="1153795"/>
          </a:xfrm>
          <a:custGeom>
            <a:avLst/>
            <a:gdLst/>
            <a:ahLst/>
            <a:cxnLst/>
            <a:rect l="l" t="t" r="r" b="b"/>
            <a:pathLst>
              <a:path w="8229600" h="1153795">
                <a:moveTo>
                  <a:pt x="8037322" y="0"/>
                </a:moveTo>
                <a:lnTo>
                  <a:pt x="192290" y="0"/>
                </a:lnTo>
                <a:lnTo>
                  <a:pt x="148200" y="5079"/>
                </a:lnTo>
                <a:lnTo>
                  <a:pt x="107726" y="19546"/>
                </a:lnTo>
                <a:lnTo>
                  <a:pt x="72023" y="42247"/>
                </a:lnTo>
                <a:lnTo>
                  <a:pt x="42244" y="72026"/>
                </a:lnTo>
                <a:lnTo>
                  <a:pt x="19544" y="107727"/>
                </a:lnTo>
                <a:lnTo>
                  <a:pt x="5078" y="148196"/>
                </a:lnTo>
                <a:lnTo>
                  <a:pt x="0" y="192277"/>
                </a:lnTo>
                <a:lnTo>
                  <a:pt x="0" y="961389"/>
                </a:lnTo>
                <a:lnTo>
                  <a:pt x="5078" y="1005471"/>
                </a:lnTo>
                <a:lnTo>
                  <a:pt x="19544" y="1045940"/>
                </a:lnTo>
                <a:lnTo>
                  <a:pt x="42244" y="1081641"/>
                </a:lnTo>
                <a:lnTo>
                  <a:pt x="72023" y="1111420"/>
                </a:lnTo>
                <a:lnTo>
                  <a:pt x="107726" y="1134121"/>
                </a:lnTo>
                <a:lnTo>
                  <a:pt x="148200" y="1148588"/>
                </a:lnTo>
                <a:lnTo>
                  <a:pt x="192290" y="1153667"/>
                </a:lnTo>
                <a:lnTo>
                  <a:pt x="8037322" y="1153667"/>
                </a:lnTo>
                <a:lnTo>
                  <a:pt x="8081403" y="1148588"/>
                </a:lnTo>
                <a:lnTo>
                  <a:pt x="8121872" y="1134121"/>
                </a:lnTo>
                <a:lnTo>
                  <a:pt x="8157573" y="1111420"/>
                </a:lnTo>
                <a:lnTo>
                  <a:pt x="8187352" y="1081641"/>
                </a:lnTo>
                <a:lnTo>
                  <a:pt x="8210053" y="1045940"/>
                </a:lnTo>
                <a:lnTo>
                  <a:pt x="8224520" y="1005471"/>
                </a:lnTo>
                <a:lnTo>
                  <a:pt x="8229600" y="961389"/>
                </a:lnTo>
                <a:lnTo>
                  <a:pt x="8229600" y="192277"/>
                </a:lnTo>
                <a:lnTo>
                  <a:pt x="8224520" y="148196"/>
                </a:lnTo>
                <a:lnTo>
                  <a:pt x="8210053" y="107727"/>
                </a:lnTo>
                <a:lnTo>
                  <a:pt x="8187352" y="72026"/>
                </a:lnTo>
                <a:lnTo>
                  <a:pt x="8157573" y="42247"/>
                </a:lnTo>
                <a:lnTo>
                  <a:pt x="8121872" y="19546"/>
                </a:lnTo>
                <a:lnTo>
                  <a:pt x="8081403" y="5079"/>
                </a:lnTo>
                <a:lnTo>
                  <a:pt x="8037322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781" y="3736085"/>
            <a:ext cx="8229600" cy="1153795"/>
          </a:xfrm>
          <a:custGeom>
            <a:avLst/>
            <a:gdLst/>
            <a:ahLst/>
            <a:cxnLst/>
            <a:rect l="l" t="t" r="r" b="b"/>
            <a:pathLst>
              <a:path w="8229600" h="1153795">
                <a:moveTo>
                  <a:pt x="8037322" y="0"/>
                </a:moveTo>
                <a:lnTo>
                  <a:pt x="192290" y="0"/>
                </a:lnTo>
                <a:lnTo>
                  <a:pt x="148200" y="5079"/>
                </a:lnTo>
                <a:lnTo>
                  <a:pt x="107726" y="19547"/>
                </a:lnTo>
                <a:lnTo>
                  <a:pt x="72023" y="42248"/>
                </a:lnTo>
                <a:lnTo>
                  <a:pt x="42244" y="72028"/>
                </a:lnTo>
                <a:lnTo>
                  <a:pt x="19544" y="107732"/>
                </a:lnTo>
                <a:lnTo>
                  <a:pt x="5078" y="148204"/>
                </a:lnTo>
                <a:lnTo>
                  <a:pt x="0" y="192290"/>
                </a:lnTo>
                <a:lnTo>
                  <a:pt x="0" y="961377"/>
                </a:lnTo>
                <a:lnTo>
                  <a:pt x="5078" y="1005467"/>
                </a:lnTo>
                <a:lnTo>
                  <a:pt x="19544" y="1045941"/>
                </a:lnTo>
                <a:lnTo>
                  <a:pt x="42244" y="1081644"/>
                </a:lnTo>
                <a:lnTo>
                  <a:pt x="72023" y="1111423"/>
                </a:lnTo>
                <a:lnTo>
                  <a:pt x="107726" y="1134123"/>
                </a:lnTo>
                <a:lnTo>
                  <a:pt x="148200" y="1148589"/>
                </a:lnTo>
                <a:lnTo>
                  <a:pt x="192290" y="1153667"/>
                </a:lnTo>
                <a:lnTo>
                  <a:pt x="8037322" y="1153667"/>
                </a:lnTo>
                <a:lnTo>
                  <a:pt x="8081403" y="1148589"/>
                </a:lnTo>
                <a:lnTo>
                  <a:pt x="8121872" y="1134123"/>
                </a:lnTo>
                <a:lnTo>
                  <a:pt x="8157573" y="1111423"/>
                </a:lnTo>
                <a:lnTo>
                  <a:pt x="8187352" y="1081644"/>
                </a:lnTo>
                <a:lnTo>
                  <a:pt x="8210053" y="1045941"/>
                </a:lnTo>
                <a:lnTo>
                  <a:pt x="8224520" y="1005467"/>
                </a:lnTo>
                <a:lnTo>
                  <a:pt x="8229600" y="961377"/>
                </a:lnTo>
                <a:lnTo>
                  <a:pt x="8229600" y="192290"/>
                </a:lnTo>
                <a:lnTo>
                  <a:pt x="8224520" y="148204"/>
                </a:lnTo>
                <a:lnTo>
                  <a:pt x="8210053" y="107732"/>
                </a:lnTo>
                <a:lnTo>
                  <a:pt x="8187352" y="72028"/>
                </a:lnTo>
                <a:lnTo>
                  <a:pt x="8157573" y="42248"/>
                </a:lnTo>
                <a:lnTo>
                  <a:pt x="8121872" y="19547"/>
                </a:lnTo>
                <a:lnTo>
                  <a:pt x="8081403" y="5079"/>
                </a:lnTo>
                <a:lnTo>
                  <a:pt x="8037322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4045" y="1376552"/>
            <a:ext cx="7795895" cy="334264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281305">
              <a:lnSpc>
                <a:spcPts val="3140"/>
              </a:lnSpc>
              <a:spcBef>
                <a:spcPts val="490"/>
              </a:spcBef>
            </a:pPr>
            <a:r>
              <a:rPr sz="2900" spc="145" dirty="0">
                <a:solidFill>
                  <a:srgbClr val="FFFFFF"/>
                </a:solidFill>
                <a:latin typeface="Cambria"/>
                <a:cs typeface="Cambria"/>
              </a:rPr>
              <a:t>Segmentar</a:t>
            </a:r>
            <a:r>
              <a:rPr sz="29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Cambria"/>
                <a:cs typeface="Cambria"/>
              </a:rPr>
              <a:t>texto</a:t>
            </a:r>
            <a:r>
              <a:rPr sz="29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29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palabras,</a:t>
            </a:r>
            <a:r>
              <a:rPr sz="29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85" dirty="0">
                <a:solidFill>
                  <a:srgbClr val="FFFFFF"/>
                </a:solidFill>
                <a:latin typeface="Cambria"/>
                <a:cs typeface="Cambria"/>
              </a:rPr>
              <a:t>y</a:t>
            </a:r>
            <a:r>
              <a:rPr sz="29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Cambria"/>
                <a:cs typeface="Cambria"/>
              </a:rPr>
              <a:t>transformar 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cada</a:t>
            </a:r>
            <a:r>
              <a:rPr sz="29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20" dirty="0">
                <a:solidFill>
                  <a:srgbClr val="FFFFFF"/>
                </a:solidFill>
                <a:latin typeface="Cambria"/>
                <a:cs typeface="Cambria"/>
              </a:rPr>
              <a:t>palabra</a:t>
            </a:r>
            <a:r>
              <a:rPr sz="29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2900" spc="160" dirty="0">
                <a:solidFill>
                  <a:srgbClr val="FFFFFF"/>
                </a:solidFill>
                <a:latin typeface="Cambria"/>
                <a:cs typeface="Cambria"/>
              </a:rPr>
              <a:t> un</a:t>
            </a:r>
            <a:r>
              <a:rPr sz="29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mbria"/>
                <a:cs typeface="Cambria"/>
              </a:rPr>
              <a:t>vector</a:t>
            </a: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900">
              <a:latin typeface="Cambria"/>
              <a:cs typeface="Cambria"/>
            </a:endParaRPr>
          </a:p>
          <a:p>
            <a:pPr marL="12700" marR="5080">
              <a:lnSpc>
                <a:spcPts val="3140"/>
              </a:lnSpc>
            </a:pPr>
            <a:r>
              <a:rPr sz="2900" spc="145" dirty="0">
                <a:solidFill>
                  <a:srgbClr val="FFFFFF"/>
                </a:solidFill>
                <a:latin typeface="Cambria"/>
                <a:cs typeface="Cambria"/>
              </a:rPr>
              <a:t>Segmentar</a:t>
            </a:r>
            <a:r>
              <a:rPr sz="29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Cambria"/>
                <a:cs typeface="Cambria"/>
              </a:rPr>
              <a:t>texto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Cambria"/>
                <a:cs typeface="Cambria"/>
              </a:rPr>
              <a:t>caracteres,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85" dirty="0">
                <a:solidFill>
                  <a:srgbClr val="FFFFFF"/>
                </a:solidFill>
                <a:latin typeface="Cambria"/>
                <a:cs typeface="Cambria"/>
              </a:rPr>
              <a:t>y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Cambria"/>
                <a:cs typeface="Cambria"/>
              </a:rPr>
              <a:t>transformar 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cada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85" dirty="0">
                <a:solidFill>
                  <a:srgbClr val="FFFFFF"/>
                </a:solidFill>
                <a:latin typeface="Cambria"/>
                <a:cs typeface="Cambria"/>
              </a:rPr>
              <a:t>carácter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29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60" dirty="0">
                <a:solidFill>
                  <a:srgbClr val="FFFFFF"/>
                </a:solidFill>
                <a:latin typeface="Cambria"/>
                <a:cs typeface="Cambria"/>
              </a:rPr>
              <a:t>un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mbria"/>
                <a:cs typeface="Cambria"/>
              </a:rPr>
              <a:t>vector</a:t>
            </a: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900">
              <a:latin typeface="Cambria"/>
              <a:cs typeface="Cambria"/>
            </a:endParaRPr>
          </a:p>
          <a:p>
            <a:pPr marL="12700" marR="111125">
              <a:lnSpc>
                <a:spcPts val="3140"/>
              </a:lnSpc>
            </a:pPr>
            <a:r>
              <a:rPr sz="2900" spc="160" dirty="0">
                <a:solidFill>
                  <a:srgbClr val="FFFFFF"/>
                </a:solidFill>
                <a:latin typeface="Cambria"/>
                <a:cs typeface="Cambria"/>
              </a:rPr>
              <a:t>Extraer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65" dirty="0">
                <a:solidFill>
                  <a:srgbClr val="FFFFFF"/>
                </a:solidFill>
                <a:latin typeface="Cambria"/>
                <a:cs typeface="Cambria"/>
              </a:rPr>
              <a:t>n-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gramas</a:t>
            </a:r>
            <a:r>
              <a:rPr sz="29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29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14" dirty="0">
                <a:solidFill>
                  <a:srgbClr val="FFFFFF"/>
                </a:solidFill>
                <a:latin typeface="Cambria"/>
                <a:cs typeface="Cambria"/>
              </a:rPr>
              <a:t>palabras</a:t>
            </a:r>
            <a:r>
              <a:rPr sz="29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29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Cambria"/>
                <a:cs typeface="Cambria"/>
              </a:rPr>
              <a:t>caracteres,</a:t>
            </a:r>
            <a:r>
              <a:rPr sz="29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35" dirty="0">
                <a:solidFill>
                  <a:srgbClr val="FFFFFF"/>
                </a:solidFill>
                <a:latin typeface="Cambria"/>
                <a:cs typeface="Cambria"/>
              </a:rPr>
              <a:t>y </a:t>
            </a:r>
            <a:r>
              <a:rPr sz="2900" spc="100" dirty="0">
                <a:solidFill>
                  <a:srgbClr val="FFFFFF"/>
                </a:solidFill>
                <a:latin typeface="Cambria"/>
                <a:cs typeface="Cambria"/>
              </a:rPr>
              <a:t>transformar</a:t>
            </a:r>
            <a:r>
              <a:rPr sz="29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cada</a:t>
            </a:r>
            <a:r>
              <a:rPr sz="29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65" dirty="0">
                <a:solidFill>
                  <a:srgbClr val="FFFFFF"/>
                </a:solidFill>
                <a:latin typeface="Cambria"/>
                <a:cs typeface="Cambria"/>
              </a:rPr>
              <a:t>n-</a:t>
            </a:r>
            <a:r>
              <a:rPr sz="2900" spc="135" dirty="0">
                <a:solidFill>
                  <a:srgbClr val="FFFFFF"/>
                </a:solidFill>
                <a:latin typeface="Cambria"/>
                <a:cs typeface="Cambria"/>
              </a:rPr>
              <a:t>grama</a:t>
            </a:r>
            <a:r>
              <a:rPr sz="29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29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60" dirty="0">
                <a:solidFill>
                  <a:srgbClr val="FFFFFF"/>
                </a:solidFill>
                <a:latin typeface="Cambria"/>
                <a:cs typeface="Cambria"/>
              </a:rPr>
              <a:t>un</a:t>
            </a:r>
            <a:r>
              <a:rPr sz="29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mbria"/>
                <a:cs typeface="Cambria"/>
              </a:rPr>
              <a:t>vector</a:t>
            </a:r>
            <a:endParaRPr sz="2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5629" y="1377441"/>
            <a:ext cx="5815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inteligencia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artificial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está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transformando</a:t>
            </a:r>
            <a:r>
              <a:rPr sz="18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muchas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industrias.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9845" y="2105660"/>
            <a:ext cx="245173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Bi-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gramas</a:t>
            </a:r>
            <a:r>
              <a:rPr sz="1800" b="1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(2-gramas):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"La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inteligencia"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"inteligencia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artificial"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"artificial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está"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"está</a:t>
            </a:r>
            <a:r>
              <a:rPr sz="1800" spc="-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transformando"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"transformando</a:t>
            </a:r>
            <a:r>
              <a:rPr sz="18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muchas"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"muchas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industrias"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1796" y="2105660"/>
            <a:ext cx="3405504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374151"/>
                </a:solidFill>
                <a:latin typeface="Calibri"/>
                <a:cs typeface="Calibri"/>
              </a:rPr>
              <a:t>Tri-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gramas</a:t>
            </a:r>
            <a:r>
              <a:rPr sz="18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(3-gramas):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"La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inteligencia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artificial"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"inteligencia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artificial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está"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"artificial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está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transformando"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"está</a:t>
            </a:r>
            <a:r>
              <a:rPr sz="1800" spc="-10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transformando</a:t>
            </a:r>
            <a:r>
              <a:rPr sz="1800" spc="-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muchas"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"transformando</a:t>
            </a:r>
            <a:r>
              <a:rPr sz="1800" spc="-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muchas</a:t>
            </a:r>
            <a:r>
              <a:rPr sz="1800" spc="-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industrias"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6315"/>
            <a:ext cx="2341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0272" y="1156208"/>
            <a:ext cx="2097405" cy="376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Inteligencia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Bi-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gramas</a:t>
            </a:r>
            <a:r>
              <a:rPr sz="1800" b="1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(2-gramas):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"in"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"nt"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"te"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"el"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"li"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"ig"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"ge"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spcBef>
                <a:spcPts val="5"/>
              </a:spcBef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"en"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"nc"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"ci"</a:t>
            </a:r>
            <a:endParaRPr sz="1800">
              <a:latin typeface="Calibri"/>
              <a:cs typeface="Calibri"/>
            </a:endParaRPr>
          </a:p>
          <a:p>
            <a:pPr marL="91440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"ia"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2653" y="1600327"/>
            <a:ext cx="215074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374151"/>
                </a:solidFill>
                <a:latin typeface="Calibri"/>
                <a:cs typeface="Calibri"/>
              </a:rPr>
              <a:t>Tri-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gramas</a:t>
            </a:r>
            <a:r>
              <a:rPr sz="18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(3-gramas):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"int"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"nte"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"tel"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"eli"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"lig"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"ige"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"gen"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spcBef>
                <a:spcPts val="5"/>
              </a:spcBef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"enc"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"nci"</a:t>
            </a: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ct val="100000"/>
              </a:lnSpc>
              <a:buSzPct val="94444"/>
              <a:buFont typeface="Microsoft Sans Serif"/>
              <a:buChar char="•"/>
              <a:tabLst>
                <a:tab pos="9207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"cia"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13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105"/>
              </a:spcBef>
            </a:pPr>
            <a:r>
              <a:rPr sz="4400" spc="65" dirty="0"/>
              <a:t>Tokenización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987348" y="1533016"/>
            <a:ext cx="6736715" cy="15684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400" dirty="0">
                <a:latin typeface="Cambria"/>
                <a:cs typeface="Cambria"/>
              </a:rPr>
              <a:t>Proceso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partir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texto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en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tokens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(o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elementos):</a:t>
            </a:r>
            <a:endParaRPr sz="2400">
              <a:latin typeface="Cambria"/>
              <a:cs typeface="Cambria"/>
            </a:endParaRPr>
          </a:p>
          <a:p>
            <a:pPr marL="925194" indent="-181610">
              <a:lnSpc>
                <a:spcPts val="2810"/>
              </a:lnSpc>
              <a:spcBef>
                <a:spcPts val="459"/>
              </a:spcBef>
              <a:buClr>
                <a:srgbClr val="6E6E74"/>
              </a:buClr>
              <a:buSzPct val="75000"/>
              <a:buFont typeface="Microsoft Sans Serif"/>
              <a:buChar char="●"/>
              <a:tabLst>
                <a:tab pos="925194" algn="l"/>
              </a:tabLst>
            </a:pPr>
            <a:r>
              <a:rPr sz="2400" spc="110" dirty="0">
                <a:latin typeface="Cambria"/>
                <a:cs typeface="Cambria"/>
              </a:rPr>
              <a:t>Palabras</a:t>
            </a:r>
            <a:endParaRPr sz="2400">
              <a:latin typeface="Cambria"/>
              <a:cs typeface="Cambria"/>
            </a:endParaRPr>
          </a:p>
          <a:p>
            <a:pPr marL="925194" indent="-181610">
              <a:lnSpc>
                <a:spcPts val="2735"/>
              </a:lnSpc>
              <a:buClr>
                <a:srgbClr val="6E6E74"/>
              </a:buClr>
              <a:buSzPct val="75000"/>
              <a:buFont typeface="Microsoft Sans Serif"/>
              <a:buChar char="●"/>
              <a:tabLst>
                <a:tab pos="925194" algn="l"/>
              </a:tabLst>
            </a:pPr>
            <a:r>
              <a:rPr sz="2400" spc="100" dirty="0">
                <a:latin typeface="Cambria"/>
                <a:cs typeface="Cambria"/>
              </a:rPr>
              <a:t>Caracteres</a:t>
            </a:r>
            <a:endParaRPr sz="2400">
              <a:latin typeface="Cambria"/>
              <a:cs typeface="Cambria"/>
            </a:endParaRPr>
          </a:p>
          <a:p>
            <a:pPr marL="925194" indent="-181610">
              <a:lnSpc>
                <a:spcPts val="2810"/>
              </a:lnSpc>
              <a:buClr>
                <a:srgbClr val="6E6E74"/>
              </a:buClr>
              <a:buSzPct val="75000"/>
              <a:buFont typeface="Microsoft Sans Serif"/>
              <a:buChar char="●"/>
              <a:tabLst>
                <a:tab pos="925194" algn="l"/>
              </a:tabLst>
            </a:pPr>
            <a:r>
              <a:rPr sz="2400" spc="310" dirty="0">
                <a:latin typeface="Cambria"/>
                <a:cs typeface="Cambria"/>
              </a:rPr>
              <a:t>N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gramas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13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105"/>
              </a:spcBef>
            </a:pPr>
            <a:r>
              <a:rPr sz="4400" spc="65" dirty="0"/>
              <a:t>Tokenización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619501" y="2422017"/>
            <a:ext cx="35420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Clr>
                <a:srgbClr val="6E6E74"/>
              </a:buClr>
              <a:buFont typeface="Microsoft Sans Serif"/>
              <a:buChar char="●"/>
              <a:tabLst>
                <a:tab pos="393065" algn="l"/>
              </a:tabLst>
            </a:pPr>
            <a:r>
              <a:rPr sz="2400" spc="195" dirty="0">
                <a:latin typeface="Cambria"/>
                <a:cs typeface="Cambria"/>
              </a:rPr>
              <a:t>Hay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un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león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corriendo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516" y="1106907"/>
            <a:ext cx="6909779" cy="314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784" y="1158151"/>
            <a:ext cx="6805155" cy="31532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Tokenización</a:t>
            </a:r>
            <a:r>
              <a:rPr spc="114" dirty="0"/>
              <a:t> </a:t>
            </a:r>
            <a:r>
              <a:rPr spc="145" dirty="0"/>
              <a:t>+</a:t>
            </a:r>
            <a:r>
              <a:rPr spc="114" dirty="0"/>
              <a:t> </a:t>
            </a:r>
            <a:r>
              <a:rPr spc="-10" dirty="0"/>
              <a:t>Vectorización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52282" y="1607438"/>
            <a:ext cx="5176520" cy="3035300"/>
            <a:chOff x="1752282" y="1607438"/>
            <a:chExt cx="5176520" cy="3035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0820" y="1854093"/>
              <a:ext cx="4948139" cy="27269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57045" y="1612201"/>
              <a:ext cx="5166995" cy="3025775"/>
            </a:xfrm>
            <a:custGeom>
              <a:avLst/>
              <a:gdLst/>
              <a:ahLst/>
              <a:cxnLst/>
              <a:rect l="l" t="t" r="r" b="b"/>
              <a:pathLst>
                <a:path w="5166995" h="3025775">
                  <a:moveTo>
                    <a:pt x="0" y="3025521"/>
                  </a:moveTo>
                  <a:lnTo>
                    <a:pt x="5166740" y="3025521"/>
                  </a:lnTo>
                  <a:lnTo>
                    <a:pt x="5166740" y="0"/>
                  </a:lnTo>
                  <a:lnTo>
                    <a:pt x="0" y="0"/>
                  </a:lnTo>
                  <a:lnTo>
                    <a:pt x="0" y="302552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5188"/>
            <a:ext cx="5680710" cy="12204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spc="80" dirty="0">
                <a:latin typeface="Cambria"/>
                <a:cs typeface="Cambria"/>
              </a:rPr>
              <a:t>¿Cómo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asignamos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vector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un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token?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810"/>
              </a:lnSpc>
              <a:spcBef>
                <a:spcPts val="459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120" dirty="0">
                <a:latin typeface="Cambria"/>
                <a:cs typeface="Cambria"/>
              </a:rPr>
              <a:t>One-</a:t>
            </a:r>
            <a:r>
              <a:rPr sz="2400" spc="60" dirty="0">
                <a:latin typeface="Cambria"/>
                <a:cs typeface="Cambria"/>
              </a:rPr>
              <a:t>hot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encoding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810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95" dirty="0">
                <a:latin typeface="Cambria"/>
                <a:cs typeface="Cambria"/>
              </a:rPr>
              <a:t>Embedding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6315"/>
            <a:ext cx="3042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One-</a:t>
            </a:r>
            <a:r>
              <a:rPr spc="50" dirty="0"/>
              <a:t>hot</a:t>
            </a:r>
            <a:r>
              <a:rPr spc="120" dirty="0"/>
              <a:t> </a:t>
            </a:r>
            <a:r>
              <a:rPr spc="-10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195832"/>
            <a:ext cx="7124700" cy="182165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91795" marR="113030" indent="-379730">
              <a:lnSpc>
                <a:spcPts val="2740"/>
              </a:lnSpc>
              <a:spcBef>
                <a:spcPts val="305"/>
              </a:spcBef>
              <a:buClr>
                <a:srgbClr val="6E6E74"/>
              </a:buClr>
              <a:buAutoNum type="arabicPeriod"/>
              <a:tabLst>
                <a:tab pos="393700" algn="l"/>
              </a:tabLst>
            </a:pPr>
            <a:r>
              <a:rPr sz="2400" spc="225" dirty="0">
                <a:latin typeface="Cambria"/>
                <a:cs typeface="Cambria"/>
              </a:rPr>
              <a:t>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cada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token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del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vocabulario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asigna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id 	</a:t>
            </a:r>
            <a:r>
              <a:rPr sz="2400" spc="-10" dirty="0">
                <a:latin typeface="Cambria"/>
                <a:cs typeface="Cambria"/>
              </a:rPr>
              <a:t>(entero)</a:t>
            </a:r>
            <a:endParaRPr sz="2400" dirty="0">
              <a:latin typeface="Cambria"/>
              <a:cs typeface="Cambria"/>
            </a:endParaRPr>
          </a:p>
          <a:p>
            <a:pPr marL="392430" indent="-379730">
              <a:lnSpc>
                <a:spcPts val="2565"/>
              </a:lnSpc>
              <a:buClr>
                <a:srgbClr val="6E6E74"/>
              </a:buClr>
              <a:buAutoNum type="arabicPeriod"/>
              <a:tabLst>
                <a:tab pos="392430" algn="l"/>
              </a:tabLst>
            </a:pPr>
            <a:r>
              <a:rPr sz="2400" spc="170" dirty="0">
                <a:latin typeface="Cambria"/>
                <a:cs typeface="Cambria"/>
              </a:rPr>
              <a:t>Se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construye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vector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binario:</a:t>
            </a:r>
            <a:endParaRPr sz="2400" dirty="0">
              <a:latin typeface="Cambria"/>
              <a:cs typeface="Cambria"/>
            </a:endParaRPr>
          </a:p>
          <a:p>
            <a:pPr marL="850900" marR="5080" indent="-342900">
              <a:lnSpc>
                <a:spcPts val="1939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850900" algn="l"/>
              </a:tabLst>
            </a:pPr>
            <a:r>
              <a:rPr sz="1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1800" spc="50" dirty="0">
                <a:solidFill>
                  <a:srgbClr val="252525"/>
                </a:solidFill>
                <a:latin typeface="Cambria"/>
                <a:cs typeface="Cambria"/>
              </a:rPr>
              <a:t>Vector</a:t>
            </a:r>
            <a:r>
              <a:rPr sz="18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252525"/>
                </a:solidFill>
                <a:latin typeface="Cambria"/>
                <a:cs typeface="Cambria"/>
              </a:rPr>
              <a:t>tiene</a:t>
            </a:r>
            <a:r>
              <a:rPr sz="18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252525"/>
                </a:solidFill>
                <a:latin typeface="Cambria"/>
                <a:cs typeface="Cambria"/>
              </a:rPr>
              <a:t>tamaño</a:t>
            </a:r>
            <a:r>
              <a:rPr sz="18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175" dirty="0">
                <a:solidFill>
                  <a:srgbClr val="252525"/>
                </a:solidFill>
                <a:latin typeface="Cambria"/>
                <a:cs typeface="Cambria"/>
              </a:rPr>
              <a:t>N,</a:t>
            </a:r>
            <a:r>
              <a:rPr sz="18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donde</a:t>
            </a:r>
            <a:r>
              <a:rPr sz="18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229" dirty="0">
                <a:solidFill>
                  <a:srgbClr val="252525"/>
                </a:solidFill>
                <a:latin typeface="Cambria"/>
                <a:cs typeface="Cambria"/>
              </a:rPr>
              <a:t>N</a:t>
            </a:r>
            <a:r>
              <a:rPr sz="18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es</a:t>
            </a:r>
            <a:r>
              <a:rPr sz="18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el</a:t>
            </a:r>
            <a:r>
              <a:rPr sz="18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252525"/>
                </a:solidFill>
                <a:latin typeface="Cambria"/>
                <a:cs typeface="Cambria"/>
              </a:rPr>
              <a:t>número</a:t>
            </a:r>
            <a:r>
              <a:rPr sz="18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de</a:t>
            </a:r>
            <a:r>
              <a:rPr sz="18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252525"/>
                </a:solidFill>
                <a:latin typeface="Cambria"/>
                <a:cs typeface="Cambria"/>
              </a:rPr>
              <a:t>tokens</a:t>
            </a:r>
            <a:r>
              <a:rPr sz="18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Cambria"/>
                <a:cs typeface="Cambria"/>
              </a:rPr>
              <a:t>del </a:t>
            </a:r>
            <a:r>
              <a:rPr sz="1800" spc="-10" dirty="0">
                <a:solidFill>
                  <a:srgbClr val="252525"/>
                </a:solidFill>
                <a:latin typeface="Cambria"/>
                <a:cs typeface="Cambria"/>
              </a:rPr>
              <a:t>vocabulario</a:t>
            </a:r>
            <a:endParaRPr sz="1800" dirty="0">
              <a:latin typeface="Cambria"/>
              <a:cs typeface="Cambria"/>
            </a:endParaRPr>
          </a:p>
          <a:p>
            <a:pPr marL="793750" indent="-285750">
              <a:lnSpc>
                <a:spcPts val="1920"/>
              </a:lnSpc>
              <a:buFont typeface="Arial" panose="020B0604020202020204" pitchFamily="34" charset="0"/>
              <a:buChar char="•"/>
              <a:tabLst>
                <a:tab pos="850900" algn="l"/>
              </a:tabLst>
            </a:pPr>
            <a:r>
              <a:rPr sz="1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1800" spc="50" dirty="0">
                <a:solidFill>
                  <a:srgbClr val="252525"/>
                </a:solidFill>
                <a:latin typeface="Cambria"/>
                <a:cs typeface="Cambria"/>
              </a:rPr>
              <a:t>Vector</a:t>
            </a:r>
            <a:r>
              <a:rPr sz="18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252525"/>
                </a:solidFill>
                <a:latin typeface="Cambria"/>
                <a:cs typeface="Cambria"/>
              </a:rPr>
              <a:t>consta</a:t>
            </a:r>
            <a:r>
              <a:rPr sz="18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de</a:t>
            </a:r>
            <a:r>
              <a:rPr sz="18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todo</a:t>
            </a:r>
            <a:r>
              <a:rPr sz="18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0s</a:t>
            </a:r>
            <a:r>
              <a:rPr sz="18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salvo</a:t>
            </a:r>
            <a:r>
              <a:rPr sz="18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252525"/>
                </a:solidFill>
                <a:latin typeface="Cambria"/>
                <a:cs typeface="Cambria"/>
              </a:rPr>
              <a:t>un</a:t>
            </a:r>
            <a:r>
              <a:rPr sz="18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1</a:t>
            </a:r>
            <a:r>
              <a:rPr sz="18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252525"/>
                </a:solidFill>
                <a:latin typeface="Cambria"/>
                <a:cs typeface="Cambria"/>
              </a:rPr>
              <a:t>en</a:t>
            </a:r>
            <a:r>
              <a:rPr sz="18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252525"/>
                </a:solidFill>
                <a:latin typeface="Cambria"/>
                <a:cs typeface="Cambria"/>
              </a:rPr>
              <a:t>la</a:t>
            </a:r>
            <a:r>
              <a:rPr sz="18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posición</a:t>
            </a:r>
            <a:r>
              <a:rPr sz="18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Cambria"/>
                <a:cs typeface="Cambria"/>
              </a:rPr>
              <a:t>id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681" y="3241663"/>
            <a:ext cx="3423418" cy="1547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8179" y="3678951"/>
            <a:ext cx="3535679" cy="8761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566" y="1401903"/>
            <a:ext cx="4111153" cy="23899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79195" y="2098294"/>
            <a:ext cx="2397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/>
              <a:t>One-</a:t>
            </a:r>
            <a:r>
              <a:rPr sz="2400" dirty="0"/>
              <a:t>hot</a:t>
            </a:r>
            <a:r>
              <a:rPr sz="2400" spc="80" dirty="0"/>
              <a:t> </a:t>
            </a:r>
            <a:r>
              <a:rPr sz="2400" spc="-10" dirty="0"/>
              <a:t>encoding</a:t>
            </a:r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3833876" y="2394026"/>
            <a:ext cx="380746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</a:pPr>
            <a:r>
              <a:rPr sz="1800" spc="50" dirty="0">
                <a:latin typeface="Cambria"/>
                <a:cs typeface="Cambria"/>
              </a:rPr>
              <a:t>Problemas:</a:t>
            </a:r>
            <a:endParaRPr sz="1800">
              <a:latin typeface="Cambria"/>
              <a:cs typeface="Cambria"/>
            </a:endParaRPr>
          </a:p>
          <a:p>
            <a:pPr marL="925830" marR="5080" indent="-181610">
              <a:lnSpc>
                <a:spcPts val="2050"/>
              </a:lnSpc>
              <a:spcBef>
                <a:spcPts val="110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Altas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dimensiones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para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los 	</a:t>
            </a:r>
            <a:r>
              <a:rPr sz="1800" spc="-10" dirty="0">
                <a:latin typeface="Cambria"/>
                <a:cs typeface="Cambria"/>
              </a:rPr>
              <a:t>vectores</a:t>
            </a:r>
            <a:endParaRPr sz="1800">
              <a:latin typeface="Cambria"/>
              <a:cs typeface="Cambria"/>
            </a:endParaRPr>
          </a:p>
          <a:p>
            <a:pPr marL="925830" indent="-181610">
              <a:lnSpc>
                <a:spcPts val="1950"/>
              </a:lnSpc>
              <a:buClr>
                <a:srgbClr val="6E6E74"/>
              </a:buClr>
              <a:buFont typeface="Microsoft Sans Serif"/>
              <a:buChar char="●"/>
              <a:tabLst>
                <a:tab pos="925830" algn="l"/>
              </a:tabLst>
            </a:pPr>
            <a:r>
              <a:rPr sz="1800" spc="90" dirty="0">
                <a:latin typeface="Cambria"/>
                <a:cs typeface="Cambria"/>
              </a:rPr>
              <a:t>No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hay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relación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entre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las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ts val="2105"/>
              </a:lnSpc>
            </a:pPr>
            <a:r>
              <a:rPr sz="1800" spc="65" dirty="0">
                <a:latin typeface="Cambria"/>
                <a:cs typeface="Cambria"/>
              </a:rPr>
              <a:t>palabras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2545" y="405499"/>
            <a:ext cx="3423418" cy="15479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Representando</a:t>
            </a:r>
            <a:r>
              <a:rPr spc="70" dirty="0"/>
              <a:t> </a:t>
            </a:r>
            <a:r>
              <a:rPr spc="85" dirty="0"/>
              <a:t>palabras</a:t>
            </a:r>
            <a:r>
              <a:rPr spc="75" dirty="0"/>
              <a:t> </a:t>
            </a:r>
            <a:r>
              <a:rPr dirty="0"/>
              <a:t>por</a:t>
            </a:r>
            <a:r>
              <a:rPr spc="120" dirty="0"/>
              <a:t> </a:t>
            </a:r>
            <a:r>
              <a:rPr spc="110" dirty="0"/>
              <a:t>su </a:t>
            </a:r>
            <a:r>
              <a:rPr spc="-10" dirty="0"/>
              <a:t>contexto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pc="85" dirty="0"/>
              <a:t>Hipótesis</a:t>
            </a:r>
            <a:r>
              <a:rPr spc="180" dirty="0"/>
              <a:t> </a:t>
            </a:r>
            <a:r>
              <a:rPr dirty="0"/>
              <a:t>de</a:t>
            </a:r>
            <a:r>
              <a:rPr spc="180" dirty="0"/>
              <a:t> </a:t>
            </a:r>
            <a:r>
              <a:rPr spc="50" dirty="0"/>
              <a:t>distribución:</a:t>
            </a:r>
          </a:p>
          <a:p>
            <a:pPr marL="927100" indent="-342900">
              <a:lnSpc>
                <a:spcPct val="100000"/>
              </a:lnSpc>
              <a:spcBef>
                <a:spcPts val="490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00" dirty="0"/>
              <a:t>“</a:t>
            </a:r>
            <a:r>
              <a:rPr sz="1800" i="1" spc="100" dirty="0">
                <a:latin typeface="Cambria"/>
                <a:cs typeface="Cambria"/>
              </a:rPr>
              <a:t>You</a:t>
            </a:r>
            <a:r>
              <a:rPr sz="1800" i="1" spc="150" dirty="0">
                <a:latin typeface="Cambria"/>
                <a:cs typeface="Cambria"/>
              </a:rPr>
              <a:t> </a:t>
            </a:r>
            <a:r>
              <a:rPr sz="1800" i="1" spc="120" dirty="0">
                <a:latin typeface="Cambria"/>
                <a:cs typeface="Cambria"/>
              </a:rPr>
              <a:t>shall</a:t>
            </a:r>
            <a:r>
              <a:rPr sz="1800" i="1" spc="150" dirty="0">
                <a:latin typeface="Cambria"/>
                <a:cs typeface="Cambria"/>
              </a:rPr>
              <a:t> </a:t>
            </a:r>
            <a:r>
              <a:rPr sz="1800" i="1" spc="75" dirty="0">
                <a:latin typeface="Cambria"/>
                <a:cs typeface="Cambria"/>
              </a:rPr>
              <a:t>know</a:t>
            </a:r>
            <a:r>
              <a:rPr sz="1800" i="1" spc="140" dirty="0">
                <a:latin typeface="Cambria"/>
                <a:cs typeface="Cambria"/>
              </a:rPr>
              <a:t> </a:t>
            </a:r>
            <a:r>
              <a:rPr sz="1800" i="1" spc="65" dirty="0">
                <a:latin typeface="Cambria"/>
                <a:cs typeface="Cambria"/>
              </a:rPr>
              <a:t>by</a:t>
            </a:r>
            <a:r>
              <a:rPr sz="1800" i="1" spc="15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the</a:t>
            </a:r>
            <a:r>
              <a:rPr sz="1800" i="1" spc="160" dirty="0">
                <a:latin typeface="Cambria"/>
                <a:cs typeface="Cambria"/>
              </a:rPr>
              <a:t> </a:t>
            </a:r>
            <a:r>
              <a:rPr sz="1800" i="1" spc="75" dirty="0">
                <a:latin typeface="Cambria"/>
                <a:cs typeface="Cambria"/>
              </a:rPr>
              <a:t>company</a:t>
            </a:r>
            <a:r>
              <a:rPr sz="1800" i="1" spc="145" dirty="0">
                <a:latin typeface="Cambria"/>
                <a:cs typeface="Cambria"/>
              </a:rPr>
              <a:t> </a:t>
            </a:r>
            <a:r>
              <a:rPr sz="1800" i="1" spc="60" dirty="0">
                <a:latin typeface="Cambria"/>
                <a:cs typeface="Cambria"/>
              </a:rPr>
              <a:t>it</a:t>
            </a:r>
            <a:r>
              <a:rPr sz="1800" i="1" spc="15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keeps”</a:t>
            </a:r>
            <a:r>
              <a:rPr sz="1800" i="1" spc="145" dirty="0">
                <a:latin typeface="Cambria"/>
                <a:cs typeface="Cambria"/>
              </a:rPr>
              <a:t> </a:t>
            </a:r>
            <a:r>
              <a:rPr sz="1800" i="1" spc="229" dirty="0">
                <a:latin typeface="Cambria"/>
                <a:cs typeface="Cambria"/>
              </a:rPr>
              <a:t>[J.</a:t>
            </a:r>
            <a:r>
              <a:rPr sz="1800" i="1" spc="155" dirty="0">
                <a:latin typeface="Cambria"/>
                <a:cs typeface="Cambria"/>
              </a:rPr>
              <a:t> </a:t>
            </a:r>
            <a:r>
              <a:rPr sz="1800" i="1" spc="200" dirty="0">
                <a:latin typeface="Cambria"/>
                <a:cs typeface="Cambria"/>
              </a:rPr>
              <a:t>R.</a:t>
            </a:r>
            <a:r>
              <a:rPr sz="1800" i="1" spc="150" dirty="0">
                <a:latin typeface="Cambria"/>
                <a:cs typeface="Cambria"/>
              </a:rPr>
              <a:t> </a:t>
            </a:r>
            <a:r>
              <a:rPr sz="1800" i="1" spc="120" dirty="0">
                <a:latin typeface="Cambria"/>
                <a:cs typeface="Cambria"/>
              </a:rPr>
              <a:t>Firth</a:t>
            </a:r>
            <a:r>
              <a:rPr sz="1800" i="1" spc="14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(1957)]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ts val="2110"/>
              </a:lnSpc>
              <a:spcBef>
                <a:spcPts val="495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i="1" spc="105" dirty="0">
                <a:latin typeface="Cambria"/>
                <a:cs typeface="Cambria"/>
              </a:rPr>
              <a:t>“Dime </a:t>
            </a:r>
            <a:r>
              <a:rPr sz="1800" i="1" spc="50" dirty="0">
                <a:latin typeface="Cambria"/>
                <a:cs typeface="Cambria"/>
              </a:rPr>
              <a:t>con</a:t>
            </a:r>
            <a:r>
              <a:rPr sz="1800" i="1" spc="100" dirty="0">
                <a:latin typeface="Cambria"/>
                <a:cs typeface="Cambria"/>
              </a:rPr>
              <a:t> </a:t>
            </a:r>
            <a:r>
              <a:rPr sz="1800" i="1" spc="85" dirty="0">
                <a:latin typeface="Cambria"/>
                <a:cs typeface="Cambria"/>
              </a:rPr>
              <a:t>quien</a:t>
            </a:r>
            <a:r>
              <a:rPr sz="1800" i="1" spc="100" dirty="0">
                <a:latin typeface="Cambria"/>
                <a:cs typeface="Cambria"/>
              </a:rPr>
              <a:t> </a:t>
            </a:r>
            <a:r>
              <a:rPr sz="1800" i="1" spc="114" dirty="0">
                <a:latin typeface="Cambria"/>
                <a:cs typeface="Cambria"/>
              </a:rPr>
              <a:t>andas</a:t>
            </a:r>
            <a:r>
              <a:rPr sz="1800" i="1" spc="110" dirty="0">
                <a:latin typeface="Cambria"/>
                <a:cs typeface="Cambria"/>
              </a:rPr>
              <a:t> </a:t>
            </a:r>
            <a:r>
              <a:rPr sz="1800" i="1" spc="70" dirty="0">
                <a:latin typeface="Cambria"/>
                <a:cs typeface="Cambria"/>
              </a:rPr>
              <a:t>y</a:t>
            </a:r>
            <a:r>
              <a:rPr sz="1800" i="1" spc="114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te</a:t>
            </a:r>
            <a:r>
              <a:rPr sz="1800" i="1" spc="110" dirty="0">
                <a:latin typeface="Cambria"/>
                <a:cs typeface="Cambria"/>
              </a:rPr>
              <a:t> </a:t>
            </a:r>
            <a:r>
              <a:rPr sz="1800" i="1" spc="80" dirty="0">
                <a:latin typeface="Cambria"/>
                <a:cs typeface="Cambria"/>
              </a:rPr>
              <a:t>dire</a:t>
            </a:r>
            <a:r>
              <a:rPr sz="1800" i="1" spc="100" dirty="0">
                <a:latin typeface="Cambria"/>
                <a:cs typeface="Cambria"/>
              </a:rPr>
              <a:t> </a:t>
            </a:r>
            <a:r>
              <a:rPr sz="1800" i="1" spc="85" dirty="0">
                <a:latin typeface="Cambria"/>
                <a:cs typeface="Cambria"/>
              </a:rPr>
              <a:t>quien</a:t>
            </a:r>
            <a:r>
              <a:rPr sz="1800" i="1" spc="10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eres”</a:t>
            </a:r>
            <a:endParaRPr sz="1800">
              <a:latin typeface="Cambria"/>
              <a:cs typeface="Cambria"/>
            </a:endParaRPr>
          </a:p>
          <a:p>
            <a:pPr marL="927100" marR="5080" indent="-342900">
              <a:lnSpc>
                <a:spcPts val="2050"/>
              </a:lnSpc>
              <a:spcBef>
                <a:spcPts val="115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35" dirty="0"/>
              <a:t>Las</a:t>
            </a:r>
            <a:r>
              <a:rPr sz="1800" spc="204" dirty="0"/>
              <a:t> </a:t>
            </a:r>
            <a:r>
              <a:rPr sz="1800" spc="75" dirty="0"/>
              <a:t>palabras</a:t>
            </a:r>
            <a:r>
              <a:rPr sz="1800" spc="204" dirty="0"/>
              <a:t> </a:t>
            </a:r>
            <a:r>
              <a:rPr sz="1800" dirty="0"/>
              <a:t>que</a:t>
            </a:r>
            <a:r>
              <a:rPr sz="1800" spc="210" dirty="0"/>
              <a:t> </a:t>
            </a:r>
            <a:r>
              <a:rPr sz="1800" dirty="0"/>
              <a:t>ocurren</a:t>
            </a:r>
            <a:r>
              <a:rPr sz="1800" spc="185" dirty="0"/>
              <a:t> </a:t>
            </a:r>
            <a:r>
              <a:rPr sz="1800" spc="55" dirty="0"/>
              <a:t>en</a:t>
            </a:r>
            <a:r>
              <a:rPr sz="1800" spc="204" dirty="0"/>
              <a:t> </a:t>
            </a:r>
            <a:r>
              <a:rPr sz="1800" dirty="0"/>
              <a:t>contextos</a:t>
            </a:r>
            <a:r>
              <a:rPr sz="1800" spc="180" dirty="0"/>
              <a:t> </a:t>
            </a:r>
            <a:r>
              <a:rPr sz="1800" spc="70" dirty="0"/>
              <a:t>similares</a:t>
            </a:r>
            <a:r>
              <a:rPr sz="1800" spc="185" dirty="0"/>
              <a:t> </a:t>
            </a:r>
            <a:r>
              <a:rPr sz="1800" spc="60" dirty="0"/>
              <a:t>tienden</a:t>
            </a:r>
            <a:r>
              <a:rPr sz="1800" spc="195" dirty="0"/>
              <a:t> </a:t>
            </a:r>
            <a:r>
              <a:rPr sz="1800" spc="120" dirty="0"/>
              <a:t>a</a:t>
            </a:r>
            <a:r>
              <a:rPr sz="1800" spc="225" dirty="0"/>
              <a:t> </a:t>
            </a:r>
            <a:r>
              <a:rPr sz="1800" spc="35" dirty="0"/>
              <a:t>tener </a:t>
            </a:r>
            <a:r>
              <a:rPr sz="1800" spc="55" dirty="0"/>
              <a:t>significados</a:t>
            </a:r>
            <a:r>
              <a:rPr sz="1800" spc="110" dirty="0"/>
              <a:t> </a:t>
            </a:r>
            <a:r>
              <a:rPr sz="1800" spc="60" dirty="0"/>
              <a:t>similares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7638" y="1521967"/>
            <a:ext cx="334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1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¿Qué</a:t>
            </a:r>
            <a:r>
              <a:rPr sz="2400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significa</a:t>
            </a: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gazpiña?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619" y="2237232"/>
            <a:ext cx="5547359" cy="22723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456" y="1254745"/>
            <a:ext cx="8000365" cy="1601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spc="110" dirty="0">
                <a:latin typeface="Cambria"/>
                <a:cs typeface="Cambria"/>
              </a:rPr>
              <a:t>Vamos</a:t>
            </a:r>
            <a:r>
              <a:rPr sz="2400" spc="150" dirty="0">
                <a:latin typeface="Cambria"/>
                <a:cs typeface="Cambria"/>
              </a:rPr>
              <a:t> a </a:t>
            </a:r>
            <a:r>
              <a:rPr sz="2400" spc="55" dirty="0">
                <a:latin typeface="Cambria"/>
                <a:cs typeface="Cambria"/>
              </a:rPr>
              <a:t>ver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cómo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usa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i="1" spc="105" dirty="0">
                <a:latin typeface="Cambria"/>
                <a:cs typeface="Cambria"/>
              </a:rPr>
              <a:t>gazpiña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distintos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contextos:</a:t>
            </a:r>
            <a:endParaRPr sz="2400">
              <a:latin typeface="Cambria"/>
              <a:cs typeface="Cambria"/>
            </a:endParaRPr>
          </a:p>
          <a:p>
            <a:pPr marL="927100" indent="-342900">
              <a:lnSpc>
                <a:spcPts val="2105"/>
              </a:lnSpc>
              <a:spcBef>
                <a:spcPts val="520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45" dirty="0">
                <a:latin typeface="Cambria"/>
                <a:cs typeface="Cambria"/>
              </a:rPr>
              <a:t>Hay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una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jarra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gazpiña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el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frigorífico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ts val="2050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todo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el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mundo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gusta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la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gazpiña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ts val="2050"/>
              </a:lnSpc>
              <a:buFont typeface="Microsoft Sans Serif"/>
              <a:buChar char="●"/>
              <a:tabLst>
                <a:tab pos="927100" algn="l"/>
              </a:tabLst>
            </a:pPr>
            <a:r>
              <a:rPr sz="1800" spc="175" dirty="0">
                <a:latin typeface="Cambria"/>
                <a:cs typeface="Cambria"/>
              </a:rPr>
              <a:t>La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gazpiña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sentó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bien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acabé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borracho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ts val="2105"/>
              </a:lnSpc>
              <a:buFont typeface="Microsoft Sans Serif"/>
              <a:buChar char="●"/>
              <a:tabLst>
                <a:tab pos="927100" algn="l"/>
              </a:tabLst>
            </a:pPr>
            <a:r>
              <a:rPr sz="1800" spc="175" dirty="0">
                <a:latin typeface="Cambria"/>
                <a:cs typeface="Cambria"/>
              </a:rPr>
              <a:t>La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gazpiña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muy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azucarada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1529" y="2079751"/>
            <a:ext cx="4431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30" dirty="0">
                <a:latin typeface="Cambria"/>
                <a:cs typeface="Cambria"/>
              </a:rPr>
              <a:t>¿Qué </a:t>
            </a:r>
            <a:r>
              <a:rPr sz="2400" spc="55" dirty="0">
                <a:latin typeface="Cambria"/>
                <a:cs typeface="Cambria"/>
              </a:rPr>
              <a:t>puede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significar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gazpiña</a:t>
            </a:r>
            <a:r>
              <a:rPr sz="2400" spc="90" dirty="0">
                <a:latin typeface="Cambria"/>
                <a:cs typeface="Cambria"/>
              </a:rPr>
              <a:t>?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2019" y="1474470"/>
            <a:ext cx="6010910" cy="15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100"/>
              </a:spcBef>
            </a:pPr>
            <a:r>
              <a:rPr sz="2400" spc="130" dirty="0">
                <a:latin typeface="Cambria"/>
                <a:cs typeface="Cambria"/>
              </a:rPr>
              <a:t>¿Qué </a:t>
            </a:r>
            <a:r>
              <a:rPr sz="2400" spc="55" dirty="0">
                <a:latin typeface="Cambria"/>
                <a:cs typeface="Cambria"/>
              </a:rPr>
              <a:t>puede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significar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gazpiña</a:t>
            </a:r>
            <a:r>
              <a:rPr sz="2400" spc="90" dirty="0">
                <a:latin typeface="Cambria"/>
                <a:cs typeface="Cambria"/>
              </a:rPr>
              <a:t>?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i="1" spc="70" dirty="0">
                <a:latin typeface="Cambria"/>
                <a:cs typeface="Cambria"/>
              </a:rPr>
              <a:t>gazpiña</a:t>
            </a:r>
            <a:r>
              <a:rPr sz="1800" i="1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podría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ser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una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bebida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alcohólica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y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azucarada</a:t>
            </a:r>
            <a:endParaRPr sz="1800">
              <a:latin typeface="Cambria"/>
              <a:cs typeface="Cambria"/>
            </a:endParaRPr>
          </a:p>
          <a:p>
            <a:pPr marR="157480" algn="ctr">
              <a:lnSpc>
                <a:spcPct val="100000"/>
              </a:lnSpc>
              <a:spcBef>
                <a:spcPts val="1520"/>
              </a:spcBef>
            </a:pPr>
            <a:r>
              <a:rPr sz="1800" spc="60" dirty="0">
                <a:latin typeface="Cambria"/>
                <a:cs typeface="Cambria"/>
              </a:rPr>
              <a:t>¿Como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llegamos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esa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conclusión?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6315"/>
            <a:ext cx="40233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/>
          <p:nvPr/>
        </p:nvSpPr>
        <p:spPr>
          <a:xfrm>
            <a:off x="3351276" y="1875282"/>
            <a:ext cx="840105" cy="274320"/>
          </a:xfrm>
          <a:custGeom>
            <a:avLst/>
            <a:gdLst/>
            <a:ahLst/>
            <a:cxnLst/>
            <a:rect l="l" t="t" r="r" b="b"/>
            <a:pathLst>
              <a:path w="840104" h="274319">
                <a:moveTo>
                  <a:pt x="839724" y="0"/>
                </a:moveTo>
                <a:lnTo>
                  <a:pt x="0" y="0"/>
                </a:lnTo>
                <a:lnTo>
                  <a:pt x="0" y="274320"/>
                </a:lnTo>
                <a:lnTo>
                  <a:pt x="839724" y="274320"/>
                </a:lnTo>
                <a:lnTo>
                  <a:pt x="839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33315" y="2286761"/>
            <a:ext cx="840105" cy="274320"/>
          </a:xfrm>
          <a:custGeom>
            <a:avLst/>
            <a:gdLst/>
            <a:ahLst/>
            <a:cxnLst/>
            <a:rect l="l" t="t" r="r" b="b"/>
            <a:pathLst>
              <a:path w="840104" h="274319">
                <a:moveTo>
                  <a:pt x="839724" y="0"/>
                </a:moveTo>
                <a:lnTo>
                  <a:pt x="0" y="0"/>
                </a:lnTo>
                <a:lnTo>
                  <a:pt x="0" y="274319"/>
                </a:lnTo>
                <a:lnTo>
                  <a:pt x="839724" y="274319"/>
                </a:lnTo>
                <a:lnTo>
                  <a:pt x="839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8988" y="2698242"/>
            <a:ext cx="840105" cy="274320"/>
          </a:xfrm>
          <a:custGeom>
            <a:avLst/>
            <a:gdLst/>
            <a:ahLst/>
            <a:cxnLst/>
            <a:rect l="l" t="t" r="r" b="b"/>
            <a:pathLst>
              <a:path w="840105" h="274319">
                <a:moveTo>
                  <a:pt x="839724" y="0"/>
                </a:moveTo>
                <a:lnTo>
                  <a:pt x="0" y="0"/>
                </a:lnTo>
                <a:lnTo>
                  <a:pt x="0" y="274319"/>
                </a:lnTo>
                <a:lnTo>
                  <a:pt x="839724" y="274319"/>
                </a:lnTo>
                <a:lnTo>
                  <a:pt x="839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08988" y="3109722"/>
            <a:ext cx="840105" cy="274320"/>
          </a:xfrm>
          <a:custGeom>
            <a:avLst/>
            <a:gdLst/>
            <a:ahLst/>
            <a:cxnLst/>
            <a:rect l="l" t="t" r="r" b="b"/>
            <a:pathLst>
              <a:path w="840105" h="274320">
                <a:moveTo>
                  <a:pt x="839724" y="0"/>
                </a:moveTo>
                <a:lnTo>
                  <a:pt x="0" y="0"/>
                </a:lnTo>
                <a:lnTo>
                  <a:pt x="0" y="274319"/>
                </a:lnTo>
                <a:lnTo>
                  <a:pt x="839724" y="274319"/>
                </a:lnTo>
                <a:lnTo>
                  <a:pt x="839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1118038"/>
            <a:ext cx="5338445" cy="1453515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400" spc="130" dirty="0">
                <a:latin typeface="Cambria"/>
                <a:cs typeface="Cambria"/>
              </a:rPr>
              <a:t>¿Qué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otras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palabras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encajan?</a:t>
            </a:r>
            <a:endParaRPr sz="2400">
              <a:latin typeface="Cambria"/>
              <a:cs typeface="Cambria"/>
            </a:endParaRPr>
          </a:p>
          <a:p>
            <a:pPr marL="927100" indent="-342900">
              <a:lnSpc>
                <a:spcPct val="100000"/>
              </a:lnSpc>
              <a:spcBef>
                <a:spcPts val="1270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  <a:tab pos="3716020" algn="l"/>
              </a:tabLst>
            </a:pPr>
            <a:r>
              <a:rPr sz="1800" spc="145" dirty="0">
                <a:latin typeface="Cambria"/>
                <a:cs typeface="Cambria"/>
              </a:rPr>
              <a:t>Hay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una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jarra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de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60" dirty="0">
                <a:latin typeface="Cambria"/>
                <a:cs typeface="Cambria"/>
              </a:rPr>
              <a:t>en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el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frigorífico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ct val="100000"/>
              </a:lnSpc>
              <a:spcBef>
                <a:spcPts val="1085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todo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el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mundo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gusta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la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7744" y="2545842"/>
            <a:ext cx="649605" cy="8489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Microsoft Sans Serif"/>
              <a:buChar char="●"/>
              <a:tabLst>
                <a:tab pos="354965" algn="l"/>
              </a:tabLst>
            </a:pPr>
            <a:r>
              <a:rPr sz="1800" spc="150" dirty="0">
                <a:latin typeface="Cambria"/>
                <a:cs typeface="Cambria"/>
              </a:rPr>
              <a:t>La</a:t>
            </a:r>
            <a:endParaRPr sz="18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Microsoft Sans Serif"/>
              <a:buChar char="●"/>
              <a:tabLst>
                <a:tab pos="354965" algn="l"/>
              </a:tabLst>
            </a:pPr>
            <a:r>
              <a:rPr sz="1800" spc="150" dirty="0">
                <a:latin typeface="Cambria"/>
                <a:cs typeface="Cambria"/>
              </a:rPr>
              <a:t>La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7226" y="2545842"/>
            <a:ext cx="36715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no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sentó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bien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acabé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borracho </a:t>
            </a:r>
            <a:r>
              <a:rPr sz="1800" dirty="0">
                <a:latin typeface="Cambria"/>
                <a:cs typeface="Cambria"/>
              </a:rPr>
              <a:t>es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muy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azucarada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/>
          <p:nvPr/>
        </p:nvSpPr>
        <p:spPr>
          <a:xfrm>
            <a:off x="3204972" y="1685544"/>
            <a:ext cx="655320" cy="213360"/>
          </a:xfrm>
          <a:custGeom>
            <a:avLst/>
            <a:gdLst/>
            <a:ahLst/>
            <a:cxnLst/>
            <a:rect l="l" t="t" r="r" b="b"/>
            <a:pathLst>
              <a:path w="655320" h="213360">
                <a:moveTo>
                  <a:pt x="655320" y="0"/>
                </a:moveTo>
                <a:lnTo>
                  <a:pt x="0" y="0"/>
                </a:lnTo>
                <a:lnTo>
                  <a:pt x="0" y="213359"/>
                </a:lnTo>
                <a:lnTo>
                  <a:pt x="655320" y="213359"/>
                </a:lnTo>
                <a:lnTo>
                  <a:pt x="6553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50791" y="2005583"/>
            <a:ext cx="654050" cy="213360"/>
          </a:xfrm>
          <a:custGeom>
            <a:avLst/>
            <a:gdLst/>
            <a:ahLst/>
            <a:cxnLst/>
            <a:rect l="l" t="t" r="r" b="b"/>
            <a:pathLst>
              <a:path w="654050" h="213360">
                <a:moveTo>
                  <a:pt x="653796" y="0"/>
                </a:moveTo>
                <a:lnTo>
                  <a:pt x="0" y="0"/>
                </a:lnTo>
                <a:lnTo>
                  <a:pt x="0" y="213360"/>
                </a:lnTo>
                <a:lnTo>
                  <a:pt x="653796" y="213360"/>
                </a:lnTo>
                <a:lnTo>
                  <a:pt x="6537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07107" y="2325623"/>
            <a:ext cx="655320" cy="213360"/>
          </a:xfrm>
          <a:custGeom>
            <a:avLst/>
            <a:gdLst/>
            <a:ahLst/>
            <a:cxnLst/>
            <a:rect l="l" t="t" r="r" b="b"/>
            <a:pathLst>
              <a:path w="655319" h="213360">
                <a:moveTo>
                  <a:pt x="655319" y="0"/>
                </a:moveTo>
                <a:lnTo>
                  <a:pt x="0" y="0"/>
                </a:lnTo>
                <a:lnTo>
                  <a:pt x="0" y="213360"/>
                </a:lnTo>
                <a:lnTo>
                  <a:pt x="655319" y="213360"/>
                </a:lnTo>
                <a:lnTo>
                  <a:pt x="655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7107" y="2645664"/>
            <a:ext cx="655320" cy="213360"/>
          </a:xfrm>
          <a:custGeom>
            <a:avLst/>
            <a:gdLst/>
            <a:ahLst/>
            <a:cxnLst/>
            <a:rect l="l" t="t" r="r" b="b"/>
            <a:pathLst>
              <a:path w="655319" h="213360">
                <a:moveTo>
                  <a:pt x="655319" y="0"/>
                </a:moveTo>
                <a:lnTo>
                  <a:pt x="0" y="0"/>
                </a:lnTo>
                <a:lnTo>
                  <a:pt x="0" y="213360"/>
                </a:lnTo>
                <a:lnTo>
                  <a:pt x="655319" y="213360"/>
                </a:lnTo>
                <a:lnTo>
                  <a:pt x="655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0259" y="1314652"/>
            <a:ext cx="24606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75" dirty="0">
                <a:latin typeface="Cambria"/>
                <a:cs typeface="Cambria"/>
              </a:rPr>
              <a:t>¿Qué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otras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palabras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encajan?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2013" y="1626923"/>
            <a:ext cx="3792220" cy="12534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5"/>
              </a:spcBef>
              <a:buClr>
                <a:srgbClr val="6E6E74"/>
              </a:buClr>
              <a:buSzPct val="128571"/>
              <a:buFont typeface="Microsoft Sans Serif"/>
              <a:buChar char="●"/>
              <a:tabLst>
                <a:tab pos="354965" algn="l"/>
                <a:tab pos="2524125" algn="l"/>
              </a:tabLst>
            </a:pPr>
            <a:r>
              <a:rPr sz="1400" spc="114" dirty="0">
                <a:latin typeface="Cambria"/>
                <a:cs typeface="Cambria"/>
              </a:rPr>
              <a:t>Hay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una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jarra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de</a:t>
            </a:r>
            <a:r>
              <a:rPr sz="1400" dirty="0">
                <a:latin typeface="Cambria"/>
                <a:cs typeface="Cambria"/>
              </a:rPr>
              <a:t>	en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el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frigorífico</a:t>
            </a:r>
            <a:endParaRPr sz="1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Clr>
                <a:srgbClr val="6E6E74"/>
              </a:buClr>
              <a:buSzPct val="128571"/>
              <a:buFont typeface="Microsoft Sans Serif"/>
              <a:buChar char="●"/>
              <a:tabLst>
                <a:tab pos="354965" algn="l"/>
              </a:tabLst>
            </a:pPr>
            <a:r>
              <a:rPr sz="1400" spc="130" dirty="0">
                <a:latin typeface="Cambria"/>
                <a:cs typeface="Cambria"/>
              </a:rPr>
              <a:t>A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todo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el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mundo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le</a:t>
            </a:r>
            <a:r>
              <a:rPr sz="1400" spc="16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gusta</a:t>
            </a:r>
            <a:r>
              <a:rPr sz="1400" spc="13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la</a:t>
            </a:r>
            <a:endParaRPr sz="1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SzPct val="128571"/>
              <a:buFont typeface="Microsoft Sans Serif"/>
              <a:buChar char="●"/>
              <a:tabLst>
                <a:tab pos="354965" algn="l"/>
              </a:tabLst>
            </a:pPr>
            <a:r>
              <a:rPr sz="1400" spc="120" dirty="0">
                <a:latin typeface="Cambria"/>
                <a:cs typeface="Cambria"/>
              </a:rPr>
              <a:t>La</a:t>
            </a:r>
            <a:endParaRPr sz="1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SzPct val="128571"/>
              <a:buFont typeface="Microsoft Sans Serif"/>
              <a:buChar char="●"/>
              <a:tabLst>
                <a:tab pos="354965" algn="l"/>
              </a:tabLst>
            </a:pPr>
            <a:r>
              <a:rPr sz="1400" spc="120" dirty="0">
                <a:latin typeface="Cambria"/>
                <a:cs typeface="Cambria"/>
              </a:rPr>
              <a:t>La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4177" y="2204186"/>
            <a:ext cx="28670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latin typeface="Cambria"/>
                <a:cs typeface="Cambria"/>
              </a:rPr>
              <a:t>no</a:t>
            </a:r>
            <a:r>
              <a:rPr sz="1400" spc="204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me</a:t>
            </a:r>
            <a:r>
              <a:rPr sz="1400" spc="2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sentó</a:t>
            </a:r>
            <a:r>
              <a:rPr sz="1400" spc="1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bien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y</a:t>
            </a:r>
            <a:r>
              <a:rPr sz="1400" spc="2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acabé</a:t>
            </a:r>
            <a:r>
              <a:rPr sz="1400" spc="16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borracho </a:t>
            </a:r>
            <a:r>
              <a:rPr sz="1400" dirty="0">
                <a:latin typeface="Cambria"/>
                <a:cs typeface="Cambria"/>
              </a:rPr>
              <a:t>es</a:t>
            </a:r>
            <a:r>
              <a:rPr sz="1400" spc="12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muy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azucarada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22462" y="3054794"/>
          <a:ext cx="4276721" cy="1819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(1)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(2)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(3)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(4)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Gazpiña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Música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Basura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Cerveza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Sangria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Distribución</a:t>
            </a:r>
            <a:r>
              <a:rPr spc="100" dirty="0"/>
              <a:t> </a:t>
            </a:r>
            <a:r>
              <a:rPr spc="75" dirty="0"/>
              <a:t>semántica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69237"/>
            <a:ext cx="724154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400" spc="180" dirty="0">
                <a:latin typeface="Cambria"/>
                <a:cs typeface="Cambria"/>
              </a:rPr>
              <a:t>Las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palabras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que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aparecen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manera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frecuente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en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810"/>
              </a:lnSpc>
            </a:pPr>
            <a:r>
              <a:rPr sz="2400" spc="50" dirty="0">
                <a:latin typeface="Cambria"/>
                <a:cs typeface="Cambria"/>
              </a:rPr>
              <a:t>contextos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similares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tienen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significado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similar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Palabras</a:t>
            </a:r>
            <a:r>
              <a:rPr spc="-5" dirty="0"/>
              <a:t> </a:t>
            </a:r>
            <a:r>
              <a:rPr dirty="0"/>
              <a:t>como</a:t>
            </a:r>
            <a:r>
              <a:rPr spc="45" dirty="0"/>
              <a:t> </a:t>
            </a:r>
            <a:r>
              <a:rPr spc="-10" dirty="0"/>
              <a:t>vectores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738"/>
            <a:ext cx="7241540" cy="13379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305"/>
              </a:spcBef>
            </a:pPr>
            <a:r>
              <a:rPr sz="2400" spc="95" dirty="0">
                <a:latin typeface="Cambria"/>
                <a:cs typeface="Cambria"/>
              </a:rPr>
              <a:t>Construimos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un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modelo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significado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basado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en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la </a:t>
            </a:r>
            <a:r>
              <a:rPr sz="2400" spc="80" dirty="0">
                <a:latin typeface="Cambria"/>
                <a:cs typeface="Cambria"/>
              </a:rPr>
              <a:t>similitud:</a:t>
            </a:r>
            <a:endParaRPr sz="2400">
              <a:latin typeface="Cambria"/>
              <a:cs typeface="Cambria"/>
            </a:endParaRPr>
          </a:p>
          <a:p>
            <a:pPr marL="927100" indent="-342900">
              <a:lnSpc>
                <a:spcPts val="2105"/>
              </a:lnSpc>
              <a:spcBef>
                <a:spcPts val="434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40" dirty="0">
                <a:latin typeface="Cambria"/>
                <a:cs typeface="Cambria"/>
              </a:rPr>
              <a:t>Cada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palabra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un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vector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ts val="2105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35" dirty="0">
                <a:latin typeface="Cambria"/>
                <a:cs typeface="Cambria"/>
              </a:rPr>
              <a:t>Las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palabras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similares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están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cerca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el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espacio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384" y="3161825"/>
            <a:ext cx="5258295" cy="17304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254" dirty="0"/>
              <a:t>Una</a:t>
            </a:r>
            <a:r>
              <a:rPr spc="105" dirty="0"/>
              <a:t> </a:t>
            </a:r>
            <a:r>
              <a:rPr spc="65" dirty="0"/>
              <a:t>primera</a:t>
            </a:r>
            <a:r>
              <a:rPr spc="105" dirty="0"/>
              <a:t> </a:t>
            </a:r>
            <a:r>
              <a:rPr spc="-10" dirty="0"/>
              <a:t>solución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738"/>
            <a:ext cx="7449820" cy="123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75" dirty="0">
                <a:latin typeface="Cambria"/>
                <a:cs typeface="Cambria"/>
              </a:rPr>
              <a:t>Usar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vectores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contexto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para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representar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palabras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35" dirty="0">
                <a:latin typeface="Cambria"/>
                <a:cs typeface="Cambria"/>
              </a:rPr>
              <a:t>Matriz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co-</a:t>
            </a:r>
            <a:r>
              <a:rPr sz="2400" spc="55" dirty="0">
                <a:latin typeface="Cambria"/>
                <a:cs typeface="Cambria"/>
              </a:rPr>
              <a:t>ocurrencia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palabra-</a:t>
            </a:r>
            <a:r>
              <a:rPr sz="2400" spc="80" dirty="0">
                <a:latin typeface="Cambria"/>
                <a:cs typeface="Cambria"/>
              </a:rPr>
              <a:t>a-</a:t>
            </a:r>
            <a:r>
              <a:rPr sz="2400" spc="75" dirty="0">
                <a:latin typeface="Cambria"/>
                <a:cs typeface="Cambria"/>
              </a:rPr>
              <a:t>palabra: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154" y="2982859"/>
            <a:ext cx="5588471" cy="10760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Similitud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794" y="1555498"/>
            <a:ext cx="6901459" cy="24657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6315"/>
            <a:ext cx="3324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Similitud </a:t>
            </a:r>
            <a:r>
              <a:rPr spc="-10" dirty="0"/>
              <a:t>(ejemplo)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7737" y="1195387"/>
          <a:ext cx="7239000" cy="155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Vuelo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Animal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20" dirty="0">
                          <a:latin typeface="Arial MT"/>
                          <a:cs typeface="Arial MT"/>
                        </a:rPr>
                        <a:t>Casa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Perro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4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20" dirty="0">
                          <a:latin typeface="Arial MT"/>
                          <a:cs typeface="Arial MT"/>
                        </a:rPr>
                        <a:t>Gato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4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spc="-10" dirty="0">
                          <a:latin typeface="Arial MT"/>
                          <a:cs typeface="Arial MT"/>
                        </a:rPr>
                        <a:t>Avión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1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spc="-50" dirty="0">
                          <a:latin typeface="Arial MT"/>
                          <a:cs typeface="Arial MT"/>
                        </a:rPr>
                        <a:t>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216" y="3127248"/>
            <a:ext cx="5779008" cy="571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216" y="3861815"/>
            <a:ext cx="5911596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PPIM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7913"/>
            <a:ext cx="5931535" cy="21729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400" spc="65" dirty="0">
                <a:latin typeface="Cambria"/>
                <a:cs typeface="Cambria"/>
              </a:rPr>
              <a:t>Problema:</a:t>
            </a:r>
            <a:endParaRPr sz="2400">
              <a:latin typeface="Cambria"/>
              <a:cs typeface="Cambria"/>
            </a:endParaRPr>
          </a:p>
          <a:p>
            <a:pPr marL="927100" indent="-342900">
              <a:lnSpc>
                <a:spcPts val="2105"/>
              </a:lnSpc>
              <a:spcBef>
                <a:spcPts val="505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90" dirty="0">
                <a:latin typeface="Cambria"/>
                <a:cs typeface="Cambria"/>
              </a:rPr>
              <a:t>No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todos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conteos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son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iguales</a:t>
            </a:r>
            <a:endParaRPr sz="1800">
              <a:latin typeface="Cambria"/>
              <a:cs typeface="Cambria"/>
            </a:endParaRPr>
          </a:p>
          <a:p>
            <a:pPr marL="927100" indent="-342900">
              <a:lnSpc>
                <a:spcPts val="2105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95" dirty="0">
                <a:latin typeface="Cambria"/>
                <a:cs typeface="Cambria"/>
              </a:rPr>
              <a:t>Palabras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pueden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ocurrir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forma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aleatoria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buClr>
                <a:srgbClr val="6E6E74"/>
              </a:buClr>
              <a:buFont typeface="Microsoft Sans Serif"/>
              <a:buChar char="●"/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60" dirty="0">
                <a:latin typeface="Cambria"/>
                <a:cs typeface="Cambria"/>
              </a:rPr>
              <a:t>Solución:</a:t>
            </a:r>
            <a:endParaRPr sz="2400">
              <a:latin typeface="Cambria"/>
              <a:cs typeface="Cambria"/>
            </a:endParaRPr>
          </a:p>
          <a:p>
            <a:pPr marL="927100" indent="-342900">
              <a:lnSpc>
                <a:spcPct val="100000"/>
              </a:lnSpc>
              <a:spcBef>
                <a:spcPts val="505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1800" spc="180" dirty="0">
                <a:latin typeface="Cambria"/>
                <a:cs typeface="Cambria"/>
              </a:rPr>
              <a:t>PPIM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(Positive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Pointwise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Mutual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Information)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611" y="3779520"/>
            <a:ext cx="3924299" cy="5704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91465" marR="5080">
              <a:lnSpc>
                <a:spcPts val="3240"/>
              </a:lnSpc>
              <a:spcBef>
                <a:spcPts val="509"/>
              </a:spcBef>
            </a:pPr>
            <a:r>
              <a:rPr spc="155" dirty="0"/>
              <a:t>Que</a:t>
            </a:r>
            <a:r>
              <a:rPr spc="210" dirty="0"/>
              <a:t> </a:t>
            </a:r>
            <a:r>
              <a:rPr dirty="0"/>
              <a:t>ocurre</a:t>
            </a:r>
            <a:r>
              <a:rPr spc="215" dirty="0"/>
              <a:t> </a:t>
            </a:r>
            <a:r>
              <a:rPr dirty="0"/>
              <a:t>con</a:t>
            </a:r>
            <a:r>
              <a:rPr spc="220" dirty="0"/>
              <a:t> </a:t>
            </a:r>
            <a:r>
              <a:rPr spc="145" dirty="0"/>
              <a:t>la</a:t>
            </a:r>
            <a:r>
              <a:rPr spc="200" dirty="0"/>
              <a:t> </a:t>
            </a:r>
            <a:r>
              <a:rPr dirty="0"/>
              <a:t>representacion</a:t>
            </a:r>
            <a:r>
              <a:rPr spc="190" dirty="0"/>
              <a:t> </a:t>
            </a:r>
            <a:r>
              <a:rPr spc="95" dirty="0"/>
              <a:t>basada</a:t>
            </a:r>
            <a:r>
              <a:rPr spc="185" dirty="0"/>
              <a:t> </a:t>
            </a:r>
            <a:r>
              <a:rPr spc="45" dirty="0"/>
              <a:t>en </a:t>
            </a:r>
            <a:r>
              <a:rPr spc="-10" dirty="0"/>
              <a:t>ocurrencias?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549984"/>
            <a:ext cx="7017384" cy="158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225" dirty="0">
                <a:latin typeface="Cambria"/>
                <a:cs typeface="Cambria"/>
              </a:rPr>
              <a:t>A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pesar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que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las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palabras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tienen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relacion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6E6E74"/>
              </a:buClr>
              <a:buFont typeface="Microsoft Sans Serif"/>
              <a:buChar char="●"/>
            </a:pP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810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65" dirty="0">
                <a:latin typeface="Cambria"/>
                <a:cs typeface="Cambria"/>
              </a:rPr>
              <a:t>Vectores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dispersos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(mayoría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0s)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y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largos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810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05" dirty="0">
                <a:latin typeface="Cambria"/>
                <a:cs typeface="Cambria"/>
              </a:rPr>
              <a:t>Nos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gustaría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vectores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cortos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(50-</a:t>
            </a:r>
            <a:r>
              <a:rPr sz="2400" dirty="0">
                <a:latin typeface="Cambria"/>
                <a:cs typeface="Cambria"/>
              </a:rPr>
              <a:t>300)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y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densos.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Vectores</a:t>
            </a:r>
            <a:r>
              <a:rPr spc="85" dirty="0"/>
              <a:t> </a:t>
            </a:r>
            <a:r>
              <a:rPr spc="-10" dirty="0"/>
              <a:t>densos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32738"/>
            <a:ext cx="6519545" cy="16827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93700" marR="202565" indent="-381635">
              <a:lnSpc>
                <a:spcPts val="2740"/>
              </a:lnSpc>
              <a:spcBef>
                <a:spcPts val="305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65" dirty="0">
                <a:latin typeface="Cambria"/>
                <a:cs typeface="Cambria"/>
              </a:rPr>
              <a:t>Vectores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cortos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son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más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fáciles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usar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en </a:t>
            </a:r>
            <a:r>
              <a:rPr sz="2400" spc="80" dirty="0">
                <a:latin typeface="Cambria"/>
                <a:cs typeface="Cambria"/>
              </a:rPr>
              <a:t>aprendizaje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automático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595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20" dirty="0">
                <a:latin typeface="Cambria"/>
                <a:cs typeface="Cambria"/>
              </a:rPr>
              <a:t>Generalizan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mejor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que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simplemente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contar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705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40" dirty="0">
                <a:latin typeface="Cambria"/>
                <a:cs typeface="Cambria"/>
              </a:rPr>
              <a:t>Capturar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mejor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las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relaciones</a:t>
            </a:r>
            <a:endParaRPr sz="2400">
              <a:latin typeface="Cambria"/>
              <a:cs typeface="Cambria"/>
            </a:endParaRPr>
          </a:p>
          <a:p>
            <a:pPr marL="508000">
              <a:lnSpc>
                <a:spcPts val="2060"/>
              </a:lnSpc>
              <a:tabLst>
                <a:tab pos="850900" algn="l"/>
              </a:tabLst>
            </a:pPr>
            <a:r>
              <a:rPr sz="1800" spc="270" dirty="0">
                <a:solidFill>
                  <a:srgbClr val="6E6E74"/>
                </a:solidFill>
                <a:latin typeface="Arial MT"/>
                <a:cs typeface="Arial MT"/>
              </a:rPr>
              <a:t>🞦</a:t>
            </a:r>
            <a:r>
              <a:rPr sz="1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w1</a:t>
            </a:r>
            <a:r>
              <a:rPr sz="18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Cambria"/>
                <a:cs typeface="Cambria"/>
              </a:rPr>
              <a:t>co-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ocurre</a:t>
            </a:r>
            <a:r>
              <a:rPr sz="180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con</a:t>
            </a:r>
            <a:r>
              <a:rPr sz="18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coche,</a:t>
            </a:r>
            <a:r>
              <a:rPr sz="18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w1</a:t>
            </a:r>
            <a:r>
              <a:rPr sz="18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Cambria"/>
                <a:cs typeface="Cambria"/>
              </a:rPr>
              <a:t>co-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ocurre</a:t>
            </a:r>
            <a:r>
              <a:rPr sz="18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con</a:t>
            </a:r>
            <a:r>
              <a:rPr sz="180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252525"/>
                </a:solidFill>
                <a:latin typeface="Cambria"/>
                <a:cs typeface="Cambria"/>
              </a:rPr>
              <a:t>automóvil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Aprendiendo</a:t>
            </a:r>
            <a:r>
              <a:rPr spc="90" dirty="0"/>
              <a:t> </a:t>
            </a:r>
            <a:r>
              <a:rPr spc="-10" dirty="0"/>
              <a:t>embeddings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738"/>
            <a:ext cx="7715884" cy="193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35" dirty="0">
                <a:latin typeface="Cambria"/>
                <a:cs typeface="Cambria"/>
              </a:rPr>
              <a:t>Buen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embedding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depende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del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problema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2740"/>
              </a:lnSpc>
            </a:pPr>
            <a:r>
              <a:rPr sz="2400" spc="80" dirty="0">
                <a:latin typeface="Cambria"/>
                <a:cs typeface="Cambria"/>
              </a:rPr>
              <a:t>Mejor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embedding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para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tarea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analizar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valoraciones </a:t>
            </a:r>
            <a:r>
              <a:rPr sz="2400" spc="85" dirty="0">
                <a:latin typeface="Cambria"/>
                <a:cs typeface="Cambria"/>
              </a:rPr>
              <a:t>será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distinto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al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mejor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embedding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para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clasificar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textos </a:t>
            </a:r>
            <a:r>
              <a:rPr sz="2400" spc="75" dirty="0">
                <a:latin typeface="Cambria"/>
                <a:cs typeface="Cambria"/>
              </a:rPr>
              <a:t>legales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Embeddings</a:t>
            </a:r>
            <a:r>
              <a:rPr spc="65" dirty="0"/>
              <a:t> </a:t>
            </a:r>
            <a:r>
              <a:rPr dirty="0"/>
              <a:t>pre-</a:t>
            </a:r>
            <a:r>
              <a:rPr spc="-10" dirty="0"/>
              <a:t>aprendidos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5188"/>
            <a:ext cx="5138420" cy="12204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spc="130" dirty="0">
                <a:latin typeface="Cambria"/>
                <a:cs typeface="Cambria"/>
              </a:rPr>
              <a:t>¿Qué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ocurre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tenemos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pocos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datos?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810"/>
              </a:lnSpc>
              <a:spcBef>
                <a:spcPts val="459"/>
              </a:spcBef>
              <a:buFont typeface="Microsoft Sans Serif"/>
              <a:buChar char="●"/>
              <a:tabLst>
                <a:tab pos="927100" algn="l"/>
              </a:tabLst>
            </a:pPr>
            <a:r>
              <a:rPr sz="2400" spc="140" dirty="0">
                <a:latin typeface="Cambria"/>
                <a:cs typeface="Cambria"/>
              </a:rPr>
              <a:t>Utilizar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embedding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genérico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810"/>
              </a:lnSpc>
              <a:buClr>
                <a:srgbClr val="000000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u="sng" spc="75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mbria"/>
                <a:cs typeface="Cambria"/>
              </a:rPr>
              <a:t>Word2Vec</a:t>
            </a:r>
            <a:r>
              <a:rPr sz="2400" spc="75" dirty="0">
                <a:latin typeface="Cambria"/>
                <a:cs typeface="Cambria"/>
              </a:rPr>
              <a:t>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u="sng" spc="155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GloVe</a:t>
            </a:r>
            <a:r>
              <a:rPr sz="2400" spc="155" dirty="0">
                <a:latin typeface="Cambria"/>
                <a:cs typeface="Cambria"/>
              </a:rPr>
              <a:t>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u="sng" spc="125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3"/>
              </a:rPr>
              <a:t>FastText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047" y="268935"/>
            <a:ext cx="17227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0166" y="819150"/>
            <a:ext cx="1062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Cambria"/>
                <a:cs typeface="Cambria"/>
              </a:rPr>
              <a:t>Skipgram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6713" y="769111"/>
            <a:ext cx="75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5" dirty="0">
                <a:latin typeface="Cambria"/>
                <a:cs typeface="Cambria"/>
              </a:rPr>
              <a:t>CBOW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047" y="4650435"/>
            <a:ext cx="36753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"/>
                <a:cs typeface="Cambria"/>
              </a:rPr>
              <a:t>predice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el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contexto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dada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una</a:t>
            </a:r>
            <a:r>
              <a:rPr sz="1400" spc="16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palabra</a:t>
            </a:r>
            <a:r>
              <a:rPr sz="1400" spc="13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central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9314" y="4532782"/>
            <a:ext cx="32042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"/>
                <a:cs typeface="Cambria"/>
              </a:rPr>
              <a:t>predice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la</a:t>
            </a:r>
            <a:r>
              <a:rPr sz="1400" spc="17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palabra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central</a:t>
            </a:r>
            <a:r>
              <a:rPr sz="1400" spc="1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sumando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los </a:t>
            </a:r>
            <a:r>
              <a:rPr sz="1400" dirty="0">
                <a:latin typeface="Cambria"/>
                <a:cs typeface="Cambria"/>
              </a:rPr>
              <a:t>vectores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de</a:t>
            </a:r>
            <a:r>
              <a:rPr sz="1400" spc="19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contexto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1011936"/>
            <a:ext cx="3314700" cy="33573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721" y="1453228"/>
            <a:ext cx="2576485" cy="311752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290" dirty="0"/>
              <a:t> </a:t>
            </a:r>
            <a:r>
              <a:rPr spc="275" dirty="0"/>
              <a:t>CBOW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226" y="1404971"/>
            <a:ext cx="5263532" cy="16014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3553" y="3401602"/>
            <a:ext cx="3276028" cy="146442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432"/>
            <a:ext cx="8839200" cy="33924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Modelo</a:t>
            </a:r>
            <a:r>
              <a:rPr spc="290" dirty="0"/>
              <a:t> </a:t>
            </a:r>
            <a:r>
              <a:rPr spc="275" dirty="0"/>
              <a:t>CBOW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Glove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32738"/>
            <a:ext cx="7806690" cy="2652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ts val="2780"/>
              </a:lnSpc>
              <a:spcBef>
                <a:spcPts val="10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35" dirty="0">
                <a:latin typeface="Cambria"/>
                <a:cs typeface="Cambria"/>
              </a:rPr>
              <a:t>Matriz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co-</a:t>
            </a:r>
            <a:r>
              <a:rPr sz="2400" spc="50" dirty="0">
                <a:latin typeface="Cambria"/>
                <a:cs typeface="Cambria"/>
              </a:rPr>
              <a:t>ocurrencias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ts val="2780"/>
              </a:lnSpc>
            </a:pPr>
            <a:r>
              <a:rPr lang="es-CO" sz="2400" spc="340" dirty="0">
                <a:solidFill>
                  <a:srgbClr val="6E6E74"/>
                </a:solidFill>
                <a:latin typeface="Arial MT"/>
                <a:cs typeface="Arial MT"/>
              </a:rPr>
              <a:t>X</a:t>
            </a:r>
            <a:r>
              <a:rPr sz="2400" spc="34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252525"/>
                </a:solidFill>
                <a:latin typeface="Cambria"/>
                <a:cs typeface="Cambria"/>
              </a:rPr>
              <a:t>Derivamos</a:t>
            </a:r>
            <a:r>
              <a:rPr sz="18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252525"/>
                </a:solidFill>
                <a:latin typeface="Cambria"/>
                <a:cs typeface="Cambria"/>
              </a:rPr>
              <a:t>la</a:t>
            </a:r>
            <a:r>
              <a:rPr sz="18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relacion</a:t>
            </a:r>
            <a:r>
              <a:rPr sz="18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252525"/>
                </a:solidFill>
                <a:latin typeface="Cambria"/>
                <a:cs typeface="Cambria"/>
              </a:rPr>
              <a:t>semantica</a:t>
            </a:r>
            <a:r>
              <a:rPr sz="180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252525"/>
                </a:solidFill>
                <a:latin typeface="Cambria"/>
                <a:cs typeface="Cambria"/>
              </a:rPr>
              <a:t>entre</a:t>
            </a:r>
            <a:r>
              <a:rPr sz="18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252525"/>
                </a:solidFill>
                <a:latin typeface="Cambria"/>
                <a:cs typeface="Cambria"/>
              </a:rPr>
              <a:t>las</a:t>
            </a:r>
            <a:r>
              <a:rPr sz="18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252525"/>
                </a:solidFill>
                <a:latin typeface="Cambria"/>
                <a:cs typeface="Cambria"/>
              </a:rPr>
              <a:t>palabras</a:t>
            </a:r>
            <a:endParaRPr sz="1800" dirty="0">
              <a:latin typeface="Cambria"/>
              <a:cs typeface="Cambria"/>
            </a:endParaRPr>
          </a:p>
          <a:p>
            <a:pPr marL="393700" marR="5080" indent="-381635">
              <a:lnSpc>
                <a:spcPts val="2740"/>
              </a:lnSpc>
              <a:spcBef>
                <a:spcPts val="53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80" dirty="0">
                <a:solidFill>
                  <a:srgbClr val="374151"/>
                </a:solidFill>
                <a:latin typeface="Cambria"/>
                <a:cs typeface="Cambria"/>
              </a:rPr>
              <a:t>Factorización</a:t>
            </a:r>
            <a:r>
              <a:rPr sz="2400" spc="130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74151"/>
                </a:solidFill>
                <a:latin typeface="Cambria"/>
                <a:cs typeface="Cambria"/>
              </a:rPr>
              <a:t>de</a:t>
            </a:r>
            <a:r>
              <a:rPr sz="2400" spc="200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374151"/>
                </a:solidFill>
                <a:latin typeface="Cambria"/>
                <a:cs typeface="Cambria"/>
              </a:rPr>
              <a:t>Matrices</a:t>
            </a:r>
            <a:r>
              <a:rPr sz="2400" spc="16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374151"/>
                </a:solidFill>
                <a:latin typeface="Cambria"/>
                <a:cs typeface="Cambria"/>
              </a:rPr>
              <a:t>para</a:t>
            </a:r>
            <a:r>
              <a:rPr sz="2400" spc="15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374151"/>
                </a:solidFill>
                <a:latin typeface="Cambria"/>
                <a:cs typeface="Cambria"/>
              </a:rPr>
              <a:t>reducir</a:t>
            </a:r>
            <a:r>
              <a:rPr sz="2400" spc="14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374151"/>
                </a:solidFill>
                <a:latin typeface="Cambria"/>
                <a:cs typeface="Cambria"/>
              </a:rPr>
              <a:t>la</a:t>
            </a:r>
            <a:r>
              <a:rPr sz="2400" spc="17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374151"/>
                </a:solidFill>
                <a:latin typeface="Cambria"/>
                <a:cs typeface="Cambria"/>
              </a:rPr>
              <a:t>dimensión </a:t>
            </a:r>
            <a:r>
              <a:rPr sz="2400" dirty="0">
                <a:solidFill>
                  <a:srgbClr val="374151"/>
                </a:solidFill>
                <a:latin typeface="Cambria"/>
                <a:cs typeface="Cambria"/>
              </a:rPr>
              <a:t>de</a:t>
            </a:r>
            <a:r>
              <a:rPr sz="2400" spc="190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374151"/>
                </a:solidFill>
                <a:latin typeface="Cambria"/>
                <a:cs typeface="Cambria"/>
              </a:rPr>
              <a:t>la</a:t>
            </a:r>
            <a:r>
              <a:rPr sz="2400" spc="19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374151"/>
                </a:solidFill>
                <a:latin typeface="Cambria"/>
                <a:cs typeface="Cambria"/>
              </a:rPr>
              <a:t>matriz</a:t>
            </a:r>
            <a:r>
              <a:rPr sz="2400" spc="15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74151"/>
                </a:solidFill>
                <a:latin typeface="Cambria"/>
                <a:cs typeface="Cambria"/>
              </a:rPr>
              <a:t>de</a:t>
            </a:r>
            <a:r>
              <a:rPr sz="2400" spc="21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-30" dirty="0">
                <a:solidFill>
                  <a:srgbClr val="374151"/>
                </a:solidFill>
                <a:latin typeface="Cambria"/>
                <a:cs typeface="Cambria"/>
              </a:rPr>
              <a:t>co-</a:t>
            </a:r>
            <a:r>
              <a:rPr sz="2400" spc="50" dirty="0">
                <a:solidFill>
                  <a:srgbClr val="374151"/>
                </a:solidFill>
                <a:latin typeface="Cambria"/>
                <a:cs typeface="Cambria"/>
              </a:rPr>
              <a:t>ocurrencia</a:t>
            </a:r>
            <a:endParaRPr sz="2400" dirty="0">
              <a:latin typeface="Cambria"/>
              <a:cs typeface="Cambria"/>
            </a:endParaRPr>
          </a:p>
          <a:p>
            <a:pPr marL="508000">
              <a:lnSpc>
                <a:spcPts val="1775"/>
              </a:lnSpc>
              <a:tabLst>
                <a:tab pos="850900" algn="l"/>
              </a:tabLst>
            </a:pPr>
            <a:endParaRPr lang="es-CO" sz="2800" dirty="0">
              <a:solidFill>
                <a:srgbClr val="6E6E74"/>
              </a:solidFill>
              <a:latin typeface="Arial MT"/>
              <a:cs typeface="Arial MT"/>
            </a:endParaRPr>
          </a:p>
          <a:p>
            <a:pPr marL="508000">
              <a:lnSpc>
                <a:spcPts val="1775"/>
              </a:lnSpc>
              <a:tabLst>
                <a:tab pos="850900" algn="l"/>
              </a:tabLst>
            </a:pPr>
            <a:r>
              <a:rPr lang="es-CO" sz="2800" dirty="0">
                <a:solidFill>
                  <a:srgbClr val="6E6E74"/>
                </a:solidFill>
                <a:latin typeface="Arial MT"/>
                <a:cs typeface="Arial MT"/>
              </a:rPr>
              <a:t>+</a:t>
            </a:r>
            <a:r>
              <a:rPr sz="1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1800" spc="20" dirty="0">
                <a:solidFill>
                  <a:srgbClr val="374151"/>
                </a:solidFill>
                <a:latin typeface="Cambria"/>
                <a:cs typeface="Cambria"/>
              </a:rPr>
              <a:t>Representaciones</a:t>
            </a:r>
            <a:r>
              <a:rPr sz="1800" spc="240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374151"/>
                </a:solidFill>
                <a:latin typeface="Cambria"/>
                <a:cs typeface="Cambria"/>
              </a:rPr>
              <a:t>más</a:t>
            </a:r>
            <a:r>
              <a:rPr sz="1800" spc="24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374151"/>
                </a:solidFill>
                <a:latin typeface="Cambria"/>
                <a:cs typeface="Cambria"/>
              </a:rPr>
              <a:t>compactas</a:t>
            </a:r>
            <a:r>
              <a:rPr sz="1800" spc="254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374151"/>
                </a:solidFill>
                <a:latin typeface="Cambria"/>
                <a:cs typeface="Cambria"/>
              </a:rPr>
              <a:t>y</a:t>
            </a:r>
            <a:r>
              <a:rPr sz="1800" spc="22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374151"/>
                </a:solidFill>
                <a:latin typeface="Cambria"/>
                <a:cs typeface="Cambria"/>
              </a:rPr>
              <a:t>significativas</a:t>
            </a:r>
            <a:r>
              <a:rPr sz="1800" spc="204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374151"/>
                </a:solidFill>
                <a:latin typeface="Cambria"/>
                <a:cs typeface="Cambria"/>
              </a:rPr>
              <a:t>para</a:t>
            </a:r>
            <a:r>
              <a:rPr sz="1800" spc="250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374151"/>
                </a:solidFill>
                <a:latin typeface="Cambria"/>
                <a:cs typeface="Cambria"/>
              </a:rPr>
              <a:t>cada</a:t>
            </a:r>
            <a:endParaRPr sz="1800" dirty="0">
              <a:latin typeface="Cambria"/>
              <a:cs typeface="Cambria"/>
            </a:endParaRPr>
          </a:p>
          <a:p>
            <a:pPr marL="850900">
              <a:lnSpc>
                <a:spcPts val="2050"/>
              </a:lnSpc>
            </a:pPr>
            <a:r>
              <a:rPr sz="1800" spc="55" dirty="0">
                <a:solidFill>
                  <a:srgbClr val="374151"/>
                </a:solidFill>
                <a:latin typeface="Cambria"/>
                <a:cs typeface="Cambria"/>
              </a:rPr>
              <a:t>palabra</a:t>
            </a:r>
            <a:endParaRPr sz="1800" dirty="0">
              <a:latin typeface="Cambria"/>
              <a:cs typeface="Cambria"/>
            </a:endParaRPr>
          </a:p>
          <a:p>
            <a:pPr marL="393700" indent="-381000">
              <a:lnSpc>
                <a:spcPct val="100000"/>
              </a:lnSpc>
              <a:spcBef>
                <a:spcPts val="45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65" dirty="0">
                <a:solidFill>
                  <a:srgbClr val="374151"/>
                </a:solidFill>
                <a:latin typeface="Cambria"/>
                <a:cs typeface="Cambria"/>
              </a:rPr>
              <a:t>Vectores</a:t>
            </a:r>
            <a:r>
              <a:rPr sz="2400" spc="180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74151"/>
                </a:solidFill>
                <a:latin typeface="Cambria"/>
                <a:cs typeface="Cambria"/>
              </a:rPr>
              <a:t>de</a:t>
            </a:r>
            <a:r>
              <a:rPr sz="2400" spc="195" dirty="0">
                <a:solidFill>
                  <a:srgbClr val="374151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374151"/>
                </a:solidFill>
                <a:latin typeface="Cambria"/>
                <a:cs typeface="Cambria"/>
              </a:rPr>
              <a:t>Palabras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FastText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275188"/>
            <a:ext cx="6693534" cy="1776127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55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10" dirty="0">
                <a:latin typeface="Cambria"/>
                <a:cs typeface="Cambria"/>
              </a:rPr>
              <a:t>Extensión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word2vec</a:t>
            </a:r>
            <a:endParaRPr sz="2400" dirty="0">
              <a:latin typeface="Cambria"/>
              <a:cs typeface="Cambria"/>
            </a:endParaRPr>
          </a:p>
          <a:p>
            <a:pPr marL="393700" indent="-381000">
              <a:lnSpc>
                <a:spcPct val="100000"/>
              </a:lnSpc>
              <a:spcBef>
                <a:spcPts val="459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240" dirty="0">
                <a:latin typeface="Cambria"/>
                <a:cs typeface="Cambria"/>
              </a:rPr>
              <a:t>En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lugar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usar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palabras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usan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n-</a:t>
            </a:r>
            <a:r>
              <a:rPr sz="2400" spc="105" dirty="0">
                <a:latin typeface="Cambria"/>
                <a:cs typeface="Cambria"/>
              </a:rPr>
              <a:t>gramas</a:t>
            </a:r>
            <a:endParaRPr sz="2400" dirty="0">
              <a:latin typeface="Cambria"/>
              <a:cs typeface="Cambria"/>
            </a:endParaRPr>
          </a:p>
          <a:p>
            <a:pPr marL="393700" indent="-381000">
              <a:lnSpc>
                <a:spcPct val="100000"/>
              </a:lnSpc>
              <a:spcBef>
                <a:spcPts val="455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229" dirty="0">
                <a:latin typeface="Cambria"/>
                <a:cs typeface="Cambria"/>
              </a:rPr>
              <a:t>La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palabra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“artificial”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n=3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divide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en:</a:t>
            </a:r>
            <a:endParaRPr sz="2400" dirty="0">
              <a:latin typeface="Cambria"/>
              <a:cs typeface="Cambria"/>
            </a:endParaRPr>
          </a:p>
          <a:p>
            <a:pPr marL="508000">
              <a:lnSpc>
                <a:spcPct val="100000"/>
              </a:lnSpc>
              <a:spcBef>
                <a:spcPts val="290"/>
              </a:spcBef>
              <a:tabLst>
                <a:tab pos="850900" algn="l"/>
              </a:tabLst>
            </a:pPr>
            <a:r>
              <a:rPr lang="es-CO" sz="2400" dirty="0">
                <a:solidFill>
                  <a:srgbClr val="6E6E74"/>
                </a:solidFill>
                <a:latin typeface="Arial MT"/>
                <a:cs typeface="Arial MT"/>
              </a:rPr>
              <a:t>+</a:t>
            </a:r>
            <a:r>
              <a:rPr sz="1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1800" spc="95" dirty="0">
                <a:solidFill>
                  <a:srgbClr val="252525"/>
                </a:solidFill>
                <a:latin typeface="Cambria"/>
                <a:cs typeface="Cambria"/>
              </a:rPr>
              <a:t>&lt;ar,</a:t>
            </a:r>
            <a:r>
              <a:rPr sz="18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252525"/>
                </a:solidFill>
                <a:latin typeface="Cambria"/>
                <a:cs typeface="Cambria"/>
              </a:rPr>
              <a:t>art,</a:t>
            </a:r>
            <a:r>
              <a:rPr sz="18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252525"/>
                </a:solidFill>
                <a:latin typeface="Cambria"/>
                <a:cs typeface="Cambria"/>
              </a:rPr>
              <a:t>rti,</a:t>
            </a:r>
            <a:r>
              <a:rPr sz="18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252525"/>
                </a:solidFill>
                <a:latin typeface="Cambria"/>
                <a:cs typeface="Cambria"/>
              </a:rPr>
              <a:t>tif,</a:t>
            </a:r>
            <a:r>
              <a:rPr sz="18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252525"/>
                </a:solidFill>
                <a:latin typeface="Cambria"/>
                <a:cs typeface="Cambria"/>
              </a:rPr>
              <a:t>ifi,</a:t>
            </a:r>
            <a:r>
              <a:rPr sz="18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252525"/>
                </a:solidFill>
                <a:latin typeface="Cambria"/>
                <a:cs typeface="Cambria"/>
              </a:rPr>
              <a:t>fic,</a:t>
            </a:r>
            <a:r>
              <a:rPr sz="18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252525"/>
                </a:solidFill>
                <a:latin typeface="Cambria"/>
                <a:cs typeface="Cambria"/>
              </a:rPr>
              <a:t>ici,</a:t>
            </a:r>
            <a:r>
              <a:rPr sz="18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252525"/>
                </a:solidFill>
                <a:latin typeface="Cambria"/>
                <a:cs typeface="Cambria"/>
              </a:rPr>
              <a:t>cia,</a:t>
            </a:r>
            <a:r>
              <a:rPr sz="18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252525"/>
                </a:solidFill>
                <a:latin typeface="Cambria"/>
                <a:cs typeface="Cambria"/>
              </a:rPr>
              <a:t>ial,</a:t>
            </a:r>
            <a:r>
              <a:rPr sz="18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252525"/>
                </a:solidFill>
                <a:latin typeface="Cambria"/>
                <a:cs typeface="Cambria"/>
              </a:rPr>
              <a:t>al&gt;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Espacio</a:t>
            </a:r>
            <a:r>
              <a:rPr spc="70" dirty="0"/>
              <a:t> </a:t>
            </a:r>
            <a:r>
              <a:rPr spc="40" dirty="0"/>
              <a:t>semántico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738"/>
            <a:ext cx="8028305" cy="18580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65150">
              <a:lnSpc>
                <a:spcPts val="2740"/>
              </a:lnSpc>
              <a:spcBef>
                <a:spcPts val="305"/>
              </a:spcBef>
            </a:pPr>
            <a:r>
              <a:rPr sz="2400" spc="100" dirty="0">
                <a:latin typeface="Cambria"/>
                <a:cs typeface="Cambria"/>
              </a:rPr>
              <a:t>Conjunto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embeddings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representados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en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el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espacio </a:t>
            </a:r>
            <a:r>
              <a:rPr sz="2400" spc="80" dirty="0">
                <a:latin typeface="Cambria"/>
                <a:cs typeface="Cambria"/>
              </a:rPr>
              <a:t>forman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un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espacio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semántico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2740"/>
              </a:lnSpc>
              <a:spcBef>
                <a:spcPts val="595"/>
              </a:spcBef>
            </a:pPr>
            <a:r>
              <a:rPr sz="2400" u="sng" spc="-10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https://lena-</a:t>
            </a:r>
            <a:r>
              <a:rPr sz="2400" spc="-10" dirty="0">
                <a:solidFill>
                  <a:srgbClr val="ABAEA4"/>
                </a:solidFill>
                <a:latin typeface="Cambria"/>
                <a:cs typeface="Cambria"/>
              </a:rPr>
              <a:t> </a:t>
            </a:r>
            <a:r>
              <a:rPr sz="2400" u="sng" spc="50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voita.github.io/nlp_course/word_embeddings.html#analy</a:t>
            </a:r>
            <a:r>
              <a:rPr sz="2400" spc="50" dirty="0">
                <a:solidFill>
                  <a:srgbClr val="ABAEA4"/>
                </a:solidFill>
                <a:latin typeface="Cambria"/>
                <a:cs typeface="Cambria"/>
              </a:rPr>
              <a:t> </a:t>
            </a:r>
            <a:r>
              <a:rPr sz="2400" u="sng" spc="85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sis_interpretability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Vecinos</a:t>
            </a:r>
            <a:r>
              <a:rPr spc="90" dirty="0"/>
              <a:t> </a:t>
            </a:r>
            <a:r>
              <a:rPr spc="120" dirty="0"/>
              <a:t>más</a:t>
            </a:r>
            <a:r>
              <a:rPr spc="90" dirty="0"/>
              <a:t> </a:t>
            </a:r>
            <a:r>
              <a:rPr spc="-10" dirty="0"/>
              <a:t>cercanos</a:t>
            </a: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2422" y="1126248"/>
            <a:ext cx="5907563" cy="284757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Similitud</a:t>
            </a:r>
            <a:r>
              <a:rPr spc="130" dirty="0"/>
              <a:t> </a:t>
            </a:r>
            <a:r>
              <a:rPr dirty="0"/>
              <a:t>de</a:t>
            </a:r>
            <a:r>
              <a:rPr spc="125" dirty="0"/>
              <a:t> </a:t>
            </a:r>
            <a:r>
              <a:rPr spc="75" dirty="0"/>
              <a:t>palabras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10741"/>
            <a:ext cx="4789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125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Rare</a:t>
            </a:r>
            <a:r>
              <a:rPr sz="2400" u="sng" spc="200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400" u="sng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words</a:t>
            </a:r>
            <a:r>
              <a:rPr sz="2400" u="sng" spc="175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400" u="sng" spc="100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similarity</a:t>
            </a:r>
            <a:r>
              <a:rPr sz="2400" u="sng" spc="155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400" u="sng" spc="80" dirty="0">
                <a:solidFill>
                  <a:srgbClr val="ABAEA4"/>
                </a:solidFill>
                <a:uFill>
                  <a:solidFill>
                    <a:srgbClr val="ABAEA4"/>
                  </a:solidFill>
                </a:uFill>
                <a:latin typeface="Cambria"/>
                <a:cs typeface="Cambria"/>
                <a:hlinkClick r:id="rId2"/>
              </a:rPr>
              <a:t>benchmark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1284" y="1762707"/>
            <a:ext cx="3378768" cy="312427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Relación</a:t>
            </a:r>
            <a:r>
              <a:rPr spc="114" dirty="0"/>
              <a:t> </a:t>
            </a:r>
            <a:r>
              <a:rPr spc="80" dirty="0"/>
              <a:t>lineal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7812" y="1671893"/>
            <a:ext cx="4436309" cy="245807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Analogías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2142"/>
            <a:ext cx="5364480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  <a:tabLst>
                <a:tab pos="3503295" algn="l"/>
                <a:tab pos="5351145" algn="l"/>
              </a:tabLst>
            </a:pPr>
            <a:r>
              <a:rPr sz="2400" spc="100" dirty="0">
                <a:latin typeface="Cambria"/>
                <a:cs typeface="Cambria"/>
              </a:rPr>
              <a:t>Analogía: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a </a:t>
            </a:r>
            <a:r>
              <a:rPr sz="2400" spc="50" dirty="0">
                <a:latin typeface="Cambria"/>
                <a:cs typeface="Cambria"/>
              </a:rPr>
              <a:t>es</a:t>
            </a:r>
            <a:r>
              <a:rPr sz="2400" spc="150" dirty="0">
                <a:latin typeface="Cambria"/>
                <a:cs typeface="Cambria"/>
              </a:rPr>
              <a:t> a </a:t>
            </a:r>
            <a:r>
              <a:rPr sz="2400" b="1" spc="140" dirty="0">
                <a:latin typeface="Cambria"/>
                <a:cs typeface="Cambria"/>
              </a:rPr>
              <a:t>a*</a:t>
            </a:r>
            <a:r>
              <a:rPr sz="2400" b="1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como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b</a:t>
            </a:r>
            <a:r>
              <a:rPr sz="2400" b="1" spc="21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es</a:t>
            </a:r>
            <a:r>
              <a:rPr sz="2400" spc="150" dirty="0">
                <a:latin typeface="Cambria"/>
                <a:cs typeface="Cambria"/>
              </a:rPr>
              <a:t> a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Tarea: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v(a*)-v(a)+v(b)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≈</a:t>
            </a:r>
            <a:r>
              <a:rPr sz="2400" dirty="0">
                <a:latin typeface="Cambria"/>
                <a:cs typeface="Cambria"/>
              </a:rPr>
              <a:t>	?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8605" y="2408020"/>
            <a:ext cx="4978821" cy="21380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13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5"/>
              </a:spcBef>
            </a:pPr>
            <a:r>
              <a:rPr sz="4400" spc="90" dirty="0"/>
              <a:t>Índice</a:t>
            </a:r>
            <a:endParaRPr sz="4400"/>
          </a:p>
        </p:txBody>
      </p:sp>
      <p:grpSp>
        <p:nvGrpSpPr>
          <p:cNvPr id="5" name="object 5"/>
          <p:cNvGrpSpPr/>
          <p:nvPr/>
        </p:nvGrpSpPr>
        <p:grpSpPr>
          <a:xfrm>
            <a:off x="1932432" y="1510283"/>
            <a:ext cx="1853564" cy="1853564"/>
            <a:chOff x="1932432" y="1510283"/>
            <a:chExt cx="1853564" cy="1853564"/>
          </a:xfrm>
        </p:grpSpPr>
        <p:sp>
          <p:nvSpPr>
            <p:cNvPr id="6" name="object 6"/>
            <p:cNvSpPr/>
            <p:nvPr/>
          </p:nvSpPr>
          <p:spPr>
            <a:xfrm>
              <a:off x="1932432" y="1510283"/>
              <a:ext cx="1853564" cy="1853564"/>
            </a:xfrm>
            <a:custGeom>
              <a:avLst/>
              <a:gdLst/>
              <a:ahLst/>
              <a:cxnLst/>
              <a:rect l="l" t="t" r="r" b="b"/>
              <a:pathLst>
                <a:path w="1853564" h="1853564">
                  <a:moveTo>
                    <a:pt x="926592" y="0"/>
                  </a:moveTo>
                  <a:lnTo>
                    <a:pt x="878914" y="1205"/>
                  </a:lnTo>
                  <a:lnTo>
                    <a:pt x="831863" y="4784"/>
                  </a:lnTo>
                  <a:lnTo>
                    <a:pt x="785494" y="10677"/>
                  </a:lnTo>
                  <a:lnTo>
                    <a:pt x="739868" y="18827"/>
                  </a:lnTo>
                  <a:lnTo>
                    <a:pt x="695042" y="29175"/>
                  </a:lnTo>
                  <a:lnTo>
                    <a:pt x="651074" y="41662"/>
                  </a:lnTo>
                  <a:lnTo>
                    <a:pt x="608022" y="56232"/>
                  </a:lnTo>
                  <a:lnTo>
                    <a:pt x="565945" y="72824"/>
                  </a:lnTo>
                  <a:lnTo>
                    <a:pt x="524902" y="91382"/>
                  </a:lnTo>
                  <a:lnTo>
                    <a:pt x="484949" y="111846"/>
                  </a:lnTo>
                  <a:lnTo>
                    <a:pt x="446146" y="134159"/>
                  </a:lnTo>
                  <a:lnTo>
                    <a:pt x="408551" y="158263"/>
                  </a:lnTo>
                  <a:lnTo>
                    <a:pt x="372222" y="184098"/>
                  </a:lnTo>
                  <a:lnTo>
                    <a:pt x="337218" y="211607"/>
                  </a:lnTo>
                  <a:lnTo>
                    <a:pt x="303596" y="240732"/>
                  </a:lnTo>
                  <a:lnTo>
                    <a:pt x="271414" y="271414"/>
                  </a:lnTo>
                  <a:lnTo>
                    <a:pt x="240732" y="303596"/>
                  </a:lnTo>
                  <a:lnTo>
                    <a:pt x="211607" y="337218"/>
                  </a:lnTo>
                  <a:lnTo>
                    <a:pt x="184098" y="372222"/>
                  </a:lnTo>
                  <a:lnTo>
                    <a:pt x="158263" y="408551"/>
                  </a:lnTo>
                  <a:lnTo>
                    <a:pt x="134159" y="446146"/>
                  </a:lnTo>
                  <a:lnTo>
                    <a:pt x="111846" y="484949"/>
                  </a:lnTo>
                  <a:lnTo>
                    <a:pt x="91382" y="524902"/>
                  </a:lnTo>
                  <a:lnTo>
                    <a:pt x="72824" y="565945"/>
                  </a:lnTo>
                  <a:lnTo>
                    <a:pt x="56232" y="608022"/>
                  </a:lnTo>
                  <a:lnTo>
                    <a:pt x="41662" y="651074"/>
                  </a:lnTo>
                  <a:lnTo>
                    <a:pt x="29175" y="695042"/>
                  </a:lnTo>
                  <a:lnTo>
                    <a:pt x="18827" y="739868"/>
                  </a:lnTo>
                  <a:lnTo>
                    <a:pt x="10677" y="785494"/>
                  </a:lnTo>
                  <a:lnTo>
                    <a:pt x="4784" y="831863"/>
                  </a:lnTo>
                  <a:lnTo>
                    <a:pt x="1205" y="878914"/>
                  </a:lnTo>
                  <a:lnTo>
                    <a:pt x="0" y="926591"/>
                  </a:lnTo>
                  <a:lnTo>
                    <a:pt x="1205" y="974269"/>
                  </a:lnTo>
                  <a:lnTo>
                    <a:pt x="4784" y="1021320"/>
                  </a:lnTo>
                  <a:lnTo>
                    <a:pt x="10677" y="1067689"/>
                  </a:lnTo>
                  <a:lnTo>
                    <a:pt x="18827" y="1113315"/>
                  </a:lnTo>
                  <a:lnTo>
                    <a:pt x="29175" y="1158141"/>
                  </a:lnTo>
                  <a:lnTo>
                    <a:pt x="41662" y="1202109"/>
                  </a:lnTo>
                  <a:lnTo>
                    <a:pt x="56232" y="1245161"/>
                  </a:lnTo>
                  <a:lnTo>
                    <a:pt x="72824" y="1287238"/>
                  </a:lnTo>
                  <a:lnTo>
                    <a:pt x="91382" y="1328281"/>
                  </a:lnTo>
                  <a:lnTo>
                    <a:pt x="111846" y="1368234"/>
                  </a:lnTo>
                  <a:lnTo>
                    <a:pt x="134159" y="1407037"/>
                  </a:lnTo>
                  <a:lnTo>
                    <a:pt x="158263" y="1444632"/>
                  </a:lnTo>
                  <a:lnTo>
                    <a:pt x="184098" y="1480961"/>
                  </a:lnTo>
                  <a:lnTo>
                    <a:pt x="211607" y="1515965"/>
                  </a:lnTo>
                  <a:lnTo>
                    <a:pt x="240732" y="1549587"/>
                  </a:lnTo>
                  <a:lnTo>
                    <a:pt x="271414" y="1581769"/>
                  </a:lnTo>
                  <a:lnTo>
                    <a:pt x="303596" y="1612451"/>
                  </a:lnTo>
                  <a:lnTo>
                    <a:pt x="337218" y="1641576"/>
                  </a:lnTo>
                  <a:lnTo>
                    <a:pt x="372222" y="1669085"/>
                  </a:lnTo>
                  <a:lnTo>
                    <a:pt x="408551" y="1694920"/>
                  </a:lnTo>
                  <a:lnTo>
                    <a:pt x="446146" y="1719024"/>
                  </a:lnTo>
                  <a:lnTo>
                    <a:pt x="484949" y="1741337"/>
                  </a:lnTo>
                  <a:lnTo>
                    <a:pt x="524902" y="1761801"/>
                  </a:lnTo>
                  <a:lnTo>
                    <a:pt x="565945" y="1780359"/>
                  </a:lnTo>
                  <a:lnTo>
                    <a:pt x="608022" y="1796951"/>
                  </a:lnTo>
                  <a:lnTo>
                    <a:pt x="651074" y="1811521"/>
                  </a:lnTo>
                  <a:lnTo>
                    <a:pt x="695042" y="1824008"/>
                  </a:lnTo>
                  <a:lnTo>
                    <a:pt x="739868" y="1834356"/>
                  </a:lnTo>
                  <a:lnTo>
                    <a:pt x="785494" y="1842506"/>
                  </a:lnTo>
                  <a:lnTo>
                    <a:pt x="831863" y="1848399"/>
                  </a:lnTo>
                  <a:lnTo>
                    <a:pt x="878914" y="1851978"/>
                  </a:lnTo>
                  <a:lnTo>
                    <a:pt x="926592" y="1853183"/>
                  </a:lnTo>
                  <a:lnTo>
                    <a:pt x="974269" y="1851978"/>
                  </a:lnTo>
                  <a:lnTo>
                    <a:pt x="1021320" y="1848399"/>
                  </a:lnTo>
                  <a:lnTo>
                    <a:pt x="1067689" y="1842506"/>
                  </a:lnTo>
                  <a:lnTo>
                    <a:pt x="1113315" y="1834356"/>
                  </a:lnTo>
                  <a:lnTo>
                    <a:pt x="1158141" y="1824008"/>
                  </a:lnTo>
                  <a:lnTo>
                    <a:pt x="1202109" y="1811521"/>
                  </a:lnTo>
                  <a:lnTo>
                    <a:pt x="1245161" y="1796951"/>
                  </a:lnTo>
                  <a:lnTo>
                    <a:pt x="1287238" y="1780359"/>
                  </a:lnTo>
                  <a:lnTo>
                    <a:pt x="1328281" y="1761801"/>
                  </a:lnTo>
                  <a:lnTo>
                    <a:pt x="1368234" y="1741337"/>
                  </a:lnTo>
                  <a:lnTo>
                    <a:pt x="1407037" y="1719024"/>
                  </a:lnTo>
                  <a:lnTo>
                    <a:pt x="1444632" y="1694920"/>
                  </a:lnTo>
                  <a:lnTo>
                    <a:pt x="1480961" y="1669085"/>
                  </a:lnTo>
                  <a:lnTo>
                    <a:pt x="1515965" y="1641576"/>
                  </a:lnTo>
                  <a:lnTo>
                    <a:pt x="1549587" y="1612451"/>
                  </a:lnTo>
                  <a:lnTo>
                    <a:pt x="1581769" y="1581769"/>
                  </a:lnTo>
                  <a:lnTo>
                    <a:pt x="1612451" y="1549587"/>
                  </a:lnTo>
                  <a:lnTo>
                    <a:pt x="1641576" y="1515965"/>
                  </a:lnTo>
                  <a:lnTo>
                    <a:pt x="1669085" y="1480961"/>
                  </a:lnTo>
                  <a:lnTo>
                    <a:pt x="1694920" y="1444632"/>
                  </a:lnTo>
                  <a:lnTo>
                    <a:pt x="1719024" y="1407037"/>
                  </a:lnTo>
                  <a:lnTo>
                    <a:pt x="1741337" y="1368234"/>
                  </a:lnTo>
                  <a:lnTo>
                    <a:pt x="1761801" y="1328281"/>
                  </a:lnTo>
                  <a:lnTo>
                    <a:pt x="1780359" y="1287238"/>
                  </a:lnTo>
                  <a:lnTo>
                    <a:pt x="1796951" y="1245161"/>
                  </a:lnTo>
                  <a:lnTo>
                    <a:pt x="1811521" y="1202109"/>
                  </a:lnTo>
                  <a:lnTo>
                    <a:pt x="1824008" y="1158141"/>
                  </a:lnTo>
                  <a:lnTo>
                    <a:pt x="1834356" y="1113315"/>
                  </a:lnTo>
                  <a:lnTo>
                    <a:pt x="1842506" y="1067689"/>
                  </a:lnTo>
                  <a:lnTo>
                    <a:pt x="1848399" y="1021320"/>
                  </a:lnTo>
                  <a:lnTo>
                    <a:pt x="1851978" y="974269"/>
                  </a:lnTo>
                  <a:lnTo>
                    <a:pt x="1853183" y="926591"/>
                  </a:lnTo>
                  <a:lnTo>
                    <a:pt x="1851978" y="878914"/>
                  </a:lnTo>
                  <a:lnTo>
                    <a:pt x="1848399" y="831863"/>
                  </a:lnTo>
                  <a:lnTo>
                    <a:pt x="1842506" y="785494"/>
                  </a:lnTo>
                  <a:lnTo>
                    <a:pt x="1834356" y="739868"/>
                  </a:lnTo>
                  <a:lnTo>
                    <a:pt x="1824008" y="695042"/>
                  </a:lnTo>
                  <a:lnTo>
                    <a:pt x="1811521" y="651074"/>
                  </a:lnTo>
                  <a:lnTo>
                    <a:pt x="1796951" y="608022"/>
                  </a:lnTo>
                  <a:lnTo>
                    <a:pt x="1780359" y="565945"/>
                  </a:lnTo>
                  <a:lnTo>
                    <a:pt x="1761801" y="524902"/>
                  </a:lnTo>
                  <a:lnTo>
                    <a:pt x="1741337" y="484949"/>
                  </a:lnTo>
                  <a:lnTo>
                    <a:pt x="1719024" y="446146"/>
                  </a:lnTo>
                  <a:lnTo>
                    <a:pt x="1694920" y="408551"/>
                  </a:lnTo>
                  <a:lnTo>
                    <a:pt x="1669085" y="372222"/>
                  </a:lnTo>
                  <a:lnTo>
                    <a:pt x="1641576" y="337218"/>
                  </a:lnTo>
                  <a:lnTo>
                    <a:pt x="1612451" y="303596"/>
                  </a:lnTo>
                  <a:lnTo>
                    <a:pt x="1581769" y="271414"/>
                  </a:lnTo>
                  <a:lnTo>
                    <a:pt x="1549587" y="240732"/>
                  </a:lnTo>
                  <a:lnTo>
                    <a:pt x="1515965" y="211607"/>
                  </a:lnTo>
                  <a:lnTo>
                    <a:pt x="1480961" y="184098"/>
                  </a:lnTo>
                  <a:lnTo>
                    <a:pt x="1444632" y="158263"/>
                  </a:lnTo>
                  <a:lnTo>
                    <a:pt x="1407037" y="134159"/>
                  </a:lnTo>
                  <a:lnTo>
                    <a:pt x="1368234" y="111846"/>
                  </a:lnTo>
                  <a:lnTo>
                    <a:pt x="1328281" y="91382"/>
                  </a:lnTo>
                  <a:lnTo>
                    <a:pt x="1287238" y="72824"/>
                  </a:lnTo>
                  <a:lnTo>
                    <a:pt x="1245161" y="56232"/>
                  </a:lnTo>
                  <a:lnTo>
                    <a:pt x="1202109" y="41662"/>
                  </a:lnTo>
                  <a:lnTo>
                    <a:pt x="1158141" y="29175"/>
                  </a:lnTo>
                  <a:lnTo>
                    <a:pt x="1113315" y="18827"/>
                  </a:lnTo>
                  <a:lnTo>
                    <a:pt x="1067689" y="10677"/>
                  </a:lnTo>
                  <a:lnTo>
                    <a:pt x="1021320" y="4784"/>
                  </a:lnTo>
                  <a:lnTo>
                    <a:pt x="974269" y="1205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94035" y="2003712"/>
              <a:ext cx="933450" cy="870585"/>
            </a:xfrm>
            <a:custGeom>
              <a:avLst/>
              <a:gdLst/>
              <a:ahLst/>
              <a:cxnLst/>
              <a:rect l="l" t="t" r="r" b="b"/>
              <a:pathLst>
                <a:path w="933450" h="870585">
                  <a:moveTo>
                    <a:pt x="547466" y="0"/>
                  </a:moveTo>
                  <a:lnTo>
                    <a:pt x="78831" y="164209"/>
                  </a:lnTo>
                  <a:lnTo>
                    <a:pt x="39002" y="219643"/>
                  </a:lnTo>
                  <a:lnTo>
                    <a:pt x="32843" y="295607"/>
                  </a:lnTo>
                  <a:lnTo>
                    <a:pt x="33193" y="306557"/>
                  </a:lnTo>
                  <a:lnTo>
                    <a:pt x="33237" y="307908"/>
                  </a:lnTo>
                  <a:lnTo>
                    <a:pt x="34349" y="320107"/>
                  </a:lnTo>
                  <a:lnTo>
                    <a:pt x="36077" y="332100"/>
                  </a:lnTo>
                  <a:lnTo>
                    <a:pt x="38318" y="343786"/>
                  </a:lnTo>
                  <a:lnTo>
                    <a:pt x="16627" y="367174"/>
                  </a:lnTo>
                  <a:lnTo>
                    <a:pt x="5200" y="398671"/>
                  </a:lnTo>
                  <a:lnTo>
                    <a:pt x="752" y="434481"/>
                  </a:lnTo>
                  <a:lnTo>
                    <a:pt x="0" y="470803"/>
                  </a:lnTo>
                  <a:lnTo>
                    <a:pt x="1744" y="498776"/>
                  </a:lnTo>
                  <a:lnTo>
                    <a:pt x="7390" y="524594"/>
                  </a:lnTo>
                  <a:lnTo>
                    <a:pt x="17551" y="547332"/>
                  </a:lnTo>
                  <a:lnTo>
                    <a:pt x="32843" y="566066"/>
                  </a:lnTo>
                  <a:lnTo>
                    <a:pt x="30191" y="580848"/>
                  </a:lnTo>
                  <a:lnTo>
                    <a:pt x="29811" y="593441"/>
                  </a:lnTo>
                  <a:lnTo>
                    <a:pt x="29695" y="597273"/>
                  </a:lnTo>
                  <a:lnTo>
                    <a:pt x="30226" y="615340"/>
                  </a:lnTo>
                  <a:lnTo>
                    <a:pt x="33391" y="670790"/>
                  </a:lnTo>
                  <a:lnTo>
                    <a:pt x="60217" y="727900"/>
                  </a:lnTo>
                  <a:lnTo>
                    <a:pt x="391984" y="870470"/>
                  </a:lnTo>
                  <a:lnTo>
                    <a:pt x="563632" y="799296"/>
                  </a:lnTo>
                  <a:lnTo>
                    <a:pt x="394174" y="799296"/>
                  </a:lnTo>
                  <a:lnTo>
                    <a:pt x="88685" y="678849"/>
                  </a:lnTo>
                  <a:lnTo>
                    <a:pt x="88685" y="593441"/>
                  </a:lnTo>
                  <a:lnTo>
                    <a:pt x="258361" y="593441"/>
                  </a:lnTo>
                  <a:lnTo>
                    <a:pt x="59122" y="514602"/>
                  </a:lnTo>
                  <a:lnTo>
                    <a:pt x="59122" y="416054"/>
                  </a:lnTo>
                  <a:lnTo>
                    <a:pt x="285675" y="416054"/>
                  </a:lnTo>
                  <a:lnTo>
                    <a:pt x="91970" y="339406"/>
                  </a:lnTo>
                  <a:lnTo>
                    <a:pt x="91970" y="240858"/>
                  </a:lnTo>
                  <a:lnTo>
                    <a:pt x="692141" y="240858"/>
                  </a:lnTo>
                  <a:lnTo>
                    <a:pt x="833246" y="183919"/>
                  </a:lnTo>
                  <a:lnTo>
                    <a:pt x="875948" y="183919"/>
                  </a:lnTo>
                  <a:lnTo>
                    <a:pt x="875948" y="166400"/>
                  </a:lnTo>
                  <a:lnTo>
                    <a:pt x="932885" y="142310"/>
                  </a:lnTo>
                  <a:lnTo>
                    <a:pt x="547466" y="0"/>
                  </a:lnTo>
                  <a:close/>
                </a:path>
                <a:path w="933450" h="870585">
                  <a:moveTo>
                    <a:pt x="873758" y="518982"/>
                  </a:moveTo>
                  <a:lnTo>
                    <a:pt x="832151" y="518982"/>
                  </a:lnTo>
                  <a:lnTo>
                    <a:pt x="831092" y="615340"/>
                  </a:lnTo>
                  <a:lnTo>
                    <a:pt x="831056" y="618625"/>
                  </a:lnTo>
                  <a:lnTo>
                    <a:pt x="394174" y="799296"/>
                  </a:lnTo>
                  <a:lnTo>
                    <a:pt x="563632" y="799296"/>
                  </a:lnTo>
                  <a:lnTo>
                    <a:pt x="930695" y="647095"/>
                  </a:lnTo>
                  <a:lnTo>
                    <a:pt x="873758" y="626290"/>
                  </a:lnTo>
                  <a:lnTo>
                    <a:pt x="873758" y="518982"/>
                  </a:lnTo>
                  <a:close/>
                </a:path>
                <a:path w="933450" h="870585">
                  <a:moveTo>
                    <a:pt x="258361" y="593441"/>
                  </a:moveTo>
                  <a:lnTo>
                    <a:pt x="88685" y="593441"/>
                  </a:lnTo>
                  <a:lnTo>
                    <a:pt x="361326" y="705128"/>
                  </a:lnTo>
                  <a:lnTo>
                    <a:pt x="538577" y="635050"/>
                  </a:lnTo>
                  <a:lnTo>
                    <a:pt x="363516" y="635050"/>
                  </a:lnTo>
                  <a:lnTo>
                    <a:pt x="258361" y="593441"/>
                  </a:lnTo>
                  <a:close/>
                </a:path>
                <a:path w="933450" h="870585">
                  <a:moveTo>
                    <a:pt x="843100" y="361306"/>
                  </a:moveTo>
                  <a:lnTo>
                    <a:pt x="801492" y="361306"/>
                  </a:lnTo>
                  <a:lnTo>
                    <a:pt x="801492" y="454379"/>
                  </a:lnTo>
                  <a:lnTo>
                    <a:pt x="800397" y="454379"/>
                  </a:lnTo>
                  <a:lnTo>
                    <a:pt x="363516" y="635050"/>
                  </a:lnTo>
                  <a:lnTo>
                    <a:pt x="538577" y="635050"/>
                  </a:lnTo>
                  <a:lnTo>
                    <a:pt x="832151" y="518982"/>
                  </a:lnTo>
                  <a:lnTo>
                    <a:pt x="873758" y="518982"/>
                  </a:lnTo>
                  <a:lnTo>
                    <a:pt x="873758" y="505842"/>
                  </a:lnTo>
                  <a:lnTo>
                    <a:pt x="930695" y="481753"/>
                  </a:lnTo>
                  <a:lnTo>
                    <a:pt x="843100" y="448904"/>
                  </a:lnTo>
                  <a:lnTo>
                    <a:pt x="843100" y="361306"/>
                  </a:lnTo>
                  <a:close/>
                </a:path>
                <a:path w="933450" h="870585">
                  <a:moveTo>
                    <a:pt x="285675" y="416054"/>
                  </a:moveTo>
                  <a:lnTo>
                    <a:pt x="59122" y="416054"/>
                  </a:lnTo>
                  <a:lnTo>
                    <a:pt x="372275" y="540882"/>
                  </a:lnTo>
                  <a:lnTo>
                    <a:pt x="565946" y="459853"/>
                  </a:lnTo>
                  <a:lnTo>
                    <a:pt x="396364" y="459853"/>
                  </a:lnTo>
                  <a:lnTo>
                    <a:pt x="285675" y="416054"/>
                  </a:lnTo>
                  <a:close/>
                </a:path>
                <a:path w="933450" h="870585">
                  <a:moveTo>
                    <a:pt x="875948" y="183919"/>
                  </a:moveTo>
                  <a:lnTo>
                    <a:pt x="833246" y="183919"/>
                  </a:lnTo>
                  <a:lnTo>
                    <a:pt x="833246" y="278087"/>
                  </a:lnTo>
                  <a:lnTo>
                    <a:pt x="396364" y="459853"/>
                  </a:lnTo>
                  <a:lnTo>
                    <a:pt x="565946" y="459853"/>
                  </a:lnTo>
                  <a:lnTo>
                    <a:pt x="801492" y="361306"/>
                  </a:lnTo>
                  <a:lnTo>
                    <a:pt x="843100" y="361306"/>
                  </a:lnTo>
                  <a:lnTo>
                    <a:pt x="843100" y="343786"/>
                  </a:lnTo>
                  <a:lnTo>
                    <a:pt x="932885" y="306557"/>
                  </a:lnTo>
                  <a:lnTo>
                    <a:pt x="875948" y="285752"/>
                  </a:lnTo>
                  <a:lnTo>
                    <a:pt x="875948" y="183919"/>
                  </a:lnTo>
                  <a:close/>
                </a:path>
                <a:path w="933450" h="870585">
                  <a:moveTo>
                    <a:pt x="692141" y="240858"/>
                  </a:moveTo>
                  <a:lnTo>
                    <a:pt x="91970" y="240858"/>
                  </a:lnTo>
                  <a:lnTo>
                    <a:pt x="396364" y="360210"/>
                  </a:lnTo>
                  <a:lnTo>
                    <a:pt x="692141" y="240858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91436" y="3899408"/>
            <a:ext cx="2533650" cy="51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939"/>
              </a:lnSpc>
              <a:spcBef>
                <a:spcPts val="105"/>
              </a:spcBef>
            </a:pPr>
            <a:r>
              <a:rPr sz="1700" spc="195" dirty="0">
                <a:latin typeface="Cambria"/>
                <a:cs typeface="Cambria"/>
              </a:rPr>
              <a:t>REPRESENTACIÓN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90" dirty="0">
                <a:latin typeface="Cambria"/>
                <a:cs typeface="Cambria"/>
              </a:rPr>
              <a:t>DE</a:t>
            </a:r>
            <a:endParaRPr sz="1700">
              <a:latin typeface="Cambria"/>
              <a:cs typeface="Cambria"/>
            </a:endParaRPr>
          </a:p>
          <a:p>
            <a:pPr marL="1270" algn="ctr">
              <a:lnSpc>
                <a:spcPts val="1939"/>
              </a:lnSpc>
            </a:pPr>
            <a:r>
              <a:rPr sz="1700" spc="180" dirty="0">
                <a:latin typeface="Cambria"/>
                <a:cs typeface="Cambria"/>
              </a:rPr>
              <a:t>TEXTOS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01640" y="1510283"/>
            <a:ext cx="1853564" cy="1853564"/>
            <a:chOff x="5501640" y="1510283"/>
            <a:chExt cx="1853564" cy="1853564"/>
          </a:xfrm>
        </p:grpSpPr>
        <p:sp>
          <p:nvSpPr>
            <p:cNvPr id="10" name="object 10"/>
            <p:cNvSpPr/>
            <p:nvPr/>
          </p:nvSpPr>
          <p:spPr>
            <a:xfrm>
              <a:off x="5501640" y="1510283"/>
              <a:ext cx="1853564" cy="1853564"/>
            </a:xfrm>
            <a:custGeom>
              <a:avLst/>
              <a:gdLst/>
              <a:ahLst/>
              <a:cxnLst/>
              <a:rect l="l" t="t" r="r" b="b"/>
              <a:pathLst>
                <a:path w="1853565" h="1853564">
                  <a:moveTo>
                    <a:pt x="926592" y="0"/>
                  </a:moveTo>
                  <a:lnTo>
                    <a:pt x="878914" y="1205"/>
                  </a:lnTo>
                  <a:lnTo>
                    <a:pt x="831863" y="4784"/>
                  </a:lnTo>
                  <a:lnTo>
                    <a:pt x="785494" y="10677"/>
                  </a:lnTo>
                  <a:lnTo>
                    <a:pt x="739868" y="18827"/>
                  </a:lnTo>
                  <a:lnTo>
                    <a:pt x="695042" y="29175"/>
                  </a:lnTo>
                  <a:lnTo>
                    <a:pt x="651074" y="41662"/>
                  </a:lnTo>
                  <a:lnTo>
                    <a:pt x="608022" y="56232"/>
                  </a:lnTo>
                  <a:lnTo>
                    <a:pt x="565945" y="72824"/>
                  </a:lnTo>
                  <a:lnTo>
                    <a:pt x="524902" y="91382"/>
                  </a:lnTo>
                  <a:lnTo>
                    <a:pt x="484949" y="111846"/>
                  </a:lnTo>
                  <a:lnTo>
                    <a:pt x="446146" y="134159"/>
                  </a:lnTo>
                  <a:lnTo>
                    <a:pt x="408551" y="158263"/>
                  </a:lnTo>
                  <a:lnTo>
                    <a:pt x="372222" y="184098"/>
                  </a:lnTo>
                  <a:lnTo>
                    <a:pt x="337218" y="211607"/>
                  </a:lnTo>
                  <a:lnTo>
                    <a:pt x="303596" y="240732"/>
                  </a:lnTo>
                  <a:lnTo>
                    <a:pt x="271414" y="271414"/>
                  </a:lnTo>
                  <a:lnTo>
                    <a:pt x="240732" y="303596"/>
                  </a:lnTo>
                  <a:lnTo>
                    <a:pt x="211607" y="337218"/>
                  </a:lnTo>
                  <a:lnTo>
                    <a:pt x="184098" y="372222"/>
                  </a:lnTo>
                  <a:lnTo>
                    <a:pt x="158263" y="408551"/>
                  </a:lnTo>
                  <a:lnTo>
                    <a:pt x="134159" y="446146"/>
                  </a:lnTo>
                  <a:lnTo>
                    <a:pt x="111846" y="484949"/>
                  </a:lnTo>
                  <a:lnTo>
                    <a:pt x="91382" y="524902"/>
                  </a:lnTo>
                  <a:lnTo>
                    <a:pt x="72824" y="565945"/>
                  </a:lnTo>
                  <a:lnTo>
                    <a:pt x="56232" y="608022"/>
                  </a:lnTo>
                  <a:lnTo>
                    <a:pt x="41662" y="651074"/>
                  </a:lnTo>
                  <a:lnTo>
                    <a:pt x="29175" y="695042"/>
                  </a:lnTo>
                  <a:lnTo>
                    <a:pt x="18827" y="739868"/>
                  </a:lnTo>
                  <a:lnTo>
                    <a:pt x="10677" y="785494"/>
                  </a:lnTo>
                  <a:lnTo>
                    <a:pt x="4784" y="831863"/>
                  </a:lnTo>
                  <a:lnTo>
                    <a:pt x="1205" y="878914"/>
                  </a:lnTo>
                  <a:lnTo>
                    <a:pt x="0" y="926591"/>
                  </a:lnTo>
                  <a:lnTo>
                    <a:pt x="1205" y="974269"/>
                  </a:lnTo>
                  <a:lnTo>
                    <a:pt x="4784" y="1021320"/>
                  </a:lnTo>
                  <a:lnTo>
                    <a:pt x="10677" y="1067689"/>
                  </a:lnTo>
                  <a:lnTo>
                    <a:pt x="18827" y="1113315"/>
                  </a:lnTo>
                  <a:lnTo>
                    <a:pt x="29175" y="1158141"/>
                  </a:lnTo>
                  <a:lnTo>
                    <a:pt x="41662" y="1202109"/>
                  </a:lnTo>
                  <a:lnTo>
                    <a:pt x="56232" y="1245161"/>
                  </a:lnTo>
                  <a:lnTo>
                    <a:pt x="72824" y="1287238"/>
                  </a:lnTo>
                  <a:lnTo>
                    <a:pt x="91382" y="1328281"/>
                  </a:lnTo>
                  <a:lnTo>
                    <a:pt x="111846" y="1368234"/>
                  </a:lnTo>
                  <a:lnTo>
                    <a:pt x="134159" y="1407037"/>
                  </a:lnTo>
                  <a:lnTo>
                    <a:pt x="158263" y="1444632"/>
                  </a:lnTo>
                  <a:lnTo>
                    <a:pt x="184098" y="1480961"/>
                  </a:lnTo>
                  <a:lnTo>
                    <a:pt x="211607" y="1515965"/>
                  </a:lnTo>
                  <a:lnTo>
                    <a:pt x="240732" y="1549587"/>
                  </a:lnTo>
                  <a:lnTo>
                    <a:pt x="271414" y="1581769"/>
                  </a:lnTo>
                  <a:lnTo>
                    <a:pt x="303596" y="1612451"/>
                  </a:lnTo>
                  <a:lnTo>
                    <a:pt x="337218" y="1641576"/>
                  </a:lnTo>
                  <a:lnTo>
                    <a:pt x="372222" y="1669085"/>
                  </a:lnTo>
                  <a:lnTo>
                    <a:pt x="408551" y="1694920"/>
                  </a:lnTo>
                  <a:lnTo>
                    <a:pt x="446146" y="1719024"/>
                  </a:lnTo>
                  <a:lnTo>
                    <a:pt x="484949" y="1741337"/>
                  </a:lnTo>
                  <a:lnTo>
                    <a:pt x="524902" y="1761801"/>
                  </a:lnTo>
                  <a:lnTo>
                    <a:pt x="565945" y="1780359"/>
                  </a:lnTo>
                  <a:lnTo>
                    <a:pt x="608022" y="1796951"/>
                  </a:lnTo>
                  <a:lnTo>
                    <a:pt x="651074" y="1811521"/>
                  </a:lnTo>
                  <a:lnTo>
                    <a:pt x="695042" y="1824008"/>
                  </a:lnTo>
                  <a:lnTo>
                    <a:pt x="739868" y="1834356"/>
                  </a:lnTo>
                  <a:lnTo>
                    <a:pt x="785494" y="1842506"/>
                  </a:lnTo>
                  <a:lnTo>
                    <a:pt x="831863" y="1848399"/>
                  </a:lnTo>
                  <a:lnTo>
                    <a:pt x="878914" y="1851978"/>
                  </a:lnTo>
                  <a:lnTo>
                    <a:pt x="926592" y="1853183"/>
                  </a:lnTo>
                  <a:lnTo>
                    <a:pt x="974269" y="1851978"/>
                  </a:lnTo>
                  <a:lnTo>
                    <a:pt x="1021320" y="1848399"/>
                  </a:lnTo>
                  <a:lnTo>
                    <a:pt x="1067689" y="1842506"/>
                  </a:lnTo>
                  <a:lnTo>
                    <a:pt x="1113315" y="1834356"/>
                  </a:lnTo>
                  <a:lnTo>
                    <a:pt x="1158141" y="1824008"/>
                  </a:lnTo>
                  <a:lnTo>
                    <a:pt x="1202109" y="1811521"/>
                  </a:lnTo>
                  <a:lnTo>
                    <a:pt x="1245161" y="1796951"/>
                  </a:lnTo>
                  <a:lnTo>
                    <a:pt x="1287238" y="1780359"/>
                  </a:lnTo>
                  <a:lnTo>
                    <a:pt x="1328281" y="1761801"/>
                  </a:lnTo>
                  <a:lnTo>
                    <a:pt x="1368234" y="1741337"/>
                  </a:lnTo>
                  <a:lnTo>
                    <a:pt x="1407037" y="1719024"/>
                  </a:lnTo>
                  <a:lnTo>
                    <a:pt x="1444632" y="1694920"/>
                  </a:lnTo>
                  <a:lnTo>
                    <a:pt x="1480961" y="1669085"/>
                  </a:lnTo>
                  <a:lnTo>
                    <a:pt x="1515965" y="1641576"/>
                  </a:lnTo>
                  <a:lnTo>
                    <a:pt x="1549587" y="1612451"/>
                  </a:lnTo>
                  <a:lnTo>
                    <a:pt x="1581769" y="1581769"/>
                  </a:lnTo>
                  <a:lnTo>
                    <a:pt x="1612451" y="1549587"/>
                  </a:lnTo>
                  <a:lnTo>
                    <a:pt x="1641576" y="1515965"/>
                  </a:lnTo>
                  <a:lnTo>
                    <a:pt x="1669085" y="1480961"/>
                  </a:lnTo>
                  <a:lnTo>
                    <a:pt x="1694920" y="1444632"/>
                  </a:lnTo>
                  <a:lnTo>
                    <a:pt x="1719024" y="1407037"/>
                  </a:lnTo>
                  <a:lnTo>
                    <a:pt x="1741337" y="1368234"/>
                  </a:lnTo>
                  <a:lnTo>
                    <a:pt x="1761801" y="1328281"/>
                  </a:lnTo>
                  <a:lnTo>
                    <a:pt x="1780359" y="1287238"/>
                  </a:lnTo>
                  <a:lnTo>
                    <a:pt x="1796951" y="1245161"/>
                  </a:lnTo>
                  <a:lnTo>
                    <a:pt x="1811521" y="1202109"/>
                  </a:lnTo>
                  <a:lnTo>
                    <a:pt x="1824008" y="1158141"/>
                  </a:lnTo>
                  <a:lnTo>
                    <a:pt x="1834356" y="1113315"/>
                  </a:lnTo>
                  <a:lnTo>
                    <a:pt x="1842506" y="1067689"/>
                  </a:lnTo>
                  <a:lnTo>
                    <a:pt x="1848399" y="1021320"/>
                  </a:lnTo>
                  <a:lnTo>
                    <a:pt x="1851978" y="974269"/>
                  </a:lnTo>
                  <a:lnTo>
                    <a:pt x="1853184" y="926591"/>
                  </a:lnTo>
                  <a:lnTo>
                    <a:pt x="1851978" y="878914"/>
                  </a:lnTo>
                  <a:lnTo>
                    <a:pt x="1848399" y="831863"/>
                  </a:lnTo>
                  <a:lnTo>
                    <a:pt x="1842506" y="785494"/>
                  </a:lnTo>
                  <a:lnTo>
                    <a:pt x="1834356" y="739868"/>
                  </a:lnTo>
                  <a:lnTo>
                    <a:pt x="1824008" y="695042"/>
                  </a:lnTo>
                  <a:lnTo>
                    <a:pt x="1811521" y="651074"/>
                  </a:lnTo>
                  <a:lnTo>
                    <a:pt x="1796951" y="608022"/>
                  </a:lnTo>
                  <a:lnTo>
                    <a:pt x="1780359" y="565945"/>
                  </a:lnTo>
                  <a:lnTo>
                    <a:pt x="1761801" y="524902"/>
                  </a:lnTo>
                  <a:lnTo>
                    <a:pt x="1741337" y="484949"/>
                  </a:lnTo>
                  <a:lnTo>
                    <a:pt x="1719024" y="446146"/>
                  </a:lnTo>
                  <a:lnTo>
                    <a:pt x="1694920" y="408551"/>
                  </a:lnTo>
                  <a:lnTo>
                    <a:pt x="1669085" y="372222"/>
                  </a:lnTo>
                  <a:lnTo>
                    <a:pt x="1641576" y="337218"/>
                  </a:lnTo>
                  <a:lnTo>
                    <a:pt x="1612451" y="303596"/>
                  </a:lnTo>
                  <a:lnTo>
                    <a:pt x="1581769" y="271414"/>
                  </a:lnTo>
                  <a:lnTo>
                    <a:pt x="1549587" y="240732"/>
                  </a:lnTo>
                  <a:lnTo>
                    <a:pt x="1515965" y="211607"/>
                  </a:lnTo>
                  <a:lnTo>
                    <a:pt x="1480961" y="184098"/>
                  </a:lnTo>
                  <a:lnTo>
                    <a:pt x="1444632" y="158263"/>
                  </a:lnTo>
                  <a:lnTo>
                    <a:pt x="1407037" y="134159"/>
                  </a:lnTo>
                  <a:lnTo>
                    <a:pt x="1368234" y="111846"/>
                  </a:lnTo>
                  <a:lnTo>
                    <a:pt x="1328281" y="91382"/>
                  </a:lnTo>
                  <a:lnTo>
                    <a:pt x="1287238" y="72824"/>
                  </a:lnTo>
                  <a:lnTo>
                    <a:pt x="1245161" y="56232"/>
                  </a:lnTo>
                  <a:lnTo>
                    <a:pt x="1202109" y="41662"/>
                  </a:lnTo>
                  <a:lnTo>
                    <a:pt x="1158141" y="29175"/>
                  </a:lnTo>
                  <a:lnTo>
                    <a:pt x="1113315" y="18827"/>
                  </a:lnTo>
                  <a:lnTo>
                    <a:pt x="1067689" y="10677"/>
                  </a:lnTo>
                  <a:lnTo>
                    <a:pt x="1021320" y="4784"/>
                  </a:lnTo>
                  <a:lnTo>
                    <a:pt x="974269" y="1205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3841" y="2128503"/>
              <a:ext cx="91975" cy="9197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5878" y="2350783"/>
              <a:ext cx="91975" cy="919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57403" y="1975086"/>
              <a:ext cx="744855" cy="883285"/>
            </a:xfrm>
            <a:custGeom>
              <a:avLst/>
              <a:gdLst/>
              <a:ahLst/>
              <a:cxnLst/>
              <a:rect l="l" t="t" r="r" b="b"/>
              <a:pathLst>
                <a:path w="744854" h="883285">
                  <a:moveTo>
                    <a:pt x="353883" y="0"/>
                  </a:moveTo>
                  <a:lnTo>
                    <a:pt x="304176" y="0"/>
                  </a:lnTo>
                  <a:lnTo>
                    <a:pt x="254891" y="7508"/>
                  </a:lnTo>
                  <a:lnTo>
                    <a:pt x="206870" y="22525"/>
                  </a:lnTo>
                  <a:lnTo>
                    <a:pt x="160956" y="45050"/>
                  </a:lnTo>
                  <a:lnTo>
                    <a:pt x="119057" y="74400"/>
                  </a:lnTo>
                  <a:lnTo>
                    <a:pt x="82790" y="109385"/>
                  </a:lnTo>
                  <a:lnTo>
                    <a:pt x="52557" y="149200"/>
                  </a:lnTo>
                  <a:lnTo>
                    <a:pt x="28758" y="193039"/>
                  </a:lnTo>
                  <a:lnTo>
                    <a:pt x="11798" y="240099"/>
                  </a:lnTo>
                  <a:lnTo>
                    <a:pt x="2152" y="289193"/>
                  </a:lnTo>
                  <a:lnTo>
                    <a:pt x="89" y="338467"/>
                  </a:lnTo>
                  <a:lnTo>
                    <a:pt x="0" y="340657"/>
                  </a:lnTo>
                  <a:lnTo>
                    <a:pt x="3794" y="391026"/>
                  </a:lnTo>
                  <a:lnTo>
                    <a:pt x="3867" y="391994"/>
                  </a:lnTo>
                  <a:lnTo>
                    <a:pt x="15248" y="441476"/>
                  </a:lnTo>
                  <a:lnTo>
                    <a:pt x="33806" y="488342"/>
                  </a:lnTo>
                  <a:lnTo>
                    <a:pt x="59208" y="531832"/>
                  </a:lnTo>
                  <a:lnTo>
                    <a:pt x="91118" y="571185"/>
                  </a:lnTo>
                  <a:lnTo>
                    <a:pt x="129203" y="605642"/>
                  </a:lnTo>
                  <a:lnTo>
                    <a:pt x="129203" y="882671"/>
                  </a:lnTo>
                  <a:lnTo>
                    <a:pt x="475205" y="882671"/>
                  </a:lnTo>
                  <a:lnTo>
                    <a:pt x="475204" y="751274"/>
                  </a:lnTo>
                  <a:lnTo>
                    <a:pt x="528857" y="751274"/>
                  </a:lnTo>
                  <a:lnTo>
                    <a:pt x="578950" y="741145"/>
                  </a:lnTo>
                  <a:lnTo>
                    <a:pt x="620832" y="712950"/>
                  </a:lnTo>
                  <a:lnTo>
                    <a:pt x="648479" y="670109"/>
                  </a:lnTo>
                  <a:lnTo>
                    <a:pt x="658060" y="619877"/>
                  </a:lnTo>
                  <a:lnTo>
                    <a:pt x="658060" y="554178"/>
                  </a:lnTo>
                  <a:lnTo>
                    <a:pt x="706237" y="554178"/>
                  </a:lnTo>
                  <a:lnTo>
                    <a:pt x="714801" y="550893"/>
                  </a:lnTo>
                  <a:lnTo>
                    <a:pt x="209134" y="550893"/>
                  </a:lnTo>
                  <a:lnTo>
                    <a:pt x="195994" y="523518"/>
                  </a:lnTo>
                  <a:lnTo>
                    <a:pt x="192213" y="522424"/>
                  </a:lnTo>
                  <a:lnTo>
                    <a:pt x="143437" y="522424"/>
                  </a:lnTo>
                  <a:lnTo>
                    <a:pt x="121538" y="500524"/>
                  </a:lnTo>
                  <a:lnTo>
                    <a:pt x="131393" y="472055"/>
                  </a:lnTo>
                  <a:lnTo>
                    <a:pt x="128313" y="466289"/>
                  </a:lnTo>
                  <a:lnTo>
                    <a:pt x="125644" y="460420"/>
                  </a:lnTo>
                  <a:lnTo>
                    <a:pt x="123386" y="454347"/>
                  </a:lnTo>
                  <a:lnTo>
                    <a:pt x="121538" y="447965"/>
                  </a:lnTo>
                  <a:lnTo>
                    <a:pt x="94165" y="434825"/>
                  </a:lnTo>
                  <a:lnTo>
                    <a:pt x="94165" y="404166"/>
                  </a:lnTo>
                  <a:lnTo>
                    <a:pt x="121538" y="391026"/>
                  </a:lnTo>
                  <a:lnTo>
                    <a:pt x="123386" y="384645"/>
                  </a:lnTo>
                  <a:lnTo>
                    <a:pt x="125644" y="378571"/>
                  </a:lnTo>
                  <a:lnTo>
                    <a:pt x="128313" y="372702"/>
                  </a:lnTo>
                  <a:lnTo>
                    <a:pt x="131393" y="366937"/>
                  </a:lnTo>
                  <a:lnTo>
                    <a:pt x="121538" y="338467"/>
                  </a:lnTo>
                  <a:lnTo>
                    <a:pt x="143437" y="316568"/>
                  </a:lnTo>
                  <a:lnTo>
                    <a:pt x="195994" y="316568"/>
                  </a:lnTo>
                  <a:lnTo>
                    <a:pt x="209133" y="289193"/>
                  </a:lnTo>
                  <a:lnTo>
                    <a:pt x="268260" y="289193"/>
                  </a:lnTo>
                  <a:lnTo>
                    <a:pt x="258406" y="279339"/>
                  </a:lnTo>
                  <a:lnTo>
                    <a:pt x="268260" y="250869"/>
                  </a:lnTo>
                  <a:lnTo>
                    <a:pt x="265181" y="245103"/>
                  </a:lnTo>
                  <a:lnTo>
                    <a:pt x="262512" y="239235"/>
                  </a:lnTo>
                  <a:lnTo>
                    <a:pt x="260253" y="233161"/>
                  </a:lnTo>
                  <a:lnTo>
                    <a:pt x="258406" y="226780"/>
                  </a:lnTo>
                  <a:lnTo>
                    <a:pt x="231032" y="213640"/>
                  </a:lnTo>
                  <a:lnTo>
                    <a:pt x="231032" y="182981"/>
                  </a:lnTo>
                  <a:lnTo>
                    <a:pt x="258406" y="169841"/>
                  </a:lnTo>
                  <a:lnTo>
                    <a:pt x="260253" y="163459"/>
                  </a:lnTo>
                  <a:lnTo>
                    <a:pt x="262512" y="157386"/>
                  </a:lnTo>
                  <a:lnTo>
                    <a:pt x="265181" y="151517"/>
                  </a:lnTo>
                  <a:lnTo>
                    <a:pt x="268260" y="145751"/>
                  </a:lnTo>
                  <a:lnTo>
                    <a:pt x="259501" y="117282"/>
                  </a:lnTo>
                  <a:lnTo>
                    <a:pt x="281399" y="95382"/>
                  </a:lnTo>
                  <a:lnTo>
                    <a:pt x="333957" y="95382"/>
                  </a:lnTo>
                  <a:lnTo>
                    <a:pt x="347096" y="68045"/>
                  </a:lnTo>
                  <a:lnTo>
                    <a:pt x="529548" y="68045"/>
                  </a:lnTo>
                  <a:lnTo>
                    <a:pt x="497103" y="45050"/>
                  </a:lnTo>
                  <a:lnTo>
                    <a:pt x="451189" y="22525"/>
                  </a:lnTo>
                  <a:lnTo>
                    <a:pt x="403168" y="7508"/>
                  </a:lnTo>
                  <a:lnTo>
                    <a:pt x="353883" y="0"/>
                  </a:lnTo>
                  <a:close/>
                </a:path>
                <a:path w="744854" h="883285">
                  <a:moveTo>
                    <a:pt x="275925" y="514759"/>
                  </a:moveTo>
                  <a:lnTo>
                    <a:pt x="270159" y="517838"/>
                  </a:lnTo>
                  <a:lnTo>
                    <a:pt x="264291" y="520507"/>
                  </a:lnTo>
                  <a:lnTo>
                    <a:pt x="258218" y="522766"/>
                  </a:lnTo>
                  <a:lnTo>
                    <a:pt x="251836" y="524613"/>
                  </a:lnTo>
                  <a:lnTo>
                    <a:pt x="239792" y="550893"/>
                  </a:lnTo>
                  <a:lnTo>
                    <a:pt x="714801" y="550893"/>
                  </a:lnTo>
                  <a:lnTo>
                    <a:pt x="726220" y="546513"/>
                  </a:lnTo>
                  <a:lnTo>
                    <a:pt x="740454" y="529815"/>
                  </a:lnTo>
                  <a:lnTo>
                    <a:pt x="741326" y="524614"/>
                  </a:lnTo>
                  <a:lnTo>
                    <a:pt x="304393" y="524613"/>
                  </a:lnTo>
                  <a:lnTo>
                    <a:pt x="275925" y="514759"/>
                  </a:lnTo>
                  <a:close/>
                </a:path>
                <a:path w="744854" h="883285">
                  <a:moveTo>
                    <a:pt x="340220" y="316568"/>
                  </a:moveTo>
                  <a:lnTo>
                    <a:pt x="306583" y="316568"/>
                  </a:lnTo>
                  <a:lnTo>
                    <a:pt x="328482" y="338467"/>
                  </a:lnTo>
                  <a:lnTo>
                    <a:pt x="318628" y="366937"/>
                  </a:lnTo>
                  <a:lnTo>
                    <a:pt x="321707" y="372703"/>
                  </a:lnTo>
                  <a:lnTo>
                    <a:pt x="324376" y="378571"/>
                  </a:lnTo>
                  <a:lnTo>
                    <a:pt x="326634" y="384645"/>
                  </a:lnTo>
                  <a:lnTo>
                    <a:pt x="328482" y="391026"/>
                  </a:lnTo>
                  <a:lnTo>
                    <a:pt x="355856" y="404166"/>
                  </a:lnTo>
                  <a:lnTo>
                    <a:pt x="354834" y="434825"/>
                  </a:lnTo>
                  <a:lnTo>
                    <a:pt x="354761" y="437015"/>
                  </a:lnTo>
                  <a:lnTo>
                    <a:pt x="327387" y="450155"/>
                  </a:lnTo>
                  <a:lnTo>
                    <a:pt x="325539" y="456537"/>
                  </a:lnTo>
                  <a:lnTo>
                    <a:pt x="323281" y="462610"/>
                  </a:lnTo>
                  <a:lnTo>
                    <a:pt x="320612" y="468479"/>
                  </a:lnTo>
                  <a:lnTo>
                    <a:pt x="317533" y="474245"/>
                  </a:lnTo>
                  <a:lnTo>
                    <a:pt x="326292" y="502714"/>
                  </a:lnTo>
                  <a:lnTo>
                    <a:pt x="304393" y="524613"/>
                  </a:lnTo>
                  <a:lnTo>
                    <a:pt x="741326" y="524614"/>
                  </a:lnTo>
                  <a:lnTo>
                    <a:pt x="744423" y="506136"/>
                  </a:lnTo>
                  <a:lnTo>
                    <a:pt x="733611" y="477530"/>
                  </a:lnTo>
                  <a:lnTo>
                    <a:pt x="658059" y="346132"/>
                  </a:lnTo>
                  <a:lnTo>
                    <a:pt x="657970" y="338467"/>
                  </a:lnTo>
                  <a:lnTo>
                    <a:pt x="657569" y="328613"/>
                  </a:lnTo>
                  <a:lnTo>
                    <a:pt x="346001" y="328613"/>
                  </a:lnTo>
                  <a:lnTo>
                    <a:pt x="340220" y="316568"/>
                  </a:lnTo>
                  <a:close/>
                </a:path>
                <a:path w="744854" h="883285">
                  <a:moveTo>
                    <a:pt x="171905" y="513664"/>
                  </a:moveTo>
                  <a:lnTo>
                    <a:pt x="143437" y="522424"/>
                  </a:lnTo>
                  <a:lnTo>
                    <a:pt x="192213" y="522424"/>
                  </a:lnTo>
                  <a:lnTo>
                    <a:pt x="189613" y="521671"/>
                  </a:lnTo>
                  <a:lnTo>
                    <a:pt x="183539" y="519412"/>
                  </a:lnTo>
                  <a:lnTo>
                    <a:pt x="177671" y="516743"/>
                  </a:lnTo>
                  <a:lnTo>
                    <a:pt x="171905" y="513664"/>
                  </a:lnTo>
                  <a:close/>
                </a:path>
                <a:path w="744854" h="883285">
                  <a:moveTo>
                    <a:pt x="413887" y="292478"/>
                  </a:moveTo>
                  <a:lnTo>
                    <a:pt x="408122" y="295558"/>
                  </a:lnTo>
                  <a:lnTo>
                    <a:pt x="402254" y="298227"/>
                  </a:lnTo>
                  <a:lnTo>
                    <a:pt x="396180" y="300485"/>
                  </a:lnTo>
                  <a:lnTo>
                    <a:pt x="389799" y="302333"/>
                  </a:lnTo>
                  <a:lnTo>
                    <a:pt x="376659" y="328613"/>
                  </a:lnTo>
                  <a:lnTo>
                    <a:pt x="657569" y="328613"/>
                  </a:lnTo>
                  <a:lnTo>
                    <a:pt x="656499" y="302333"/>
                  </a:lnTo>
                  <a:lnTo>
                    <a:pt x="442356" y="302333"/>
                  </a:lnTo>
                  <a:lnTo>
                    <a:pt x="413887" y="292478"/>
                  </a:lnTo>
                  <a:close/>
                </a:path>
                <a:path w="744854" h="883285">
                  <a:moveTo>
                    <a:pt x="195994" y="316568"/>
                  </a:moveTo>
                  <a:lnTo>
                    <a:pt x="143437" y="316568"/>
                  </a:lnTo>
                  <a:lnTo>
                    <a:pt x="171905" y="326423"/>
                  </a:lnTo>
                  <a:lnTo>
                    <a:pt x="177671" y="323343"/>
                  </a:lnTo>
                  <a:lnTo>
                    <a:pt x="183539" y="320674"/>
                  </a:lnTo>
                  <a:lnTo>
                    <a:pt x="189613" y="318416"/>
                  </a:lnTo>
                  <a:lnTo>
                    <a:pt x="195994" y="316568"/>
                  </a:lnTo>
                  <a:close/>
                </a:path>
                <a:path w="744854" h="883285">
                  <a:moveTo>
                    <a:pt x="268260" y="289193"/>
                  </a:moveTo>
                  <a:lnTo>
                    <a:pt x="240887" y="289193"/>
                  </a:lnTo>
                  <a:lnTo>
                    <a:pt x="254026" y="316568"/>
                  </a:lnTo>
                  <a:lnTo>
                    <a:pt x="260407" y="318416"/>
                  </a:lnTo>
                  <a:lnTo>
                    <a:pt x="266481" y="320674"/>
                  </a:lnTo>
                  <a:lnTo>
                    <a:pt x="272349" y="323343"/>
                  </a:lnTo>
                  <a:lnTo>
                    <a:pt x="278115" y="326423"/>
                  </a:lnTo>
                  <a:lnTo>
                    <a:pt x="306583" y="316568"/>
                  </a:lnTo>
                  <a:lnTo>
                    <a:pt x="340220" y="316568"/>
                  </a:lnTo>
                  <a:lnTo>
                    <a:pt x="332862" y="301238"/>
                  </a:lnTo>
                  <a:lnTo>
                    <a:pt x="280305" y="301238"/>
                  </a:lnTo>
                  <a:lnTo>
                    <a:pt x="268260" y="289193"/>
                  </a:lnTo>
                  <a:close/>
                </a:path>
                <a:path w="744854" h="883285">
                  <a:moveTo>
                    <a:pt x="559183" y="94288"/>
                  </a:moveTo>
                  <a:lnTo>
                    <a:pt x="443451" y="94287"/>
                  </a:lnTo>
                  <a:lnTo>
                    <a:pt x="465350" y="116187"/>
                  </a:lnTo>
                  <a:lnTo>
                    <a:pt x="455495" y="144656"/>
                  </a:lnTo>
                  <a:lnTo>
                    <a:pt x="458575" y="150422"/>
                  </a:lnTo>
                  <a:lnTo>
                    <a:pt x="461244" y="156291"/>
                  </a:lnTo>
                  <a:lnTo>
                    <a:pt x="463502" y="162364"/>
                  </a:lnTo>
                  <a:lnTo>
                    <a:pt x="465350" y="168746"/>
                  </a:lnTo>
                  <a:lnTo>
                    <a:pt x="492723" y="181886"/>
                  </a:lnTo>
                  <a:lnTo>
                    <a:pt x="492723" y="214735"/>
                  </a:lnTo>
                  <a:lnTo>
                    <a:pt x="465350" y="227875"/>
                  </a:lnTo>
                  <a:lnTo>
                    <a:pt x="463331" y="234256"/>
                  </a:lnTo>
                  <a:lnTo>
                    <a:pt x="460796" y="240099"/>
                  </a:lnTo>
                  <a:lnTo>
                    <a:pt x="460696" y="240330"/>
                  </a:lnTo>
                  <a:lnTo>
                    <a:pt x="457651" y="246198"/>
                  </a:lnTo>
                  <a:lnTo>
                    <a:pt x="454400" y="251964"/>
                  </a:lnTo>
                  <a:lnTo>
                    <a:pt x="464255" y="280434"/>
                  </a:lnTo>
                  <a:lnTo>
                    <a:pt x="442356" y="302333"/>
                  </a:lnTo>
                  <a:lnTo>
                    <a:pt x="656499" y="302333"/>
                  </a:lnTo>
                  <a:lnTo>
                    <a:pt x="656379" y="299390"/>
                  </a:lnTo>
                  <a:lnTo>
                    <a:pt x="656287" y="297132"/>
                  </a:lnTo>
                  <a:lnTo>
                    <a:pt x="656178" y="294463"/>
                  </a:lnTo>
                  <a:lnTo>
                    <a:pt x="656053" y="291383"/>
                  </a:lnTo>
                  <a:lnTo>
                    <a:pt x="655981" y="289631"/>
                  </a:lnTo>
                  <a:lnTo>
                    <a:pt x="646269" y="240330"/>
                  </a:lnTo>
                  <a:lnTo>
                    <a:pt x="629300" y="193384"/>
                  </a:lnTo>
                  <a:lnTo>
                    <a:pt x="605502" y="149659"/>
                  </a:lnTo>
                  <a:lnTo>
                    <a:pt x="575268" y="109864"/>
                  </a:lnTo>
                  <a:lnTo>
                    <a:pt x="559183" y="94288"/>
                  </a:lnTo>
                  <a:close/>
                </a:path>
                <a:path w="744854" h="883285">
                  <a:moveTo>
                    <a:pt x="308773" y="291383"/>
                  </a:moveTo>
                  <a:lnTo>
                    <a:pt x="280305" y="301238"/>
                  </a:lnTo>
                  <a:lnTo>
                    <a:pt x="332862" y="301238"/>
                  </a:lnTo>
                  <a:lnTo>
                    <a:pt x="326480" y="299390"/>
                  </a:lnTo>
                  <a:lnTo>
                    <a:pt x="320407" y="297132"/>
                  </a:lnTo>
                  <a:lnTo>
                    <a:pt x="314539" y="294463"/>
                  </a:lnTo>
                  <a:lnTo>
                    <a:pt x="308773" y="291383"/>
                  </a:lnTo>
                  <a:close/>
                </a:path>
                <a:path w="744854" h="883285">
                  <a:moveTo>
                    <a:pt x="333957" y="95382"/>
                  </a:moveTo>
                  <a:lnTo>
                    <a:pt x="281399" y="95382"/>
                  </a:lnTo>
                  <a:lnTo>
                    <a:pt x="309868" y="105237"/>
                  </a:lnTo>
                  <a:lnTo>
                    <a:pt x="315633" y="102158"/>
                  </a:lnTo>
                  <a:lnTo>
                    <a:pt x="321502" y="99489"/>
                  </a:lnTo>
                  <a:lnTo>
                    <a:pt x="327575" y="97230"/>
                  </a:lnTo>
                  <a:lnTo>
                    <a:pt x="333957" y="95382"/>
                  </a:lnTo>
                  <a:close/>
                </a:path>
                <a:path w="744854" h="883285">
                  <a:moveTo>
                    <a:pt x="529548" y="68045"/>
                  </a:moveTo>
                  <a:lnTo>
                    <a:pt x="377754" y="68045"/>
                  </a:lnTo>
                  <a:lnTo>
                    <a:pt x="390894" y="94287"/>
                  </a:lnTo>
                  <a:lnTo>
                    <a:pt x="397275" y="96135"/>
                  </a:lnTo>
                  <a:lnTo>
                    <a:pt x="403349" y="98394"/>
                  </a:lnTo>
                  <a:lnTo>
                    <a:pt x="409217" y="101063"/>
                  </a:lnTo>
                  <a:lnTo>
                    <a:pt x="414982" y="104142"/>
                  </a:lnTo>
                  <a:lnTo>
                    <a:pt x="443451" y="94287"/>
                  </a:lnTo>
                  <a:lnTo>
                    <a:pt x="559183" y="94288"/>
                  </a:lnTo>
                  <a:lnTo>
                    <a:pt x="539001" y="74745"/>
                  </a:lnTo>
                  <a:lnTo>
                    <a:pt x="529548" y="68045"/>
                  </a:lnTo>
                  <a:close/>
                </a:path>
              </a:pathLst>
            </a:custGeom>
            <a:solidFill>
              <a:srgbClr val="A7B7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85409" y="3899408"/>
            <a:ext cx="2484755" cy="7524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ctr">
              <a:lnSpc>
                <a:spcPct val="90100"/>
              </a:lnSpc>
              <a:spcBef>
                <a:spcPts val="305"/>
              </a:spcBef>
            </a:pPr>
            <a:r>
              <a:rPr sz="1700" spc="240" dirty="0">
                <a:latin typeface="Cambria"/>
                <a:cs typeface="Cambria"/>
              </a:rPr>
              <a:t>USO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35" dirty="0">
                <a:latin typeface="Cambria"/>
                <a:cs typeface="Cambria"/>
              </a:rPr>
              <a:t>EN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10" dirty="0">
                <a:latin typeface="Cambria"/>
                <a:cs typeface="Cambria"/>
              </a:rPr>
              <a:t>MODELOS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190" dirty="0">
                <a:latin typeface="Cambria"/>
                <a:cs typeface="Cambria"/>
              </a:rPr>
              <a:t>DE APRENDIZAJE </a:t>
            </a:r>
            <a:r>
              <a:rPr sz="1700" spc="175" dirty="0">
                <a:latin typeface="Cambria"/>
                <a:cs typeface="Cambria"/>
              </a:rPr>
              <a:t>AUTOMÁTICO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u="sng" spc="80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hlinkClick r:id="rId2"/>
              </a:rPr>
              <a:t>Clasificación</a:t>
            </a:r>
            <a:r>
              <a:rPr u="sng" spc="114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hlinkClick r:id="rId2"/>
              </a:rPr>
              <a:t> </a:t>
            </a:r>
            <a:r>
              <a:rPr u="sng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hlinkClick r:id="rId2"/>
              </a:rPr>
              <a:t>de</a:t>
            </a:r>
            <a:r>
              <a:rPr u="sng" spc="145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hlinkClick r:id="rId2"/>
              </a:rPr>
              <a:t> </a:t>
            </a:r>
            <a:r>
              <a:rPr u="sng" spc="-10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hlinkClick r:id="rId2"/>
              </a:rPr>
              <a:t>texto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787" y="1289556"/>
            <a:ext cx="2912099" cy="13878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1387" y="1225880"/>
            <a:ext cx="2055869" cy="13433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92" y="3384868"/>
            <a:ext cx="2933435" cy="15801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25124" y="3499254"/>
            <a:ext cx="2480581" cy="137425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Clasificación</a:t>
            </a:r>
            <a:r>
              <a:rPr spc="114" dirty="0"/>
              <a:t> </a:t>
            </a:r>
            <a:r>
              <a:rPr dirty="0"/>
              <a:t>de</a:t>
            </a:r>
            <a:r>
              <a:rPr spc="145" dirty="0"/>
              <a:t> </a:t>
            </a:r>
            <a:r>
              <a:rPr spc="-10" dirty="0"/>
              <a:t>texto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1577" y="1234924"/>
            <a:ext cx="4690768" cy="312419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Bolsa</a:t>
            </a:r>
            <a:r>
              <a:rPr spc="90" dirty="0"/>
              <a:t> </a:t>
            </a:r>
            <a:r>
              <a:rPr dirty="0"/>
              <a:t>de</a:t>
            </a:r>
            <a:r>
              <a:rPr spc="114" dirty="0"/>
              <a:t> </a:t>
            </a:r>
            <a:r>
              <a:rPr spc="85" dirty="0"/>
              <a:t>palabras</a:t>
            </a:r>
            <a:r>
              <a:rPr spc="95" dirty="0"/>
              <a:t> </a:t>
            </a:r>
            <a:r>
              <a:rPr dirty="0"/>
              <a:t>(bag</a:t>
            </a:r>
            <a:r>
              <a:rPr spc="110" dirty="0"/>
              <a:t> </a:t>
            </a:r>
            <a:r>
              <a:rPr dirty="0"/>
              <a:t>of</a:t>
            </a:r>
            <a:r>
              <a:rPr spc="110" dirty="0"/>
              <a:t> </a:t>
            </a:r>
            <a:r>
              <a:rPr spc="-10" dirty="0"/>
              <a:t>words)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738"/>
            <a:ext cx="526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0" dirty="0">
                <a:latin typeface="Cambria"/>
                <a:cs typeface="Cambria"/>
              </a:rPr>
              <a:t>Frecuencia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palabras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en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cada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frase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792" y="1821179"/>
            <a:ext cx="4780787" cy="1046988"/>
          </a:xfrm>
          <a:prstGeom prst="rect">
            <a:avLst/>
          </a:prstGeom>
        </p:spPr>
      </p:pic>
      <p:pic>
        <p:nvPicPr>
          <p:cNvPr id="5" name="object 5">
            <a:hlinkClick r:id="rId2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772" y="3073549"/>
            <a:ext cx="7295407" cy="161958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Bolsa</a:t>
            </a:r>
            <a:r>
              <a:rPr spc="100" dirty="0"/>
              <a:t> </a:t>
            </a:r>
            <a:r>
              <a:rPr dirty="0"/>
              <a:t>de</a:t>
            </a:r>
            <a:r>
              <a:rPr spc="130" dirty="0"/>
              <a:t> </a:t>
            </a:r>
            <a:r>
              <a:rPr spc="75" dirty="0"/>
              <a:t>palabras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738"/>
            <a:ext cx="779335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400" spc="120" dirty="0">
                <a:latin typeface="Cambria"/>
                <a:cs typeface="Cambria"/>
              </a:rPr>
              <a:t>Palabras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muy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comunes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tienen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mucha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más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importancia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810"/>
              </a:lnSpc>
            </a:pPr>
            <a:r>
              <a:rPr sz="2400" spc="55" dirty="0">
                <a:latin typeface="Cambria"/>
                <a:cs typeface="Cambria"/>
              </a:rPr>
              <a:t>que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palabras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“raras”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TF-</a:t>
            </a:r>
            <a:r>
              <a:rPr spc="270" dirty="0"/>
              <a:t>IDF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pc="90" dirty="0"/>
              <a:t>Frecuencia</a:t>
            </a:r>
            <a:r>
              <a:rPr spc="190" dirty="0"/>
              <a:t> </a:t>
            </a:r>
            <a:r>
              <a:rPr dirty="0"/>
              <a:t>de</a:t>
            </a:r>
            <a:r>
              <a:rPr spc="229" dirty="0"/>
              <a:t> </a:t>
            </a:r>
            <a:r>
              <a:rPr spc="70" dirty="0"/>
              <a:t>términos</a:t>
            </a:r>
            <a:r>
              <a:rPr spc="185" dirty="0"/>
              <a:t> </a:t>
            </a:r>
            <a:r>
              <a:rPr dirty="0"/>
              <a:t>(</a:t>
            </a:r>
            <a:r>
              <a:rPr i="1" dirty="0">
                <a:latin typeface="Cambria"/>
                <a:cs typeface="Cambria"/>
              </a:rPr>
              <a:t>term</a:t>
            </a:r>
            <a:r>
              <a:rPr i="1" spc="210" dirty="0">
                <a:latin typeface="Cambria"/>
                <a:cs typeface="Cambria"/>
              </a:rPr>
              <a:t> </a:t>
            </a:r>
            <a:r>
              <a:rPr i="1" spc="85" dirty="0">
                <a:latin typeface="Cambria"/>
                <a:cs typeface="Cambria"/>
              </a:rPr>
              <a:t>frequency,</a:t>
            </a:r>
            <a:r>
              <a:rPr i="1" spc="190" dirty="0">
                <a:latin typeface="Cambria"/>
                <a:cs typeface="Cambria"/>
              </a:rPr>
              <a:t> </a:t>
            </a:r>
            <a:r>
              <a:rPr i="1" spc="-25" dirty="0">
                <a:latin typeface="Cambria"/>
                <a:cs typeface="Cambria"/>
              </a:rPr>
              <a:t>tf)</a:t>
            </a:r>
          </a:p>
          <a:p>
            <a:pPr marL="12700">
              <a:lnSpc>
                <a:spcPts val="2810"/>
              </a:lnSpc>
              <a:spcBef>
                <a:spcPts val="459"/>
              </a:spcBef>
            </a:pPr>
            <a:r>
              <a:rPr spc="95" dirty="0"/>
              <a:t>Frecuencia</a:t>
            </a:r>
            <a:r>
              <a:rPr spc="135" dirty="0"/>
              <a:t> </a:t>
            </a:r>
            <a:r>
              <a:rPr spc="90" dirty="0"/>
              <a:t>inversa</a:t>
            </a:r>
            <a:r>
              <a:rPr spc="135" dirty="0"/>
              <a:t> </a:t>
            </a:r>
            <a:r>
              <a:rPr dirty="0"/>
              <a:t>de</a:t>
            </a:r>
            <a:r>
              <a:rPr spc="155" dirty="0"/>
              <a:t> </a:t>
            </a:r>
            <a:r>
              <a:rPr spc="50" dirty="0"/>
              <a:t>documentos</a:t>
            </a:r>
            <a:r>
              <a:rPr spc="135" dirty="0"/>
              <a:t> </a:t>
            </a:r>
            <a:r>
              <a:rPr spc="75" dirty="0"/>
              <a:t>(</a:t>
            </a:r>
            <a:r>
              <a:rPr i="1" spc="75" dirty="0">
                <a:latin typeface="Cambria"/>
                <a:cs typeface="Cambria"/>
              </a:rPr>
              <a:t>inverse</a:t>
            </a:r>
            <a:r>
              <a:rPr i="1" spc="135" dirty="0">
                <a:latin typeface="Cambria"/>
                <a:cs typeface="Cambria"/>
              </a:rPr>
              <a:t> </a:t>
            </a:r>
            <a:r>
              <a:rPr i="1" spc="85" dirty="0">
                <a:latin typeface="Cambria"/>
                <a:cs typeface="Cambria"/>
              </a:rPr>
              <a:t>document</a:t>
            </a:r>
          </a:p>
          <a:p>
            <a:pPr marL="12700">
              <a:lnSpc>
                <a:spcPts val="2810"/>
              </a:lnSpc>
            </a:pPr>
            <a:r>
              <a:rPr i="1" spc="85" dirty="0">
                <a:latin typeface="Cambria"/>
                <a:cs typeface="Cambria"/>
              </a:rPr>
              <a:t>frequency,</a:t>
            </a:r>
            <a:r>
              <a:rPr i="1" spc="114" dirty="0">
                <a:latin typeface="Cambria"/>
                <a:cs typeface="Cambria"/>
              </a:rPr>
              <a:t> </a:t>
            </a:r>
            <a:r>
              <a:rPr i="1" spc="70" dirty="0">
                <a:latin typeface="Cambria"/>
                <a:cs typeface="Cambria"/>
              </a:rPr>
              <a:t>idf)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pc="165" dirty="0"/>
              <a:t>TF-</a:t>
            </a:r>
            <a:r>
              <a:rPr spc="185" dirty="0"/>
              <a:t>IDF: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5307" y="3373549"/>
            <a:ext cx="3441516" cy="26177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6315"/>
            <a:ext cx="1343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TF-</a:t>
            </a:r>
            <a:r>
              <a:rPr spc="270" dirty="0"/>
              <a:t>IDF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080" y="1198880"/>
            <a:ext cx="7799705" cy="35325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2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cálculos:</a:t>
            </a:r>
            <a:endParaRPr sz="2000">
              <a:latin typeface="Cambria"/>
              <a:cs typeface="Cambria"/>
            </a:endParaRPr>
          </a:p>
          <a:p>
            <a:pPr marL="355600" marR="6350" indent="-343535" algn="just">
              <a:lnSpc>
                <a:spcPct val="95000"/>
              </a:lnSpc>
              <a:spcBef>
                <a:spcPts val="595"/>
              </a:spcBef>
              <a:buClr>
                <a:srgbClr val="6E6E74"/>
              </a:buClr>
              <a:buSzPct val="120000"/>
              <a:buFont typeface="Microsoft Sans Serif"/>
              <a:buChar char="●"/>
              <a:tabLst>
                <a:tab pos="355600" algn="l"/>
              </a:tabLst>
            </a:pPr>
            <a:r>
              <a:rPr sz="2000" spc="185" dirty="0">
                <a:latin typeface="Cambria"/>
                <a:cs typeface="Cambria"/>
              </a:rPr>
              <a:t>A</a:t>
            </a:r>
            <a:r>
              <a:rPr sz="2000" spc="42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través</a:t>
            </a:r>
            <a:r>
              <a:rPr sz="2000" spc="4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415" dirty="0">
                <a:latin typeface="Cambria"/>
                <a:cs typeface="Cambria"/>
              </a:rPr>
              <a:t> </a:t>
            </a:r>
            <a:r>
              <a:rPr sz="2000" spc="204" dirty="0">
                <a:latin typeface="Cambria"/>
                <a:cs typeface="Cambria"/>
              </a:rPr>
              <a:t>TF</a:t>
            </a:r>
            <a:r>
              <a:rPr sz="2000" spc="4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(Term</a:t>
            </a:r>
            <a:r>
              <a:rPr sz="2000" spc="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Frequency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spc="-420" dirty="0">
                <a:latin typeface="Cambria"/>
                <a:cs typeface="Cambria"/>
              </a:rPr>
              <a:t>/</a:t>
            </a:r>
            <a:r>
              <a:rPr sz="2000" spc="43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Frecuencia</a:t>
            </a:r>
            <a:r>
              <a:rPr sz="2000" spc="4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4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término)</a:t>
            </a:r>
            <a:r>
              <a:rPr sz="2000" spc="43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se </a:t>
            </a:r>
            <a:r>
              <a:rPr sz="2000" spc="80" dirty="0">
                <a:latin typeface="Cambria"/>
                <a:cs typeface="Cambria"/>
              </a:rPr>
              <a:t>calcula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frecuencia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relativa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una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palabra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un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documento </a:t>
            </a:r>
            <a:r>
              <a:rPr sz="2000" spc="65" dirty="0">
                <a:latin typeface="Cambria"/>
                <a:cs typeface="Cambria"/>
              </a:rPr>
              <a:t>entre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el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número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total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palabras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del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documento.</a:t>
            </a:r>
            <a:endParaRPr sz="2000">
              <a:latin typeface="Cambria"/>
              <a:cs typeface="Cambria"/>
            </a:endParaRPr>
          </a:p>
          <a:p>
            <a:pPr marL="355600" marR="5080" indent="-343535" algn="just">
              <a:lnSpc>
                <a:spcPct val="95000"/>
              </a:lnSpc>
              <a:spcBef>
                <a:spcPts val="600"/>
              </a:spcBef>
              <a:buClr>
                <a:srgbClr val="6E6E74"/>
              </a:buClr>
              <a:buSzPct val="120000"/>
              <a:buFont typeface="Microsoft Sans Serif"/>
              <a:buChar char="●"/>
              <a:tabLst>
                <a:tab pos="355600" algn="l"/>
              </a:tabLst>
            </a:pPr>
            <a:r>
              <a:rPr sz="2000" spc="125" dirty="0">
                <a:latin typeface="Cambria"/>
                <a:cs typeface="Cambria"/>
              </a:rPr>
              <a:t>Con</a:t>
            </a:r>
            <a:r>
              <a:rPr sz="2000" spc="325" dirty="0">
                <a:latin typeface="Cambria"/>
                <a:cs typeface="Cambria"/>
              </a:rPr>
              <a:t>  </a:t>
            </a:r>
            <a:r>
              <a:rPr sz="2000" spc="215" dirty="0">
                <a:latin typeface="Cambria"/>
                <a:cs typeface="Cambria"/>
              </a:rPr>
              <a:t>IDF</a:t>
            </a:r>
            <a:r>
              <a:rPr sz="2000" spc="3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se</a:t>
            </a:r>
            <a:r>
              <a:rPr sz="2000" spc="330" dirty="0">
                <a:latin typeface="Cambria"/>
                <a:cs typeface="Cambria"/>
              </a:rPr>
              <a:t>  </a:t>
            </a:r>
            <a:r>
              <a:rPr sz="2000" spc="85" dirty="0">
                <a:latin typeface="Cambria"/>
                <a:cs typeface="Cambria"/>
              </a:rPr>
              <a:t>calcula</a:t>
            </a:r>
            <a:r>
              <a:rPr sz="2000" spc="325" dirty="0">
                <a:latin typeface="Cambria"/>
                <a:cs typeface="Cambria"/>
              </a:rPr>
              <a:t> 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330" dirty="0">
                <a:latin typeface="Cambria"/>
                <a:cs typeface="Cambria"/>
              </a:rPr>
              <a:t>  </a:t>
            </a:r>
            <a:r>
              <a:rPr sz="2000" spc="60" dirty="0">
                <a:latin typeface="Cambria"/>
                <a:cs typeface="Cambria"/>
              </a:rPr>
              <a:t>frecuencia</a:t>
            </a:r>
            <a:r>
              <a:rPr sz="2000" spc="335" dirty="0">
                <a:latin typeface="Cambria"/>
                <a:cs typeface="Cambria"/>
              </a:rPr>
              <a:t>  </a:t>
            </a:r>
            <a:r>
              <a:rPr sz="2000" spc="75" dirty="0">
                <a:latin typeface="Cambria"/>
                <a:cs typeface="Cambria"/>
              </a:rPr>
              <a:t>inversa</a:t>
            </a:r>
            <a:r>
              <a:rPr sz="2000" spc="3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330" dirty="0"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documento </a:t>
            </a:r>
            <a:r>
              <a:rPr sz="2000" spc="55" dirty="0">
                <a:latin typeface="Cambria"/>
                <a:cs typeface="Cambria"/>
              </a:rPr>
              <a:t>(Inverse</a:t>
            </a:r>
            <a:r>
              <a:rPr sz="2000" spc="459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Document</a:t>
            </a:r>
            <a:r>
              <a:rPr sz="2000" spc="4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Frequency)</a:t>
            </a:r>
            <a:r>
              <a:rPr sz="2000" spc="4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dividiendo</a:t>
            </a:r>
            <a:r>
              <a:rPr sz="2000" spc="4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el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número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total</a:t>
            </a:r>
            <a:r>
              <a:rPr sz="2000" spc="48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de </a:t>
            </a:r>
            <a:r>
              <a:rPr sz="2000" dirty="0">
                <a:latin typeface="Cambria"/>
                <a:cs typeface="Cambria"/>
              </a:rPr>
              <a:t>documentos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entre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el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número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3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documentos</a:t>
            </a:r>
            <a:r>
              <a:rPr sz="2000" spc="30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que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spc="50" dirty="0">
                <a:latin typeface="Cambria"/>
                <a:cs typeface="Cambria"/>
              </a:rPr>
              <a:t>contienen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el </a:t>
            </a:r>
            <a:r>
              <a:rPr sz="2000" spc="65" dirty="0">
                <a:latin typeface="Cambria"/>
                <a:cs typeface="Cambria"/>
              </a:rPr>
              <a:t>término.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000">
              <a:latin typeface="Cambria"/>
              <a:cs typeface="Cambria"/>
            </a:endParaRPr>
          </a:p>
          <a:p>
            <a:pPr marL="12700" marR="680085" algn="just">
              <a:lnSpc>
                <a:spcPts val="2280"/>
              </a:lnSpc>
            </a:pPr>
            <a:r>
              <a:rPr sz="2000" spc="125" dirty="0">
                <a:latin typeface="Cambria"/>
                <a:cs typeface="Cambria"/>
              </a:rPr>
              <a:t>De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esta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manera,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mediante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TF-</a:t>
            </a:r>
            <a:r>
              <a:rPr sz="2000" spc="220" dirty="0">
                <a:latin typeface="Cambria"/>
                <a:cs typeface="Cambria"/>
              </a:rPr>
              <a:t>IDF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es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posible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el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cálculo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la </a:t>
            </a:r>
            <a:r>
              <a:rPr sz="2000" spc="75" dirty="0">
                <a:latin typeface="Cambria"/>
                <a:cs typeface="Cambria"/>
              </a:rPr>
              <a:t>relevancia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y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pesos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términos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en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documentos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Limitaciones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32738"/>
            <a:ext cx="4477385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ts val="2810"/>
              </a:lnSpc>
              <a:spcBef>
                <a:spcPts val="10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95" dirty="0">
                <a:latin typeface="Cambria"/>
                <a:cs typeface="Cambria"/>
              </a:rPr>
              <a:t>Dimensión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muy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grande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735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20" dirty="0">
                <a:latin typeface="Cambria"/>
                <a:cs typeface="Cambria"/>
              </a:rPr>
              <a:t>No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tienen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cuenta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el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orden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810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65" dirty="0">
                <a:latin typeface="Cambria"/>
                <a:cs typeface="Cambria"/>
              </a:rPr>
              <a:t>Vectores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sparse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Embeddings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32738"/>
            <a:ext cx="7067550" cy="143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ts val="2810"/>
              </a:lnSpc>
              <a:spcBef>
                <a:spcPts val="100"/>
              </a:spcBef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00" dirty="0">
                <a:latin typeface="Cambria"/>
                <a:cs typeface="Cambria"/>
              </a:rPr>
              <a:t>Embeddings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dan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representación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compacta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735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80" dirty="0">
                <a:latin typeface="Cambria"/>
                <a:cs typeface="Cambria"/>
              </a:rPr>
              <a:t>Algoritmos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305" dirty="0">
                <a:latin typeface="Cambria"/>
                <a:cs typeface="Cambria"/>
              </a:rPr>
              <a:t>ML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necesitan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vector,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pero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las</a:t>
            </a:r>
            <a:endParaRPr sz="2400">
              <a:latin typeface="Cambria"/>
              <a:cs typeface="Cambria"/>
            </a:endParaRPr>
          </a:p>
          <a:p>
            <a:pPr marL="393700">
              <a:lnSpc>
                <a:spcPts val="2735"/>
              </a:lnSpc>
            </a:pPr>
            <a:r>
              <a:rPr sz="2400" spc="80" dirty="0">
                <a:latin typeface="Cambria"/>
                <a:cs typeface="Cambria"/>
              </a:rPr>
              <a:t>frases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tienen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distinta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longitud</a:t>
            </a:r>
            <a:endParaRPr sz="2400">
              <a:latin typeface="Cambria"/>
              <a:cs typeface="Cambria"/>
            </a:endParaRPr>
          </a:p>
          <a:p>
            <a:pPr marL="393700" indent="-381000">
              <a:lnSpc>
                <a:spcPts val="2810"/>
              </a:lnSpc>
              <a:buClr>
                <a:srgbClr val="6E6E74"/>
              </a:buClr>
              <a:buFont typeface="Microsoft Sans Serif"/>
              <a:buChar char="●"/>
              <a:tabLst>
                <a:tab pos="393700" algn="l"/>
              </a:tabLst>
            </a:pPr>
            <a:r>
              <a:rPr sz="2400" spc="114" dirty="0">
                <a:latin typeface="Cambria"/>
                <a:cs typeface="Cambria"/>
              </a:rPr>
              <a:t>No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sirve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concatenar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vectores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49817" y="0"/>
            <a:ext cx="6794500" cy="5143500"/>
            <a:chOff x="2349817" y="0"/>
            <a:chExt cx="67945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5745" y="1185042"/>
              <a:ext cx="3999062" cy="3347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88435" y="2004060"/>
              <a:ext cx="3083560" cy="318770"/>
            </a:xfrm>
            <a:custGeom>
              <a:avLst/>
              <a:gdLst/>
              <a:ahLst/>
              <a:cxnLst/>
              <a:rect l="l" t="t" r="r" b="b"/>
              <a:pathLst>
                <a:path w="3083559" h="318769">
                  <a:moveTo>
                    <a:pt x="3083052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3083052" y="318515"/>
                  </a:lnTo>
                  <a:lnTo>
                    <a:pt x="3083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88435" y="2004060"/>
              <a:ext cx="3083560" cy="318770"/>
            </a:xfrm>
            <a:custGeom>
              <a:avLst/>
              <a:gdLst/>
              <a:ahLst/>
              <a:cxnLst/>
              <a:rect l="l" t="t" r="r" b="b"/>
              <a:pathLst>
                <a:path w="3083559" h="318769">
                  <a:moveTo>
                    <a:pt x="0" y="318515"/>
                  </a:moveTo>
                  <a:lnTo>
                    <a:pt x="3083052" y="318515"/>
                  </a:lnTo>
                  <a:lnTo>
                    <a:pt x="3083052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66587" y="1152144"/>
              <a:ext cx="3083560" cy="320040"/>
            </a:xfrm>
            <a:custGeom>
              <a:avLst/>
              <a:gdLst/>
              <a:ahLst/>
              <a:cxnLst/>
              <a:rect l="l" t="t" r="r" b="b"/>
              <a:pathLst>
                <a:path w="3083559" h="320040">
                  <a:moveTo>
                    <a:pt x="3083052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3083052" y="320039"/>
                  </a:lnTo>
                  <a:lnTo>
                    <a:pt x="3083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66587" y="1152144"/>
              <a:ext cx="3083560" cy="320040"/>
            </a:xfrm>
            <a:custGeom>
              <a:avLst/>
              <a:gdLst/>
              <a:ahLst/>
              <a:cxnLst/>
              <a:rect l="l" t="t" r="r" b="b"/>
              <a:pathLst>
                <a:path w="3083559" h="320040">
                  <a:moveTo>
                    <a:pt x="0" y="320039"/>
                  </a:moveTo>
                  <a:lnTo>
                    <a:pt x="3083052" y="320039"/>
                  </a:lnTo>
                  <a:lnTo>
                    <a:pt x="3083052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3535" y="1278636"/>
              <a:ext cx="3083560" cy="318770"/>
            </a:xfrm>
            <a:custGeom>
              <a:avLst/>
              <a:gdLst/>
              <a:ahLst/>
              <a:cxnLst/>
              <a:rect l="l" t="t" r="r" b="b"/>
              <a:pathLst>
                <a:path w="3083560" h="318769">
                  <a:moveTo>
                    <a:pt x="3083052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3083052" y="318515"/>
                  </a:lnTo>
                  <a:lnTo>
                    <a:pt x="3083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83535" y="1278636"/>
              <a:ext cx="3083560" cy="318770"/>
            </a:xfrm>
            <a:custGeom>
              <a:avLst/>
              <a:gdLst/>
              <a:ahLst/>
              <a:cxnLst/>
              <a:rect l="l" t="t" r="r" b="b"/>
              <a:pathLst>
                <a:path w="3083560" h="318769">
                  <a:moveTo>
                    <a:pt x="0" y="318515"/>
                  </a:moveTo>
                  <a:lnTo>
                    <a:pt x="3083052" y="318515"/>
                  </a:lnTo>
                  <a:lnTo>
                    <a:pt x="3083052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4579" y="1097280"/>
              <a:ext cx="3083560" cy="318770"/>
            </a:xfrm>
            <a:custGeom>
              <a:avLst/>
              <a:gdLst/>
              <a:ahLst/>
              <a:cxnLst/>
              <a:rect l="l" t="t" r="r" b="b"/>
              <a:pathLst>
                <a:path w="3083560" h="318769">
                  <a:moveTo>
                    <a:pt x="3083051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3083051" y="318515"/>
                  </a:lnTo>
                  <a:lnTo>
                    <a:pt x="3083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4579" y="1097280"/>
              <a:ext cx="3083560" cy="318770"/>
            </a:xfrm>
            <a:custGeom>
              <a:avLst/>
              <a:gdLst/>
              <a:ahLst/>
              <a:cxnLst/>
              <a:rect l="l" t="t" r="r" b="b"/>
              <a:pathLst>
                <a:path w="3083560" h="318769">
                  <a:moveTo>
                    <a:pt x="0" y="318515"/>
                  </a:moveTo>
                  <a:lnTo>
                    <a:pt x="3083051" y="318515"/>
                  </a:lnTo>
                  <a:lnTo>
                    <a:pt x="3083051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7523" y="4251959"/>
              <a:ext cx="645160" cy="320040"/>
            </a:xfrm>
            <a:custGeom>
              <a:avLst/>
              <a:gdLst/>
              <a:ahLst/>
              <a:cxnLst/>
              <a:rect l="l" t="t" r="r" b="b"/>
              <a:pathLst>
                <a:path w="645159" h="320039">
                  <a:moveTo>
                    <a:pt x="644651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644651" y="320039"/>
                  </a:lnTo>
                  <a:lnTo>
                    <a:pt x="644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7523" y="4251959"/>
              <a:ext cx="645160" cy="320040"/>
            </a:xfrm>
            <a:custGeom>
              <a:avLst/>
              <a:gdLst/>
              <a:ahLst/>
              <a:cxnLst/>
              <a:rect l="l" t="t" r="r" b="b"/>
              <a:pathLst>
                <a:path w="645159" h="320039">
                  <a:moveTo>
                    <a:pt x="0" y="320039"/>
                  </a:moveTo>
                  <a:lnTo>
                    <a:pt x="644651" y="320039"/>
                  </a:lnTo>
                  <a:lnTo>
                    <a:pt x="644651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Bolsa</a:t>
            </a:r>
            <a:r>
              <a:rPr spc="170" dirty="0"/>
              <a:t> </a:t>
            </a:r>
            <a:r>
              <a:rPr dirty="0"/>
              <a:t>de</a:t>
            </a:r>
            <a:r>
              <a:rPr spc="200" dirty="0"/>
              <a:t> </a:t>
            </a:r>
            <a:r>
              <a:rPr dirty="0"/>
              <a:t>embeddings</a:t>
            </a:r>
            <a:r>
              <a:rPr spc="185" dirty="0"/>
              <a:t> </a:t>
            </a:r>
            <a:r>
              <a:rPr dirty="0"/>
              <a:t>(bag</a:t>
            </a:r>
            <a:r>
              <a:rPr spc="185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spc="-10" dirty="0"/>
              <a:t>embeddings)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Bolsa</a:t>
            </a:r>
            <a:r>
              <a:rPr spc="185" dirty="0"/>
              <a:t> </a:t>
            </a:r>
            <a:r>
              <a:rPr dirty="0"/>
              <a:t>de</a:t>
            </a:r>
            <a:r>
              <a:rPr spc="220" dirty="0"/>
              <a:t> </a:t>
            </a:r>
            <a:r>
              <a:rPr dirty="0"/>
              <a:t>embeddings</a:t>
            </a:r>
            <a:r>
              <a:rPr spc="204" dirty="0"/>
              <a:t> </a:t>
            </a:r>
            <a:r>
              <a:rPr dirty="0"/>
              <a:t>con</a:t>
            </a:r>
            <a:r>
              <a:rPr spc="220" dirty="0"/>
              <a:t> </a:t>
            </a:r>
            <a:r>
              <a:rPr spc="-20" dirty="0"/>
              <a:t>peso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3021" y="1013269"/>
            <a:ext cx="8038465" cy="3522345"/>
            <a:chOff x="553021" y="1013269"/>
            <a:chExt cx="8038465" cy="3522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1081376"/>
              <a:ext cx="6849930" cy="33283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95955" y="1018032"/>
              <a:ext cx="3515995" cy="574675"/>
            </a:xfrm>
            <a:custGeom>
              <a:avLst/>
              <a:gdLst/>
              <a:ahLst/>
              <a:cxnLst/>
              <a:rect l="l" t="t" r="r" b="b"/>
              <a:pathLst>
                <a:path w="3515995" h="574675">
                  <a:moveTo>
                    <a:pt x="3515868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515868" y="574548"/>
                  </a:lnTo>
                  <a:lnTo>
                    <a:pt x="3515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5955" y="1018032"/>
              <a:ext cx="3515995" cy="574675"/>
            </a:xfrm>
            <a:custGeom>
              <a:avLst/>
              <a:gdLst/>
              <a:ahLst/>
              <a:cxnLst/>
              <a:rect l="l" t="t" r="r" b="b"/>
              <a:pathLst>
                <a:path w="3515995" h="574675">
                  <a:moveTo>
                    <a:pt x="0" y="574548"/>
                  </a:moveTo>
                  <a:lnTo>
                    <a:pt x="3515868" y="574548"/>
                  </a:lnTo>
                  <a:lnTo>
                    <a:pt x="3515868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7383" y="1018032"/>
              <a:ext cx="3130550" cy="574675"/>
            </a:xfrm>
            <a:custGeom>
              <a:avLst/>
              <a:gdLst/>
              <a:ahLst/>
              <a:cxnLst/>
              <a:rect l="l" t="t" r="r" b="b"/>
              <a:pathLst>
                <a:path w="3130550" h="574675">
                  <a:moveTo>
                    <a:pt x="3130295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30295" y="574548"/>
                  </a:lnTo>
                  <a:lnTo>
                    <a:pt x="31302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7383" y="1018032"/>
              <a:ext cx="3130550" cy="574675"/>
            </a:xfrm>
            <a:custGeom>
              <a:avLst/>
              <a:gdLst/>
              <a:ahLst/>
              <a:cxnLst/>
              <a:rect l="l" t="t" r="r" b="b"/>
              <a:pathLst>
                <a:path w="3130550" h="574675">
                  <a:moveTo>
                    <a:pt x="0" y="574548"/>
                  </a:moveTo>
                  <a:lnTo>
                    <a:pt x="3130295" y="574548"/>
                  </a:lnTo>
                  <a:lnTo>
                    <a:pt x="3130295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7215" y="1018032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3128772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28772" y="574548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499" y="1018032"/>
              <a:ext cx="3523615" cy="1332230"/>
            </a:xfrm>
            <a:custGeom>
              <a:avLst/>
              <a:gdLst/>
              <a:ahLst/>
              <a:cxnLst/>
              <a:rect l="l" t="t" r="r" b="b"/>
              <a:pathLst>
                <a:path w="3523615" h="1332230">
                  <a:moveTo>
                    <a:pt x="394716" y="574548"/>
                  </a:moveTo>
                  <a:lnTo>
                    <a:pt x="3523488" y="574548"/>
                  </a:lnTo>
                  <a:lnTo>
                    <a:pt x="3523488" y="0"/>
                  </a:lnTo>
                  <a:lnTo>
                    <a:pt x="394716" y="0"/>
                  </a:lnTo>
                  <a:lnTo>
                    <a:pt x="394716" y="574548"/>
                  </a:lnTo>
                  <a:close/>
                </a:path>
                <a:path w="3523615" h="1332230">
                  <a:moveTo>
                    <a:pt x="0" y="1331976"/>
                  </a:moveTo>
                  <a:lnTo>
                    <a:pt x="3128772" y="1331976"/>
                  </a:lnTo>
                  <a:lnTo>
                    <a:pt x="3128772" y="755904"/>
                  </a:lnTo>
                  <a:lnTo>
                    <a:pt x="0" y="755904"/>
                  </a:lnTo>
                  <a:lnTo>
                    <a:pt x="0" y="133197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07051" y="1677924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3128772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28772" y="574548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7051" y="1677924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0" y="574548"/>
                  </a:moveTo>
                  <a:lnTo>
                    <a:pt x="3128772" y="574548"/>
                  </a:lnTo>
                  <a:lnTo>
                    <a:pt x="3128772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3855" y="2157984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3128772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3128772" y="576071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3855" y="2157984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0" y="576071"/>
                  </a:moveTo>
                  <a:lnTo>
                    <a:pt x="3128772" y="576071"/>
                  </a:lnTo>
                  <a:lnTo>
                    <a:pt x="3128772" y="0"/>
                  </a:lnTo>
                  <a:lnTo>
                    <a:pt x="0" y="0"/>
                  </a:lnTo>
                  <a:lnTo>
                    <a:pt x="0" y="57607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67883" y="2447544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3128771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28771" y="574548"/>
                  </a:lnTo>
                  <a:lnTo>
                    <a:pt x="3128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783" y="2447544"/>
              <a:ext cx="7739380" cy="1508760"/>
            </a:xfrm>
            <a:custGeom>
              <a:avLst/>
              <a:gdLst/>
              <a:ahLst/>
              <a:cxnLst/>
              <a:rect l="l" t="t" r="r" b="b"/>
              <a:pathLst>
                <a:path w="7739380" h="1508760">
                  <a:moveTo>
                    <a:pt x="4610100" y="574548"/>
                  </a:moveTo>
                  <a:lnTo>
                    <a:pt x="7738872" y="574548"/>
                  </a:lnTo>
                  <a:lnTo>
                    <a:pt x="7738872" y="0"/>
                  </a:lnTo>
                  <a:lnTo>
                    <a:pt x="4610100" y="0"/>
                  </a:lnTo>
                  <a:lnTo>
                    <a:pt x="4610100" y="574548"/>
                  </a:lnTo>
                  <a:close/>
                </a:path>
                <a:path w="7739380" h="1508760">
                  <a:moveTo>
                    <a:pt x="0" y="1508760"/>
                  </a:moveTo>
                  <a:lnTo>
                    <a:pt x="679704" y="1508760"/>
                  </a:lnTo>
                  <a:lnTo>
                    <a:pt x="679704" y="932688"/>
                  </a:lnTo>
                  <a:lnTo>
                    <a:pt x="0" y="932688"/>
                  </a:lnTo>
                  <a:lnTo>
                    <a:pt x="0" y="150876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57443" y="2616708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3128772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3128772" y="576071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57443" y="2616708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0" y="576071"/>
                  </a:moveTo>
                  <a:lnTo>
                    <a:pt x="3128772" y="576071"/>
                  </a:lnTo>
                  <a:lnTo>
                    <a:pt x="3128772" y="0"/>
                  </a:lnTo>
                  <a:lnTo>
                    <a:pt x="0" y="0"/>
                  </a:lnTo>
                  <a:lnTo>
                    <a:pt x="0" y="57607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4607" y="4215383"/>
              <a:ext cx="483234" cy="315595"/>
            </a:xfrm>
            <a:custGeom>
              <a:avLst/>
              <a:gdLst/>
              <a:ahLst/>
              <a:cxnLst/>
              <a:rect l="l" t="t" r="r" b="b"/>
              <a:pathLst>
                <a:path w="483234" h="315595">
                  <a:moveTo>
                    <a:pt x="483108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483108" y="315467"/>
                  </a:lnTo>
                  <a:lnTo>
                    <a:pt x="483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4607" y="4215383"/>
              <a:ext cx="483234" cy="315595"/>
            </a:xfrm>
            <a:custGeom>
              <a:avLst/>
              <a:gdLst/>
              <a:ahLst/>
              <a:cxnLst/>
              <a:rect l="l" t="t" r="r" b="b"/>
              <a:pathLst>
                <a:path w="483234" h="315595">
                  <a:moveTo>
                    <a:pt x="0" y="315467"/>
                  </a:moveTo>
                  <a:lnTo>
                    <a:pt x="483108" y="315467"/>
                  </a:lnTo>
                  <a:lnTo>
                    <a:pt x="483108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Métodos</a:t>
            </a:r>
            <a:r>
              <a:rPr spc="235" dirty="0"/>
              <a:t> </a:t>
            </a:r>
            <a:r>
              <a:rPr dirty="0"/>
              <a:t>de</a:t>
            </a:r>
            <a:r>
              <a:rPr spc="250" dirty="0"/>
              <a:t> </a:t>
            </a:r>
            <a:r>
              <a:rPr spc="35" dirty="0"/>
              <a:t>clasificación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5188"/>
            <a:ext cx="3653790" cy="226314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spc="100" dirty="0">
                <a:latin typeface="Cambria"/>
                <a:cs typeface="Cambria"/>
              </a:rPr>
              <a:t>Los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ya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conocidos: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810"/>
              </a:lnSpc>
              <a:spcBef>
                <a:spcPts val="459"/>
              </a:spcBef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275" dirty="0">
                <a:latin typeface="Cambria"/>
                <a:cs typeface="Cambria"/>
              </a:rPr>
              <a:t>SVM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735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300" dirty="0">
                <a:latin typeface="Cambria"/>
                <a:cs typeface="Cambria"/>
              </a:rPr>
              <a:t>KNN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735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Redes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neuronales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735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65" dirty="0">
                <a:latin typeface="Cambria"/>
                <a:cs typeface="Cambria"/>
              </a:rPr>
              <a:t>Árboles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decisión</a:t>
            </a:r>
            <a:endParaRPr sz="2400">
              <a:latin typeface="Cambria"/>
              <a:cs typeface="Cambria"/>
            </a:endParaRPr>
          </a:p>
          <a:p>
            <a:pPr marL="927100" indent="-381000">
              <a:lnSpc>
                <a:spcPts val="2810"/>
              </a:lnSpc>
              <a:buClr>
                <a:srgbClr val="6E6E74"/>
              </a:buClr>
              <a:buFont typeface="Microsoft Sans Serif"/>
              <a:buChar char="●"/>
              <a:tabLst>
                <a:tab pos="927100" algn="l"/>
              </a:tabLst>
            </a:pPr>
            <a:r>
              <a:rPr sz="2400" spc="540" dirty="0">
                <a:latin typeface="Cambria"/>
                <a:cs typeface="Cambria"/>
              </a:rPr>
              <a:t>…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61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Bolsa</a:t>
            </a:r>
            <a:r>
              <a:rPr spc="185" dirty="0"/>
              <a:t> </a:t>
            </a:r>
            <a:r>
              <a:rPr dirty="0"/>
              <a:t>de</a:t>
            </a:r>
            <a:r>
              <a:rPr spc="220" dirty="0"/>
              <a:t> </a:t>
            </a:r>
            <a:r>
              <a:rPr dirty="0"/>
              <a:t>embeddings</a:t>
            </a:r>
            <a:r>
              <a:rPr spc="204" dirty="0"/>
              <a:t> </a:t>
            </a:r>
            <a:r>
              <a:rPr dirty="0"/>
              <a:t>con</a:t>
            </a:r>
            <a:r>
              <a:rPr spc="220" dirty="0"/>
              <a:t> </a:t>
            </a:r>
            <a:r>
              <a:rPr spc="-20" dirty="0"/>
              <a:t>peso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3021" y="1013269"/>
            <a:ext cx="8038465" cy="3522345"/>
            <a:chOff x="553021" y="1013269"/>
            <a:chExt cx="8038465" cy="3522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1081376"/>
              <a:ext cx="6849930" cy="33283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95955" y="1018032"/>
              <a:ext cx="3515995" cy="574675"/>
            </a:xfrm>
            <a:custGeom>
              <a:avLst/>
              <a:gdLst/>
              <a:ahLst/>
              <a:cxnLst/>
              <a:rect l="l" t="t" r="r" b="b"/>
              <a:pathLst>
                <a:path w="3515995" h="574675">
                  <a:moveTo>
                    <a:pt x="3515868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515868" y="574548"/>
                  </a:lnTo>
                  <a:lnTo>
                    <a:pt x="3515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5955" y="1018032"/>
              <a:ext cx="3515995" cy="574675"/>
            </a:xfrm>
            <a:custGeom>
              <a:avLst/>
              <a:gdLst/>
              <a:ahLst/>
              <a:cxnLst/>
              <a:rect l="l" t="t" r="r" b="b"/>
              <a:pathLst>
                <a:path w="3515995" h="574675">
                  <a:moveTo>
                    <a:pt x="0" y="574548"/>
                  </a:moveTo>
                  <a:lnTo>
                    <a:pt x="3515868" y="574548"/>
                  </a:lnTo>
                  <a:lnTo>
                    <a:pt x="3515868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7383" y="1018032"/>
              <a:ext cx="3130550" cy="574675"/>
            </a:xfrm>
            <a:custGeom>
              <a:avLst/>
              <a:gdLst/>
              <a:ahLst/>
              <a:cxnLst/>
              <a:rect l="l" t="t" r="r" b="b"/>
              <a:pathLst>
                <a:path w="3130550" h="574675">
                  <a:moveTo>
                    <a:pt x="3130295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30295" y="574548"/>
                  </a:lnTo>
                  <a:lnTo>
                    <a:pt x="31302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7383" y="1018032"/>
              <a:ext cx="3130550" cy="574675"/>
            </a:xfrm>
            <a:custGeom>
              <a:avLst/>
              <a:gdLst/>
              <a:ahLst/>
              <a:cxnLst/>
              <a:rect l="l" t="t" r="r" b="b"/>
              <a:pathLst>
                <a:path w="3130550" h="574675">
                  <a:moveTo>
                    <a:pt x="0" y="574548"/>
                  </a:moveTo>
                  <a:lnTo>
                    <a:pt x="3130295" y="574548"/>
                  </a:lnTo>
                  <a:lnTo>
                    <a:pt x="3130295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7215" y="1018032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3128772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28772" y="574548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499" y="1018032"/>
              <a:ext cx="3523615" cy="1332230"/>
            </a:xfrm>
            <a:custGeom>
              <a:avLst/>
              <a:gdLst/>
              <a:ahLst/>
              <a:cxnLst/>
              <a:rect l="l" t="t" r="r" b="b"/>
              <a:pathLst>
                <a:path w="3523615" h="1332230">
                  <a:moveTo>
                    <a:pt x="394716" y="574548"/>
                  </a:moveTo>
                  <a:lnTo>
                    <a:pt x="3523488" y="574548"/>
                  </a:lnTo>
                  <a:lnTo>
                    <a:pt x="3523488" y="0"/>
                  </a:lnTo>
                  <a:lnTo>
                    <a:pt x="394716" y="0"/>
                  </a:lnTo>
                  <a:lnTo>
                    <a:pt x="394716" y="574548"/>
                  </a:lnTo>
                  <a:close/>
                </a:path>
                <a:path w="3523615" h="1332230">
                  <a:moveTo>
                    <a:pt x="0" y="1331976"/>
                  </a:moveTo>
                  <a:lnTo>
                    <a:pt x="3128772" y="1331976"/>
                  </a:lnTo>
                  <a:lnTo>
                    <a:pt x="3128772" y="755904"/>
                  </a:lnTo>
                  <a:lnTo>
                    <a:pt x="0" y="755904"/>
                  </a:lnTo>
                  <a:lnTo>
                    <a:pt x="0" y="133197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07051" y="1677924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3128772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28772" y="574548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7051" y="1677924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0" y="574548"/>
                  </a:moveTo>
                  <a:lnTo>
                    <a:pt x="3128772" y="574548"/>
                  </a:lnTo>
                  <a:lnTo>
                    <a:pt x="3128772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3855" y="2157984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3128772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3128772" y="576071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3855" y="2157984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0" y="576071"/>
                  </a:moveTo>
                  <a:lnTo>
                    <a:pt x="3128772" y="576071"/>
                  </a:lnTo>
                  <a:lnTo>
                    <a:pt x="3128772" y="0"/>
                  </a:lnTo>
                  <a:lnTo>
                    <a:pt x="0" y="0"/>
                  </a:lnTo>
                  <a:lnTo>
                    <a:pt x="0" y="57607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67883" y="2447544"/>
              <a:ext cx="3129280" cy="574675"/>
            </a:xfrm>
            <a:custGeom>
              <a:avLst/>
              <a:gdLst/>
              <a:ahLst/>
              <a:cxnLst/>
              <a:rect l="l" t="t" r="r" b="b"/>
              <a:pathLst>
                <a:path w="3129279" h="574675">
                  <a:moveTo>
                    <a:pt x="3128771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3128771" y="574548"/>
                  </a:lnTo>
                  <a:lnTo>
                    <a:pt x="3128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783" y="2447544"/>
              <a:ext cx="7739380" cy="1508760"/>
            </a:xfrm>
            <a:custGeom>
              <a:avLst/>
              <a:gdLst/>
              <a:ahLst/>
              <a:cxnLst/>
              <a:rect l="l" t="t" r="r" b="b"/>
              <a:pathLst>
                <a:path w="7739380" h="1508760">
                  <a:moveTo>
                    <a:pt x="4610100" y="574548"/>
                  </a:moveTo>
                  <a:lnTo>
                    <a:pt x="7738872" y="574548"/>
                  </a:lnTo>
                  <a:lnTo>
                    <a:pt x="7738872" y="0"/>
                  </a:lnTo>
                  <a:lnTo>
                    <a:pt x="4610100" y="0"/>
                  </a:lnTo>
                  <a:lnTo>
                    <a:pt x="4610100" y="574548"/>
                  </a:lnTo>
                  <a:close/>
                </a:path>
                <a:path w="7739380" h="1508760">
                  <a:moveTo>
                    <a:pt x="0" y="1508760"/>
                  </a:moveTo>
                  <a:lnTo>
                    <a:pt x="679704" y="1508760"/>
                  </a:lnTo>
                  <a:lnTo>
                    <a:pt x="679704" y="932688"/>
                  </a:lnTo>
                  <a:lnTo>
                    <a:pt x="0" y="932688"/>
                  </a:lnTo>
                  <a:lnTo>
                    <a:pt x="0" y="150876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57443" y="2616708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3128772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3128772" y="576071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57443" y="2616708"/>
              <a:ext cx="3129280" cy="576580"/>
            </a:xfrm>
            <a:custGeom>
              <a:avLst/>
              <a:gdLst/>
              <a:ahLst/>
              <a:cxnLst/>
              <a:rect l="l" t="t" r="r" b="b"/>
              <a:pathLst>
                <a:path w="3129279" h="576580">
                  <a:moveTo>
                    <a:pt x="0" y="576071"/>
                  </a:moveTo>
                  <a:lnTo>
                    <a:pt x="3128772" y="576071"/>
                  </a:lnTo>
                  <a:lnTo>
                    <a:pt x="3128772" y="0"/>
                  </a:lnTo>
                  <a:lnTo>
                    <a:pt x="0" y="0"/>
                  </a:lnTo>
                  <a:lnTo>
                    <a:pt x="0" y="57607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4607" y="4215383"/>
              <a:ext cx="483234" cy="315595"/>
            </a:xfrm>
            <a:custGeom>
              <a:avLst/>
              <a:gdLst/>
              <a:ahLst/>
              <a:cxnLst/>
              <a:rect l="l" t="t" r="r" b="b"/>
              <a:pathLst>
                <a:path w="483234" h="315595">
                  <a:moveTo>
                    <a:pt x="483108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483108" y="315467"/>
                  </a:lnTo>
                  <a:lnTo>
                    <a:pt x="4831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4607" y="4215383"/>
              <a:ext cx="483234" cy="315595"/>
            </a:xfrm>
            <a:custGeom>
              <a:avLst/>
              <a:gdLst/>
              <a:ahLst/>
              <a:cxnLst/>
              <a:rect l="l" t="t" r="r" b="b"/>
              <a:pathLst>
                <a:path w="483234" h="315595">
                  <a:moveTo>
                    <a:pt x="0" y="315467"/>
                  </a:moveTo>
                  <a:lnTo>
                    <a:pt x="483108" y="315467"/>
                  </a:lnTo>
                  <a:lnTo>
                    <a:pt x="483108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1320</Words>
  <Application>Microsoft Office PowerPoint</Application>
  <PresentationFormat>Presentación en pantalla (16:9)</PresentationFormat>
  <Paragraphs>293</Paragraphs>
  <Slides>60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70" baseType="lpstr">
      <vt:lpstr>Arial</vt:lpstr>
      <vt:lpstr>Arial MT</vt:lpstr>
      <vt:lpstr>Calibri</vt:lpstr>
      <vt:lpstr>Calibri Light</vt:lpstr>
      <vt:lpstr>Cambria</vt:lpstr>
      <vt:lpstr>Gill Sans MT</vt:lpstr>
      <vt:lpstr>Microsoft Sans Serif</vt:lpstr>
      <vt:lpstr>Nunito</vt:lpstr>
      <vt:lpstr>Times New Roman</vt:lpstr>
      <vt:lpstr>Office Theme</vt:lpstr>
      <vt:lpstr>Presentación de PowerPoint</vt:lpstr>
      <vt:lpstr>Aprendizaje Automático y PLN</vt:lpstr>
      <vt:lpstr>Aprendizaje supervisado</vt:lpstr>
      <vt:lpstr>Flujo de trabajo</vt:lpstr>
      <vt:lpstr>Flujo de trabajo</vt:lpstr>
      <vt:lpstr>Vectorización de textos</vt:lpstr>
      <vt:lpstr>Índice</vt:lpstr>
      <vt:lpstr>Representación de texto</vt:lpstr>
      <vt:lpstr>Vectorización</vt:lpstr>
      <vt:lpstr>Vectorización</vt:lpstr>
      <vt:lpstr>Vectorización</vt:lpstr>
      <vt:lpstr>Tokenización</vt:lpstr>
      <vt:lpstr>Tokenización</vt:lpstr>
      <vt:lpstr>Presentación de PowerPoint</vt:lpstr>
      <vt:lpstr>Presentación de PowerPoint</vt:lpstr>
      <vt:lpstr>Tokenización + Vectorización</vt:lpstr>
      <vt:lpstr>Vectorización</vt:lpstr>
      <vt:lpstr>One-hot encoding</vt:lpstr>
      <vt:lpstr>Presentación de PowerPoint</vt:lpstr>
      <vt:lpstr>One-hot encoding</vt:lpstr>
      <vt:lpstr>Representando palabras por su contexto</vt:lpstr>
      <vt:lpstr>Distribución semántica</vt:lpstr>
      <vt:lpstr>Distribución semántica</vt:lpstr>
      <vt:lpstr>Distribución semántica</vt:lpstr>
      <vt:lpstr>Distribución semántica</vt:lpstr>
      <vt:lpstr>Distribución semántica</vt:lpstr>
      <vt:lpstr>Distribución semántica</vt:lpstr>
      <vt:lpstr>Distribución semántica</vt:lpstr>
      <vt:lpstr>Palabras como vectores</vt:lpstr>
      <vt:lpstr>Una primera solución</vt:lpstr>
      <vt:lpstr>Similitud</vt:lpstr>
      <vt:lpstr>Similitud (ejemplo)</vt:lpstr>
      <vt:lpstr>PPIM</vt:lpstr>
      <vt:lpstr>Que ocurre con la representacion basada en ocurrencias?</vt:lpstr>
      <vt:lpstr>Vectores densos</vt:lpstr>
      <vt:lpstr>Aprendiendo embeddings</vt:lpstr>
      <vt:lpstr>Embeddings pre-aprendidos</vt:lpstr>
      <vt:lpstr>Word2vec</vt:lpstr>
      <vt:lpstr>Modelo CBOW</vt:lpstr>
      <vt:lpstr>Modelo CBOW</vt:lpstr>
      <vt:lpstr>Glove</vt:lpstr>
      <vt:lpstr>FastText</vt:lpstr>
      <vt:lpstr>Espacio semántico</vt:lpstr>
      <vt:lpstr>Vecinos más cercanos</vt:lpstr>
      <vt:lpstr>Similitud de palabras</vt:lpstr>
      <vt:lpstr>Relación lineal</vt:lpstr>
      <vt:lpstr>Analogías</vt:lpstr>
      <vt:lpstr>Índice</vt:lpstr>
      <vt:lpstr>Clasificación de texto</vt:lpstr>
      <vt:lpstr>Clasificación de texto</vt:lpstr>
      <vt:lpstr>Bolsa de palabras (bag of words)</vt:lpstr>
      <vt:lpstr>Bolsa de palabras</vt:lpstr>
      <vt:lpstr>TF-IDF</vt:lpstr>
      <vt:lpstr>TF-IDF</vt:lpstr>
      <vt:lpstr>Limitaciones</vt:lpstr>
      <vt:lpstr>Embeddings</vt:lpstr>
      <vt:lpstr>Bolsa de embeddings (bag of embeddings)</vt:lpstr>
      <vt:lpstr>Bolsa de embeddings con peso</vt:lpstr>
      <vt:lpstr>Métodos de clasificación</vt:lpstr>
      <vt:lpstr>Bolsa de embeddings con peso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Vectorización de textos</dc:title>
  <dc:creator>Rocío Urquijo Fuertes</dc:creator>
  <cp:lastModifiedBy>José Ramon Iglesias Gamarra</cp:lastModifiedBy>
  <cp:revision>2</cp:revision>
  <dcterms:created xsi:type="dcterms:W3CDTF">2025-01-17T15:13:31Z</dcterms:created>
  <dcterms:modified xsi:type="dcterms:W3CDTF">2025-10-21T16:43:14Z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2025-01-17T00:00:00Z</vt:filetime>
  </property>
  <property fmtid="{D5CDD505-2E9C-101B-9397-08002B2CF9AE}" pid="5" name="Producer">
    <vt:lpwstr>Microsoft® PowerPoint® para Microsoft 365</vt:lpwstr>
  </property>
</Properties>
</file>