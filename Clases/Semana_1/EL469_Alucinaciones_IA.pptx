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70325"/>
            <a:ext cx="539178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34343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34343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2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2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2800" y="393700"/>
            <a:ext cx="8331834" cy="5124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299" y="1097292"/>
            <a:ext cx="8601075" cy="3301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34343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8623" y="285750"/>
            <a:ext cx="3118484" cy="27796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lang="en-US" sz="3600" spc="-105" dirty="0"/>
              <a:t>LLM-</a:t>
            </a:r>
            <a:r>
              <a:rPr lang="en-US" sz="3600" spc="-60" dirty="0"/>
              <a:t>Check:</a:t>
            </a:r>
            <a:r>
              <a:rPr lang="en-US" sz="3600" spc="-125" dirty="0"/>
              <a:t> </a:t>
            </a:r>
            <a:r>
              <a:rPr lang="en-US" sz="3600" spc="-10" dirty="0"/>
              <a:t>Investigating </a:t>
            </a:r>
            <a:r>
              <a:rPr lang="en-US" sz="3600" spc="-25" dirty="0"/>
              <a:t>Detection</a:t>
            </a:r>
            <a:r>
              <a:rPr lang="en-US" sz="3600" spc="-105" dirty="0"/>
              <a:t> </a:t>
            </a:r>
            <a:r>
              <a:rPr lang="en-US" sz="3600" dirty="0"/>
              <a:t>of</a:t>
            </a:r>
            <a:r>
              <a:rPr lang="en-US" sz="3600" spc="-100" dirty="0"/>
              <a:t> </a:t>
            </a:r>
            <a:r>
              <a:rPr lang="en-US" sz="3600" spc="-30" dirty="0"/>
              <a:t>Hallucinations</a:t>
            </a:r>
            <a:r>
              <a:rPr lang="en-US" sz="3600" spc="-105" dirty="0"/>
              <a:t> </a:t>
            </a:r>
            <a:r>
              <a:rPr lang="en-US" sz="3600" dirty="0"/>
              <a:t>in</a:t>
            </a:r>
            <a:r>
              <a:rPr lang="en-US" sz="3600" spc="-100" dirty="0"/>
              <a:t> </a:t>
            </a:r>
            <a:r>
              <a:rPr lang="en-US" sz="3600" spc="-20" dirty="0"/>
              <a:t>LLMs</a:t>
            </a:r>
            <a:endParaRPr sz="3600" dirty="0"/>
          </a:p>
        </p:txBody>
      </p:sp>
      <p:pic>
        <p:nvPicPr>
          <p:cNvPr id="4" name="Google Shape;30;p1">
            <a:extLst>
              <a:ext uri="{FF2B5EF4-FFF2-40B4-BE49-F238E27FC236}">
                <a16:creationId xmlns:a16="http://schemas.microsoft.com/office/drawing/2014/main" id="{5DE6C2FD-1485-6F96-F8DF-F9848B7A15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46154" y="679743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D35D6031-C771-80E1-CDDF-5EF5BBF5AD3E}"/>
              </a:ext>
            </a:extLst>
          </p:cNvPr>
          <p:cNvSpPr txBox="1"/>
          <p:nvPr/>
        </p:nvSpPr>
        <p:spPr>
          <a:xfrm>
            <a:off x="1657350" y="2914650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37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37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308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What</a:t>
            </a:r>
            <a:r>
              <a:rPr sz="2700" spc="-95" dirty="0"/>
              <a:t> </a:t>
            </a:r>
            <a:r>
              <a:rPr sz="2700" dirty="0"/>
              <a:t>are</a:t>
            </a:r>
            <a:r>
              <a:rPr sz="2700" spc="-90" dirty="0"/>
              <a:t> </a:t>
            </a:r>
            <a:r>
              <a:rPr sz="2700" spc="-25" dirty="0"/>
              <a:t>Hallucinations</a:t>
            </a:r>
            <a:r>
              <a:rPr sz="2700" spc="-95" dirty="0"/>
              <a:t> </a:t>
            </a:r>
            <a:r>
              <a:rPr sz="2700" dirty="0"/>
              <a:t>in</a:t>
            </a:r>
            <a:r>
              <a:rPr sz="2700" spc="-90" dirty="0"/>
              <a:t> </a:t>
            </a:r>
            <a:r>
              <a:rPr sz="2700" spc="-10" dirty="0"/>
              <a:t>LLMs?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475249" y="1293755"/>
            <a:ext cx="6788150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outputs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that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fallacious,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incorporating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fictional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details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4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partly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misleading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entirely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fabricated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4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Seem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plausible,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appearing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tenable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before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further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scrutiny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308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What</a:t>
            </a:r>
            <a:r>
              <a:rPr sz="2700" spc="-95" dirty="0"/>
              <a:t> </a:t>
            </a:r>
            <a:r>
              <a:rPr sz="2700" dirty="0"/>
              <a:t>are</a:t>
            </a:r>
            <a:r>
              <a:rPr sz="2700" spc="-90" dirty="0"/>
              <a:t> </a:t>
            </a:r>
            <a:r>
              <a:rPr sz="2700" spc="-25" dirty="0"/>
              <a:t>Hallucinations</a:t>
            </a:r>
            <a:r>
              <a:rPr sz="2700" spc="-95" dirty="0"/>
              <a:t> </a:t>
            </a:r>
            <a:r>
              <a:rPr sz="2700" dirty="0"/>
              <a:t>in</a:t>
            </a:r>
            <a:r>
              <a:rPr sz="2700" spc="-90" dirty="0"/>
              <a:t> </a:t>
            </a:r>
            <a:r>
              <a:rPr sz="2700" spc="-10" dirty="0"/>
              <a:t>LLMs?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475249" y="1293755"/>
            <a:ext cx="6882765" cy="233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outputs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that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fallacious,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incorporating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fictional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details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4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partly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misleading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entirely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fabricated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4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Seem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plausible,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appearing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tenable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before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further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scrutiny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434343"/>
              </a:buClr>
              <a:buFont typeface="Microsoft Sans Serif"/>
              <a:buChar char="●"/>
            </a:pP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Present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significant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challenge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towards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deployment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LLMs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4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Mitigation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seen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very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challenging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practically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5" y="4185291"/>
            <a:ext cx="6111240" cy="207645"/>
          </a:xfrm>
          <a:custGeom>
            <a:avLst/>
            <a:gdLst/>
            <a:ahLst/>
            <a:cxnLst/>
            <a:rect l="l" t="t" r="r" b="b"/>
            <a:pathLst>
              <a:path w="6111240" h="207645">
                <a:moveTo>
                  <a:pt x="6110866" y="207263"/>
                </a:moveTo>
                <a:lnTo>
                  <a:pt x="0" y="207263"/>
                </a:lnTo>
                <a:lnTo>
                  <a:pt x="0" y="0"/>
                </a:lnTo>
                <a:lnTo>
                  <a:pt x="6110866" y="0"/>
                </a:lnTo>
                <a:lnTo>
                  <a:pt x="6110866" y="207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308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What</a:t>
            </a:r>
            <a:r>
              <a:rPr sz="2700" spc="-95" dirty="0"/>
              <a:t> </a:t>
            </a:r>
            <a:r>
              <a:rPr sz="2700" dirty="0"/>
              <a:t>are</a:t>
            </a:r>
            <a:r>
              <a:rPr sz="2700" spc="-90" dirty="0"/>
              <a:t> </a:t>
            </a:r>
            <a:r>
              <a:rPr sz="2700" spc="-25" dirty="0"/>
              <a:t>Hallucinations</a:t>
            </a:r>
            <a:r>
              <a:rPr sz="2700" spc="-95" dirty="0"/>
              <a:t> </a:t>
            </a:r>
            <a:r>
              <a:rPr sz="2700" dirty="0"/>
              <a:t>in</a:t>
            </a:r>
            <a:r>
              <a:rPr sz="2700" spc="-90" dirty="0"/>
              <a:t> </a:t>
            </a:r>
            <a:r>
              <a:rPr sz="2700" spc="-10" dirty="0"/>
              <a:t>LLMs?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434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sz="1500" spc="-20" dirty="0"/>
              <a:t>Let’s</a:t>
            </a:r>
            <a:r>
              <a:rPr sz="1500" dirty="0"/>
              <a:t> look at some real </a:t>
            </a:r>
            <a:r>
              <a:rPr sz="1500" spc="-10" dirty="0"/>
              <a:t>examples:</a:t>
            </a:r>
            <a:endParaRPr sz="1500"/>
          </a:p>
          <a:p>
            <a:pPr marL="13970">
              <a:lnSpc>
                <a:spcPct val="100000"/>
              </a:lnSpc>
              <a:spcBef>
                <a:spcPts val="1350"/>
              </a:spcBef>
            </a:pPr>
            <a:r>
              <a:rPr sz="1500" b="1" dirty="0">
                <a:solidFill>
                  <a:srgbClr val="37761C"/>
                </a:solidFill>
                <a:latin typeface="Roboto"/>
                <a:cs typeface="Roboto"/>
              </a:rPr>
              <a:t>Prompt: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Who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are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some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notable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alumni from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Monta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Vista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High School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in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spc="-10" dirty="0">
                <a:solidFill>
                  <a:srgbClr val="37761C"/>
                </a:solidFill>
                <a:latin typeface="Roboto"/>
                <a:cs typeface="Roboto"/>
              </a:rPr>
              <a:t>Cupertino?</a:t>
            </a:r>
            <a:endParaRPr sz="1350">
              <a:latin typeface="Roboto"/>
              <a:cs typeface="Roboto"/>
            </a:endParaRPr>
          </a:p>
          <a:p>
            <a:pPr marL="13970" marR="5080">
              <a:lnSpc>
                <a:spcPct val="151100"/>
              </a:lnSpc>
              <a:spcBef>
                <a:spcPts val="515"/>
              </a:spcBef>
            </a:pPr>
            <a:r>
              <a:rPr sz="1350" b="1" spc="-10" dirty="0">
                <a:latin typeface="Roboto"/>
                <a:cs typeface="Roboto"/>
              </a:rPr>
              <a:t>Claude-</a:t>
            </a:r>
            <a:r>
              <a:rPr sz="1350" b="1" dirty="0">
                <a:latin typeface="Roboto"/>
                <a:cs typeface="Roboto"/>
              </a:rPr>
              <a:t>3</a:t>
            </a:r>
            <a:r>
              <a:rPr sz="1350" b="1" spc="-35" dirty="0">
                <a:latin typeface="Roboto"/>
                <a:cs typeface="Roboto"/>
              </a:rPr>
              <a:t> </a:t>
            </a:r>
            <a:r>
              <a:rPr sz="1350" b="1" dirty="0">
                <a:latin typeface="Roboto"/>
                <a:cs typeface="Roboto"/>
              </a:rPr>
              <a:t>Sonnet:</a:t>
            </a:r>
            <a:r>
              <a:rPr sz="1350" b="1" spc="-35" dirty="0">
                <a:latin typeface="Roboto"/>
                <a:cs typeface="Roboto"/>
              </a:rPr>
              <a:t> </a:t>
            </a:r>
            <a:r>
              <a:rPr sz="1350" dirty="0"/>
              <a:t>Monta</a:t>
            </a:r>
            <a:r>
              <a:rPr sz="1350" spc="-40" dirty="0"/>
              <a:t> </a:t>
            </a:r>
            <a:r>
              <a:rPr sz="1350" dirty="0"/>
              <a:t>Vista</a:t>
            </a:r>
            <a:r>
              <a:rPr sz="1350" spc="-35" dirty="0"/>
              <a:t> </a:t>
            </a:r>
            <a:r>
              <a:rPr sz="1350" dirty="0"/>
              <a:t>High</a:t>
            </a:r>
            <a:r>
              <a:rPr sz="1350" spc="-40" dirty="0"/>
              <a:t> </a:t>
            </a:r>
            <a:r>
              <a:rPr sz="1350" dirty="0"/>
              <a:t>School</a:t>
            </a:r>
            <a:r>
              <a:rPr sz="1350" spc="-40" dirty="0"/>
              <a:t> </a:t>
            </a:r>
            <a:r>
              <a:rPr sz="1350" dirty="0"/>
              <a:t>in</a:t>
            </a:r>
            <a:r>
              <a:rPr sz="1350" spc="-35" dirty="0"/>
              <a:t> </a:t>
            </a:r>
            <a:r>
              <a:rPr sz="1350" dirty="0"/>
              <a:t>Cupertino,</a:t>
            </a:r>
            <a:r>
              <a:rPr sz="1350" spc="-35" dirty="0"/>
              <a:t> </a:t>
            </a:r>
            <a:r>
              <a:rPr sz="1350" dirty="0"/>
              <a:t>California</a:t>
            </a:r>
            <a:r>
              <a:rPr sz="1350" spc="-40" dirty="0"/>
              <a:t> </a:t>
            </a:r>
            <a:r>
              <a:rPr sz="1350" dirty="0"/>
              <a:t>has</a:t>
            </a:r>
            <a:r>
              <a:rPr sz="1350" spc="-35" dirty="0"/>
              <a:t> </a:t>
            </a:r>
            <a:r>
              <a:rPr sz="1350" dirty="0"/>
              <a:t>had</a:t>
            </a:r>
            <a:r>
              <a:rPr sz="1350" spc="-40" dirty="0"/>
              <a:t> </a:t>
            </a:r>
            <a:r>
              <a:rPr sz="1350" dirty="0"/>
              <a:t>some</a:t>
            </a:r>
            <a:r>
              <a:rPr sz="1350" spc="-40" dirty="0"/>
              <a:t> </a:t>
            </a:r>
            <a:r>
              <a:rPr sz="1350" dirty="0"/>
              <a:t>notable</a:t>
            </a:r>
            <a:r>
              <a:rPr sz="1350" spc="-35" dirty="0"/>
              <a:t> </a:t>
            </a:r>
            <a:r>
              <a:rPr sz="1350" dirty="0"/>
              <a:t>alumni,</a:t>
            </a:r>
            <a:r>
              <a:rPr sz="1350" spc="-35" dirty="0"/>
              <a:t> </a:t>
            </a:r>
            <a:r>
              <a:rPr sz="1350" dirty="0"/>
              <a:t>though</a:t>
            </a:r>
            <a:r>
              <a:rPr sz="1350" spc="-40" dirty="0"/>
              <a:t> </a:t>
            </a:r>
            <a:r>
              <a:rPr sz="1350" dirty="0"/>
              <a:t>I</a:t>
            </a:r>
            <a:r>
              <a:rPr sz="1350" spc="-35" dirty="0"/>
              <a:t> </a:t>
            </a:r>
            <a:r>
              <a:rPr sz="1350" spc="-10" dirty="0"/>
              <a:t>don't </a:t>
            </a:r>
            <a:r>
              <a:rPr sz="1350" dirty="0"/>
              <a:t>have</a:t>
            </a:r>
            <a:r>
              <a:rPr sz="1350" spc="-35" dirty="0"/>
              <a:t> </a:t>
            </a:r>
            <a:r>
              <a:rPr sz="1350" dirty="0"/>
              <a:t>fully</a:t>
            </a:r>
            <a:r>
              <a:rPr sz="1350" spc="-35" dirty="0"/>
              <a:t> </a:t>
            </a:r>
            <a:r>
              <a:rPr sz="1350" spc="-10" dirty="0"/>
              <a:t>comprehensive</a:t>
            </a:r>
            <a:r>
              <a:rPr sz="1350" spc="-35" dirty="0"/>
              <a:t> </a:t>
            </a:r>
            <a:r>
              <a:rPr sz="1350" dirty="0"/>
              <a:t>information</a:t>
            </a:r>
            <a:r>
              <a:rPr sz="1350" spc="-35" dirty="0"/>
              <a:t> </a:t>
            </a:r>
            <a:r>
              <a:rPr sz="1350" dirty="0"/>
              <a:t>about</a:t>
            </a:r>
            <a:r>
              <a:rPr sz="1350" spc="-35" dirty="0"/>
              <a:t> </a:t>
            </a:r>
            <a:r>
              <a:rPr sz="1350" dirty="0"/>
              <a:t>all</a:t>
            </a:r>
            <a:r>
              <a:rPr sz="1350" spc="-35" dirty="0"/>
              <a:t> </a:t>
            </a:r>
            <a:r>
              <a:rPr sz="1350" dirty="0"/>
              <a:t>of</a:t>
            </a:r>
            <a:r>
              <a:rPr sz="1350" spc="-30" dirty="0"/>
              <a:t> </a:t>
            </a:r>
            <a:r>
              <a:rPr sz="1350" dirty="0"/>
              <a:t>their</a:t>
            </a:r>
            <a:r>
              <a:rPr sz="1350" spc="-35" dirty="0"/>
              <a:t> </a:t>
            </a:r>
            <a:r>
              <a:rPr sz="1350" dirty="0"/>
              <a:t>accomplished</a:t>
            </a:r>
            <a:r>
              <a:rPr sz="1350" spc="-35" dirty="0"/>
              <a:t> </a:t>
            </a:r>
            <a:r>
              <a:rPr sz="1350" dirty="0"/>
              <a:t>former</a:t>
            </a:r>
            <a:r>
              <a:rPr sz="1350" spc="-35" dirty="0"/>
              <a:t> </a:t>
            </a:r>
            <a:r>
              <a:rPr sz="1350" spc="-10" dirty="0"/>
              <a:t>students.</a:t>
            </a:r>
            <a:r>
              <a:rPr sz="1350" spc="-30" dirty="0"/>
              <a:t> </a:t>
            </a:r>
            <a:r>
              <a:rPr sz="1350" dirty="0"/>
              <a:t>A</a:t>
            </a:r>
            <a:r>
              <a:rPr sz="1350" spc="-35" dirty="0"/>
              <a:t> </a:t>
            </a:r>
            <a:r>
              <a:rPr sz="1350" dirty="0"/>
              <a:t>few</a:t>
            </a:r>
            <a:r>
              <a:rPr sz="1350" spc="-35" dirty="0"/>
              <a:t> </a:t>
            </a:r>
            <a:r>
              <a:rPr sz="1350" dirty="0"/>
              <a:t>that</a:t>
            </a:r>
            <a:r>
              <a:rPr sz="1350" spc="-35" dirty="0"/>
              <a:t> </a:t>
            </a:r>
            <a:r>
              <a:rPr sz="1350" dirty="0"/>
              <a:t>stand</a:t>
            </a:r>
            <a:r>
              <a:rPr sz="1350" spc="-35" dirty="0"/>
              <a:t> </a:t>
            </a:r>
            <a:r>
              <a:rPr sz="1350" dirty="0"/>
              <a:t>out</a:t>
            </a:r>
            <a:r>
              <a:rPr sz="1350" spc="-35" dirty="0"/>
              <a:t> </a:t>
            </a:r>
            <a:r>
              <a:rPr sz="1350" spc="-20" dirty="0"/>
              <a:t>are: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5" y="4185291"/>
            <a:ext cx="6740525" cy="207645"/>
          </a:xfrm>
          <a:custGeom>
            <a:avLst/>
            <a:gdLst/>
            <a:ahLst/>
            <a:cxnLst/>
            <a:rect l="l" t="t" r="r" b="b"/>
            <a:pathLst>
              <a:path w="6740525" h="207645">
                <a:moveTo>
                  <a:pt x="6739973" y="207263"/>
                </a:moveTo>
                <a:lnTo>
                  <a:pt x="0" y="207263"/>
                </a:lnTo>
                <a:lnTo>
                  <a:pt x="0" y="0"/>
                </a:lnTo>
                <a:lnTo>
                  <a:pt x="6739973" y="0"/>
                </a:lnTo>
                <a:lnTo>
                  <a:pt x="6739973" y="207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308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What</a:t>
            </a:r>
            <a:r>
              <a:rPr sz="2700" spc="-95" dirty="0"/>
              <a:t> </a:t>
            </a:r>
            <a:r>
              <a:rPr sz="2700" dirty="0"/>
              <a:t>are</a:t>
            </a:r>
            <a:r>
              <a:rPr sz="2700" spc="-90" dirty="0"/>
              <a:t> </a:t>
            </a:r>
            <a:r>
              <a:rPr sz="2700" spc="-25" dirty="0"/>
              <a:t>Hallucinations</a:t>
            </a:r>
            <a:r>
              <a:rPr sz="2700" spc="-95" dirty="0"/>
              <a:t> </a:t>
            </a:r>
            <a:r>
              <a:rPr sz="2700" dirty="0"/>
              <a:t>in</a:t>
            </a:r>
            <a:r>
              <a:rPr sz="2700" spc="-90" dirty="0"/>
              <a:t> </a:t>
            </a:r>
            <a:r>
              <a:rPr sz="2700" spc="-10" dirty="0"/>
              <a:t>LLMs?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434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sz="1500" spc="-20" dirty="0"/>
              <a:t>Let’s</a:t>
            </a:r>
            <a:r>
              <a:rPr sz="1500" dirty="0"/>
              <a:t> look at some real </a:t>
            </a:r>
            <a:r>
              <a:rPr sz="1500" spc="-10" dirty="0"/>
              <a:t>examples:</a:t>
            </a:r>
            <a:endParaRPr sz="1500"/>
          </a:p>
          <a:p>
            <a:pPr marL="13970">
              <a:lnSpc>
                <a:spcPct val="100000"/>
              </a:lnSpc>
              <a:spcBef>
                <a:spcPts val="1350"/>
              </a:spcBef>
            </a:pPr>
            <a:r>
              <a:rPr sz="1500" b="1" dirty="0">
                <a:solidFill>
                  <a:srgbClr val="37761C"/>
                </a:solidFill>
                <a:latin typeface="Roboto"/>
                <a:cs typeface="Roboto"/>
              </a:rPr>
              <a:t>Prompt: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Who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are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some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notable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alumni from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Monta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Vista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High School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7761C"/>
                </a:solidFill>
                <a:latin typeface="Roboto"/>
                <a:cs typeface="Roboto"/>
              </a:rPr>
              <a:t>in</a:t>
            </a:r>
            <a:r>
              <a:rPr sz="1350" b="1" spc="-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350" b="1" spc="-10" dirty="0">
                <a:solidFill>
                  <a:srgbClr val="37761C"/>
                </a:solidFill>
                <a:latin typeface="Roboto"/>
                <a:cs typeface="Roboto"/>
              </a:rPr>
              <a:t>Cupertino?</a:t>
            </a:r>
            <a:endParaRPr sz="1350">
              <a:latin typeface="Roboto"/>
              <a:cs typeface="Roboto"/>
            </a:endParaRPr>
          </a:p>
          <a:p>
            <a:pPr marL="13970" marR="5080">
              <a:lnSpc>
                <a:spcPct val="151100"/>
              </a:lnSpc>
              <a:spcBef>
                <a:spcPts val="515"/>
              </a:spcBef>
            </a:pPr>
            <a:r>
              <a:rPr sz="1350" b="1" spc="-10" dirty="0">
                <a:latin typeface="Roboto"/>
                <a:cs typeface="Roboto"/>
              </a:rPr>
              <a:t>Claude-</a:t>
            </a:r>
            <a:r>
              <a:rPr sz="1350" b="1" dirty="0">
                <a:latin typeface="Roboto"/>
                <a:cs typeface="Roboto"/>
              </a:rPr>
              <a:t>3</a:t>
            </a:r>
            <a:r>
              <a:rPr sz="1350" b="1" spc="-35" dirty="0">
                <a:latin typeface="Roboto"/>
                <a:cs typeface="Roboto"/>
              </a:rPr>
              <a:t> </a:t>
            </a:r>
            <a:r>
              <a:rPr sz="1350" b="1" dirty="0">
                <a:latin typeface="Roboto"/>
                <a:cs typeface="Roboto"/>
              </a:rPr>
              <a:t>Sonnet:</a:t>
            </a:r>
            <a:r>
              <a:rPr sz="1350" b="1" spc="-35" dirty="0">
                <a:latin typeface="Roboto"/>
                <a:cs typeface="Roboto"/>
              </a:rPr>
              <a:t> </a:t>
            </a:r>
            <a:r>
              <a:rPr sz="1350" dirty="0"/>
              <a:t>Monta</a:t>
            </a:r>
            <a:r>
              <a:rPr sz="1350" spc="-40" dirty="0"/>
              <a:t> </a:t>
            </a:r>
            <a:r>
              <a:rPr sz="1350" dirty="0"/>
              <a:t>Vista</a:t>
            </a:r>
            <a:r>
              <a:rPr sz="1350" spc="-35" dirty="0"/>
              <a:t> </a:t>
            </a:r>
            <a:r>
              <a:rPr sz="1350" dirty="0"/>
              <a:t>High</a:t>
            </a:r>
            <a:r>
              <a:rPr sz="1350" spc="-40" dirty="0"/>
              <a:t> </a:t>
            </a:r>
            <a:r>
              <a:rPr sz="1350" dirty="0"/>
              <a:t>School</a:t>
            </a:r>
            <a:r>
              <a:rPr sz="1350" spc="-40" dirty="0"/>
              <a:t> </a:t>
            </a:r>
            <a:r>
              <a:rPr sz="1350" dirty="0"/>
              <a:t>in</a:t>
            </a:r>
            <a:r>
              <a:rPr sz="1350" spc="-35" dirty="0"/>
              <a:t> </a:t>
            </a:r>
            <a:r>
              <a:rPr sz="1350" dirty="0"/>
              <a:t>Cupertino,</a:t>
            </a:r>
            <a:r>
              <a:rPr sz="1350" spc="-35" dirty="0"/>
              <a:t> </a:t>
            </a:r>
            <a:r>
              <a:rPr sz="1350" dirty="0"/>
              <a:t>California</a:t>
            </a:r>
            <a:r>
              <a:rPr sz="1350" spc="-40" dirty="0"/>
              <a:t> </a:t>
            </a:r>
            <a:r>
              <a:rPr sz="1350" dirty="0"/>
              <a:t>has</a:t>
            </a:r>
            <a:r>
              <a:rPr sz="1350" spc="-35" dirty="0"/>
              <a:t> </a:t>
            </a:r>
            <a:r>
              <a:rPr sz="1350" dirty="0"/>
              <a:t>had</a:t>
            </a:r>
            <a:r>
              <a:rPr sz="1350" spc="-40" dirty="0"/>
              <a:t> </a:t>
            </a:r>
            <a:r>
              <a:rPr sz="1350" dirty="0"/>
              <a:t>some</a:t>
            </a:r>
            <a:r>
              <a:rPr sz="1350" spc="-40" dirty="0"/>
              <a:t> </a:t>
            </a:r>
            <a:r>
              <a:rPr sz="1350" dirty="0"/>
              <a:t>notable</a:t>
            </a:r>
            <a:r>
              <a:rPr sz="1350" spc="-35" dirty="0"/>
              <a:t> </a:t>
            </a:r>
            <a:r>
              <a:rPr sz="1350" dirty="0"/>
              <a:t>alumni,</a:t>
            </a:r>
            <a:r>
              <a:rPr sz="1350" spc="-35" dirty="0"/>
              <a:t> </a:t>
            </a:r>
            <a:r>
              <a:rPr sz="1350" dirty="0"/>
              <a:t>though</a:t>
            </a:r>
            <a:r>
              <a:rPr sz="1350" spc="-40" dirty="0"/>
              <a:t> </a:t>
            </a:r>
            <a:r>
              <a:rPr sz="1350" dirty="0"/>
              <a:t>I</a:t>
            </a:r>
            <a:r>
              <a:rPr sz="1350" spc="-35" dirty="0"/>
              <a:t> </a:t>
            </a:r>
            <a:r>
              <a:rPr sz="1350" spc="-10" dirty="0"/>
              <a:t>don't </a:t>
            </a:r>
            <a:r>
              <a:rPr sz="1350" dirty="0"/>
              <a:t>have</a:t>
            </a:r>
            <a:r>
              <a:rPr sz="1350" spc="-35" dirty="0"/>
              <a:t> </a:t>
            </a:r>
            <a:r>
              <a:rPr sz="1350" dirty="0"/>
              <a:t>fully</a:t>
            </a:r>
            <a:r>
              <a:rPr sz="1350" spc="-35" dirty="0"/>
              <a:t> </a:t>
            </a:r>
            <a:r>
              <a:rPr sz="1350" spc="-10" dirty="0"/>
              <a:t>comprehensive</a:t>
            </a:r>
            <a:r>
              <a:rPr sz="1350" spc="-35" dirty="0"/>
              <a:t> </a:t>
            </a:r>
            <a:r>
              <a:rPr sz="1350" dirty="0"/>
              <a:t>information</a:t>
            </a:r>
            <a:r>
              <a:rPr sz="1350" spc="-35" dirty="0"/>
              <a:t> </a:t>
            </a:r>
            <a:r>
              <a:rPr sz="1350" dirty="0"/>
              <a:t>about</a:t>
            </a:r>
            <a:r>
              <a:rPr sz="1350" spc="-35" dirty="0"/>
              <a:t> </a:t>
            </a:r>
            <a:r>
              <a:rPr sz="1350" dirty="0"/>
              <a:t>all</a:t>
            </a:r>
            <a:r>
              <a:rPr sz="1350" spc="-35" dirty="0"/>
              <a:t> </a:t>
            </a:r>
            <a:r>
              <a:rPr sz="1350" dirty="0"/>
              <a:t>of</a:t>
            </a:r>
            <a:r>
              <a:rPr sz="1350" spc="-30" dirty="0"/>
              <a:t> </a:t>
            </a:r>
            <a:r>
              <a:rPr sz="1350" dirty="0"/>
              <a:t>their</a:t>
            </a:r>
            <a:r>
              <a:rPr sz="1350" spc="-35" dirty="0"/>
              <a:t> </a:t>
            </a:r>
            <a:r>
              <a:rPr sz="1350" dirty="0"/>
              <a:t>accomplished</a:t>
            </a:r>
            <a:r>
              <a:rPr sz="1350" spc="-35" dirty="0"/>
              <a:t> </a:t>
            </a:r>
            <a:r>
              <a:rPr sz="1350" dirty="0"/>
              <a:t>former</a:t>
            </a:r>
            <a:r>
              <a:rPr sz="1350" spc="-35" dirty="0"/>
              <a:t> </a:t>
            </a:r>
            <a:r>
              <a:rPr sz="1350" spc="-10" dirty="0"/>
              <a:t>students.</a:t>
            </a:r>
            <a:r>
              <a:rPr sz="1350" spc="-30" dirty="0"/>
              <a:t> </a:t>
            </a:r>
            <a:r>
              <a:rPr sz="1350" dirty="0"/>
              <a:t>A</a:t>
            </a:r>
            <a:r>
              <a:rPr sz="1350" spc="-35" dirty="0"/>
              <a:t> </a:t>
            </a:r>
            <a:r>
              <a:rPr sz="1350" dirty="0"/>
              <a:t>few</a:t>
            </a:r>
            <a:r>
              <a:rPr sz="1350" spc="-35" dirty="0"/>
              <a:t> </a:t>
            </a:r>
            <a:r>
              <a:rPr sz="1350" dirty="0"/>
              <a:t>that</a:t>
            </a:r>
            <a:r>
              <a:rPr sz="1350" spc="-35" dirty="0"/>
              <a:t> </a:t>
            </a:r>
            <a:r>
              <a:rPr sz="1350" dirty="0"/>
              <a:t>stand</a:t>
            </a:r>
            <a:r>
              <a:rPr sz="1350" spc="-35" dirty="0"/>
              <a:t> </a:t>
            </a:r>
            <a:r>
              <a:rPr sz="1350" dirty="0"/>
              <a:t>out</a:t>
            </a:r>
            <a:r>
              <a:rPr sz="1350" spc="-35" dirty="0"/>
              <a:t> </a:t>
            </a:r>
            <a:r>
              <a:rPr sz="1350" spc="-20" dirty="0"/>
              <a:t>are:</a:t>
            </a:r>
            <a:endParaRPr sz="1350">
              <a:latin typeface="Roboto"/>
              <a:cs typeface="Roboto"/>
            </a:endParaRPr>
          </a:p>
          <a:p>
            <a:pPr marL="13970" marR="798830">
              <a:lnSpc>
                <a:spcPct val="175800"/>
              </a:lnSpc>
            </a:pPr>
            <a:r>
              <a:rPr sz="1350" dirty="0">
                <a:solidFill>
                  <a:srgbClr val="990000"/>
                </a:solidFill>
              </a:rPr>
              <a:t>Steve</a:t>
            </a:r>
            <a:r>
              <a:rPr sz="1350" spc="-4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Wozniak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245" dirty="0">
                <a:solidFill>
                  <a:srgbClr val="990000"/>
                </a:solidFill>
              </a:rPr>
              <a:t>-</a:t>
            </a:r>
            <a:r>
              <a:rPr sz="1350" spc="-5" dirty="0">
                <a:solidFill>
                  <a:srgbClr val="990000"/>
                </a:solidFill>
              </a:rPr>
              <a:t> </a:t>
            </a:r>
            <a:r>
              <a:rPr sz="1350" spc="-35" dirty="0">
                <a:solidFill>
                  <a:srgbClr val="990000"/>
                </a:solidFill>
              </a:rPr>
              <a:t>Co-</a:t>
            </a:r>
            <a:r>
              <a:rPr sz="1350" spc="-20" dirty="0">
                <a:solidFill>
                  <a:srgbClr val="990000"/>
                </a:solidFill>
              </a:rPr>
              <a:t>founder </a:t>
            </a:r>
            <a:r>
              <a:rPr sz="1350" dirty="0">
                <a:solidFill>
                  <a:srgbClr val="990000"/>
                </a:solidFill>
              </a:rPr>
              <a:t>of</a:t>
            </a:r>
            <a:r>
              <a:rPr sz="1350" spc="-1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Apple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Computer.</a:t>
            </a:r>
            <a:r>
              <a:rPr sz="1350" spc="-1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He</a:t>
            </a:r>
            <a:r>
              <a:rPr sz="1350" spc="-2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attended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Monta</a:t>
            </a:r>
            <a:r>
              <a:rPr sz="1350" spc="-2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Vista</a:t>
            </a:r>
            <a:r>
              <a:rPr sz="1350" spc="-2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and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graduated</a:t>
            </a:r>
            <a:r>
              <a:rPr sz="1350" spc="-2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in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1971. </a:t>
            </a:r>
            <a:r>
              <a:rPr sz="1350" dirty="0">
                <a:solidFill>
                  <a:srgbClr val="990000"/>
                </a:solidFill>
              </a:rPr>
              <a:t>Kamala</a:t>
            </a:r>
            <a:r>
              <a:rPr sz="1350" spc="-5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Harris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245" dirty="0">
                <a:solidFill>
                  <a:srgbClr val="990000"/>
                </a:solidFill>
              </a:rPr>
              <a:t>-</a:t>
            </a:r>
            <a:r>
              <a:rPr sz="1350" spc="-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Current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Vice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President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of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the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United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States.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She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graduated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from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Monta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Vista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in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1981.</a:t>
            </a:r>
            <a:endParaRPr sz="1350"/>
          </a:p>
          <a:p>
            <a:pPr marL="13970" marR="173990">
              <a:lnSpc>
                <a:spcPct val="151100"/>
              </a:lnSpc>
              <a:spcBef>
                <a:spcPts val="400"/>
              </a:spcBef>
            </a:pPr>
            <a:r>
              <a:rPr sz="1350" dirty="0">
                <a:solidFill>
                  <a:srgbClr val="990000"/>
                </a:solidFill>
              </a:rPr>
              <a:t>Jeremy</a:t>
            </a:r>
            <a:r>
              <a:rPr sz="1350" spc="-5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Lin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245" dirty="0">
                <a:solidFill>
                  <a:srgbClr val="990000"/>
                </a:solidFill>
              </a:rPr>
              <a:t>-</a:t>
            </a:r>
            <a:r>
              <a:rPr sz="1350" spc="-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Professional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basketball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player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who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had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a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stint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in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the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NBA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and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gained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fame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during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25" dirty="0">
                <a:solidFill>
                  <a:srgbClr val="990000"/>
                </a:solidFill>
              </a:rPr>
              <a:t>'Linsanity' </a:t>
            </a:r>
            <a:r>
              <a:rPr sz="1350" spc="-20" dirty="0">
                <a:solidFill>
                  <a:srgbClr val="990000"/>
                </a:solidFill>
              </a:rPr>
              <a:t>with </a:t>
            </a:r>
            <a:r>
              <a:rPr sz="1350" dirty="0">
                <a:solidFill>
                  <a:srgbClr val="990000"/>
                </a:solidFill>
              </a:rPr>
              <a:t>the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New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York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Knicks</a:t>
            </a:r>
            <a:r>
              <a:rPr sz="1350" spc="-2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in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2012.</a:t>
            </a:r>
            <a:r>
              <a:rPr sz="1350" spc="-2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He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graduated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from</a:t>
            </a:r>
            <a:r>
              <a:rPr sz="1350" spc="-2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Monta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Vista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in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2006.</a:t>
            </a:r>
            <a:endParaRPr sz="1350"/>
          </a:p>
          <a:p>
            <a:pPr marL="13970">
              <a:lnSpc>
                <a:spcPct val="100000"/>
              </a:lnSpc>
              <a:spcBef>
                <a:spcPts val="1230"/>
              </a:spcBef>
            </a:pPr>
            <a:r>
              <a:rPr sz="1350" dirty="0">
                <a:solidFill>
                  <a:srgbClr val="990000"/>
                </a:solidFill>
              </a:rPr>
              <a:t>Amanda</a:t>
            </a:r>
            <a:r>
              <a:rPr sz="1350" spc="-6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Crew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spc="-245" dirty="0">
                <a:solidFill>
                  <a:srgbClr val="990000"/>
                </a:solidFill>
              </a:rPr>
              <a:t>-</a:t>
            </a:r>
            <a:r>
              <a:rPr sz="1350" spc="-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Actress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known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for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films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like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Silicon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Valley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and</a:t>
            </a:r>
            <a:r>
              <a:rPr sz="1350" spc="-3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Haunting</a:t>
            </a:r>
            <a:r>
              <a:rPr sz="1350" spc="-25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of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dirty="0">
                <a:solidFill>
                  <a:srgbClr val="990000"/>
                </a:solidFill>
              </a:rPr>
              <a:t>Molly</a:t>
            </a:r>
            <a:r>
              <a:rPr sz="1350" spc="-30" dirty="0">
                <a:solidFill>
                  <a:srgbClr val="990000"/>
                </a:solidFill>
              </a:rPr>
              <a:t> </a:t>
            </a:r>
            <a:r>
              <a:rPr sz="1350" spc="-10" dirty="0">
                <a:solidFill>
                  <a:srgbClr val="990000"/>
                </a:solidFill>
              </a:rPr>
              <a:t>Hartley.</a:t>
            </a:r>
            <a:endParaRPr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913002"/>
            <a:ext cx="252946" cy="2380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308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What</a:t>
            </a:r>
            <a:r>
              <a:rPr sz="2700" spc="-95" dirty="0"/>
              <a:t> </a:t>
            </a:r>
            <a:r>
              <a:rPr sz="2700" dirty="0"/>
              <a:t>are</a:t>
            </a:r>
            <a:r>
              <a:rPr sz="2700" spc="-90" dirty="0"/>
              <a:t> </a:t>
            </a:r>
            <a:r>
              <a:rPr sz="2700" spc="-25" dirty="0"/>
              <a:t>Hallucinations</a:t>
            </a:r>
            <a:r>
              <a:rPr sz="2700" spc="-95" dirty="0"/>
              <a:t> </a:t>
            </a:r>
            <a:r>
              <a:rPr sz="2700" dirty="0"/>
              <a:t>in</a:t>
            </a:r>
            <a:r>
              <a:rPr sz="2700" spc="-90" dirty="0"/>
              <a:t> </a:t>
            </a:r>
            <a:r>
              <a:rPr sz="2700" spc="-10" dirty="0"/>
              <a:t>LLMs?</a:t>
            </a:r>
            <a:endParaRPr sz="2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246762"/>
            <a:ext cx="252946" cy="238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5" y="2663322"/>
            <a:ext cx="252946" cy="2380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079882"/>
            <a:ext cx="252946" cy="2380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496442"/>
            <a:ext cx="252946" cy="2380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4725" y="1293755"/>
            <a:ext cx="7678420" cy="286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Most</a:t>
            </a:r>
            <a:r>
              <a:rPr sz="180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popular</a:t>
            </a:r>
            <a:r>
              <a:rPr sz="180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models</a:t>
            </a:r>
            <a:r>
              <a:rPr sz="180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hallucinate!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800" b="1" dirty="0">
                <a:solidFill>
                  <a:srgbClr val="37761C"/>
                </a:solidFill>
                <a:latin typeface="Roboto"/>
                <a:cs typeface="Roboto"/>
              </a:rPr>
              <a:t>Prompt:</a:t>
            </a:r>
            <a:r>
              <a:rPr sz="1800" b="1" spc="-40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Who</a:t>
            </a:r>
            <a:r>
              <a:rPr sz="1600" b="1" spc="-40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are</a:t>
            </a:r>
            <a:r>
              <a:rPr sz="1600" b="1" spc="-3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some</a:t>
            </a:r>
            <a:r>
              <a:rPr sz="1600" b="1" spc="-40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notable</a:t>
            </a:r>
            <a:r>
              <a:rPr sz="1600" b="1" spc="-3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alumni</a:t>
            </a:r>
            <a:r>
              <a:rPr sz="1600" b="1" spc="-40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from</a:t>
            </a:r>
            <a:r>
              <a:rPr sz="1600" b="1" spc="-3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Monta</a:t>
            </a:r>
            <a:r>
              <a:rPr sz="1600" b="1" spc="-40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Vista</a:t>
            </a:r>
            <a:r>
              <a:rPr sz="1600" b="1" spc="-3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High</a:t>
            </a:r>
            <a:r>
              <a:rPr sz="1600" b="1" spc="-40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School</a:t>
            </a:r>
            <a:r>
              <a:rPr sz="1600" b="1" spc="-40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37761C"/>
                </a:solidFill>
                <a:latin typeface="Roboto"/>
                <a:cs typeface="Roboto"/>
              </a:rPr>
              <a:t>in</a:t>
            </a:r>
            <a:r>
              <a:rPr sz="1600" b="1" spc="-35" dirty="0">
                <a:solidFill>
                  <a:srgbClr val="37761C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37761C"/>
                </a:solidFill>
                <a:latin typeface="Roboto"/>
                <a:cs typeface="Roboto"/>
              </a:rPr>
              <a:t>Cupertino?</a:t>
            </a:r>
            <a:endParaRPr sz="1600">
              <a:latin typeface="Roboto"/>
              <a:cs typeface="Roboto"/>
            </a:endParaRPr>
          </a:p>
          <a:p>
            <a:pPr marL="874394" marR="5272405">
              <a:lnSpc>
                <a:spcPct val="170800"/>
              </a:lnSpc>
              <a:spcBef>
                <a:spcPts val="125"/>
              </a:spcBef>
            </a:pPr>
            <a:r>
              <a:rPr sz="1600" b="1" spc="-20" dirty="0">
                <a:solidFill>
                  <a:srgbClr val="434343"/>
                </a:solidFill>
                <a:latin typeface="Roboto"/>
                <a:cs typeface="Roboto"/>
              </a:rPr>
              <a:t>Claude-</a:t>
            </a:r>
            <a:r>
              <a:rPr sz="1600" b="1" dirty="0">
                <a:solidFill>
                  <a:srgbClr val="434343"/>
                </a:solidFill>
                <a:latin typeface="Roboto"/>
                <a:cs typeface="Roboto"/>
              </a:rPr>
              <a:t>3</a:t>
            </a:r>
            <a:r>
              <a:rPr sz="1600" b="1" spc="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434343"/>
                </a:solidFill>
                <a:latin typeface="Roboto"/>
                <a:cs typeface="Roboto"/>
              </a:rPr>
              <a:t>Sonnet Gemini</a:t>
            </a:r>
            <a:endParaRPr sz="1600">
              <a:latin typeface="Roboto"/>
              <a:cs typeface="Roboto"/>
            </a:endParaRPr>
          </a:p>
          <a:p>
            <a:pPr marL="874394" marR="6117590">
              <a:lnSpc>
                <a:spcPct val="170800"/>
              </a:lnSpc>
              <a:spcBef>
                <a:spcPts val="5"/>
              </a:spcBef>
            </a:pPr>
            <a:r>
              <a:rPr sz="1600" b="1" spc="-65" dirty="0">
                <a:solidFill>
                  <a:srgbClr val="434343"/>
                </a:solidFill>
                <a:latin typeface="Roboto"/>
                <a:cs typeface="Roboto"/>
              </a:rPr>
              <a:t>GPT-</a:t>
            </a:r>
            <a:r>
              <a:rPr sz="1600" b="1" spc="-50" dirty="0">
                <a:solidFill>
                  <a:srgbClr val="434343"/>
                </a:solidFill>
                <a:latin typeface="Roboto"/>
                <a:cs typeface="Roboto"/>
              </a:rPr>
              <a:t>4 </a:t>
            </a:r>
            <a:r>
              <a:rPr sz="1600" b="1" spc="-65" dirty="0">
                <a:solidFill>
                  <a:srgbClr val="434343"/>
                </a:solidFill>
                <a:latin typeface="Roboto"/>
                <a:cs typeface="Roboto"/>
              </a:rPr>
              <a:t>GPT-</a:t>
            </a:r>
            <a:r>
              <a:rPr sz="1600" b="1" spc="-25" dirty="0">
                <a:solidFill>
                  <a:srgbClr val="434343"/>
                </a:solidFill>
                <a:latin typeface="Roboto"/>
                <a:cs typeface="Roboto"/>
              </a:rPr>
              <a:t>4o</a:t>
            </a:r>
            <a:endParaRPr sz="1600">
              <a:latin typeface="Roboto"/>
              <a:cs typeface="Roboto"/>
            </a:endParaRPr>
          </a:p>
          <a:p>
            <a:pPr marL="874394">
              <a:lnSpc>
                <a:spcPct val="100000"/>
              </a:lnSpc>
              <a:spcBef>
                <a:spcPts val="1360"/>
              </a:spcBef>
            </a:pPr>
            <a:r>
              <a:rPr sz="1600" b="1" spc="-10" dirty="0">
                <a:solidFill>
                  <a:srgbClr val="434343"/>
                </a:solidFill>
                <a:latin typeface="Roboto"/>
                <a:cs typeface="Roboto"/>
              </a:rPr>
              <a:t>ChatGPT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95" dirty="0"/>
              <a:t> </a:t>
            </a:r>
            <a:r>
              <a:rPr spc="-60" dirty="0"/>
              <a:t>can’t</a:t>
            </a:r>
            <a:r>
              <a:rPr spc="-100" dirty="0"/>
              <a:t> </a:t>
            </a:r>
            <a:r>
              <a:rPr dirty="0"/>
              <a:t>LLMs</a:t>
            </a:r>
            <a:r>
              <a:rPr spc="-95" dirty="0"/>
              <a:t> </a:t>
            </a:r>
            <a:r>
              <a:rPr dirty="0"/>
              <a:t>help</a:t>
            </a:r>
            <a:r>
              <a:rPr spc="-95" dirty="0"/>
              <a:t> </a:t>
            </a:r>
            <a:r>
              <a:rPr spc="-20" dirty="0"/>
              <a:t>themselves</a:t>
            </a:r>
            <a:r>
              <a:rPr spc="-95" dirty="0"/>
              <a:t> </a:t>
            </a:r>
            <a:r>
              <a:rPr dirty="0"/>
              <a:t>from</a:t>
            </a:r>
            <a:r>
              <a:rPr spc="-95" dirty="0"/>
              <a:t> </a:t>
            </a:r>
            <a:r>
              <a:rPr spc="-20" dirty="0"/>
              <a:t>fabricating</a:t>
            </a:r>
            <a:r>
              <a:rPr spc="-90" dirty="0"/>
              <a:t> </a:t>
            </a:r>
            <a:r>
              <a:rPr spc="-10" dirty="0"/>
              <a:t>details?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7120"/>
            <a:ext cx="539051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LLMs</a:t>
            </a:r>
            <a:r>
              <a:rPr sz="1800" spc="-1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really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well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trained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320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80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but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not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optimally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so!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Appreciable</a:t>
            </a:r>
            <a:r>
              <a:rPr sz="18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degree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world-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knowledge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95" dirty="0"/>
              <a:t> </a:t>
            </a:r>
            <a:r>
              <a:rPr spc="-60" dirty="0"/>
              <a:t>can’t</a:t>
            </a:r>
            <a:r>
              <a:rPr spc="-100" dirty="0"/>
              <a:t> </a:t>
            </a:r>
            <a:r>
              <a:rPr dirty="0"/>
              <a:t>LLMs</a:t>
            </a:r>
            <a:r>
              <a:rPr spc="-95" dirty="0"/>
              <a:t> </a:t>
            </a:r>
            <a:r>
              <a:rPr dirty="0"/>
              <a:t>help</a:t>
            </a:r>
            <a:r>
              <a:rPr spc="-95" dirty="0"/>
              <a:t> </a:t>
            </a:r>
            <a:r>
              <a:rPr spc="-20" dirty="0"/>
              <a:t>themselves</a:t>
            </a:r>
            <a:r>
              <a:rPr spc="-95" dirty="0"/>
              <a:t> </a:t>
            </a:r>
            <a:r>
              <a:rPr dirty="0"/>
              <a:t>from</a:t>
            </a:r>
            <a:r>
              <a:rPr spc="-95" dirty="0"/>
              <a:t> </a:t>
            </a:r>
            <a:r>
              <a:rPr spc="-20" dirty="0"/>
              <a:t>fabricating</a:t>
            </a:r>
            <a:r>
              <a:rPr spc="-90" dirty="0"/>
              <a:t> </a:t>
            </a:r>
            <a:r>
              <a:rPr spc="-10" dirty="0"/>
              <a:t>details?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7120"/>
            <a:ext cx="7407909" cy="16713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LLMs</a:t>
            </a:r>
            <a:r>
              <a:rPr sz="1800" spc="-1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really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well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trained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320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80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but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not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optimally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so!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Appreciable</a:t>
            </a:r>
            <a:r>
              <a:rPr sz="18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degree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world-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knowledge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Autoregressive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generation: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token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sampled,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it’s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fixed!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LLM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nonetheless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maximize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likelihood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overall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95" dirty="0"/>
              <a:t> </a:t>
            </a:r>
            <a:r>
              <a:rPr spc="-60" dirty="0"/>
              <a:t>can’t</a:t>
            </a:r>
            <a:r>
              <a:rPr spc="-100" dirty="0"/>
              <a:t> </a:t>
            </a:r>
            <a:r>
              <a:rPr dirty="0"/>
              <a:t>LLMs</a:t>
            </a:r>
            <a:r>
              <a:rPr spc="-95" dirty="0"/>
              <a:t> </a:t>
            </a:r>
            <a:r>
              <a:rPr dirty="0"/>
              <a:t>help</a:t>
            </a:r>
            <a:r>
              <a:rPr spc="-95" dirty="0"/>
              <a:t> </a:t>
            </a:r>
            <a:r>
              <a:rPr spc="-20" dirty="0"/>
              <a:t>themselves</a:t>
            </a:r>
            <a:r>
              <a:rPr spc="-95" dirty="0"/>
              <a:t> </a:t>
            </a:r>
            <a:r>
              <a:rPr dirty="0"/>
              <a:t>from</a:t>
            </a:r>
            <a:r>
              <a:rPr spc="-95" dirty="0"/>
              <a:t> </a:t>
            </a:r>
            <a:r>
              <a:rPr spc="-20" dirty="0"/>
              <a:t>fabricating</a:t>
            </a:r>
            <a:r>
              <a:rPr spc="-90" dirty="0"/>
              <a:t> </a:t>
            </a:r>
            <a:r>
              <a:rPr spc="-10" dirty="0"/>
              <a:t>details?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7120"/>
            <a:ext cx="8092440" cy="29057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LLMs</a:t>
            </a:r>
            <a:r>
              <a:rPr sz="1800" spc="-1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really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well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trained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320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80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but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not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optimally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so!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Appreciable</a:t>
            </a:r>
            <a:r>
              <a:rPr sz="18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degree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world-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knowledge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Autoregressive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generation: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token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sampled,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it’s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fixed!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LLM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nonetheless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maximize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likelihood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overall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endParaRPr sz="1800">
              <a:latin typeface="Roboto"/>
              <a:cs typeface="Roboto"/>
            </a:endParaRPr>
          </a:p>
          <a:p>
            <a:pPr marL="379095" marR="5080" indent="-367030">
              <a:lnSpc>
                <a:spcPct val="15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Hallucinations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absent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some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repeated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generations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the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same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Consistency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across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different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generations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leveraged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66450"/>
            <a:ext cx="9144000" cy="4077335"/>
            <a:chOff x="0" y="1066450"/>
            <a:chExt cx="9144000" cy="4077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100" y="1066450"/>
              <a:ext cx="4671590" cy="38100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6200" y="3876950"/>
              <a:ext cx="4017799" cy="101039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Multi-</a:t>
            </a:r>
            <a:r>
              <a:rPr spc="-50" dirty="0"/>
              <a:t>Response</a:t>
            </a:r>
            <a:r>
              <a:rPr spc="-60" dirty="0"/>
              <a:t> Consistency-</a:t>
            </a:r>
            <a:r>
              <a:rPr spc="-40" dirty="0"/>
              <a:t>Based</a:t>
            </a:r>
            <a:r>
              <a:rPr spc="-55" dirty="0"/>
              <a:t> </a:t>
            </a:r>
            <a:r>
              <a:rPr spc="-20" dirty="0"/>
              <a:t>Detection</a:t>
            </a:r>
            <a:r>
              <a:rPr spc="-5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35000" y="1293755"/>
            <a:ext cx="3284220" cy="240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Detection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scores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with: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46926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BERTScore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Question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Answering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69265" algn="l"/>
              </a:tabLst>
            </a:pPr>
            <a:r>
              <a:rPr sz="1800" spc="-105" dirty="0">
                <a:solidFill>
                  <a:srgbClr val="434343"/>
                </a:solidFill>
                <a:latin typeface="Roboto"/>
                <a:cs typeface="Roboto"/>
              </a:rPr>
              <a:t>N-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gram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Analysis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Natural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Language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Inference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SelfCheckGPT</a:t>
            </a:r>
            <a:r>
              <a:rPr sz="1800" spc="-9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320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80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4903494"/>
            <a:ext cx="68008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Manakul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et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al.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SELFCHECKGPT: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Roboto"/>
                <a:cs typeface="Roboto"/>
              </a:rPr>
              <a:t>Zero-</a:t>
            </a:r>
            <a:r>
              <a:rPr sz="1000" spc="-25" dirty="0">
                <a:solidFill>
                  <a:srgbClr val="FFFFFF"/>
                </a:solidFill>
                <a:latin typeface="Roboto"/>
                <a:cs typeface="Roboto"/>
              </a:rPr>
              <a:t>Resource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Roboto"/>
                <a:cs typeface="Roboto"/>
              </a:rPr>
              <a:t>Black-</a:t>
            </a:r>
            <a:r>
              <a:rPr sz="1000" spc="-20" dirty="0">
                <a:solidFill>
                  <a:srgbClr val="FFFFFF"/>
                </a:solidFill>
                <a:latin typeface="Roboto"/>
                <a:cs typeface="Roboto"/>
              </a:rPr>
              <a:t>Box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Roboto"/>
                <a:cs typeface="Roboto"/>
              </a:rPr>
              <a:t>Hallucination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Detection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 for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Generative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Large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Language</a:t>
            </a: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Models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Multi-</a:t>
            </a:r>
            <a:r>
              <a:rPr spc="-50" dirty="0"/>
              <a:t>Response</a:t>
            </a:r>
            <a:r>
              <a:rPr spc="-60" dirty="0"/>
              <a:t> Consistency-</a:t>
            </a:r>
            <a:r>
              <a:rPr spc="-40" dirty="0"/>
              <a:t>Based</a:t>
            </a:r>
            <a:r>
              <a:rPr spc="-55" dirty="0"/>
              <a:t> </a:t>
            </a:r>
            <a:r>
              <a:rPr spc="-20" dirty="0"/>
              <a:t>Detection</a:t>
            </a:r>
            <a:r>
              <a:rPr spc="-5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4903494"/>
            <a:ext cx="4764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Chen</a:t>
            </a:r>
            <a:r>
              <a:rPr sz="10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et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al.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INSIDE: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Roboto"/>
                <a:cs typeface="Roboto"/>
              </a:rPr>
              <a:t>LLMs'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Internal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States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Retain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Power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Roboto"/>
                <a:cs typeface="Roboto"/>
              </a:rPr>
              <a:t>Hallucination</a:t>
            </a:r>
            <a:r>
              <a:rPr sz="10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oboto"/>
                <a:cs typeface="Roboto"/>
              </a:rPr>
              <a:t>Detection</a:t>
            </a:r>
            <a:endParaRPr sz="10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0200"/>
            <a:ext cx="8839197" cy="30339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6859" y="4061099"/>
            <a:ext cx="205803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230" marR="5080" indent="-558165">
              <a:lnSpc>
                <a:spcPct val="139500"/>
              </a:lnSpc>
              <a:spcBef>
                <a:spcPts val="100"/>
              </a:spcBef>
            </a:pPr>
            <a:r>
              <a:rPr sz="1400" spc="-50" dirty="0">
                <a:solidFill>
                  <a:srgbClr val="434343"/>
                </a:solidFill>
                <a:latin typeface="Roboto"/>
                <a:cs typeface="Roboto"/>
              </a:rPr>
              <a:t>Population-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level</a:t>
            </a:r>
            <a:r>
              <a:rPr sz="1400" spc="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detection with</a:t>
            </a:r>
            <a:r>
              <a:rPr sz="14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INSIDE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72399"/>
            <a:ext cx="9149080" cy="3671570"/>
            <a:chOff x="0" y="1472399"/>
            <a:chExt cx="9149080" cy="36715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1260" y="1472399"/>
              <a:ext cx="6129588" cy="34200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03599" y="2230674"/>
              <a:ext cx="3589020" cy="2572385"/>
            </a:xfrm>
            <a:custGeom>
              <a:avLst/>
              <a:gdLst/>
              <a:ahLst/>
              <a:cxnLst/>
              <a:rect l="l" t="t" r="r" b="b"/>
              <a:pathLst>
                <a:path w="3589020" h="2572385">
                  <a:moveTo>
                    <a:pt x="3588899" y="2572199"/>
                  </a:moveTo>
                  <a:lnTo>
                    <a:pt x="0" y="2572199"/>
                  </a:lnTo>
                  <a:lnTo>
                    <a:pt x="0" y="0"/>
                  </a:lnTo>
                  <a:lnTo>
                    <a:pt x="3588899" y="0"/>
                  </a:lnTo>
                  <a:lnTo>
                    <a:pt x="3588899" y="2572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3599" y="2230674"/>
              <a:ext cx="3589020" cy="2572385"/>
            </a:xfrm>
            <a:custGeom>
              <a:avLst/>
              <a:gdLst/>
              <a:ahLst/>
              <a:cxnLst/>
              <a:rect l="l" t="t" r="r" b="b"/>
              <a:pathLst>
                <a:path w="3589020" h="2572385">
                  <a:moveTo>
                    <a:pt x="0" y="0"/>
                  </a:moveTo>
                  <a:lnTo>
                    <a:pt x="3588899" y="0"/>
                  </a:lnTo>
                  <a:lnTo>
                    <a:pt x="3588899" y="2572199"/>
                  </a:lnTo>
                  <a:lnTo>
                    <a:pt x="0" y="257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38025" y="3887999"/>
              <a:ext cx="1606550" cy="999490"/>
            </a:xfrm>
            <a:custGeom>
              <a:avLst/>
              <a:gdLst/>
              <a:ahLst/>
              <a:cxnLst/>
              <a:rect l="l" t="t" r="r" b="b"/>
              <a:pathLst>
                <a:path w="1606550" h="999489">
                  <a:moveTo>
                    <a:pt x="1605975" y="999299"/>
                  </a:moveTo>
                  <a:lnTo>
                    <a:pt x="0" y="999299"/>
                  </a:lnTo>
                  <a:lnTo>
                    <a:pt x="0" y="0"/>
                  </a:lnTo>
                  <a:lnTo>
                    <a:pt x="1605975" y="0"/>
                  </a:lnTo>
                  <a:lnTo>
                    <a:pt x="1605975" y="99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38025" y="3887999"/>
              <a:ext cx="1606550" cy="999490"/>
            </a:xfrm>
            <a:custGeom>
              <a:avLst/>
              <a:gdLst/>
              <a:ahLst/>
              <a:cxnLst/>
              <a:rect l="l" t="t" r="r" b="b"/>
              <a:pathLst>
                <a:path w="1606550" h="999489">
                  <a:moveTo>
                    <a:pt x="1605975" y="999299"/>
                  </a:moveTo>
                  <a:lnTo>
                    <a:pt x="0" y="999299"/>
                  </a:lnTo>
                  <a:lnTo>
                    <a:pt x="0" y="0"/>
                  </a:lnTo>
                  <a:lnTo>
                    <a:pt x="1605975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Classification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Hallucination</a:t>
            </a:r>
            <a:r>
              <a:rPr spc="-50" dirty="0"/>
              <a:t> </a:t>
            </a:r>
            <a:r>
              <a:rPr spc="-20" dirty="0"/>
              <a:t>Detection</a:t>
            </a:r>
            <a:r>
              <a:rPr spc="-50" dirty="0"/>
              <a:t> </a:t>
            </a:r>
            <a:r>
              <a:rPr spc="-10" dirty="0"/>
              <a:t>Settings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72399"/>
            <a:ext cx="9149080" cy="3671570"/>
            <a:chOff x="0" y="1472399"/>
            <a:chExt cx="9149080" cy="36715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1260" y="1472399"/>
              <a:ext cx="6129588" cy="34200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590849" y="2238974"/>
              <a:ext cx="1553210" cy="2649855"/>
            </a:xfrm>
            <a:custGeom>
              <a:avLst/>
              <a:gdLst/>
              <a:ahLst/>
              <a:cxnLst/>
              <a:rect l="l" t="t" r="r" b="b"/>
              <a:pathLst>
                <a:path w="1553209" h="2649854">
                  <a:moveTo>
                    <a:pt x="1553150" y="2649599"/>
                  </a:moveTo>
                  <a:lnTo>
                    <a:pt x="0" y="2649599"/>
                  </a:lnTo>
                  <a:lnTo>
                    <a:pt x="0" y="0"/>
                  </a:lnTo>
                  <a:lnTo>
                    <a:pt x="1553150" y="0"/>
                  </a:lnTo>
                  <a:lnTo>
                    <a:pt x="1553150" y="2649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0849" y="2238974"/>
              <a:ext cx="1553210" cy="2649855"/>
            </a:xfrm>
            <a:custGeom>
              <a:avLst/>
              <a:gdLst/>
              <a:ahLst/>
              <a:cxnLst/>
              <a:rect l="l" t="t" r="r" b="b"/>
              <a:pathLst>
                <a:path w="1553209" h="2649854">
                  <a:moveTo>
                    <a:pt x="1553150" y="2649599"/>
                  </a:moveTo>
                  <a:lnTo>
                    <a:pt x="0" y="2649599"/>
                  </a:lnTo>
                  <a:lnTo>
                    <a:pt x="0" y="0"/>
                  </a:lnTo>
                  <a:lnTo>
                    <a:pt x="1553150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Classification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Hallucination</a:t>
            </a:r>
            <a:r>
              <a:rPr spc="-50" dirty="0"/>
              <a:t> </a:t>
            </a:r>
            <a:r>
              <a:rPr spc="-20" dirty="0"/>
              <a:t>Detection</a:t>
            </a:r>
            <a:r>
              <a:rPr spc="-50" dirty="0"/>
              <a:t> </a:t>
            </a:r>
            <a:r>
              <a:rPr spc="-10" dirty="0"/>
              <a:t>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Detection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Hallucinations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0" dirty="0"/>
              <a:t>LLMs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097292"/>
            <a:ext cx="6549390" cy="68516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7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Multiple</a:t>
            </a:r>
            <a:r>
              <a:rPr sz="165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LLM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responses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85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65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inference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overheads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expensive</a:t>
            </a: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Retraining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65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85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65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train-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overhead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generalization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issues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377" y="2091020"/>
            <a:ext cx="7652384" cy="1779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5"/>
              </a:lnSpc>
              <a:tabLst>
                <a:tab pos="355600" algn="l"/>
              </a:tabLst>
            </a:pPr>
            <a:r>
              <a:rPr sz="1650" spc="-50" dirty="0">
                <a:solidFill>
                  <a:srgbClr val="434343"/>
                </a:solidFill>
                <a:latin typeface="Microsoft Sans Serif"/>
                <a:cs typeface="Microsoft Sans Serif"/>
              </a:rPr>
              <a:t>●</a:t>
            </a:r>
            <a:r>
              <a:rPr sz="1650" dirty="0">
                <a:solidFill>
                  <a:srgbClr val="434343"/>
                </a:solidFill>
                <a:latin typeface="Microsoft Sans Serif"/>
                <a:cs typeface="Microsoft Sans Serif"/>
              </a:rPr>
              <a:t>	</a:t>
            </a: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Broad-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ranging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settings: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with/without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references,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whitebox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vs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blackbox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tabLst>
                <a:tab pos="355600" algn="l"/>
              </a:tabLst>
            </a:pPr>
            <a:r>
              <a:rPr sz="1650" spc="-50" dirty="0">
                <a:solidFill>
                  <a:srgbClr val="434343"/>
                </a:solidFill>
                <a:latin typeface="Microsoft Sans Serif"/>
                <a:cs typeface="Microsoft Sans Serif"/>
              </a:rPr>
              <a:t>●</a:t>
            </a:r>
            <a:r>
              <a:rPr sz="1650" dirty="0">
                <a:solidFill>
                  <a:srgbClr val="434343"/>
                </a:solidFill>
                <a:latin typeface="Microsoft Sans Serif"/>
                <a:cs typeface="Microsoft Sans Serif"/>
              </a:rPr>
              <a:t>	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Population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vs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Single-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analysis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tabLst>
                <a:tab pos="355600" algn="l"/>
              </a:tabLst>
            </a:pPr>
            <a:r>
              <a:rPr sz="1650" spc="-50" dirty="0">
                <a:solidFill>
                  <a:srgbClr val="434343"/>
                </a:solidFill>
                <a:latin typeface="Microsoft Sans Serif"/>
                <a:cs typeface="Microsoft Sans Serif"/>
              </a:rPr>
              <a:t>●</a:t>
            </a:r>
            <a:r>
              <a:rPr sz="1650" dirty="0">
                <a:solidFill>
                  <a:srgbClr val="434343"/>
                </a:solidFill>
                <a:latin typeface="Microsoft Sans Serif"/>
                <a:cs typeface="Microsoft Sans Serif"/>
              </a:rPr>
              <a:t>	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Without</a:t>
            </a:r>
            <a:r>
              <a:rPr sz="1650" spc="37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finetuning/retraining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considerable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inference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overheads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tabLst>
                <a:tab pos="355600" algn="l"/>
              </a:tabLst>
            </a:pPr>
            <a:r>
              <a:rPr sz="1650" spc="-50" dirty="0">
                <a:solidFill>
                  <a:srgbClr val="434343"/>
                </a:solidFill>
                <a:latin typeface="Microsoft Sans Serif"/>
                <a:cs typeface="Microsoft Sans Serif"/>
              </a:rPr>
              <a:t>●</a:t>
            </a:r>
            <a:r>
              <a:rPr sz="1650" dirty="0">
                <a:solidFill>
                  <a:srgbClr val="434343"/>
                </a:solidFill>
                <a:latin typeface="Microsoft Sans Serif"/>
                <a:cs typeface="Microsoft Sans Serif"/>
              </a:rPr>
              <a:t>	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leverage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rich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semantic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representations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LLMs?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tabLst>
                <a:tab pos="355600" algn="l"/>
              </a:tabLst>
            </a:pPr>
            <a:r>
              <a:rPr sz="1650" spc="-50" dirty="0">
                <a:solidFill>
                  <a:srgbClr val="434343"/>
                </a:solidFill>
                <a:latin typeface="Microsoft Sans Serif"/>
                <a:cs typeface="Microsoft Sans Serif"/>
              </a:rPr>
              <a:t>●</a:t>
            </a:r>
            <a:r>
              <a:rPr sz="1650" dirty="0">
                <a:solidFill>
                  <a:srgbClr val="434343"/>
                </a:solidFill>
                <a:latin typeface="Microsoft Sans Serif"/>
                <a:cs typeface="Microsoft Sans Serif"/>
              </a:rPr>
              <a:t>	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Analyze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all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model-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related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latent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output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observables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available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single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4625" y="3951925"/>
            <a:ext cx="1238885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5"/>
              </a:lnSpc>
            </a:pP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forward-</a:t>
            </a: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pass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8312" y="2109174"/>
            <a:ext cx="7850505" cy="2634615"/>
            <a:chOff x="388312" y="2109174"/>
            <a:chExt cx="7850505" cy="2634615"/>
          </a:xfrm>
        </p:grpSpPr>
        <p:sp>
          <p:nvSpPr>
            <p:cNvPr id="7" name="object 7"/>
            <p:cNvSpPr/>
            <p:nvPr/>
          </p:nvSpPr>
          <p:spPr>
            <a:xfrm>
              <a:off x="393065" y="2109177"/>
              <a:ext cx="7845425" cy="2629535"/>
            </a:xfrm>
            <a:custGeom>
              <a:avLst/>
              <a:gdLst/>
              <a:ahLst/>
              <a:cxnLst/>
              <a:rect l="l" t="t" r="r" b="b"/>
              <a:pathLst>
                <a:path w="7845425" h="2629535">
                  <a:moveTo>
                    <a:pt x="7845298" y="0"/>
                  </a:moveTo>
                  <a:lnTo>
                    <a:pt x="37807" y="0"/>
                  </a:lnTo>
                  <a:lnTo>
                    <a:pt x="37807" y="1479397"/>
                  </a:lnTo>
                  <a:lnTo>
                    <a:pt x="0" y="1479397"/>
                  </a:lnTo>
                  <a:lnTo>
                    <a:pt x="0" y="2629306"/>
                  </a:lnTo>
                  <a:lnTo>
                    <a:pt x="5146205" y="2629306"/>
                  </a:lnTo>
                  <a:lnTo>
                    <a:pt x="5146205" y="1763699"/>
                  </a:lnTo>
                  <a:lnTo>
                    <a:pt x="7845298" y="1763699"/>
                  </a:lnTo>
                  <a:lnTo>
                    <a:pt x="78452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074" y="3588574"/>
              <a:ext cx="5146675" cy="1149985"/>
            </a:xfrm>
            <a:custGeom>
              <a:avLst/>
              <a:gdLst/>
              <a:ahLst/>
              <a:cxnLst/>
              <a:rect l="l" t="t" r="r" b="b"/>
              <a:pathLst>
                <a:path w="5146675" h="1149985">
                  <a:moveTo>
                    <a:pt x="0" y="0"/>
                  </a:moveTo>
                  <a:lnTo>
                    <a:pt x="5146199" y="0"/>
                  </a:lnTo>
                  <a:lnTo>
                    <a:pt x="5146199" y="1149899"/>
                  </a:lnTo>
                  <a:lnTo>
                    <a:pt x="0" y="1149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Detection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Hallucinations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0" dirty="0"/>
              <a:t>LLMs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097292"/>
            <a:ext cx="6991350" cy="19050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7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Multiple</a:t>
            </a:r>
            <a:r>
              <a:rPr sz="165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LLM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responses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85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65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inference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overheads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expensive</a:t>
            </a: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Retraining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65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85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65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train-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overhead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generalization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issues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434343"/>
              </a:buClr>
              <a:buFont typeface="Microsoft Sans Serif"/>
              <a:buChar char="●"/>
            </a:pP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buFont typeface="Microsoft Sans Serif"/>
              <a:buChar char="●"/>
              <a:tabLst>
                <a:tab pos="368300" algn="l"/>
              </a:tabLst>
            </a:pP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Broad-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ranging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settings: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with/without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references,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whitebox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vs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blackbox</a:t>
            </a: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spcBef>
                <a:spcPts val="620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Population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vs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Single-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analysis</a:t>
            </a: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Without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finetuning/retraining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considerable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inference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overheads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377" y="3292185"/>
            <a:ext cx="7652384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5"/>
              </a:lnSpc>
              <a:tabLst>
                <a:tab pos="355600" algn="l"/>
              </a:tabLst>
            </a:pPr>
            <a:r>
              <a:rPr sz="1650" spc="-50" dirty="0">
                <a:solidFill>
                  <a:srgbClr val="434343"/>
                </a:solidFill>
                <a:latin typeface="Microsoft Sans Serif"/>
                <a:cs typeface="Microsoft Sans Serif"/>
              </a:rPr>
              <a:t>●</a:t>
            </a:r>
            <a:r>
              <a:rPr sz="1650" dirty="0">
                <a:solidFill>
                  <a:srgbClr val="434343"/>
                </a:solidFill>
                <a:latin typeface="Microsoft Sans Serif"/>
                <a:cs typeface="Microsoft Sans Serif"/>
              </a:rPr>
              <a:t>	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leverage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rich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semantic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representations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LLMs?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tabLst>
                <a:tab pos="355600" algn="l"/>
              </a:tabLst>
            </a:pPr>
            <a:r>
              <a:rPr sz="1650" spc="-50" dirty="0">
                <a:solidFill>
                  <a:srgbClr val="434343"/>
                </a:solidFill>
                <a:latin typeface="Microsoft Sans Serif"/>
                <a:cs typeface="Microsoft Sans Serif"/>
              </a:rPr>
              <a:t>●</a:t>
            </a:r>
            <a:r>
              <a:rPr sz="1650" dirty="0">
                <a:solidFill>
                  <a:srgbClr val="434343"/>
                </a:solidFill>
                <a:latin typeface="Microsoft Sans Serif"/>
                <a:cs typeface="Microsoft Sans Serif"/>
              </a:rPr>
              <a:t>	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Analyze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all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model-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related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latent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output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observables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available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single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4625" y="3951925"/>
            <a:ext cx="1238885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5"/>
              </a:lnSpc>
            </a:pP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forward-</a:t>
            </a: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pass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8312" y="3146599"/>
            <a:ext cx="7850505" cy="1597025"/>
            <a:chOff x="388312" y="3146599"/>
            <a:chExt cx="7850505" cy="1597025"/>
          </a:xfrm>
        </p:grpSpPr>
        <p:sp>
          <p:nvSpPr>
            <p:cNvPr id="7" name="object 7"/>
            <p:cNvSpPr/>
            <p:nvPr/>
          </p:nvSpPr>
          <p:spPr>
            <a:xfrm>
              <a:off x="393065" y="3146602"/>
              <a:ext cx="7845425" cy="1591945"/>
            </a:xfrm>
            <a:custGeom>
              <a:avLst/>
              <a:gdLst/>
              <a:ahLst/>
              <a:cxnLst/>
              <a:rect l="l" t="t" r="r" b="b"/>
              <a:pathLst>
                <a:path w="7845425" h="1591945">
                  <a:moveTo>
                    <a:pt x="7845298" y="0"/>
                  </a:moveTo>
                  <a:lnTo>
                    <a:pt x="37807" y="0"/>
                  </a:lnTo>
                  <a:lnTo>
                    <a:pt x="37807" y="441972"/>
                  </a:lnTo>
                  <a:lnTo>
                    <a:pt x="0" y="441972"/>
                  </a:lnTo>
                  <a:lnTo>
                    <a:pt x="0" y="1591881"/>
                  </a:lnTo>
                  <a:lnTo>
                    <a:pt x="5146205" y="1591881"/>
                  </a:lnTo>
                  <a:lnTo>
                    <a:pt x="5146205" y="726300"/>
                  </a:lnTo>
                  <a:lnTo>
                    <a:pt x="7845298" y="726300"/>
                  </a:lnTo>
                  <a:lnTo>
                    <a:pt x="78452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074" y="3588574"/>
              <a:ext cx="5146675" cy="1149985"/>
            </a:xfrm>
            <a:custGeom>
              <a:avLst/>
              <a:gdLst/>
              <a:ahLst/>
              <a:cxnLst/>
              <a:rect l="l" t="t" r="r" b="b"/>
              <a:pathLst>
                <a:path w="5146675" h="1149985">
                  <a:moveTo>
                    <a:pt x="0" y="0"/>
                  </a:moveTo>
                  <a:lnTo>
                    <a:pt x="5146199" y="0"/>
                  </a:lnTo>
                  <a:lnTo>
                    <a:pt x="5146199" y="1149899"/>
                  </a:lnTo>
                  <a:lnTo>
                    <a:pt x="0" y="1149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Detection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Hallucinations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0" dirty="0"/>
              <a:t>LLMs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097292"/>
            <a:ext cx="7677784" cy="310642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7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Multiple</a:t>
            </a:r>
            <a:r>
              <a:rPr sz="165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LLM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responses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85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65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inference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overheads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expensive</a:t>
            </a: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Retraining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65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85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165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train-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overhead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generalization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issues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434343"/>
              </a:buClr>
              <a:buFont typeface="Microsoft Sans Serif"/>
              <a:buChar char="●"/>
            </a:pP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buFont typeface="Microsoft Sans Serif"/>
              <a:buChar char="●"/>
              <a:tabLst>
                <a:tab pos="368300" algn="l"/>
              </a:tabLst>
            </a:pP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Broad-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ranging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settings: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with/without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references,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whitebox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vs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blackbox</a:t>
            </a: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spcBef>
                <a:spcPts val="620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Population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vs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60" dirty="0">
                <a:solidFill>
                  <a:srgbClr val="434343"/>
                </a:solidFill>
                <a:latin typeface="Roboto"/>
                <a:cs typeface="Roboto"/>
              </a:rPr>
              <a:t>Single-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analysis</a:t>
            </a: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Without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34343"/>
                </a:solidFill>
                <a:latin typeface="Roboto"/>
                <a:cs typeface="Roboto"/>
              </a:rPr>
              <a:t>finetuning/retraining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considerable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inference</a:t>
            </a:r>
            <a:r>
              <a:rPr sz="165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time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overheads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434343"/>
              </a:buClr>
              <a:buFont typeface="Microsoft Sans Serif"/>
              <a:buChar char="●"/>
            </a:pPr>
            <a:endParaRPr sz="1650">
              <a:latin typeface="Roboto"/>
              <a:cs typeface="Roboto"/>
            </a:endParaRPr>
          </a:p>
          <a:p>
            <a:pPr marL="368300" indent="-355600">
              <a:lnSpc>
                <a:spcPct val="100000"/>
              </a:lnSpc>
              <a:buFont typeface="Microsoft Sans Serif"/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leverage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rich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semantic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representations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65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LLMs?</a:t>
            </a:r>
            <a:endParaRPr sz="1650">
              <a:latin typeface="Roboto"/>
              <a:cs typeface="Roboto"/>
            </a:endParaRPr>
          </a:p>
          <a:p>
            <a:pPr marL="368935" marR="5080" indent="-356870">
              <a:lnSpc>
                <a:spcPct val="131200"/>
              </a:lnSpc>
              <a:buFont typeface="Microsoft Sans Serif"/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Analyze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all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model-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related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latent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output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observables</a:t>
            </a:r>
            <a:r>
              <a:rPr sz="165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available</a:t>
            </a:r>
            <a:r>
              <a:rPr sz="165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single </a:t>
            </a:r>
            <a:r>
              <a:rPr sz="1650" spc="-25" dirty="0">
                <a:solidFill>
                  <a:srgbClr val="434343"/>
                </a:solidFill>
                <a:latin typeface="Roboto"/>
                <a:cs typeface="Roboto"/>
              </a:rPr>
              <a:t>forward-</a:t>
            </a:r>
            <a:r>
              <a:rPr sz="1650" spc="-50" dirty="0">
                <a:solidFill>
                  <a:srgbClr val="434343"/>
                </a:solidFill>
                <a:latin typeface="Roboto"/>
                <a:cs typeface="Roboto"/>
              </a:rPr>
              <a:t>pass</a:t>
            </a:r>
            <a:r>
              <a:rPr sz="165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an</a:t>
            </a:r>
            <a:r>
              <a:rPr sz="165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LLM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650" spc="-35" dirty="0">
                <a:solidFill>
                  <a:srgbClr val="434343"/>
                </a:solidFill>
                <a:latin typeface="Roboto"/>
                <a:cs typeface="Roboto"/>
              </a:rPr>
              <a:t>teacher-</a:t>
            </a:r>
            <a:r>
              <a:rPr sz="1650" spc="-10" dirty="0">
                <a:solidFill>
                  <a:srgbClr val="434343"/>
                </a:solidFill>
                <a:latin typeface="Roboto"/>
                <a:cs typeface="Roboto"/>
              </a:rPr>
              <a:t>forcing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37750"/>
            <a:ext cx="9144000" cy="3006090"/>
            <a:chOff x="0" y="2137750"/>
            <a:chExt cx="9144000" cy="30060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3955" y="2137750"/>
              <a:ext cx="3893626" cy="25313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30887" y="2525099"/>
              <a:ext cx="1416685" cy="93345"/>
            </a:xfrm>
            <a:custGeom>
              <a:avLst/>
              <a:gdLst/>
              <a:ahLst/>
              <a:cxnLst/>
              <a:rect l="l" t="t" r="r" b="b"/>
              <a:pathLst>
                <a:path w="1416684" h="93344">
                  <a:moveTo>
                    <a:pt x="1416299" y="93299"/>
                  </a:moveTo>
                  <a:lnTo>
                    <a:pt x="0" y="93299"/>
                  </a:lnTo>
                  <a:lnTo>
                    <a:pt x="0" y="0"/>
                  </a:lnTo>
                  <a:lnTo>
                    <a:pt x="1416299" y="0"/>
                  </a:lnTo>
                  <a:lnTo>
                    <a:pt x="1416299" y="9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30887" y="2525099"/>
              <a:ext cx="1416685" cy="93345"/>
            </a:xfrm>
            <a:custGeom>
              <a:avLst/>
              <a:gdLst/>
              <a:ahLst/>
              <a:cxnLst/>
              <a:rect l="l" t="t" r="r" b="b"/>
              <a:pathLst>
                <a:path w="1416684" h="93344">
                  <a:moveTo>
                    <a:pt x="0" y="0"/>
                  </a:moveTo>
                  <a:lnTo>
                    <a:pt x="1416299" y="0"/>
                  </a:lnTo>
                  <a:lnTo>
                    <a:pt x="1416299" y="93299"/>
                  </a:lnTo>
                  <a:lnTo>
                    <a:pt x="0" y="93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50" dirty="0"/>
              <a:t> </a:t>
            </a:r>
            <a:r>
              <a:rPr spc="-20" dirty="0"/>
              <a:t>Detection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Hallucinations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20" dirty="0"/>
              <a:t>LLMs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5249" y="1156595"/>
            <a:ext cx="569849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Eigenvalue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Analysis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Internal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LLM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Representations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Output</a:t>
            </a:r>
            <a:r>
              <a:rPr sz="180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Token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Uncertainty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Quantification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37750"/>
            <a:ext cx="9144000" cy="3006090"/>
            <a:chOff x="0" y="2137750"/>
            <a:chExt cx="9144000" cy="30060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3955" y="2137750"/>
              <a:ext cx="3893626" cy="25313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30887" y="2525099"/>
              <a:ext cx="1416685" cy="93345"/>
            </a:xfrm>
            <a:custGeom>
              <a:avLst/>
              <a:gdLst/>
              <a:ahLst/>
              <a:cxnLst/>
              <a:rect l="l" t="t" r="r" b="b"/>
              <a:pathLst>
                <a:path w="1416684" h="93344">
                  <a:moveTo>
                    <a:pt x="1416299" y="93299"/>
                  </a:moveTo>
                  <a:lnTo>
                    <a:pt x="0" y="93299"/>
                  </a:lnTo>
                  <a:lnTo>
                    <a:pt x="0" y="0"/>
                  </a:lnTo>
                  <a:lnTo>
                    <a:pt x="1416299" y="0"/>
                  </a:lnTo>
                  <a:lnTo>
                    <a:pt x="1416299" y="9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30887" y="2525099"/>
              <a:ext cx="1416685" cy="93345"/>
            </a:xfrm>
            <a:custGeom>
              <a:avLst/>
              <a:gdLst/>
              <a:ahLst/>
              <a:cxnLst/>
              <a:rect l="l" t="t" r="r" b="b"/>
              <a:pathLst>
                <a:path w="1416684" h="93344">
                  <a:moveTo>
                    <a:pt x="0" y="0"/>
                  </a:moveTo>
                  <a:lnTo>
                    <a:pt x="1416299" y="0"/>
                  </a:lnTo>
                  <a:lnTo>
                    <a:pt x="1416299" y="93299"/>
                  </a:lnTo>
                  <a:lnTo>
                    <a:pt x="0" y="93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70" dirty="0"/>
              <a:t> </a:t>
            </a:r>
            <a:r>
              <a:rPr spc="-20" dirty="0"/>
              <a:t>Analyzing</a:t>
            </a:r>
            <a:r>
              <a:rPr spc="-70" dirty="0"/>
              <a:t> </a:t>
            </a:r>
            <a:r>
              <a:rPr dirty="0"/>
              <a:t>model</a:t>
            </a:r>
            <a:r>
              <a:rPr spc="-70" dirty="0"/>
              <a:t> </a:t>
            </a:r>
            <a:r>
              <a:rPr spc="-10" dirty="0"/>
              <a:t>internals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5249" y="1156595"/>
            <a:ext cx="139446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788" y="1294776"/>
            <a:ext cx="2345970" cy="313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2875" y="1722179"/>
            <a:ext cx="2457656" cy="3141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1325" y="3462149"/>
            <a:ext cx="3114647" cy="5180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70" dirty="0"/>
              <a:t> </a:t>
            </a:r>
            <a:r>
              <a:rPr spc="-20" dirty="0"/>
              <a:t>Analyzing</a:t>
            </a:r>
            <a:r>
              <a:rPr spc="-70" dirty="0"/>
              <a:t> </a:t>
            </a:r>
            <a:r>
              <a:rPr dirty="0"/>
              <a:t>model</a:t>
            </a:r>
            <a:r>
              <a:rPr spc="-70" dirty="0"/>
              <a:t> </a:t>
            </a:r>
            <a:r>
              <a:rPr spc="-10" dirty="0"/>
              <a:t>internals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156595"/>
            <a:ext cx="2306955" cy="269748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buClr>
                <a:srgbClr val="434343"/>
              </a:buClr>
              <a:buFont typeface="Microsoft Sans Serif"/>
              <a:buChar char="●"/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434343"/>
              </a:buClr>
              <a:buFont typeface="Microsoft Sans Serif"/>
              <a:buChar char="●"/>
            </a:pP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Attention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Kernels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buClr>
                <a:srgbClr val="434343"/>
              </a:buClr>
              <a:buFont typeface="Microsoft Sans Serif"/>
              <a:buChar char="●"/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434343"/>
              </a:buClr>
              <a:buFont typeface="Microsoft Sans Serif"/>
              <a:buChar char="●"/>
            </a:pP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Hidden</a:t>
            </a:r>
            <a:r>
              <a:rPr sz="18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Activations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788" y="1294776"/>
            <a:ext cx="2345970" cy="3130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2875" y="1722179"/>
            <a:ext cx="2457656" cy="3141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2556" y="2496294"/>
            <a:ext cx="4819650" cy="6355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700" y="3481999"/>
            <a:ext cx="6460174" cy="1661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4725" y="1198681"/>
            <a:ext cx="5417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Based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References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[1,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2,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3,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4,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5],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write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blog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article: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70" dirty="0"/>
              <a:t> </a:t>
            </a:r>
            <a:r>
              <a:rPr spc="-20" dirty="0"/>
              <a:t>Analyzing</a:t>
            </a:r>
            <a:r>
              <a:rPr spc="-70" dirty="0"/>
              <a:t> </a:t>
            </a:r>
            <a:r>
              <a:rPr dirty="0"/>
              <a:t>model</a:t>
            </a:r>
            <a:r>
              <a:rPr spc="-70" dirty="0"/>
              <a:t> </a:t>
            </a:r>
            <a:r>
              <a:rPr spc="-10" dirty="0"/>
              <a:t>internals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587" y="1651174"/>
            <a:ext cx="6458401" cy="16164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487" y="1322600"/>
            <a:ext cx="7833036" cy="3820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50" dirty="0"/>
              <a:t> </a:t>
            </a:r>
            <a:r>
              <a:rPr spc="-20" dirty="0"/>
              <a:t>Detection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Hallucinations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20" dirty="0"/>
              <a:t>LLMs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70" dirty="0"/>
              <a:t> </a:t>
            </a:r>
            <a:r>
              <a:rPr dirty="0"/>
              <a:t>Hidden</a:t>
            </a:r>
            <a:r>
              <a:rPr spc="-70" dirty="0"/>
              <a:t> </a:t>
            </a:r>
            <a:r>
              <a:rPr spc="-10" dirty="0"/>
              <a:t>Score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56595"/>
            <a:ext cx="767334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Distinct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changes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internals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within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given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hallucinated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Quantify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this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saliency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within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representations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eigen-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analysis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70" dirty="0"/>
              <a:t> </a:t>
            </a:r>
            <a:r>
              <a:rPr dirty="0"/>
              <a:t>Hidden</a:t>
            </a:r>
            <a:r>
              <a:rPr spc="-70" dirty="0"/>
              <a:t> </a:t>
            </a:r>
            <a:r>
              <a:rPr spc="-10" dirty="0"/>
              <a:t>Score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56595"/>
            <a:ext cx="7673340" cy="16713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Distinct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changes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model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internals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within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given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hallucinated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response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Quantify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this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saliency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within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representations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eigen-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analysis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seq.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tokens,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hidden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representations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matrix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shape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(d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×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m)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Compute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mean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70" dirty="0">
                <a:solidFill>
                  <a:srgbClr val="434343"/>
                </a:solidFill>
                <a:latin typeface="Roboto"/>
                <a:cs typeface="Roboto"/>
              </a:rPr>
              <a:t>log-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det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its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(m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m)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covariance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matrix: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136" y="3049720"/>
            <a:ext cx="7781014" cy="7253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42712"/>
            <a:ext cx="9144000" cy="3801110"/>
            <a:chOff x="0" y="1342712"/>
            <a:chExt cx="9144000" cy="3801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87" y="1342712"/>
              <a:ext cx="9031623" cy="25313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49200" y="2658175"/>
              <a:ext cx="5146675" cy="1149985"/>
            </a:xfrm>
            <a:custGeom>
              <a:avLst/>
              <a:gdLst/>
              <a:ahLst/>
              <a:cxnLst/>
              <a:rect l="l" t="t" r="r" b="b"/>
              <a:pathLst>
                <a:path w="5146675" h="1149985">
                  <a:moveTo>
                    <a:pt x="5146199" y="1149899"/>
                  </a:moveTo>
                  <a:lnTo>
                    <a:pt x="0" y="1149899"/>
                  </a:lnTo>
                  <a:lnTo>
                    <a:pt x="0" y="0"/>
                  </a:lnTo>
                  <a:lnTo>
                    <a:pt x="5146199" y="0"/>
                  </a:lnTo>
                  <a:lnTo>
                    <a:pt x="5146199" y="114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49200" y="2658175"/>
              <a:ext cx="5146675" cy="1149985"/>
            </a:xfrm>
            <a:custGeom>
              <a:avLst/>
              <a:gdLst/>
              <a:ahLst/>
              <a:cxnLst/>
              <a:rect l="l" t="t" r="r" b="b"/>
              <a:pathLst>
                <a:path w="5146675" h="1149985">
                  <a:moveTo>
                    <a:pt x="0" y="0"/>
                  </a:moveTo>
                  <a:lnTo>
                    <a:pt x="5146199" y="0"/>
                  </a:lnTo>
                  <a:lnTo>
                    <a:pt x="5146199" y="1149899"/>
                  </a:lnTo>
                  <a:lnTo>
                    <a:pt x="0" y="1149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70" dirty="0"/>
              <a:t> </a:t>
            </a:r>
            <a:r>
              <a:rPr dirty="0"/>
              <a:t>Hidden</a:t>
            </a:r>
            <a:r>
              <a:rPr spc="-70" dirty="0"/>
              <a:t> </a:t>
            </a:r>
            <a:r>
              <a:rPr spc="-10" dirty="0"/>
              <a:t>Score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700" y="3245475"/>
            <a:ext cx="5248725" cy="8991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65" dirty="0"/>
              <a:t> </a:t>
            </a:r>
            <a:r>
              <a:rPr spc="-10" dirty="0"/>
              <a:t>Attention</a:t>
            </a:r>
            <a:r>
              <a:rPr spc="-70" dirty="0"/>
              <a:t> </a:t>
            </a:r>
            <a:r>
              <a:rPr spc="-10" dirty="0"/>
              <a:t>Score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4449" y="1156595"/>
            <a:ext cx="8361680" cy="18770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29895" indent="-36639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429895" algn="l"/>
              </a:tabLst>
            </a:pP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Sensitivity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hallucinations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acutely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reflected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attention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mechanism</a:t>
            </a:r>
            <a:endParaRPr sz="1800">
              <a:latin typeface="Roboto"/>
              <a:cs typeface="Roboto"/>
            </a:endParaRPr>
          </a:p>
          <a:p>
            <a:pPr marL="4298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4298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Attention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kernels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tensors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shape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(a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×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m</a:t>
            </a:r>
            <a:r>
              <a:rPr sz="18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×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m)</a:t>
            </a:r>
            <a:endParaRPr sz="1800">
              <a:latin typeface="Roboto"/>
              <a:cs typeface="Roboto"/>
            </a:endParaRPr>
          </a:p>
          <a:p>
            <a:pPr marL="429895" indent="-366395">
              <a:lnSpc>
                <a:spcPct val="100000"/>
              </a:lnSpc>
              <a:spcBef>
                <a:spcPts val="1945"/>
              </a:spcBef>
              <a:buFont typeface="Microsoft Sans Serif"/>
              <a:buChar char="●"/>
              <a:tabLst>
                <a:tab pos="4298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each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attention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head,</a:t>
            </a:r>
            <a:r>
              <a:rPr sz="1800" spc="37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Ker</a:t>
            </a:r>
            <a:r>
              <a:rPr sz="2700" baseline="-30864" dirty="0">
                <a:solidFill>
                  <a:srgbClr val="434343"/>
                </a:solidFill>
                <a:latin typeface="Roboto"/>
                <a:cs typeface="Roboto"/>
              </a:rPr>
              <a:t>i</a:t>
            </a:r>
            <a:r>
              <a:rPr sz="2700" spc="-60" baseline="-30864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lower-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triangular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square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matrix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size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(m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×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m)</a:t>
            </a:r>
            <a:endParaRPr sz="1800">
              <a:latin typeface="Roboto"/>
              <a:cs typeface="Roboto"/>
            </a:endParaRPr>
          </a:p>
          <a:p>
            <a:pPr marL="429895" indent="-366395">
              <a:lnSpc>
                <a:spcPct val="100000"/>
              </a:lnSpc>
              <a:spcBef>
                <a:spcPts val="1835"/>
              </a:spcBef>
              <a:buFont typeface="Microsoft Sans Serif"/>
              <a:buChar char="●"/>
              <a:tabLst>
                <a:tab pos="4298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distribution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shift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Log-</a:t>
            </a:r>
            <a:r>
              <a:rPr sz="1800" spc="-35" dirty="0">
                <a:solidFill>
                  <a:srgbClr val="434343"/>
                </a:solidFill>
                <a:latin typeface="Roboto"/>
                <a:cs typeface="Roboto"/>
              </a:rPr>
              <a:t>determinant,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which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easily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reduces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as: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87" y="1342712"/>
            <a:ext cx="9031623" cy="25313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50" dirty="0"/>
              <a:t> </a:t>
            </a:r>
            <a:r>
              <a:rPr spc="-20" dirty="0"/>
              <a:t>Detection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Hallucinations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20" dirty="0"/>
              <a:t>LLMs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293755"/>
            <a:ext cx="1731010" cy="163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Perplexity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buClr>
                <a:srgbClr val="434343"/>
              </a:buClr>
              <a:buFont typeface="Microsoft Sans Serif"/>
              <a:buChar char="●"/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434343"/>
              </a:buClr>
              <a:buFont typeface="Microsoft Sans Serif"/>
              <a:buChar char="●"/>
            </a:pP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Logit</a:t>
            </a:r>
            <a:r>
              <a:rPr sz="1800" spc="-1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Entropy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y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3719455"/>
            <a:ext cx="3471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Windowed</a:t>
            </a:r>
            <a:r>
              <a:rPr sz="1800" spc="-7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Logit</a:t>
            </a:r>
            <a:r>
              <a:rPr sz="1800" spc="-7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Entropy</a:t>
            </a:r>
            <a:r>
              <a:rPr sz="1800" spc="-7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score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75" dirty="0"/>
              <a:t> </a:t>
            </a:r>
            <a:r>
              <a:rPr spc="-10" dirty="0"/>
              <a:t>Output</a:t>
            </a:r>
            <a:r>
              <a:rPr spc="-70" dirty="0"/>
              <a:t> </a:t>
            </a:r>
            <a:r>
              <a:rPr spc="-35" dirty="0"/>
              <a:t>Uncertainty</a:t>
            </a:r>
            <a:r>
              <a:rPr spc="-70" dirty="0"/>
              <a:t> </a:t>
            </a:r>
            <a:r>
              <a:rPr spc="-10" dirty="0"/>
              <a:t>Quantification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0080" y="1122352"/>
            <a:ext cx="5147090" cy="7352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05611"/>
            <a:ext cx="9144000" cy="92412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675" y="1338598"/>
            <a:ext cx="7774648" cy="2795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LLM-</a:t>
            </a:r>
            <a:r>
              <a:rPr spc="-45" dirty="0"/>
              <a:t>Check:</a:t>
            </a:r>
            <a:r>
              <a:rPr spc="-90" dirty="0"/>
              <a:t> </a:t>
            </a:r>
            <a:r>
              <a:rPr spc="-10" dirty="0"/>
              <a:t>Comparing</a:t>
            </a:r>
            <a:r>
              <a:rPr spc="-90" dirty="0"/>
              <a:t> </a:t>
            </a:r>
            <a:r>
              <a:rPr spc="-10" dirty="0"/>
              <a:t>with</a:t>
            </a:r>
            <a:r>
              <a:rPr spc="-95" dirty="0"/>
              <a:t> </a:t>
            </a:r>
            <a:r>
              <a:rPr dirty="0"/>
              <a:t>Prior</a:t>
            </a:r>
            <a:r>
              <a:rPr spc="-90" dirty="0"/>
              <a:t> </a:t>
            </a:r>
            <a:r>
              <a:rPr spc="-10" dirty="0"/>
              <a:t>Works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325" y="60325"/>
            <a:ext cx="80930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Results</a:t>
            </a:r>
            <a:r>
              <a:rPr spc="-80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110" dirty="0"/>
              <a:t>FAVA-</a:t>
            </a:r>
            <a:r>
              <a:rPr spc="-60" dirty="0"/>
              <a:t>Annot</a:t>
            </a:r>
            <a:r>
              <a:rPr spc="-75" dirty="0"/>
              <a:t> </a:t>
            </a:r>
            <a:r>
              <a:rPr spc="-10" dirty="0"/>
              <a:t>(Single</a:t>
            </a:r>
            <a:r>
              <a:rPr spc="-80" dirty="0"/>
              <a:t> </a:t>
            </a:r>
            <a:r>
              <a:rPr spc="-20" dirty="0"/>
              <a:t>Response,</a:t>
            </a:r>
            <a:r>
              <a:rPr spc="-70" dirty="0"/>
              <a:t> </a:t>
            </a:r>
            <a:r>
              <a:rPr dirty="0"/>
              <a:t>No</a:t>
            </a:r>
            <a:r>
              <a:rPr spc="-70" dirty="0"/>
              <a:t> </a:t>
            </a:r>
            <a:r>
              <a:rPr spc="-10" dirty="0"/>
              <a:t>References)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400" y="633864"/>
            <a:ext cx="6668426" cy="24435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387" y="607800"/>
            <a:ext cx="6668431" cy="45356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325" y="60325"/>
            <a:ext cx="80930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Results</a:t>
            </a:r>
            <a:r>
              <a:rPr spc="-80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110" dirty="0"/>
              <a:t>FAVA-</a:t>
            </a:r>
            <a:r>
              <a:rPr spc="-60" dirty="0"/>
              <a:t>Annot</a:t>
            </a:r>
            <a:r>
              <a:rPr spc="-75" dirty="0"/>
              <a:t> </a:t>
            </a:r>
            <a:r>
              <a:rPr spc="-10" dirty="0"/>
              <a:t>(Single</a:t>
            </a:r>
            <a:r>
              <a:rPr spc="-80" dirty="0"/>
              <a:t> </a:t>
            </a:r>
            <a:r>
              <a:rPr spc="-20" dirty="0"/>
              <a:t>Response,</a:t>
            </a:r>
            <a:r>
              <a:rPr spc="-70" dirty="0"/>
              <a:t> </a:t>
            </a:r>
            <a:r>
              <a:rPr dirty="0"/>
              <a:t>No</a:t>
            </a:r>
            <a:r>
              <a:rPr spc="-70" dirty="0"/>
              <a:t> </a:t>
            </a:r>
            <a:r>
              <a:rPr spc="-10" dirty="0"/>
              <a:t>References)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297250"/>
            <a:ext cx="7239001" cy="2989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Results</a:t>
            </a:r>
            <a:r>
              <a:rPr sz="2400" spc="-75" dirty="0"/>
              <a:t> </a:t>
            </a:r>
            <a:r>
              <a:rPr sz="2400" dirty="0"/>
              <a:t>on</a:t>
            </a:r>
            <a:r>
              <a:rPr sz="2400" spc="-70" dirty="0"/>
              <a:t> </a:t>
            </a:r>
            <a:r>
              <a:rPr sz="2400" spc="-20" dirty="0"/>
              <a:t>SelfCheckGPT</a:t>
            </a:r>
            <a:r>
              <a:rPr sz="2400" spc="-114" dirty="0"/>
              <a:t> </a:t>
            </a:r>
            <a:r>
              <a:rPr sz="2400" spc="-10" dirty="0"/>
              <a:t>Dataset</a:t>
            </a:r>
            <a:r>
              <a:rPr sz="2400" spc="-70" dirty="0"/>
              <a:t> </a:t>
            </a:r>
            <a:r>
              <a:rPr sz="2400" spc="-85" dirty="0"/>
              <a:t>(Multi-</a:t>
            </a:r>
            <a:r>
              <a:rPr sz="2400" spc="-10" dirty="0"/>
              <a:t>responses,</a:t>
            </a:r>
            <a:r>
              <a:rPr sz="2400" spc="-70" dirty="0"/>
              <a:t> </a:t>
            </a:r>
            <a:r>
              <a:rPr sz="2400" dirty="0"/>
              <a:t>No</a:t>
            </a:r>
            <a:r>
              <a:rPr sz="2400" spc="-65" dirty="0"/>
              <a:t> </a:t>
            </a:r>
            <a:r>
              <a:rPr sz="2400" spc="-10" dirty="0"/>
              <a:t>Refs.)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336751"/>
            <a:ext cx="7315199" cy="3178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Results</a:t>
            </a:r>
            <a:r>
              <a:rPr spc="-105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30" dirty="0"/>
              <a:t>Synthetic</a:t>
            </a:r>
            <a:r>
              <a:rPr spc="-70" dirty="0"/>
              <a:t> </a:t>
            </a:r>
            <a:r>
              <a:rPr spc="-25" dirty="0"/>
              <a:t>Hallucinations</a:t>
            </a:r>
            <a:r>
              <a:rPr spc="-70" dirty="0"/>
              <a:t> </a:t>
            </a:r>
            <a:r>
              <a:rPr dirty="0"/>
              <a:t>on</a:t>
            </a:r>
            <a:r>
              <a:rPr spc="-75" dirty="0"/>
              <a:t> FAVA</a:t>
            </a:r>
            <a:r>
              <a:rPr spc="-80" dirty="0"/>
              <a:t> </a:t>
            </a:r>
            <a:r>
              <a:rPr spc="-50" dirty="0"/>
              <a:t>Train</a:t>
            </a:r>
            <a:r>
              <a:rPr spc="-70" dirty="0"/>
              <a:t> </a:t>
            </a:r>
            <a:r>
              <a:rPr spc="-10" dirty="0"/>
              <a:t>Split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24" y="607800"/>
            <a:ext cx="7461150" cy="4535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325" y="60325"/>
            <a:ext cx="670940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Results</a:t>
            </a:r>
            <a:r>
              <a:rPr spc="-100" dirty="0"/>
              <a:t> </a:t>
            </a:r>
            <a:r>
              <a:rPr dirty="0"/>
              <a:t>on</a:t>
            </a:r>
            <a:r>
              <a:rPr spc="-95" dirty="0"/>
              <a:t> </a:t>
            </a:r>
            <a:r>
              <a:rPr spc="-30" dirty="0"/>
              <a:t>RAGTruth</a:t>
            </a:r>
            <a:r>
              <a:rPr spc="-100" dirty="0"/>
              <a:t> </a:t>
            </a:r>
            <a:r>
              <a:rPr dirty="0"/>
              <a:t>(with</a:t>
            </a:r>
            <a:r>
              <a:rPr spc="-95" dirty="0"/>
              <a:t> </a:t>
            </a:r>
            <a:r>
              <a:rPr spc="-20" dirty="0"/>
              <a:t>External</a:t>
            </a:r>
            <a:r>
              <a:rPr spc="-100" dirty="0"/>
              <a:t> </a:t>
            </a:r>
            <a:r>
              <a:rPr spc="-10" dirty="0"/>
              <a:t>References)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625" y="1245125"/>
            <a:ext cx="5535677" cy="29787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80" dirty="0"/>
              <a:t>LLM-</a:t>
            </a:r>
            <a:r>
              <a:rPr sz="2700" spc="-40" dirty="0"/>
              <a:t>Check:</a:t>
            </a:r>
            <a:r>
              <a:rPr sz="2700" spc="-114" dirty="0"/>
              <a:t> </a:t>
            </a:r>
            <a:r>
              <a:rPr sz="2700" dirty="0"/>
              <a:t>Compute</a:t>
            </a:r>
            <a:r>
              <a:rPr sz="2700" spc="-114" dirty="0"/>
              <a:t> </a:t>
            </a:r>
            <a:r>
              <a:rPr sz="2700" spc="-10" dirty="0"/>
              <a:t>Efficiency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7243725" y="1957521"/>
            <a:ext cx="15278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Upto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45x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and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450x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Speedup!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9308"/>
            <a:ext cx="14859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0" dirty="0"/>
              <a:t>Summary</a:t>
            </a:r>
            <a:endParaRPr sz="27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9163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pc="-55" dirty="0"/>
              <a:t>LLM-</a:t>
            </a:r>
            <a:r>
              <a:rPr spc="-30" dirty="0"/>
              <a:t>Check</a:t>
            </a:r>
            <a:r>
              <a:rPr spc="-85" dirty="0"/>
              <a:t> </a:t>
            </a:r>
            <a:r>
              <a:rPr spc="-320" dirty="0"/>
              <a:t>-</a:t>
            </a:r>
            <a:r>
              <a:rPr spc="-5" dirty="0"/>
              <a:t> </a:t>
            </a:r>
            <a:r>
              <a:rPr dirty="0"/>
              <a:t>suite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simple,</a:t>
            </a:r>
            <a:r>
              <a:rPr spc="-55" dirty="0"/>
              <a:t> </a:t>
            </a:r>
            <a:r>
              <a:rPr dirty="0"/>
              <a:t>effective</a:t>
            </a:r>
            <a:r>
              <a:rPr spc="-50" dirty="0"/>
              <a:t> </a:t>
            </a:r>
            <a:r>
              <a:rPr spc="-10" dirty="0"/>
              <a:t>detection</a:t>
            </a:r>
            <a:r>
              <a:rPr spc="-50" dirty="0"/>
              <a:t> </a:t>
            </a:r>
            <a:r>
              <a:rPr spc="-20" dirty="0"/>
              <a:t>techniques</a:t>
            </a:r>
            <a:r>
              <a:rPr spc="-50" dirty="0"/>
              <a:t> </a:t>
            </a:r>
            <a:r>
              <a:rPr dirty="0"/>
              <a:t>over</a:t>
            </a:r>
            <a:r>
              <a:rPr spc="-55" dirty="0"/>
              <a:t> </a:t>
            </a:r>
            <a:r>
              <a:rPr spc="-10" dirty="0"/>
              <a:t>current</a:t>
            </a:r>
            <a:r>
              <a:rPr spc="-50" dirty="0"/>
              <a:t> </a:t>
            </a:r>
            <a:r>
              <a:rPr spc="-20" dirty="0"/>
              <a:t>LLMs</a:t>
            </a: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434343"/>
              </a:buClr>
              <a:buFont typeface="Microsoft Sans Serif"/>
              <a:buChar char="●"/>
            </a:pPr>
            <a:endParaRPr spc="-20" dirty="0"/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pc="-10" dirty="0"/>
              <a:t>Analyses</a:t>
            </a:r>
            <a:r>
              <a:rPr spc="-75" dirty="0"/>
              <a:t> </a:t>
            </a:r>
            <a:r>
              <a:rPr spc="-10" dirty="0"/>
              <a:t>hidden</a:t>
            </a:r>
            <a:r>
              <a:rPr spc="-75" dirty="0"/>
              <a:t> </a:t>
            </a:r>
            <a:r>
              <a:rPr spc="-20" dirty="0"/>
              <a:t>representations,</a:t>
            </a:r>
            <a:r>
              <a:rPr spc="-70" dirty="0"/>
              <a:t> </a:t>
            </a:r>
            <a:r>
              <a:rPr spc="-10" dirty="0"/>
              <a:t>attention</a:t>
            </a:r>
            <a:r>
              <a:rPr spc="-75" dirty="0"/>
              <a:t> </a:t>
            </a:r>
            <a:r>
              <a:rPr dirty="0"/>
              <a:t>kernel</a:t>
            </a:r>
            <a:r>
              <a:rPr spc="-75" dirty="0"/>
              <a:t> </a:t>
            </a:r>
            <a:r>
              <a:rPr dirty="0"/>
              <a:t>maps</a:t>
            </a:r>
            <a:r>
              <a:rPr spc="-7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logit</a:t>
            </a:r>
            <a:r>
              <a:rPr spc="-75" dirty="0"/>
              <a:t> </a:t>
            </a:r>
            <a:r>
              <a:rPr spc="-10" dirty="0"/>
              <a:t>outputs</a:t>
            </a: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434343"/>
              </a:buClr>
              <a:buFont typeface="Microsoft Sans Serif"/>
              <a:buChar char="●"/>
            </a:pPr>
            <a:endParaRPr spc="-10" dirty="0"/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pc="-10" dirty="0"/>
              <a:t>Considerable</a:t>
            </a:r>
            <a:r>
              <a:rPr spc="-70" dirty="0"/>
              <a:t> </a:t>
            </a:r>
            <a:r>
              <a:rPr spc="-20" dirty="0"/>
              <a:t>improvements</a:t>
            </a:r>
            <a:r>
              <a:rPr spc="-65" dirty="0"/>
              <a:t> </a:t>
            </a:r>
            <a:r>
              <a:rPr dirty="0"/>
              <a:t>over</a:t>
            </a:r>
            <a:r>
              <a:rPr spc="-70" dirty="0"/>
              <a:t> </a:t>
            </a:r>
            <a:r>
              <a:rPr dirty="0"/>
              <a:t>prior</a:t>
            </a:r>
            <a:r>
              <a:rPr spc="-65" dirty="0"/>
              <a:t> </a:t>
            </a:r>
            <a:r>
              <a:rPr dirty="0"/>
              <a:t>methods</a:t>
            </a:r>
            <a:r>
              <a:rPr spc="-65" dirty="0"/>
              <a:t> </a:t>
            </a:r>
            <a:r>
              <a:rPr dirty="0"/>
              <a:t>over</a:t>
            </a:r>
            <a:r>
              <a:rPr spc="-70" dirty="0"/>
              <a:t> </a:t>
            </a:r>
            <a:r>
              <a:rPr spc="-10" dirty="0"/>
              <a:t>diverse</a:t>
            </a:r>
            <a:r>
              <a:rPr spc="-65" dirty="0"/>
              <a:t> </a:t>
            </a:r>
            <a:r>
              <a:rPr spc="-10" dirty="0"/>
              <a:t>detection</a:t>
            </a:r>
            <a:r>
              <a:rPr spc="-70" dirty="0"/>
              <a:t> </a:t>
            </a:r>
            <a:r>
              <a:rPr spc="-10" dirty="0"/>
              <a:t>settings</a:t>
            </a: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434343"/>
              </a:buClr>
              <a:buFont typeface="Microsoft Sans Serif"/>
              <a:buChar char="●"/>
            </a:pPr>
            <a:endParaRPr spc="-10" dirty="0"/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pc="-10" dirty="0"/>
              <a:t>Applicable</a:t>
            </a:r>
            <a:r>
              <a:rPr spc="-40" dirty="0"/>
              <a:t> </a:t>
            </a:r>
            <a:r>
              <a:rPr spc="-30" dirty="0"/>
              <a:t>with/without</a:t>
            </a:r>
            <a:r>
              <a:rPr spc="-35" dirty="0"/>
              <a:t> </a:t>
            </a:r>
            <a:r>
              <a:rPr dirty="0"/>
              <a:t>RAG,</a:t>
            </a:r>
            <a:r>
              <a:rPr spc="-40" dirty="0"/>
              <a:t> </a:t>
            </a:r>
            <a:r>
              <a:rPr spc="-20" dirty="0"/>
              <a:t>single/multiple</a:t>
            </a:r>
            <a:r>
              <a:rPr spc="-35" dirty="0"/>
              <a:t> </a:t>
            </a:r>
            <a:r>
              <a:rPr spc="-10" dirty="0"/>
              <a:t>responses,</a:t>
            </a:r>
            <a:r>
              <a:rPr spc="-35" dirty="0"/>
              <a:t> </a:t>
            </a:r>
            <a:r>
              <a:rPr spc="-20" dirty="0"/>
              <a:t>white/black</a:t>
            </a:r>
            <a:r>
              <a:rPr spc="-40" dirty="0"/>
              <a:t> </a:t>
            </a:r>
            <a:r>
              <a:rPr dirty="0"/>
              <a:t>box</a:t>
            </a:r>
            <a:r>
              <a:rPr spc="-35" dirty="0"/>
              <a:t> </a:t>
            </a:r>
            <a:r>
              <a:rPr spc="-10" dirty="0"/>
              <a:t>settings</a:t>
            </a: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434343"/>
              </a:buClr>
              <a:buFont typeface="Microsoft Sans Serif"/>
              <a:buChar char="●"/>
            </a:pPr>
            <a:endParaRPr spc="-10" dirty="0"/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pc="-10" dirty="0"/>
              <a:t>Extremely</a:t>
            </a:r>
            <a:r>
              <a:rPr spc="-50" dirty="0"/>
              <a:t> compute-</a:t>
            </a:r>
            <a:r>
              <a:rPr spc="-30" dirty="0"/>
              <a:t>efficient:</a:t>
            </a:r>
            <a:r>
              <a:rPr spc="-50" dirty="0"/>
              <a:t> </a:t>
            </a:r>
            <a:r>
              <a:rPr spc="-10" dirty="0"/>
              <a:t>upto</a:t>
            </a:r>
            <a:r>
              <a:rPr spc="-50" dirty="0"/>
              <a:t> </a:t>
            </a:r>
            <a:r>
              <a:rPr dirty="0"/>
              <a:t>45x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450x</a:t>
            </a:r>
            <a:r>
              <a:rPr spc="-50" dirty="0"/>
              <a:t> </a:t>
            </a:r>
            <a:r>
              <a:rPr spc="-10" dirty="0"/>
              <a:t>speedup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08737"/>
            <a:ext cx="9149080" cy="2235200"/>
            <a:chOff x="0" y="2908737"/>
            <a:chExt cx="9149080" cy="2235200"/>
          </a:xfrm>
        </p:grpSpPr>
        <p:sp>
          <p:nvSpPr>
            <p:cNvPr id="3" name="object 3"/>
            <p:cNvSpPr/>
            <p:nvPr/>
          </p:nvSpPr>
          <p:spPr>
            <a:xfrm>
              <a:off x="5711999" y="3074074"/>
              <a:ext cx="3432175" cy="1807210"/>
            </a:xfrm>
            <a:custGeom>
              <a:avLst/>
              <a:gdLst/>
              <a:ahLst/>
              <a:cxnLst/>
              <a:rect l="l" t="t" r="r" b="b"/>
              <a:pathLst>
                <a:path w="3432175" h="1807210">
                  <a:moveTo>
                    <a:pt x="3431999" y="1806599"/>
                  </a:moveTo>
                  <a:lnTo>
                    <a:pt x="0" y="1806599"/>
                  </a:lnTo>
                  <a:lnTo>
                    <a:pt x="0" y="0"/>
                  </a:lnTo>
                  <a:lnTo>
                    <a:pt x="3431999" y="0"/>
                  </a:lnTo>
                  <a:lnTo>
                    <a:pt x="3431999" y="1806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11999" y="3074074"/>
              <a:ext cx="3432175" cy="1807210"/>
            </a:xfrm>
            <a:custGeom>
              <a:avLst/>
              <a:gdLst/>
              <a:ahLst/>
              <a:cxnLst/>
              <a:rect l="l" t="t" r="r" b="b"/>
              <a:pathLst>
                <a:path w="3432175" h="1807210">
                  <a:moveTo>
                    <a:pt x="0" y="0"/>
                  </a:moveTo>
                  <a:lnTo>
                    <a:pt x="3431999" y="0"/>
                  </a:lnTo>
                  <a:lnTo>
                    <a:pt x="3431999" y="1806599"/>
                  </a:lnTo>
                  <a:lnTo>
                    <a:pt x="0" y="1806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125" y="2940925"/>
              <a:ext cx="1839241" cy="1806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2025" y="2908737"/>
              <a:ext cx="4094124" cy="18709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905325" y="351833"/>
            <a:ext cx="3288029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>
                <a:solidFill>
                  <a:srgbClr val="2A3890"/>
                </a:solidFill>
                <a:latin typeface="Roboto"/>
                <a:cs typeface="Roboto"/>
              </a:rPr>
              <a:t>Thank</a:t>
            </a:r>
            <a:r>
              <a:rPr sz="5200" spc="-28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5200" spc="-85" dirty="0">
                <a:solidFill>
                  <a:srgbClr val="2A3890"/>
                </a:solidFill>
                <a:latin typeface="Roboto"/>
                <a:cs typeface="Roboto"/>
              </a:rPr>
              <a:t>You!</a:t>
            </a:r>
            <a:endParaRPr sz="52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5125" y="1821859"/>
            <a:ext cx="769365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2A3890"/>
                </a:solidFill>
                <a:latin typeface="Roboto"/>
                <a:cs typeface="Roboto"/>
              </a:rPr>
              <a:t>Poster</a:t>
            </a:r>
            <a:r>
              <a:rPr sz="2700" spc="-8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spc="-20" dirty="0">
                <a:solidFill>
                  <a:srgbClr val="2A3890"/>
                </a:solidFill>
                <a:latin typeface="Roboto"/>
                <a:cs typeface="Roboto"/>
              </a:rPr>
              <a:t>Session</a:t>
            </a:r>
            <a:r>
              <a:rPr sz="2700" spc="-7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2A3890"/>
                </a:solidFill>
                <a:latin typeface="Roboto"/>
                <a:cs typeface="Roboto"/>
              </a:rPr>
              <a:t>1:</a:t>
            </a:r>
            <a:r>
              <a:rPr sz="2700" spc="-7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2A3890"/>
                </a:solidFill>
                <a:latin typeface="Roboto"/>
                <a:cs typeface="Roboto"/>
              </a:rPr>
              <a:t>11am</a:t>
            </a:r>
            <a:r>
              <a:rPr sz="2700" spc="-7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2A3890"/>
                </a:solidFill>
                <a:latin typeface="Roboto"/>
                <a:cs typeface="Roboto"/>
              </a:rPr>
              <a:t>—</a:t>
            </a:r>
            <a:r>
              <a:rPr sz="2700" spc="-8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2A3890"/>
                </a:solidFill>
                <a:latin typeface="Roboto"/>
                <a:cs typeface="Roboto"/>
              </a:rPr>
              <a:t>2pm</a:t>
            </a:r>
            <a:r>
              <a:rPr sz="2700" spc="-7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spc="-80" dirty="0">
                <a:solidFill>
                  <a:srgbClr val="2A3890"/>
                </a:solidFill>
                <a:latin typeface="Roboto"/>
                <a:cs typeface="Roboto"/>
              </a:rPr>
              <a:t>PST,</a:t>
            </a:r>
            <a:r>
              <a:rPr sz="2700" spc="-7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2A3890"/>
                </a:solidFill>
                <a:latin typeface="Roboto"/>
                <a:cs typeface="Roboto"/>
              </a:rPr>
              <a:t>Wed</a:t>
            </a:r>
            <a:r>
              <a:rPr sz="2700" spc="-7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2A3890"/>
                </a:solidFill>
                <a:latin typeface="Roboto"/>
                <a:cs typeface="Roboto"/>
              </a:rPr>
              <a:t>Dec</a:t>
            </a:r>
            <a:r>
              <a:rPr sz="2700" spc="-2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spc="-20" dirty="0">
                <a:solidFill>
                  <a:srgbClr val="2A3890"/>
                </a:solidFill>
                <a:latin typeface="Roboto"/>
                <a:cs typeface="Roboto"/>
              </a:rPr>
              <a:t>11th</a:t>
            </a:r>
            <a:endParaRPr sz="2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1134</Words>
  <Application>Microsoft Office PowerPoint</Application>
  <PresentationFormat>Presentación en pantalla (16:9)</PresentationFormat>
  <Paragraphs>152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0" baseType="lpstr">
      <vt:lpstr>Gill Sans MT</vt:lpstr>
      <vt:lpstr>Microsoft Sans Serif</vt:lpstr>
      <vt:lpstr>Roboto</vt:lpstr>
      <vt:lpstr>Office Theme</vt:lpstr>
      <vt:lpstr>LLM-Check: Investigating Detection of Hallucinations in LLMs</vt:lpstr>
      <vt:lpstr>What are Hallucinations in LLMs?</vt:lpstr>
      <vt:lpstr>What are Hallucinations in LLMs?</vt:lpstr>
      <vt:lpstr>What are Hallucinations in LLMs?</vt:lpstr>
      <vt:lpstr>What are Hallucinations in LLMs?</vt:lpstr>
      <vt:lpstr>What are Hallucinations in LLMs?</vt:lpstr>
      <vt:lpstr>Why can’t LLMs help themselves from fabricating details?</vt:lpstr>
      <vt:lpstr>Why can’t LLMs help themselves from fabricating details?</vt:lpstr>
      <vt:lpstr>Why can’t LLMs help themselves from fabricating details?</vt:lpstr>
      <vt:lpstr>Multi-Response Consistency-Based Detection Methods</vt:lpstr>
      <vt:lpstr>Multi-Response Consistency-Based Detection Methods</vt:lpstr>
      <vt:lpstr>Classification of Hallucination Detection Settings</vt:lpstr>
      <vt:lpstr>Classification of Hallucination Detection Settings</vt:lpstr>
      <vt:lpstr>Detection of Hallucinations in LLMs</vt:lpstr>
      <vt:lpstr>Detection of Hallucinations in LLMs</vt:lpstr>
      <vt:lpstr>Detection of Hallucinations in LLMs</vt:lpstr>
      <vt:lpstr>LLM-Check: Detection of Hallucinations in LLMs</vt:lpstr>
      <vt:lpstr>LLM-Check: Analyzing model internals</vt:lpstr>
      <vt:lpstr>LLM-Check: Analyzing model internals</vt:lpstr>
      <vt:lpstr>LLM-Check: Analyzing model internals</vt:lpstr>
      <vt:lpstr>LLM-Check: Detection of Hallucinations in LLMs</vt:lpstr>
      <vt:lpstr>LLM-Check: Hidden Score</vt:lpstr>
      <vt:lpstr>LLM-Check: Hidden Score</vt:lpstr>
      <vt:lpstr>LLM-Check: Hidden Score</vt:lpstr>
      <vt:lpstr>LLM-Check: Attention Score</vt:lpstr>
      <vt:lpstr>LLM-Check: Detection of Hallucinations in LLMs</vt:lpstr>
      <vt:lpstr>LLM-Check: Output Uncertainty Quantification</vt:lpstr>
      <vt:lpstr>LLM-Check: Comparing with Prior Works</vt:lpstr>
      <vt:lpstr>Results on FAVA-Annot (Single Response, No References)</vt:lpstr>
      <vt:lpstr>Results on FAVA-Annot (Single Response, No References)</vt:lpstr>
      <vt:lpstr>Results on SelfCheckGPT Dataset (Multi-responses, No Refs.)</vt:lpstr>
      <vt:lpstr>Results on Synthetic Hallucinations on FAVA Train Split</vt:lpstr>
      <vt:lpstr>Results on RAGTruth (with External References)</vt:lpstr>
      <vt:lpstr>LLM-Check: Compute Efficiency</vt:lpstr>
      <vt:lpstr>Summary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LLM-Check NeurIPS PPT</dc:title>
  <cp:lastModifiedBy>José Ramon Iglesias Gamarra</cp:lastModifiedBy>
  <cp:revision>1</cp:revision>
  <dcterms:created xsi:type="dcterms:W3CDTF">2025-10-14T14:35:42Z</dcterms:created>
  <dcterms:modified xsi:type="dcterms:W3CDTF">2025-10-14T22:30:07Z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2025-10-14T00:00:00Z</vt:filetime>
  </property>
</Properties>
</file>