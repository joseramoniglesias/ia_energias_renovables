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7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8288000" cy="10287000"/>
  <p:notesSz cx="6858000" cy="9144000"/>
  <p:embeddedFontLst>
    <p:embeddedFont>
      <p:font typeface="Calibri" panose="020F0502020204030204" pitchFamily="34" charset="0"/>
      <p:regular r:id="rId24"/>
      <p:bold r:id="rId25"/>
      <p:italic r:id="rId26"/>
      <p:boldItalic r:id="rId27"/>
    </p:embeddedFont>
    <p:embeddedFont>
      <p:font typeface="Gill Sans MT" panose="020B0502020104020203" pitchFamily="34" charset="0"/>
      <p:regular r:id="rId28"/>
      <p:bold r:id="rId29"/>
      <p:italic r:id="rId30"/>
      <p:boldItalic r:id="rId31"/>
    </p:embeddedFont>
    <p:embeddedFont>
      <p:font typeface="Quicksand" panose="020B0604020202020204" charset="0"/>
      <p:regular r:id="rId32"/>
    </p:embeddedFont>
    <p:embeddedFont>
      <p:font typeface="Quicksand Bold" panose="020B0604020202020204" charset="0"/>
      <p:regular r:id="rId33"/>
    </p:embeddedFont>
    <p:embeddedFont>
      <p:font typeface="Rubik" panose="020B0604020202020204" charset="-79"/>
      <p:regular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3" d="100"/>
          <a:sy n="43" d="100"/>
        </p:scale>
        <p:origin x="93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68D7A-04FC-4950-938E-C9138B764106}" type="datetimeFigureOut">
              <a:rPr lang="es-CO" smtClean="0"/>
              <a:t>27/05/2026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AEC087-B331-48CD-B232-DEE2CD2C9875}" type="slidenum">
              <a:rPr lang="es-CO" smtClean="0"/>
              <a:t>‹Nº›</a:t>
            </a:fld>
            <a:endParaRPr lang="es-CO"/>
          </a:p>
        </p:txBody>
      </p:sp>
    </p:spTree>
    <p:extLst>
      <p:ext uri="{BB962C8B-B14F-4D97-AF65-F5344CB8AC3E}">
        <p14:creationId xmlns:p14="http://schemas.microsoft.com/office/powerpoint/2010/main" val="4079657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a2604522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a2604522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pic>
        <p:nvPicPr>
          <p:cNvPr id="7" name="Google Shape;30;p1">
            <a:extLst>
              <a:ext uri="{FF2B5EF4-FFF2-40B4-BE49-F238E27FC236}">
                <a16:creationId xmlns:a16="http://schemas.microsoft.com/office/drawing/2014/main" id="{0603B04D-DF5E-A1B9-1FB5-756FE6CD6D1F}"/>
              </a:ext>
            </a:extLst>
          </p:cNvPr>
          <p:cNvPicPr preferRelativeResize="0"/>
          <p:nvPr userDrawn="1"/>
        </p:nvPicPr>
        <p:blipFill rotWithShape="1">
          <a:blip r:embed="rId13">
            <a:alphaModFix/>
          </a:blip>
          <a:srcRect/>
          <a:stretch/>
        </p:blipFill>
        <p:spPr>
          <a:xfrm>
            <a:off x="10871201" y="487640"/>
            <a:ext cx="3889210" cy="1381799"/>
          </a:xfrm>
          <a:prstGeom prst="rect">
            <a:avLst/>
          </a:prstGeom>
          <a:noFill/>
          <a:ln>
            <a:noFill/>
          </a:ln>
        </p:spPr>
      </p:pic>
      <p:sp>
        <p:nvSpPr>
          <p:cNvPr id="8" name="TextBox 7">
            <a:extLst>
              <a:ext uri="{FF2B5EF4-FFF2-40B4-BE49-F238E27FC236}">
                <a16:creationId xmlns:a16="http://schemas.microsoft.com/office/drawing/2014/main" id="{9FEF5BB4-122F-D9D2-7B54-00AD23770962}"/>
              </a:ext>
            </a:extLst>
          </p:cNvPr>
          <p:cNvSpPr txBox="1"/>
          <p:nvPr userDrawn="1"/>
        </p:nvSpPr>
        <p:spPr>
          <a:xfrm>
            <a:off x="11348996" y="1915956"/>
            <a:ext cx="5983964" cy="369332"/>
          </a:xfrm>
          <a:prstGeom prst="rect">
            <a:avLst/>
          </a:prstGeom>
          <a:noFill/>
        </p:spPr>
        <p:txBody>
          <a:bodyPr wrap="square" rtlCol="0">
            <a:spAutoFit/>
          </a:bodyPr>
          <a:lstStyle/>
          <a:p>
            <a:pPr defTabSz="514350"/>
            <a:r>
              <a:rPr lang="en-US" sz="1800" dirty="0" err="1">
                <a:latin typeface="Gill Sans MT" panose="020B0502020104020203" pitchFamily="34" charset="77"/>
              </a:rPr>
              <a:t>Inteligencia</a:t>
            </a:r>
            <a:r>
              <a:rPr lang="en-US" sz="1800" dirty="0">
                <a:latin typeface="Gill Sans MT" panose="020B0502020104020203" pitchFamily="34" charset="77"/>
              </a:rPr>
              <a:t> Artificial en las </a:t>
            </a:r>
            <a:r>
              <a:rPr lang="en-US" sz="1800" dirty="0" err="1">
                <a:latin typeface="Gill Sans MT" panose="020B0502020104020203" pitchFamily="34" charset="77"/>
              </a:rPr>
              <a:t>Energías</a:t>
            </a:r>
            <a:r>
              <a:rPr lang="en-US" sz="1800" dirty="0">
                <a:latin typeface="Gill Sans MT" panose="020B0502020104020203" pitchFamily="34" charset="77"/>
              </a:rPr>
              <a:t> </a:t>
            </a:r>
            <a:r>
              <a:rPr lang="en-US" sz="1800" dirty="0" err="1">
                <a:latin typeface="Gill Sans MT" panose="020B0502020104020203" pitchFamily="34" charset="77"/>
              </a:rPr>
              <a:t>Renovables</a:t>
            </a:r>
            <a:endParaRPr lang="en-US" sz="1800" dirty="0">
              <a:latin typeface="Gill Sans MT" panose="020B0502020104020203" pitchFamily="34" charset="77"/>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651153" y="3021189"/>
            <a:ext cx="14560610" cy="2082802"/>
          </a:xfrm>
          <a:prstGeom prst="rect">
            <a:avLst/>
          </a:prstGeom>
        </p:spPr>
        <p:txBody>
          <a:bodyPr spcFirstLastPara="1" vert="horz" wrap="square" lIns="182850" tIns="182850" rIns="182850" bIns="182850" rtlCol="0" anchor="ctr" anchorCtr="0">
            <a:noAutofit/>
          </a:bodyPr>
          <a:lstStyle/>
          <a:p>
            <a:pPr>
              <a:spcBef>
                <a:spcPts val="0"/>
              </a:spcBef>
            </a:pPr>
            <a:r>
              <a:rPr lang="en" dirty="0">
                <a:ln w="0">
                  <a:solidFill>
                    <a:schemeClr val="accent1">
                      <a:lumMod val="50000"/>
                    </a:schemeClr>
                  </a:solidFill>
                </a:ln>
                <a:solidFill>
                  <a:sysClr val="windowText" lastClr="000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Gobierno de Datos y Gobernanza</a:t>
            </a:r>
            <a:br>
              <a:rPr lang="en" dirty="0">
                <a:ln w="0">
                  <a:solidFill>
                    <a:schemeClr val="accent1">
                      <a:lumMod val="50000"/>
                    </a:schemeClr>
                  </a:solidFill>
                </a:ln>
                <a:solidFill>
                  <a:sysClr val="windowText" lastClr="000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br>
            <a:endParaRPr dirty="0">
              <a:ln w="0">
                <a:solidFill>
                  <a:schemeClr val="accent1">
                    <a:lumMod val="50000"/>
                  </a:schemeClr>
                </a:solidFill>
              </a:ln>
              <a:solidFill>
                <a:sysClr val="windowText" lastClr="000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
        <p:nvSpPr>
          <p:cNvPr id="5" name="TextBox 8">
            <a:extLst>
              <a:ext uri="{FF2B5EF4-FFF2-40B4-BE49-F238E27FC236}">
                <a16:creationId xmlns:a16="http://schemas.microsoft.com/office/drawing/2014/main" id="{787C5CA5-58B7-1323-F065-2F33655A4429}"/>
              </a:ext>
            </a:extLst>
          </p:cNvPr>
          <p:cNvSpPr txBox="1"/>
          <p:nvPr/>
        </p:nvSpPr>
        <p:spPr>
          <a:xfrm>
            <a:off x="3327636" y="5779361"/>
            <a:ext cx="5009128" cy="2331407"/>
          </a:xfrm>
          <a:prstGeom prst="rect">
            <a:avLst/>
          </a:prstGeom>
          <a:noFill/>
        </p:spPr>
        <p:txBody>
          <a:bodyPr wrap="none" rtlCol="0">
            <a:spAutoFit/>
          </a:bodyPr>
          <a:lstStyle/>
          <a:p>
            <a:pPr defTabSz="1028700"/>
            <a:r>
              <a:rPr lang="en-US" sz="4050" dirty="0">
                <a:latin typeface="Gill Sans MT" panose="020B0502020104020203" pitchFamily="34" charset="77"/>
              </a:rPr>
              <a:t>Dr. José Ramón Iglesias</a:t>
            </a:r>
          </a:p>
          <a:p>
            <a:pPr defTabSz="1028700"/>
            <a:r>
              <a:rPr lang="en-US" sz="2100" dirty="0">
                <a:solidFill>
                  <a:prstClr val="white">
                    <a:lumMod val="50000"/>
                  </a:prstClr>
                </a:solidFill>
                <a:latin typeface="Gill Sans MT" panose="020B0502020104020203" pitchFamily="34" charset="77"/>
              </a:rPr>
              <a:t>DSP-ASIC BUILDER GROUP</a:t>
            </a:r>
          </a:p>
          <a:p>
            <a:pPr defTabSz="1028700"/>
            <a:r>
              <a:rPr lang="en-US" sz="2100" dirty="0">
                <a:solidFill>
                  <a:prstClr val="white">
                    <a:lumMod val="50000"/>
                  </a:prstClr>
                </a:solidFill>
                <a:latin typeface="Gill Sans MT" panose="020B0502020104020203" pitchFamily="34" charset="77"/>
              </a:rPr>
              <a:t>Director Semillero TRIAC</a:t>
            </a:r>
          </a:p>
          <a:p>
            <a:pPr defTabSz="1028700"/>
            <a:r>
              <a:rPr lang="en-US" sz="2100" dirty="0">
                <a:solidFill>
                  <a:prstClr val="white">
                    <a:lumMod val="50000"/>
                  </a:prstClr>
                </a:solidFill>
                <a:latin typeface="Gill Sans MT" panose="020B0502020104020203" pitchFamily="34" charset="77"/>
              </a:rPr>
              <a:t>Ingenieria Electronica</a:t>
            </a:r>
          </a:p>
          <a:p>
            <a:pPr defTabSz="1028700"/>
            <a:r>
              <a:rPr lang="en-US" sz="2100" dirty="0">
                <a:solidFill>
                  <a:prstClr val="white">
                    <a:lumMod val="50000"/>
                  </a:prstClr>
                </a:solidFill>
                <a:latin typeface="Gill Sans MT" panose="020B0502020104020203" pitchFamily="34" charset="77"/>
              </a:rPr>
              <a:t>Universidad Popular del Cesar</a:t>
            </a:r>
          </a:p>
          <a:p>
            <a:pPr defTabSz="1028700"/>
            <a:endParaRPr lang="en-US" sz="2100" dirty="0">
              <a:solidFill>
                <a:prstClr val="white">
                  <a:lumMod val="50000"/>
                </a:prstClr>
              </a:solidFill>
              <a:latin typeface="Gill Sans MT" panose="020B0502020104020203"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120000">
            <a:off x="4546568" y="3915667"/>
            <a:ext cx="9309163" cy="5200650"/>
          </a:xfrm>
          <a:prstGeom prst="roundRect">
            <a:avLst>
              <a:gd name="adj" fmla="val 2777"/>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90beb62-9d16-45bf-af1f-04316caf307e.png"/>
          <p:cNvPicPr>
            <a:picLocks noChangeAspect="1"/>
          </p:cNvPicPr>
          <p:nvPr/>
        </p:nvPicPr>
        <p:blipFill>
          <a:blip r:embed="rId2"/>
          <a:stretch>
            <a:fillRect/>
          </a:stretch>
        </p:blipFill>
        <p:spPr>
          <a:xfrm rot="21480000">
            <a:off x="4432268" y="4125217"/>
            <a:ext cx="9309163" cy="5200650"/>
          </a:xfrm>
          <a:prstGeom prst="rect">
            <a:avLst/>
          </a:prstGeom>
        </p:spPr>
      </p:pic>
      <p:pic>
        <p:nvPicPr>
          <p:cNvPr id="4" name="Picture 3" descr="92a6c244-0f99-4d0a-abf9-3b8dabad794c.png"/>
          <p:cNvPicPr>
            <a:picLocks noChangeAspect="1"/>
          </p:cNvPicPr>
          <p:nvPr/>
        </p:nvPicPr>
        <p:blipFill>
          <a:blip r:embed="rId3"/>
          <a:stretch>
            <a:fillRect/>
          </a:stretch>
        </p:blipFill>
        <p:spPr>
          <a:xfrm>
            <a:off x="8353424" y="3820417"/>
            <a:ext cx="1581149" cy="380999"/>
          </a:xfrm>
          <a:prstGeom prst="rect">
            <a:avLst/>
          </a:prstGeom>
        </p:spPr>
      </p:pic>
      <p:sp>
        <p:nvSpPr>
          <p:cNvPr id="6" name="TextBox 5"/>
          <p:cNvSpPr txBox="1"/>
          <p:nvPr/>
        </p:nvSpPr>
        <p:spPr>
          <a:xfrm>
            <a:off x="1285875" y="961132"/>
            <a:ext cx="15716250" cy="2011048"/>
          </a:xfrm>
          <a:prstGeom prst="rect">
            <a:avLst/>
          </a:prstGeom>
          <a:noFill/>
        </p:spPr>
        <p:txBody>
          <a:bodyPr wrap="square">
            <a:spAutoFit/>
          </a:bodyPr>
          <a:lstStyle/>
          <a:p>
            <a:pPr algn="ctr">
              <a:lnSpc>
                <a:spcPct val="99000"/>
              </a:lnSpc>
            </a:pPr>
            <a:r>
              <a:rPr sz="7200">
                <a:solidFill>
                  <a:srgbClr val="0F151A"/>
                </a:solidFill>
                <a:latin typeface="Quicksand Bold"/>
              </a:rPr>
              <a:t>Gobierno de Datos, Datos Abiertos y Gobernanza</a:t>
            </a:r>
          </a:p>
        </p:txBody>
      </p:sp>
      <p:sp>
        <p:nvSpPr>
          <p:cNvPr id="7" name="TextBox 6"/>
          <p:cNvSpPr txBox="1"/>
          <p:nvPr/>
        </p:nvSpPr>
        <p:spPr>
          <a:xfrm>
            <a:off x="1285875" y="3086992"/>
            <a:ext cx="15716250" cy="456784"/>
          </a:xfrm>
          <a:prstGeom prst="rect">
            <a:avLst/>
          </a:prstGeom>
          <a:noFill/>
        </p:spPr>
        <p:txBody>
          <a:bodyPr wrap="square">
            <a:spAutoFit/>
          </a:bodyPr>
          <a:lstStyle/>
          <a:p>
            <a:pPr algn="ctr">
              <a:lnSpc>
                <a:spcPct val="108000"/>
              </a:lnSpc>
            </a:pPr>
            <a:r>
              <a:rPr sz="3000">
                <a:solidFill>
                  <a:srgbClr val="0F151A"/>
                </a:solidFill>
                <a:latin typeface="Quicksand"/>
              </a:rPr>
              <a:t>Estrategias para un Estado eficiente y transparente en la era digital.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371600" y="1695449"/>
            <a:ext cx="7486650" cy="1005780"/>
          </a:xfrm>
          <a:prstGeom prst="rect">
            <a:avLst/>
          </a:prstGeom>
          <a:noFill/>
        </p:spPr>
        <p:txBody>
          <a:bodyPr wrap="square">
            <a:spAutoFit/>
          </a:bodyPr>
          <a:lstStyle/>
          <a:p>
            <a:pPr algn="l">
              <a:lnSpc>
                <a:spcPct val="99000"/>
              </a:lnSpc>
            </a:pPr>
            <a:r>
              <a:rPr sz="7200">
                <a:solidFill>
                  <a:srgbClr val="0F151A"/>
                </a:solidFill>
                <a:latin typeface="Quicksand Bold"/>
              </a:rPr>
              <a:t>Índice</a:t>
            </a:r>
          </a:p>
        </p:txBody>
      </p:sp>
      <p:sp>
        <p:nvSpPr>
          <p:cNvPr id="4" name="TextBox 3"/>
          <p:cNvSpPr txBox="1"/>
          <p:nvPr/>
        </p:nvSpPr>
        <p:spPr>
          <a:xfrm>
            <a:off x="9334499" y="2800350"/>
            <a:ext cx="7248525" cy="4686300"/>
          </a:xfrm>
          <a:prstGeom prst="rect">
            <a:avLst/>
          </a:prstGeom>
          <a:noFill/>
        </p:spPr>
        <p:txBody>
          <a:bodyPr wrap="square">
            <a:spAutoFit/>
          </a:bodyPr>
          <a:lstStyle/>
          <a:p>
            <a:pPr algn="l">
              <a:buChar char="•"/>
            </a:pPr>
            <a:r>
              <a:rPr sz="3000">
                <a:latin typeface="Quicksand"/>
              </a:rPr>
              <a:t>  </a:t>
            </a:r>
            <a:r>
              <a:rPr sz="3000">
                <a:solidFill>
                  <a:srgbClr val="323E47"/>
                </a:solidFill>
                <a:latin typeface="Quicksand"/>
              </a:rPr>
              <a:t>El Dato como Activo Estratégico</a:t>
            </a:r>
          </a:p>
          <a:p>
            <a:pPr algn="l">
              <a:lnSpc>
                <a:spcPct val="126000"/>
              </a:lnSpc>
              <a:spcBef>
                <a:spcPts val="1875"/>
              </a:spcBef>
              <a:buChar char="•"/>
            </a:pPr>
            <a:r>
              <a:rPr sz="3000">
                <a:latin typeface="Quicksand"/>
              </a:rPr>
              <a:t>  </a:t>
            </a:r>
            <a:r>
              <a:rPr sz="3000">
                <a:solidFill>
                  <a:srgbClr val="323E47"/>
                </a:solidFill>
                <a:latin typeface="Quicksand"/>
              </a:rPr>
              <a:t>Conceptos y Pilares del Gobierno de Datos</a:t>
            </a:r>
          </a:p>
          <a:p>
            <a:pPr algn="l">
              <a:lnSpc>
                <a:spcPct val="126000"/>
              </a:lnSpc>
              <a:spcBef>
                <a:spcPts val="1875"/>
              </a:spcBef>
              <a:buChar char="•"/>
            </a:pPr>
            <a:r>
              <a:rPr sz="3000">
                <a:latin typeface="Quicksand"/>
              </a:rPr>
              <a:t>  </a:t>
            </a:r>
            <a:r>
              <a:rPr sz="3000">
                <a:solidFill>
                  <a:srgbClr val="323E47"/>
                </a:solidFill>
                <a:latin typeface="Quicksand"/>
              </a:rPr>
              <a:t>Calidad y Roles en la Gobernanza</a:t>
            </a:r>
          </a:p>
          <a:p>
            <a:pPr algn="l">
              <a:lnSpc>
                <a:spcPct val="126000"/>
              </a:lnSpc>
              <a:spcBef>
                <a:spcPts val="1875"/>
              </a:spcBef>
              <a:buChar char="•"/>
            </a:pPr>
            <a:r>
              <a:rPr sz="3000">
                <a:latin typeface="Quicksand"/>
              </a:rPr>
              <a:t>  </a:t>
            </a:r>
            <a:r>
              <a:rPr sz="3000">
                <a:solidFill>
                  <a:srgbClr val="323E47"/>
                </a:solidFill>
                <a:latin typeface="Quicksand"/>
              </a:rPr>
              <a:t>Datos Abiertos y Gobierno Abierto</a:t>
            </a:r>
          </a:p>
          <a:p>
            <a:pPr algn="l">
              <a:lnSpc>
                <a:spcPct val="126000"/>
              </a:lnSpc>
              <a:spcBef>
                <a:spcPts val="1875"/>
              </a:spcBef>
              <a:buChar char="•"/>
            </a:pPr>
            <a:r>
              <a:rPr sz="3000">
                <a:latin typeface="Quicksand"/>
              </a:rPr>
              <a:t>  </a:t>
            </a:r>
            <a:r>
              <a:rPr sz="3000">
                <a:solidFill>
                  <a:srgbClr val="323E47"/>
                </a:solidFill>
                <a:latin typeface="Quicksand"/>
              </a:rPr>
              <a:t>Marco Normativo e Interoperabilidad en Colombia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13173075" cy="2011560"/>
          </a:xfrm>
          <a:prstGeom prst="rect">
            <a:avLst/>
          </a:prstGeom>
          <a:noFill/>
        </p:spPr>
        <p:txBody>
          <a:bodyPr wrap="square">
            <a:spAutoFit/>
          </a:bodyPr>
          <a:lstStyle/>
          <a:p>
            <a:pPr algn="l">
              <a:lnSpc>
                <a:spcPct val="99000"/>
              </a:lnSpc>
            </a:pPr>
            <a:r>
              <a:rPr sz="7200">
                <a:solidFill>
                  <a:srgbClr val="0F151A"/>
                </a:solidFill>
                <a:latin typeface="Quicksand Bold"/>
              </a:rPr>
              <a:t>Datos: Activo Estratégico Estatal</a:t>
            </a:r>
          </a:p>
        </p:txBody>
      </p:sp>
      <p:sp>
        <p:nvSpPr>
          <p:cNvPr id="4" name="TextBox 3"/>
          <p:cNvSpPr txBox="1"/>
          <p:nvPr/>
        </p:nvSpPr>
        <p:spPr>
          <a:xfrm>
            <a:off x="1276350" y="4011810"/>
            <a:ext cx="13173075" cy="3200400"/>
          </a:xfrm>
          <a:prstGeom prst="rect">
            <a:avLst/>
          </a:prstGeom>
          <a:noFill/>
        </p:spPr>
        <p:txBody>
          <a:bodyPr wrap="square">
            <a:spAutoFit/>
          </a:bodyPr>
          <a:lstStyle/>
          <a:p>
            <a:pPr algn="l">
              <a:lnSpc>
                <a:spcPct val="126000"/>
              </a:lnSpc>
            </a:pPr>
            <a:r>
              <a:rPr sz="3000">
                <a:solidFill>
                  <a:srgbClr val="323E47"/>
                </a:solidFill>
                <a:latin typeface="Quicksand"/>
              </a:rPr>
              <a:t>En la era de la transformación digital, los datos son el activo más valioso del Estado. En Colombia, el Modelo de Madurez de Gestión de Datos impulsa que las entidades públicas utilicen la información para decisiones basadas en evidencia. El análisis predictivo permite anticipar necesidades y optimizar el gasto público. La soberanía y gestión de datos son pilares de un Estado moderno.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13173075" cy="2011560"/>
          </a:xfrm>
          <a:prstGeom prst="rect">
            <a:avLst/>
          </a:prstGeom>
          <a:noFill/>
        </p:spPr>
        <p:txBody>
          <a:bodyPr wrap="square">
            <a:spAutoFit/>
          </a:bodyPr>
          <a:lstStyle/>
          <a:p>
            <a:pPr algn="l">
              <a:lnSpc>
                <a:spcPct val="99000"/>
              </a:lnSpc>
            </a:pPr>
            <a:r>
              <a:rPr sz="7200">
                <a:solidFill>
                  <a:srgbClr val="0F151A"/>
                </a:solidFill>
                <a:latin typeface="Quicksand Bold"/>
              </a:rPr>
              <a:t>Concepto de Gobierno de Datos</a:t>
            </a:r>
          </a:p>
        </p:txBody>
      </p:sp>
      <p:sp>
        <p:nvSpPr>
          <p:cNvPr id="4" name="TextBox 3"/>
          <p:cNvSpPr txBox="1"/>
          <p:nvPr/>
        </p:nvSpPr>
        <p:spPr>
          <a:xfrm>
            <a:off x="1276350" y="4011810"/>
            <a:ext cx="13173075" cy="2667000"/>
          </a:xfrm>
          <a:prstGeom prst="rect">
            <a:avLst/>
          </a:prstGeom>
          <a:noFill/>
        </p:spPr>
        <p:txBody>
          <a:bodyPr wrap="square">
            <a:spAutoFit/>
          </a:bodyPr>
          <a:lstStyle/>
          <a:p>
            <a:pPr algn="l">
              <a:lnSpc>
                <a:spcPct val="126000"/>
              </a:lnSpc>
            </a:pPr>
            <a:r>
              <a:rPr sz="3000">
                <a:solidFill>
                  <a:srgbClr val="323E47"/>
                </a:solidFill>
                <a:latin typeface="Quicksand"/>
              </a:rPr>
              <a:t>El Gobierno de Datos se define como el ejercicio de autoridad y control sobre la gestión de activos de datos. Según DAMA-DMBOK, implica la planificación y supervisión de su uso. Establece políticas y estándares de calidad, diferenciándose de la Gestión de Datos, que es la implementación técnica. Esto asegura un ciclo de vida del dato íntegro y seguro.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657350"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775449"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893549"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2204286-6020-40bf-8a50-f393cabbe3b1.png"/>
          <p:cNvPicPr>
            <a:picLocks noChangeAspect="1"/>
          </p:cNvPicPr>
          <p:nvPr/>
        </p:nvPicPr>
        <p:blipFill>
          <a:blip r:embed="rId2"/>
          <a:stretch>
            <a:fillRect/>
          </a:stretch>
        </p:blipFill>
        <p:spPr>
          <a:xfrm>
            <a:off x="2038349" y="2800350"/>
            <a:ext cx="609600" cy="609600"/>
          </a:xfrm>
          <a:prstGeom prst="rect">
            <a:avLst/>
          </a:prstGeom>
        </p:spPr>
      </p:pic>
      <p:pic>
        <p:nvPicPr>
          <p:cNvPr id="6" name="Picture 5" descr="75e6b736-3af9-453b-a7e8-041ecb2148ac.png"/>
          <p:cNvPicPr>
            <a:picLocks noChangeAspect="1"/>
          </p:cNvPicPr>
          <p:nvPr/>
        </p:nvPicPr>
        <p:blipFill>
          <a:blip r:embed="rId3"/>
          <a:stretch>
            <a:fillRect/>
          </a:stretch>
        </p:blipFill>
        <p:spPr>
          <a:xfrm>
            <a:off x="7156449" y="2800350"/>
            <a:ext cx="609600" cy="609600"/>
          </a:xfrm>
          <a:prstGeom prst="rect">
            <a:avLst/>
          </a:prstGeom>
        </p:spPr>
      </p:pic>
      <p:pic>
        <p:nvPicPr>
          <p:cNvPr id="7" name="Picture 6" descr="ca048f08-9385-48b0-8a05-e8f84e788068.png"/>
          <p:cNvPicPr>
            <a:picLocks noChangeAspect="1"/>
          </p:cNvPicPr>
          <p:nvPr/>
        </p:nvPicPr>
        <p:blipFill>
          <a:blip r:embed="rId4"/>
          <a:stretch>
            <a:fillRect/>
          </a:stretch>
        </p:blipFill>
        <p:spPr>
          <a:xfrm>
            <a:off x="12274549" y="2800350"/>
            <a:ext cx="609600" cy="609600"/>
          </a:xfrm>
          <a:prstGeom prst="rect">
            <a:avLst/>
          </a:prstGeom>
        </p:spPr>
      </p:pic>
      <p:sp>
        <p:nvSpPr>
          <p:cNvPr id="9" name="TextBox 8"/>
          <p:cNvSpPr txBox="1"/>
          <p:nvPr/>
        </p:nvSpPr>
        <p:spPr>
          <a:xfrm>
            <a:off x="1276350" y="1276350"/>
            <a:ext cx="15716250" cy="838200"/>
          </a:xfrm>
          <a:prstGeom prst="rect">
            <a:avLst/>
          </a:prstGeom>
          <a:noFill/>
        </p:spPr>
        <p:txBody>
          <a:bodyPr wrap="square">
            <a:spAutoFit/>
          </a:bodyPr>
          <a:lstStyle/>
          <a:p>
            <a:pPr algn="ctr">
              <a:lnSpc>
                <a:spcPct val="99000"/>
              </a:lnSpc>
            </a:pPr>
            <a:r>
              <a:rPr sz="6000">
                <a:solidFill>
                  <a:srgbClr val="0F151A"/>
                </a:solidFill>
                <a:latin typeface="Quicksand Bold"/>
              </a:rPr>
              <a:t>Pilares del Marco Estratégico</a:t>
            </a:r>
          </a:p>
        </p:txBody>
      </p:sp>
      <p:sp>
        <p:nvSpPr>
          <p:cNvPr id="10" name="TextBox 9"/>
          <p:cNvSpPr txBox="1"/>
          <p:nvPr/>
        </p:nvSpPr>
        <p:spPr>
          <a:xfrm>
            <a:off x="2038349" y="3600450"/>
            <a:ext cx="3975099" cy="388590"/>
          </a:xfrm>
          <a:prstGeom prst="rect">
            <a:avLst/>
          </a:prstGeom>
          <a:noFill/>
        </p:spPr>
        <p:txBody>
          <a:bodyPr wrap="square">
            <a:spAutoFit/>
          </a:bodyPr>
          <a:lstStyle/>
          <a:p>
            <a:pPr algn="l">
              <a:lnSpc>
                <a:spcPct val="108000"/>
              </a:lnSpc>
            </a:pPr>
            <a:r>
              <a:rPr sz="2550">
                <a:solidFill>
                  <a:srgbClr val="0F151A"/>
                </a:solidFill>
                <a:latin typeface="Quicksand Bold"/>
              </a:rPr>
              <a:t>Estrategia de Datos</a:t>
            </a:r>
          </a:p>
        </p:txBody>
      </p:sp>
      <p:sp>
        <p:nvSpPr>
          <p:cNvPr id="11" name="TextBox 10"/>
          <p:cNvSpPr txBox="1"/>
          <p:nvPr/>
        </p:nvSpPr>
        <p:spPr>
          <a:xfrm>
            <a:off x="2038349" y="4131915"/>
            <a:ext cx="3975099" cy="2066478"/>
          </a:xfrm>
          <a:prstGeom prst="rect">
            <a:avLst/>
          </a:prstGeom>
          <a:noFill/>
        </p:spPr>
        <p:txBody>
          <a:bodyPr wrap="square">
            <a:spAutoFit/>
          </a:bodyPr>
          <a:lstStyle/>
          <a:p>
            <a:pPr algn="l">
              <a:lnSpc>
                <a:spcPct val="126000"/>
              </a:lnSpc>
            </a:pPr>
            <a:r>
              <a:rPr sz="2325">
                <a:solidFill>
                  <a:srgbClr val="323E47"/>
                </a:solidFill>
                <a:latin typeface="Quicksand"/>
              </a:rPr>
              <a:t>Alineación de los activos de información con los objetivos del Plan Nacional de Desarrollo y la Política de Gobierno Digital (MINTIC).</a:t>
            </a:r>
          </a:p>
        </p:txBody>
      </p:sp>
      <p:sp>
        <p:nvSpPr>
          <p:cNvPr id="12" name="TextBox 11"/>
          <p:cNvSpPr txBox="1"/>
          <p:nvPr/>
        </p:nvSpPr>
        <p:spPr>
          <a:xfrm>
            <a:off x="7156449" y="3600450"/>
            <a:ext cx="3975099" cy="388590"/>
          </a:xfrm>
          <a:prstGeom prst="rect">
            <a:avLst/>
          </a:prstGeom>
          <a:noFill/>
        </p:spPr>
        <p:txBody>
          <a:bodyPr wrap="square">
            <a:spAutoFit/>
          </a:bodyPr>
          <a:lstStyle/>
          <a:p>
            <a:pPr algn="l">
              <a:lnSpc>
                <a:spcPct val="108000"/>
              </a:lnSpc>
            </a:pPr>
            <a:r>
              <a:rPr sz="2550">
                <a:solidFill>
                  <a:srgbClr val="0F151A"/>
                </a:solidFill>
                <a:latin typeface="Quicksand Bold"/>
              </a:rPr>
              <a:t>Organización y Roles</a:t>
            </a:r>
          </a:p>
        </p:txBody>
      </p:sp>
      <p:sp>
        <p:nvSpPr>
          <p:cNvPr id="13" name="TextBox 12"/>
          <p:cNvSpPr txBox="1"/>
          <p:nvPr/>
        </p:nvSpPr>
        <p:spPr>
          <a:xfrm>
            <a:off x="7156449" y="4131915"/>
            <a:ext cx="3975099" cy="3306365"/>
          </a:xfrm>
          <a:prstGeom prst="rect">
            <a:avLst/>
          </a:prstGeom>
          <a:noFill/>
        </p:spPr>
        <p:txBody>
          <a:bodyPr wrap="square">
            <a:spAutoFit/>
          </a:bodyPr>
          <a:lstStyle/>
          <a:p>
            <a:pPr algn="l">
              <a:lnSpc>
                <a:spcPct val="126000"/>
              </a:lnSpc>
            </a:pPr>
            <a:r>
              <a:rPr sz="2325">
                <a:solidFill>
                  <a:srgbClr val="323E47"/>
                </a:solidFill>
                <a:latin typeface="Quicksand"/>
              </a:rPr>
              <a:t>Establecimiento de estructuras de mando, desde el Comité de Gobierno de Datos hasta los roles operativos técnicos. Esto asegura la </a:t>
            </a:r>
            <a:r>
              <a:rPr sz="2325" i="1">
                <a:solidFill>
                  <a:srgbClr val="323E47"/>
                </a:solidFill>
                <a:latin typeface="Quicksand"/>
              </a:rPr>
              <a:t>responsabilidad</a:t>
            </a:r>
            <a:r>
              <a:rPr sz="2325">
                <a:solidFill>
                  <a:srgbClr val="323E47"/>
                </a:solidFill>
                <a:latin typeface="Quicksand"/>
              </a:rPr>
              <a:t> y la </a:t>
            </a:r>
            <a:r>
              <a:rPr sz="2325" i="1">
                <a:solidFill>
                  <a:srgbClr val="323E47"/>
                </a:solidFill>
                <a:latin typeface="Quicksand"/>
              </a:rPr>
              <a:t>ejecución</a:t>
            </a:r>
            <a:r>
              <a:rPr sz="2325">
                <a:solidFill>
                  <a:srgbClr val="323E47"/>
                </a:solidFill>
                <a:latin typeface="Quicksand"/>
              </a:rPr>
              <a:t> de las políticas de datos.</a:t>
            </a:r>
          </a:p>
        </p:txBody>
      </p:sp>
      <p:sp>
        <p:nvSpPr>
          <p:cNvPr id="14" name="TextBox 13"/>
          <p:cNvSpPr txBox="1"/>
          <p:nvPr/>
        </p:nvSpPr>
        <p:spPr>
          <a:xfrm>
            <a:off x="12274549" y="3600450"/>
            <a:ext cx="3975099" cy="388590"/>
          </a:xfrm>
          <a:prstGeom prst="rect">
            <a:avLst/>
          </a:prstGeom>
          <a:noFill/>
        </p:spPr>
        <p:txBody>
          <a:bodyPr wrap="square">
            <a:spAutoFit/>
          </a:bodyPr>
          <a:lstStyle/>
          <a:p>
            <a:pPr algn="l">
              <a:lnSpc>
                <a:spcPct val="108000"/>
              </a:lnSpc>
            </a:pPr>
            <a:r>
              <a:rPr sz="2550">
                <a:solidFill>
                  <a:srgbClr val="0F151A"/>
                </a:solidFill>
                <a:latin typeface="Quicksand Bold"/>
              </a:rPr>
              <a:t>Cultura de Datos</a:t>
            </a:r>
          </a:p>
        </p:txBody>
      </p:sp>
      <p:sp>
        <p:nvSpPr>
          <p:cNvPr id="15" name="TextBox 14"/>
          <p:cNvSpPr txBox="1"/>
          <p:nvPr/>
        </p:nvSpPr>
        <p:spPr>
          <a:xfrm>
            <a:off x="12274549" y="4131915"/>
            <a:ext cx="3975099" cy="3306365"/>
          </a:xfrm>
          <a:prstGeom prst="rect">
            <a:avLst/>
          </a:prstGeom>
          <a:noFill/>
        </p:spPr>
        <p:txBody>
          <a:bodyPr wrap="square">
            <a:spAutoFit/>
          </a:bodyPr>
          <a:lstStyle/>
          <a:p>
            <a:pPr algn="l">
              <a:lnSpc>
                <a:spcPct val="126000"/>
              </a:lnSpc>
            </a:pPr>
            <a:r>
              <a:rPr sz="2325">
                <a:solidFill>
                  <a:srgbClr val="323E47"/>
                </a:solidFill>
                <a:latin typeface="Quicksand"/>
              </a:rPr>
              <a:t>Transformación de la mentalidad institucional para valorar el dato como un bien común que requiere </a:t>
            </a:r>
            <a:r>
              <a:rPr sz="2325">
                <a:solidFill>
                  <a:srgbClr val="323E47"/>
                </a:solidFill>
                <a:latin typeface="Quicksand Bold"/>
              </a:rPr>
              <a:t>ética</a:t>
            </a:r>
            <a:r>
              <a:rPr sz="2325">
                <a:solidFill>
                  <a:srgbClr val="323E47"/>
                </a:solidFill>
                <a:latin typeface="Quicksand"/>
              </a:rPr>
              <a:t>, protección y compartición. Fomenta una mentalidad de </a:t>
            </a:r>
            <a:r>
              <a:rPr sz="2325" i="1">
                <a:solidFill>
                  <a:srgbClr val="323E47"/>
                </a:solidFill>
                <a:latin typeface="Quicksand"/>
              </a:rPr>
              <a:t>data-centricity</a:t>
            </a:r>
            <a:r>
              <a:rPr sz="2325">
                <a:solidFill>
                  <a:srgbClr val="323E47"/>
                </a:solidFill>
                <a:latin typeface="Quicksand"/>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71600" y="3569940"/>
          <a:ext cx="15544797" cy="4442460"/>
        </p:xfrm>
        <a:graphic>
          <a:graphicData uri="http://schemas.openxmlformats.org/drawingml/2006/table">
            <a:tbl>
              <a:tblPr firstRow="1" bandRow="1">
                <a:tableStyleId>{5C22544A-7EE6-4342-B048-85BDC9FD1C3A}</a:tableStyleId>
              </a:tblPr>
              <a:tblGrid>
                <a:gridCol w="5181599">
                  <a:extLst>
                    <a:ext uri="{9D8B030D-6E8A-4147-A177-3AD203B41FA5}">
                      <a16:colId xmlns:a16="http://schemas.microsoft.com/office/drawing/2014/main" val="20000"/>
                    </a:ext>
                  </a:extLst>
                </a:gridCol>
                <a:gridCol w="5181599">
                  <a:extLst>
                    <a:ext uri="{9D8B030D-6E8A-4147-A177-3AD203B41FA5}">
                      <a16:colId xmlns:a16="http://schemas.microsoft.com/office/drawing/2014/main" val="20001"/>
                    </a:ext>
                  </a:extLst>
                </a:gridCol>
                <a:gridCol w="5181599">
                  <a:extLst>
                    <a:ext uri="{9D8B030D-6E8A-4147-A177-3AD203B41FA5}">
                      <a16:colId xmlns:a16="http://schemas.microsoft.com/office/drawing/2014/main" val="20002"/>
                    </a:ext>
                  </a:extLst>
                </a:gridCol>
              </a:tblGrid>
              <a:tr h="888492">
                <a:tc>
                  <a:txBody>
                    <a:bodyPr/>
                    <a:lstStyle/>
                    <a:p>
                      <a:pPr algn="ctr"/>
                      <a:r>
                        <a:rPr sz="2700">
                          <a:solidFill>
                            <a:srgbClr val="8D6E0D"/>
                          </a:solidFill>
                          <a:latin typeface="Quicksand Bold"/>
                        </a:rPr>
                        <a:t>Rol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700">
                          <a:solidFill>
                            <a:srgbClr val="8D6E0D"/>
                          </a:solidFill>
                          <a:latin typeface="Quicksand Bold"/>
                        </a:rPr>
                        <a:t>Responsabilidad Principal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700">
                          <a:solidFill>
                            <a:srgbClr val="8D6E0D"/>
                          </a:solidFill>
                          <a:latin typeface="Quicksand Bold"/>
                        </a:rPr>
                        <a:t>Perfil Típico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extLst>
                  <a:ext uri="{0D108BD9-81ED-4DB2-BD59-A6C34878D82A}">
                    <a16:rowId xmlns:a16="http://schemas.microsoft.com/office/drawing/2014/main" val="10000"/>
                  </a:ext>
                </a:extLst>
              </a:tr>
              <a:tr h="888492">
                <a:tc>
                  <a:txBody>
                    <a:bodyPr/>
                    <a:lstStyle/>
                    <a:p>
                      <a:pPr algn="l"/>
                      <a:r>
                        <a:rPr sz="2250">
                          <a:solidFill>
                            <a:srgbClr val="0F151A"/>
                          </a:solidFill>
                          <a:latin typeface="Quicksand"/>
                        </a:rPr>
                        <a:t>**Data Owner**</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Responsable legal y estratégico del dominio de datos.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Directivo de área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1"/>
                  </a:ext>
                </a:extLst>
              </a:tr>
              <a:tr h="888492">
                <a:tc>
                  <a:txBody>
                    <a:bodyPr/>
                    <a:lstStyle/>
                    <a:p>
                      <a:pPr algn="l"/>
                      <a:r>
                        <a:rPr sz="2250">
                          <a:solidFill>
                            <a:srgbClr val="0F151A"/>
                          </a:solidFill>
                          <a:latin typeface="Quicksand"/>
                        </a:rPr>
                        <a:t>**Data Steward**</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Define estándares, reglas de negocio y calidad del dato.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Experto funcional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2"/>
                  </a:ext>
                </a:extLst>
              </a:tr>
              <a:tr h="888492">
                <a:tc>
                  <a:txBody>
                    <a:bodyPr/>
                    <a:lstStyle/>
                    <a:p>
                      <a:pPr algn="l"/>
                      <a:r>
                        <a:rPr sz="2250">
                          <a:solidFill>
                            <a:srgbClr val="0F151A"/>
                          </a:solidFill>
                          <a:latin typeface="Quicksand"/>
                        </a:rPr>
                        <a:t>**Data Custodian**</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Encargado del transporte, almacenamiento y seguridad técnica.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Líder de TI</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3"/>
                  </a:ext>
                </a:extLst>
              </a:tr>
              <a:tr h="888492">
                <a:tc>
                  <a:txBody>
                    <a:bodyPr/>
                    <a:lstStyle/>
                    <a:p>
                      <a:pPr algn="l"/>
                      <a:r>
                        <a:rPr sz="2250">
                          <a:solidFill>
                            <a:srgbClr val="0F151A"/>
                          </a:solidFill>
                          <a:latin typeface="Quicksand"/>
                        </a:rPr>
                        <a:t>**Data Consumer**</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Usuario final que explota el dato para análisis o trámites.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Analistas / Ciudadanos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1371600" y="1695449"/>
            <a:ext cx="15544800" cy="838200"/>
          </a:xfrm>
          <a:prstGeom prst="rect">
            <a:avLst/>
          </a:prstGeom>
          <a:noFill/>
        </p:spPr>
        <p:txBody>
          <a:bodyPr wrap="square">
            <a:spAutoFit/>
          </a:bodyPr>
          <a:lstStyle/>
          <a:p>
            <a:pPr algn="l">
              <a:lnSpc>
                <a:spcPct val="99000"/>
              </a:lnSpc>
            </a:pPr>
            <a:r>
              <a:rPr sz="6000">
                <a:solidFill>
                  <a:srgbClr val="0F151A"/>
                </a:solidFill>
                <a:latin typeface="Quicksand Bold"/>
              </a:rPr>
              <a:t>Roles en la Gobernanza</a:t>
            </a:r>
          </a:p>
        </p:txBody>
      </p:sp>
      <p:sp>
        <p:nvSpPr>
          <p:cNvPr id="5" name="TextBox 4"/>
          <p:cNvSpPr txBox="1"/>
          <p:nvPr/>
        </p:nvSpPr>
        <p:spPr>
          <a:xfrm>
            <a:off x="1371600" y="2838450"/>
            <a:ext cx="15544800" cy="426690"/>
          </a:xfrm>
          <a:prstGeom prst="rect">
            <a:avLst/>
          </a:prstGeom>
          <a:noFill/>
        </p:spPr>
        <p:txBody>
          <a:bodyPr wrap="square">
            <a:spAutoFit/>
          </a:bodyPr>
          <a:lstStyle/>
          <a:p>
            <a:pPr algn="l">
              <a:lnSpc>
                <a:spcPct val="126000"/>
              </a:lnSpc>
            </a:pPr>
            <a:r>
              <a:rPr sz="2400">
                <a:solidFill>
                  <a:srgbClr val="323E47"/>
                </a:solidFill>
                <a:latin typeface="Quicksand"/>
              </a:rPr>
              <a:t>Esta tabla detalla las funciones y responsabilidades clave dentro de una estructura de gobernanza de datos.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c07f7d1-d24e-4780-96da-87c2ee08bf83.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a:spAutoFit/>
          </a:bodyPr>
          <a:lstStyle/>
          <a:p>
            <a:pPr algn="l">
              <a:lnSpc>
                <a:spcPct val="126000"/>
              </a:lnSpc>
            </a:pPr>
            <a:r>
              <a:rPr sz="2100" i="1">
                <a:solidFill>
                  <a:srgbClr val="323E47"/>
                </a:solidFill>
                <a:latin typeface="Quicksand"/>
              </a:rPr>
              <a:t>Pipeline de datos: asegurando exactitud, completitud y consistencia.</a:t>
            </a:r>
          </a:p>
        </p:txBody>
      </p:sp>
      <p:sp>
        <p:nvSpPr>
          <p:cNvPr id="5" name="TextBox 4"/>
          <p:cNvSpPr txBox="1"/>
          <p:nvPr/>
        </p:nvSpPr>
        <p:spPr>
          <a:xfrm>
            <a:off x="9639300" y="1790700"/>
            <a:ext cx="7362824" cy="1718071"/>
          </a:xfrm>
          <a:prstGeom prst="rect">
            <a:avLst/>
          </a:prstGeom>
          <a:noFill/>
        </p:spPr>
        <p:txBody>
          <a:bodyPr wrap="square">
            <a:spAutoFit/>
          </a:bodyPr>
          <a:lstStyle/>
          <a:p>
            <a:pPr algn="l">
              <a:lnSpc>
                <a:spcPct val="99000"/>
              </a:lnSpc>
            </a:pPr>
            <a:r>
              <a:rPr sz="6150">
                <a:solidFill>
                  <a:srgbClr val="0F151A"/>
                </a:solidFill>
                <a:latin typeface="Quicksand Bold"/>
              </a:rPr>
              <a:t>Dimensiones de Calidad Críticas</a:t>
            </a:r>
          </a:p>
        </p:txBody>
      </p:sp>
      <p:sp>
        <p:nvSpPr>
          <p:cNvPr id="6" name="TextBox 5"/>
          <p:cNvSpPr txBox="1"/>
          <p:nvPr/>
        </p:nvSpPr>
        <p:spPr>
          <a:xfrm>
            <a:off x="9639300" y="3813571"/>
            <a:ext cx="7362824" cy="4132957"/>
          </a:xfrm>
          <a:prstGeom prst="rect">
            <a:avLst/>
          </a:prstGeom>
          <a:noFill/>
        </p:spPr>
        <p:txBody>
          <a:bodyPr wrap="square">
            <a:spAutoFit/>
          </a:bodyPr>
          <a:lstStyle/>
          <a:p>
            <a:pPr algn="l">
              <a:buChar char="•"/>
            </a:pPr>
            <a:r>
              <a:rPr sz="2325">
                <a:latin typeface="Quicksand"/>
              </a:rPr>
              <a:t>  </a:t>
            </a:r>
            <a:r>
              <a:rPr sz="2325">
                <a:solidFill>
                  <a:srgbClr val="323E47"/>
                </a:solidFill>
                <a:latin typeface="Quicksand Bold"/>
              </a:rPr>
              <a:t>Exactitud</a:t>
            </a:r>
            <a:r>
              <a:rPr sz="2325">
                <a:solidFill>
                  <a:srgbClr val="323E47"/>
                </a:solidFill>
                <a:latin typeface="Quicksand"/>
              </a:rPr>
              <a:t>: El grado en que los datos reflejan correctamente el evento real es fundamental.</a:t>
            </a:r>
          </a:p>
          <a:p>
            <a:pPr algn="l">
              <a:lnSpc>
                <a:spcPct val="126000"/>
              </a:lnSpc>
              <a:spcBef>
                <a:spcPts val="1453"/>
              </a:spcBef>
              <a:buChar char="•"/>
            </a:pPr>
            <a:r>
              <a:rPr sz="2325">
                <a:latin typeface="Quicksand"/>
              </a:rPr>
              <a:t>  </a:t>
            </a:r>
            <a:r>
              <a:rPr sz="2325">
                <a:solidFill>
                  <a:srgbClr val="323E47"/>
                </a:solidFill>
                <a:latin typeface="Quicksand Bold"/>
              </a:rPr>
              <a:t>Completitud</a:t>
            </a:r>
            <a:r>
              <a:rPr sz="2325">
                <a:solidFill>
                  <a:srgbClr val="323E47"/>
                </a:solidFill>
                <a:latin typeface="Quicksand"/>
              </a:rPr>
              <a:t>: Se refiere a la ausencia de valores nulos en campos obligatorios para el proceso.</a:t>
            </a:r>
          </a:p>
          <a:p>
            <a:pPr algn="l">
              <a:lnSpc>
                <a:spcPct val="126000"/>
              </a:lnSpc>
              <a:spcBef>
                <a:spcPts val="1453"/>
              </a:spcBef>
              <a:buChar char="•"/>
            </a:pPr>
            <a:r>
              <a:rPr sz="2325">
                <a:latin typeface="Quicksand"/>
              </a:rPr>
              <a:t>  </a:t>
            </a:r>
            <a:r>
              <a:rPr sz="2325">
                <a:solidFill>
                  <a:srgbClr val="323E47"/>
                </a:solidFill>
                <a:latin typeface="Quicksand Bold"/>
              </a:rPr>
              <a:t>Consistencia</a:t>
            </a:r>
            <a:r>
              <a:rPr sz="2325">
                <a:solidFill>
                  <a:srgbClr val="323E47"/>
                </a:solidFill>
                <a:latin typeface="Quicksand"/>
              </a:rPr>
              <a:t>: Asegura la uniformidad de los datos a través de diferentes sistemas y bases de datos.</a:t>
            </a:r>
          </a:p>
          <a:p>
            <a:pPr algn="l">
              <a:lnSpc>
                <a:spcPct val="126000"/>
              </a:lnSpc>
              <a:spcBef>
                <a:spcPts val="1453"/>
              </a:spcBef>
              <a:buChar char="•"/>
            </a:pPr>
            <a:r>
              <a:rPr sz="2325">
                <a:latin typeface="Quicksand"/>
              </a:rPr>
              <a:t>  </a:t>
            </a:r>
            <a:r>
              <a:rPr sz="2325">
                <a:solidFill>
                  <a:srgbClr val="323E47"/>
                </a:solidFill>
                <a:latin typeface="Quicksand Bold"/>
              </a:rPr>
              <a:t>Oportunidad</a:t>
            </a:r>
            <a:r>
              <a:rPr sz="2325">
                <a:solidFill>
                  <a:srgbClr val="323E47"/>
                </a:solidFill>
                <a:latin typeface="Quicksand"/>
              </a:rPr>
              <a:t>: Implica la disponibilidad del dato en el momento exacto en que se requiere para la decisión.</a:t>
            </a:r>
          </a:p>
          <a:p>
            <a:pPr algn="l">
              <a:lnSpc>
                <a:spcPct val="126000"/>
              </a:lnSpc>
              <a:spcBef>
                <a:spcPts val="1453"/>
              </a:spcBef>
              <a:buChar char="•"/>
            </a:pPr>
            <a:r>
              <a:rPr sz="2325">
                <a:latin typeface="Quicksand"/>
              </a:rPr>
              <a:t>  </a:t>
            </a:r>
            <a:r>
              <a:rPr sz="2325">
                <a:solidFill>
                  <a:srgbClr val="323E47"/>
                </a:solidFill>
                <a:latin typeface="Quicksand Bold"/>
              </a:rPr>
              <a:t>Unicidad</a:t>
            </a:r>
            <a:r>
              <a:rPr sz="2325">
                <a:solidFill>
                  <a:srgbClr val="323E47"/>
                </a:solidFill>
                <a:latin typeface="Quicksand"/>
              </a:rPr>
              <a:t>: Garantiza la ausencia de registros duplicados que distorsionen las estadísticas estatales.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7429500" cy="1340941"/>
          </a:xfrm>
          <a:prstGeom prst="rect">
            <a:avLst/>
          </a:prstGeom>
          <a:noFill/>
        </p:spPr>
        <p:txBody>
          <a:bodyPr wrap="square">
            <a:spAutoFit/>
          </a:bodyPr>
          <a:lstStyle/>
          <a:p>
            <a:pPr algn="l">
              <a:lnSpc>
                <a:spcPct val="99000"/>
              </a:lnSpc>
            </a:pPr>
            <a:r>
              <a:rPr sz="4800">
                <a:solidFill>
                  <a:srgbClr val="0F151A"/>
                </a:solidFill>
                <a:latin typeface="Quicksand Bold"/>
              </a:rPr>
              <a:t>Datos Gubernamentales Cerrados</a:t>
            </a:r>
          </a:p>
        </p:txBody>
      </p:sp>
      <p:sp>
        <p:nvSpPr>
          <p:cNvPr id="4" name="TextBox 3"/>
          <p:cNvSpPr txBox="1"/>
          <p:nvPr/>
        </p:nvSpPr>
        <p:spPr>
          <a:xfrm>
            <a:off x="9639300" y="1695449"/>
            <a:ext cx="7429500" cy="1340941"/>
          </a:xfrm>
          <a:prstGeom prst="rect">
            <a:avLst/>
          </a:prstGeom>
          <a:noFill/>
        </p:spPr>
        <p:txBody>
          <a:bodyPr wrap="square">
            <a:spAutoFit/>
          </a:bodyPr>
          <a:lstStyle/>
          <a:p>
            <a:pPr algn="l">
              <a:lnSpc>
                <a:spcPct val="99000"/>
              </a:lnSpc>
            </a:pPr>
            <a:r>
              <a:rPr sz="4800">
                <a:solidFill>
                  <a:srgbClr val="0F151A"/>
                </a:solidFill>
                <a:latin typeface="Quicksand Bold"/>
              </a:rPr>
              <a:t>Datos Abiertos (Open Data)</a:t>
            </a:r>
          </a:p>
        </p:txBody>
      </p:sp>
      <p:sp>
        <p:nvSpPr>
          <p:cNvPr id="5" name="TextBox 4"/>
          <p:cNvSpPr txBox="1"/>
          <p:nvPr/>
        </p:nvSpPr>
        <p:spPr>
          <a:xfrm>
            <a:off x="1276350" y="3341191"/>
            <a:ext cx="7429500" cy="4052887"/>
          </a:xfrm>
          <a:prstGeom prst="rect">
            <a:avLst/>
          </a:prstGeom>
          <a:noFill/>
        </p:spPr>
        <p:txBody>
          <a:bodyPr wrap="square">
            <a:spAutoFit/>
          </a:bodyPr>
          <a:lstStyle/>
          <a:p>
            <a:pPr algn="l">
              <a:lnSpc>
                <a:spcPct val="126000"/>
              </a:lnSpc>
            </a:pPr>
            <a:r>
              <a:rPr sz="2850">
                <a:solidFill>
                  <a:srgbClr val="323E47"/>
                </a:solidFill>
                <a:latin typeface="Quicksand"/>
              </a:rPr>
              <a:t>Información resguardada en </a:t>
            </a:r>
            <a:r>
              <a:rPr sz="2850">
                <a:solidFill>
                  <a:srgbClr val="323E47"/>
                </a:solidFill>
                <a:latin typeface="Quicksand Bold"/>
              </a:rPr>
              <a:t>silos institucionales</a:t>
            </a:r>
            <a:r>
              <a:rPr sz="2850">
                <a:solidFill>
                  <a:srgbClr val="323E47"/>
                </a:solidFill>
                <a:latin typeface="Quicksand"/>
              </a:rPr>
              <a:t>, con acceso restringido por seguridad o falta de infraestructura. Su uso es puramente interno y operacional, limitando la colaboración interinstitucional. Estos datos, a menudo </a:t>
            </a:r>
            <a:r>
              <a:rPr sz="2850" i="1">
                <a:solidFill>
                  <a:srgbClr val="323E47"/>
                </a:solidFill>
                <a:latin typeface="Quicksand"/>
              </a:rPr>
              <a:t>subutilizados</a:t>
            </a:r>
            <a:r>
              <a:rPr sz="2850">
                <a:solidFill>
                  <a:srgbClr val="323E47"/>
                </a:solidFill>
                <a:latin typeface="Quicksand"/>
              </a:rPr>
              <a:t>, representan el estado previo a la apertura controlada.</a:t>
            </a:r>
          </a:p>
        </p:txBody>
      </p:sp>
      <p:sp>
        <p:nvSpPr>
          <p:cNvPr id="6" name="TextBox 5"/>
          <p:cNvSpPr txBox="1"/>
          <p:nvPr/>
        </p:nvSpPr>
        <p:spPr>
          <a:xfrm>
            <a:off x="9639300" y="3341191"/>
            <a:ext cx="7429500" cy="4052887"/>
          </a:xfrm>
          <a:prstGeom prst="rect">
            <a:avLst/>
          </a:prstGeom>
          <a:noFill/>
        </p:spPr>
        <p:txBody>
          <a:bodyPr wrap="square">
            <a:spAutoFit/>
          </a:bodyPr>
          <a:lstStyle/>
          <a:p>
            <a:pPr algn="l">
              <a:lnSpc>
                <a:spcPct val="126000"/>
              </a:lnSpc>
            </a:pPr>
            <a:r>
              <a:rPr sz="2850">
                <a:solidFill>
                  <a:srgbClr val="323E47"/>
                </a:solidFill>
                <a:latin typeface="Quicksand"/>
              </a:rPr>
              <a:t>Datos puestos a disposición de cualquier persona, sin </a:t>
            </a:r>
            <a:r>
              <a:rPr sz="2850">
                <a:solidFill>
                  <a:srgbClr val="323E47"/>
                </a:solidFill>
                <a:latin typeface="Quicksand Bold"/>
              </a:rPr>
              <a:t>restricciones de uso</a:t>
            </a:r>
            <a:r>
              <a:rPr sz="2850">
                <a:solidFill>
                  <a:srgbClr val="323E47"/>
                </a:solidFill>
                <a:latin typeface="Quicksand"/>
              </a:rPr>
              <a:t>, en formatos procesables por máquinas. Fomentan la transparencia activa y permiten que terceros creen valor económico o social a partir de información pública, maximizando su </a:t>
            </a:r>
            <a:r>
              <a:rPr sz="2850" i="1">
                <a:solidFill>
                  <a:srgbClr val="323E47"/>
                </a:solidFill>
                <a:latin typeface="Quicksand"/>
              </a:rPr>
              <a:t>impacto y reutilización</a:t>
            </a:r>
            <a:r>
              <a:rPr sz="2850">
                <a:solidFill>
                  <a:srgbClr val="323E47"/>
                </a:solidFill>
                <a:latin typeface="Quicksand"/>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361753" y="2419349"/>
            <a:ext cx="6591746" cy="310514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334499" y="2419349"/>
            <a:ext cx="6591746" cy="310514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361753" y="5905500"/>
            <a:ext cx="6591746" cy="310514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334499" y="5905500"/>
            <a:ext cx="6591746" cy="310514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5a259273-b37c-4b70-adb3-e131824892dc.png"/>
          <p:cNvPicPr>
            <a:picLocks noChangeAspect="1"/>
          </p:cNvPicPr>
          <p:nvPr/>
        </p:nvPicPr>
        <p:blipFill>
          <a:blip r:embed="rId2"/>
          <a:stretch>
            <a:fillRect/>
          </a:stretch>
        </p:blipFill>
        <p:spPr>
          <a:xfrm>
            <a:off x="2742753" y="2800350"/>
            <a:ext cx="609600" cy="609600"/>
          </a:xfrm>
          <a:prstGeom prst="rect">
            <a:avLst/>
          </a:prstGeom>
        </p:spPr>
      </p:pic>
      <p:pic>
        <p:nvPicPr>
          <p:cNvPr id="7" name="Picture 6" descr="e00a0f8e-cca6-4fa1-95a8-1b93c51a4609.png"/>
          <p:cNvPicPr>
            <a:picLocks noChangeAspect="1"/>
          </p:cNvPicPr>
          <p:nvPr/>
        </p:nvPicPr>
        <p:blipFill>
          <a:blip r:embed="rId3"/>
          <a:stretch>
            <a:fillRect/>
          </a:stretch>
        </p:blipFill>
        <p:spPr>
          <a:xfrm>
            <a:off x="9715500" y="2800350"/>
            <a:ext cx="609600" cy="609600"/>
          </a:xfrm>
          <a:prstGeom prst="rect">
            <a:avLst/>
          </a:prstGeom>
        </p:spPr>
      </p:pic>
      <p:pic>
        <p:nvPicPr>
          <p:cNvPr id="8" name="Picture 7" descr="dbac2ea6-f304-4c33-9537-ca3c127d7608.png"/>
          <p:cNvPicPr>
            <a:picLocks noChangeAspect="1"/>
          </p:cNvPicPr>
          <p:nvPr/>
        </p:nvPicPr>
        <p:blipFill>
          <a:blip r:embed="rId4"/>
          <a:stretch>
            <a:fillRect/>
          </a:stretch>
        </p:blipFill>
        <p:spPr>
          <a:xfrm>
            <a:off x="2742753" y="6286500"/>
            <a:ext cx="609600" cy="609600"/>
          </a:xfrm>
          <a:prstGeom prst="rect">
            <a:avLst/>
          </a:prstGeom>
        </p:spPr>
      </p:pic>
      <p:pic>
        <p:nvPicPr>
          <p:cNvPr id="9" name="Picture 8" descr="75e6b736-3af9-453b-a7e8-041ecb2148ac.png"/>
          <p:cNvPicPr>
            <a:picLocks noChangeAspect="1"/>
          </p:cNvPicPr>
          <p:nvPr/>
        </p:nvPicPr>
        <p:blipFill>
          <a:blip r:embed="rId5"/>
          <a:stretch>
            <a:fillRect/>
          </a:stretch>
        </p:blipFill>
        <p:spPr>
          <a:xfrm>
            <a:off x="9715500" y="6286500"/>
            <a:ext cx="609600" cy="609600"/>
          </a:xfrm>
          <a:prstGeom prst="rect">
            <a:avLst/>
          </a:prstGeom>
        </p:spPr>
      </p:pic>
      <p:sp>
        <p:nvSpPr>
          <p:cNvPr id="11" name="TextBox 10"/>
          <p:cNvSpPr txBox="1"/>
          <p:nvPr/>
        </p:nvSpPr>
        <p:spPr>
          <a:xfrm>
            <a:off x="1276350" y="1276350"/>
            <a:ext cx="15716250" cy="838200"/>
          </a:xfrm>
          <a:prstGeom prst="rect">
            <a:avLst/>
          </a:prstGeom>
          <a:noFill/>
        </p:spPr>
        <p:txBody>
          <a:bodyPr wrap="square">
            <a:spAutoFit/>
          </a:bodyPr>
          <a:lstStyle/>
          <a:p>
            <a:pPr algn="ctr">
              <a:lnSpc>
                <a:spcPct val="99000"/>
              </a:lnSpc>
            </a:pPr>
            <a:r>
              <a:rPr sz="6000">
                <a:solidFill>
                  <a:srgbClr val="0F151A"/>
                </a:solidFill>
                <a:latin typeface="Quicksand Bold"/>
              </a:rPr>
              <a:t>Principios de Datos Abiertos</a:t>
            </a:r>
          </a:p>
        </p:txBody>
      </p:sp>
      <p:sp>
        <p:nvSpPr>
          <p:cNvPr id="12" name="TextBox 11"/>
          <p:cNvSpPr txBox="1"/>
          <p:nvPr/>
        </p:nvSpPr>
        <p:spPr>
          <a:xfrm>
            <a:off x="3542853" y="2800350"/>
            <a:ext cx="5029646" cy="388590"/>
          </a:xfrm>
          <a:prstGeom prst="rect">
            <a:avLst/>
          </a:prstGeom>
          <a:noFill/>
        </p:spPr>
        <p:txBody>
          <a:bodyPr wrap="square">
            <a:spAutoFit/>
          </a:bodyPr>
          <a:lstStyle/>
          <a:p>
            <a:pPr algn="l">
              <a:lnSpc>
                <a:spcPct val="108000"/>
              </a:lnSpc>
            </a:pPr>
            <a:r>
              <a:rPr sz="2550">
                <a:solidFill>
                  <a:srgbClr val="0F151A"/>
                </a:solidFill>
                <a:latin typeface="Quicksand Bold"/>
              </a:rPr>
              <a:t>Apertura por Defecto</a:t>
            </a:r>
          </a:p>
        </p:txBody>
      </p:sp>
      <p:sp>
        <p:nvSpPr>
          <p:cNvPr id="13" name="TextBox 12"/>
          <p:cNvSpPr txBox="1"/>
          <p:nvPr/>
        </p:nvSpPr>
        <p:spPr>
          <a:xfrm>
            <a:off x="3542853" y="3331815"/>
            <a:ext cx="5029646" cy="1039862"/>
          </a:xfrm>
          <a:prstGeom prst="rect">
            <a:avLst/>
          </a:prstGeom>
          <a:noFill/>
        </p:spPr>
        <p:txBody>
          <a:bodyPr wrap="square">
            <a:spAutoFit/>
          </a:bodyPr>
          <a:lstStyle/>
          <a:p>
            <a:pPr algn="l">
              <a:lnSpc>
                <a:spcPct val="126000"/>
              </a:lnSpc>
            </a:pPr>
            <a:r>
              <a:rPr sz="1950">
                <a:solidFill>
                  <a:srgbClr val="323E47"/>
                </a:solidFill>
                <a:latin typeface="Quicksand"/>
              </a:rPr>
              <a:t>La apertura debe ser la norma, no la excepción, garantizando el acceso primario a la información pública.</a:t>
            </a:r>
          </a:p>
        </p:txBody>
      </p:sp>
      <p:sp>
        <p:nvSpPr>
          <p:cNvPr id="14" name="TextBox 13"/>
          <p:cNvSpPr txBox="1"/>
          <p:nvPr/>
        </p:nvSpPr>
        <p:spPr>
          <a:xfrm>
            <a:off x="10515600" y="2800350"/>
            <a:ext cx="5029646" cy="388590"/>
          </a:xfrm>
          <a:prstGeom prst="rect">
            <a:avLst/>
          </a:prstGeom>
          <a:noFill/>
        </p:spPr>
        <p:txBody>
          <a:bodyPr wrap="square">
            <a:spAutoFit/>
          </a:bodyPr>
          <a:lstStyle/>
          <a:p>
            <a:pPr algn="l">
              <a:lnSpc>
                <a:spcPct val="108000"/>
              </a:lnSpc>
            </a:pPr>
            <a:r>
              <a:rPr sz="2550">
                <a:solidFill>
                  <a:srgbClr val="0F151A"/>
                </a:solidFill>
                <a:latin typeface="Quicksand Bold"/>
              </a:rPr>
              <a:t>Oportunos y Desglosados</a:t>
            </a:r>
          </a:p>
        </p:txBody>
      </p:sp>
      <p:sp>
        <p:nvSpPr>
          <p:cNvPr id="15" name="TextBox 14"/>
          <p:cNvSpPr txBox="1"/>
          <p:nvPr/>
        </p:nvSpPr>
        <p:spPr>
          <a:xfrm>
            <a:off x="10515600" y="3331815"/>
            <a:ext cx="5029646" cy="1039862"/>
          </a:xfrm>
          <a:prstGeom prst="rect">
            <a:avLst/>
          </a:prstGeom>
          <a:noFill/>
        </p:spPr>
        <p:txBody>
          <a:bodyPr wrap="square">
            <a:spAutoFit/>
          </a:bodyPr>
          <a:lstStyle/>
          <a:p>
            <a:pPr algn="l">
              <a:lnSpc>
                <a:spcPct val="126000"/>
              </a:lnSpc>
            </a:pPr>
            <a:r>
              <a:rPr sz="1950">
                <a:solidFill>
                  <a:srgbClr val="323E47"/>
                </a:solidFill>
                <a:latin typeface="Quicksand"/>
              </a:rPr>
              <a:t>La publicación debe ser rápida y ofrecer el mayor nivel de detalle posible (granularidad) de los datos.</a:t>
            </a:r>
          </a:p>
        </p:txBody>
      </p:sp>
      <p:sp>
        <p:nvSpPr>
          <p:cNvPr id="16" name="TextBox 15"/>
          <p:cNvSpPr txBox="1"/>
          <p:nvPr/>
        </p:nvSpPr>
        <p:spPr>
          <a:xfrm>
            <a:off x="3542853" y="6286500"/>
            <a:ext cx="5029646" cy="388590"/>
          </a:xfrm>
          <a:prstGeom prst="rect">
            <a:avLst/>
          </a:prstGeom>
          <a:noFill/>
        </p:spPr>
        <p:txBody>
          <a:bodyPr wrap="square">
            <a:spAutoFit/>
          </a:bodyPr>
          <a:lstStyle/>
          <a:p>
            <a:pPr algn="l">
              <a:lnSpc>
                <a:spcPct val="108000"/>
              </a:lnSpc>
            </a:pPr>
            <a:r>
              <a:rPr sz="2550">
                <a:solidFill>
                  <a:srgbClr val="0F151A"/>
                </a:solidFill>
                <a:latin typeface="Quicksand Bold"/>
              </a:rPr>
              <a:t>Accesibles y Utilizables</a:t>
            </a:r>
          </a:p>
        </p:txBody>
      </p:sp>
      <p:sp>
        <p:nvSpPr>
          <p:cNvPr id="17" name="TextBox 16"/>
          <p:cNvSpPr txBox="1"/>
          <p:nvPr/>
        </p:nvSpPr>
        <p:spPr>
          <a:xfrm>
            <a:off x="3542853" y="6817965"/>
            <a:ext cx="5029646" cy="1039862"/>
          </a:xfrm>
          <a:prstGeom prst="rect">
            <a:avLst/>
          </a:prstGeom>
          <a:noFill/>
        </p:spPr>
        <p:txBody>
          <a:bodyPr wrap="square">
            <a:spAutoFit/>
          </a:bodyPr>
          <a:lstStyle/>
          <a:p>
            <a:pPr algn="l">
              <a:lnSpc>
                <a:spcPct val="126000"/>
              </a:lnSpc>
            </a:pPr>
            <a:r>
              <a:rPr sz="1950">
                <a:solidFill>
                  <a:srgbClr val="323E47"/>
                </a:solidFill>
                <a:latin typeface="Quicksand"/>
              </a:rPr>
              <a:t>Los datos deben estar en formatos abiertos (CSV, JSON) y acompañados de metadatos claros para facilitar su explotación y uso.</a:t>
            </a:r>
          </a:p>
        </p:txBody>
      </p:sp>
      <p:sp>
        <p:nvSpPr>
          <p:cNvPr id="18" name="TextBox 17"/>
          <p:cNvSpPr txBox="1"/>
          <p:nvPr/>
        </p:nvSpPr>
        <p:spPr>
          <a:xfrm>
            <a:off x="10515600" y="6286500"/>
            <a:ext cx="5029646" cy="388590"/>
          </a:xfrm>
          <a:prstGeom prst="rect">
            <a:avLst/>
          </a:prstGeom>
          <a:noFill/>
        </p:spPr>
        <p:txBody>
          <a:bodyPr wrap="square">
            <a:spAutoFit/>
          </a:bodyPr>
          <a:lstStyle/>
          <a:p>
            <a:pPr algn="l">
              <a:lnSpc>
                <a:spcPct val="108000"/>
              </a:lnSpc>
            </a:pPr>
            <a:r>
              <a:rPr sz="2550">
                <a:solidFill>
                  <a:srgbClr val="0F151A"/>
                </a:solidFill>
                <a:latin typeface="Quicksand Bold"/>
              </a:rPr>
              <a:t>Comparables e Interoperables</a:t>
            </a:r>
          </a:p>
        </p:txBody>
      </p:sp>
      <p:sp>
        <p:nvSpPr>
          <p:cNvPr id="19" name="TextBox 18"/>
          <p:cNvSpPr txBox="1"/>
          <p:nvPr/>
        </p:nvSpPr>
        <p:spPr>
          <a:xfrm>
            <a:off x="10515600" y="6817965"/>
            <a:ext cx="5029646" cy="1039862"/>
          </a:xfrm>
          <a:prstGeom prst="rect">
            <a:avLst/>
          </a:prstGeom>
          <a:noFill/>
        </p:spPr>
        <p:txBody>
          <a:bodyPr wrap="square">
            <a:spAutoFit/>
          </a:bodyPr>
          <a:lstStyle/>
          <a:p>
            <a:pPr algn="l">
              <a:lnSpc>
                <a:spcPct val="126000"/>
              </a:lnSpc>
            </a:pPr>
            <a:r>
              <a:rPr sz="1950">
                <a:solidFill>
                  <a:srgbClr val="323E47"/>
                </a:solidFill>
                <a:latin typeface="Quicksand"/>
              </a:rPr>
              <a:t>Se fomenta el uso de estándares comunes para permitir el cruce y la integración de bases de datos interinstitucionales.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886580" y="2419349"/>
            <a:ext cx="5066919"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334499" y="2419349"/>
            <a:ext cx="5066919"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9b66f8b-a8bd-43aa-b4d8-ce4fb51202d5.png"/>
          <p:cNvPicPr>
            <a:picLocks noChangeAspect="1"/>
          </p:cNvPicPr>
          <p:nvPr/>
        </p:nvPicPr>
        <p:blipFill>
          <a:blip r:embed="rId2"/>
          <a:stretch>
            <a:fillRect/>
          </a:stretch>
        </p:blipFill>
        <p:spPr>
          <a:xfrm>
            <a:off x="4267580" y="2800350"/>
            <a:ext cx="609600" cy="609600"/>
          </a:xfrm>
          <a:prstGeom prst="rect">
            <a:avLst/>
          </a:prstGeom>
        </p:spPr>
      </p:pic>
      <p:pic>
        <p:nvPicPr>
          <p:cNvPr id="5" name="Picture 4" descr="0ca2f945-576a-405d-887c-15e83040a95b.png"/>
          <p:cNvPicPr>
            <a:picLocks noChangeAspect="1"/>
          </p:cNvPicPr>
          <p:nvPr/>
        </p:nvPicPr>
        <p:blipFill>
          <a:blip r:embed="rId3"/>
          <a:stretch>
            <a:fillRect/>
          </a:stretch>
        </p:blipFill>
        <p:spPr>
          <a:xfrm>
            <a:off x="9715500" y="2800350"/>
            <a:ext cx="609600" cy="609600"/>
          </a:xfrm>
          <a:prstGeom prst="rect">
            <a:avLst/>
          </a:prstGeom>
        </p:spPr>
      </p:pic>
      <p:sp>
        <p:nvSpPr>
          <p:cNvPr id="7" name="TextBox 6"/>
          <p:cNvSpPr txBox="1"/>
          <p:nvPr/>
        </p:nvSpPr>
        <p:spPr>
          <a:xfrm>
            <a:off x="1276350" y="1276350"/>
            <a:ext cx="15716250" cy="838200"/>
          </a:xfrm>
          <a:prstGeom prst="rect">
            <a:avLst/>
          </a:prstGeom>
          <a:noFill/>
        </p:spPr>
        <p:txBody>
          <a:bodyPr wrap="square">
            <a:spAutoFit/>
          </a:bodyPr>
          <a:lstStyle/>
          <a:p>
            <a:pPr algn="ctr">
              <a:lnSpc>
                <a:spcPct val="99000"/>
              </a:lnSpc>
            </a:pPr>
            <a:r>
              <a:rPr sz="6000">
                <a:solidFill>
                  <a:srgbClr val="0F151A"/>
                </a:solidFill>
                <a:latin typeface="Quicksand Bold"/>
              </a:rPr>
              <a:t>Principios de Datos Abiertos</a:t>
            </a:r>
          </a:p>
        </p:txBody>
      </p:sp>
      <p:sp>
        <p:nvSpPr>
          <p:cNvPr id="8" name="TextBox 7"/>
          <p:cNvSpPr txBox="1"/>
          <p:nvPr/>
        </p:nvSpPr>
        <p:spPr>
          <a:xfrm>
            <a:off x="4267580" y="3600450"/>
            <a:ext cx="4304919" cy="388590"/>
          </a:xfrm>
          <a:prstGeom prst="rect">
            <a:avLst/>
          </a:prstGeom>
          <a:noFill/>
        </p:spPr>
        <p:txBody>
          <a:bodyPr wrap="square">
            <a:spAutoFit/>
          </a:bodyPr>
          <a:lstStyle/>
          <a:p>
            <a:pPr algn="l">
              <a:lnSpc>
                <a:spcPct val="108000"/>
              </a:lnSpc>
            </a:pPr>
            <a:r>
              <a:rPr sz="2550">
                <a:solidFill>
                  <a:srgbClr val="0F151A"/>
                </a:solidFill>
                <a:latin typeface="Quicksand Bold"/>
              </a:rPr>
              <a:t>Mejora de la Gobernanza</a:t>
            </a:r>
          </a:p>
        </p:txBody>
      </p:sp>
      <p:sp>
        <p:nvSpPr>
          <p:cNvPr id="9" name="TextBox 8"/>
          <p:cNvSpPr txBox="1"/>
          <p:nvPr/>
        </p:nvSpPr>
        <p:spPr>
          <a:xfrm>
            <a:off x="4267580" y="4131915"/>
            <a:ext cx="4304919" cy="1386482"/>
          </a:xfrm>
          <a:prstGeom prst="rect">
            <a:avLst/>
          </a:prstGeom>
          <a:noFill/>
        </p:spPr>
        <p:txBody>
          <a:bodyPr wrap="square">
            <a:spAutoFit/>
          </a:bodyPr>
          <a:lstStyle/>
          <a:p>
            <a:pPr algn="l">
              <a:lnSpc>
                <a:spcPct val="126000"/>
              </a:lnSpc>
            </a:pPr>
            <a:r>
              <a:rPr sz="1950">
                <a:solidFill>
                  <a:srgbClr val="323E47"/>
                </a:solidFill>
                <a:latin typeface="Quicksand"/>
              </a:rPr>
              <a:t>La apertura de datos busca fomentar el control social, la rendición de cuentas y una transparencia activa del gobierno.</a:t>
            </a:r>
          </a:p>
        </p:txBody>
      </p:sp>
      <p:sp>
        <p:nvSpPr>
          <p:cNvPr id="10" name="TextBox 9"/>
          <p:cNvSpPr txBox="1"/>
          <p:nvPr/>
        </p:nvSpPr>
        <p:spPr>
          <a:xfrm>
            <a:off x="9715500" y="3600450"/>
            <a:ext cx="4304919" cy="388590"/>
          </a:xfrm>
          <a:prstGeom prst="rect">
            <a:avLst/>
          </a:prstGeom>
          <a:noFill/>
        </p:spPr>
        <p:txBody>
          <a:bodyPr wrap="square">
            <a:spAutoFit/>
          </a:bodyPr>
          <a:lstStyle/>
          <a:p>
            <a:pPr algn="l">
              <a:lnSpc>
                <a:spcPct val="108000"/>
              </a:lnSpc>
            </a:pPr>
            <a:r>
              <a:rPr sz="2550">
                <a:solidFill>
                  <a:srgbClr val="0F151A"/>
                </a:solidFill>
                <a:latin typeface="Quicksand Bold"/>
              </a:rPr>
              <a:t>Desarrollo Inclusivo</a:t>
            </a:r>
          </a:p>
        </p:txBody>
      </p:sp>
      <p:sp>
        <p:nvSpPr>
          <p:cNvPr id="11" name="TextBox 10"/>
          <p:cNvSpPr txBox="1"/>
          <p:nvPr/>
        </p:nvSpPr>
        <p:spPr>
          <a:xfrm>
            <a:off x="9715500" y="4131915"/>
            <a:ext cx="4304919" cy="1386482"/>
          </a:xfrm>
          <a:prstGeom prst="rect">
            <a:avLst/>
          </a:prstGeom>
          <a:noFill/>
        </p:spPr>
        <p:txBody>
          <a:bodyPr wrap="square">
            <a:spAutoFit/>
          </a:bodyPr>
          <a:lstStyle/>
          <a:p>
            <a:pPr algn="l">
              <a:lnSpc>
                <a:spcPct val="126000"/>
              </a:lnSpc>
            </a:pPr>
            <a:r>
              <a:rPr sz="1950">
                <a:solidFill>
                  <a:srgbClr val="323E47"/>
                </a:solidFill>
                <a:latin typeface="Quicksand"/>
              </a:rPr>
              <a:t>Se busca estimular la innovación y el emprendimiento, utilizando los datos públicos como base para nuevos servicios y soluciones.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1390d3a9-83b5-4510-a9d2-0f010545b1c5.png"/>
          <p:cNvPicPr>
            <a:picLocks noChangeAspect="1"/>
          </p:cNvPicPr>
          <p:nvPr/>
        </p:nvPicPr>
        <p:blipFill>
          <a:blip r:embed="rId2"/>
          <a:stretch>
            <a:fillRect/>
          </a:stretch>
        </p:blipFill>
        <p:spPr>
          <a:xfrm>
            <a:off x="0" y="5286375"/>
            <a:ext cx="8524875" cy="5000625"/>
          </a:xfrm>
          <a:prstGeom prst="rect">
            <a:avLst/>
          </a:prstGeom>
        </p:spPr>
      </p:pic>
      <p:sp>
        <p:nvSpPr>
          <p:cNvPr id="4" name="TextBox 3"/>
          <p:cNvSpPr txBox="1"/>
          <p:nvPr/>
        </p:nvSpPr>
        <p:spPr>
          <a:xfrm>
            <a:off x="5695949" y="1695449"/>
            <a:ext cx="11296650" cy="5879901"/>
          </a:xfrm>
          <a:prstGeom prst="rect">
            <a:avLst/>
          </a:prstGeom>
          <a:noFill/>
        </p:spPr>
        <p:txBody>
          <a:bodyPr wrap="square">
            <a:spAutoFit/>
          </a:bodyPr>
          <a:lstStyle/>
          <a:p>
            <a:pPr algn="l">
              <a:lnSpc>
                <a:spcPct val="126000"/>
              </a:lnSpc>
            </a:pPr>
            <a:r>
              <a:rPr sz="4725">
                <a:solidFill>
                  <a:srgbClr val="323E47"/>
                </a:solidFill>
                <a:latin typeface="Quicksand Bold"/>
              </a:rPr>
              <a:t>"El Gobierno Abierto es una cultura de gobernanza que promueve los principios de transparencia, integridad, rendición de cuentas y participación de las partes interesadas en apoyo de la democracia y el crecimiento inclusivo."</a:t>
            </a:r>
          </a:p>
        </p:txBody>
      </p:sp>
      <p:sp>
        <p:nvSpPr>
          <p:cNvPr id="5" name="TextBox 4"/>
          <p:cNvSpPr txBox="1"/>
          <p:nvPr/>
        </p:nvSpPr>
        <p:spPr>
          <a:xfrm>
            <a:off x="5695949" y="7880151"/>
            <a:ext cx="11296650" cy="411360"/>
          </a:xfrm>
          <a:prstGeom prst="rect">
            <a:avLst/>
          </a:prstGeom>
          <a:noFill/>
        </p:spPr>
        <p:txBody>
          <a:bodyPr wrap="square">
            <a:spAutoFit/>
          </a:bodyPr>
          <a:lstStyle/>
          <a:p>
            <a:pPr algn="l">
              <a:lnSpc>
                <a:spcPct val="108000"/>
              </a:lnSpc>
            </a:pPr>
            <a:r>
              <a:rPr sz="2700" i="1">
                <a:solidFill>
                  <a:srgbClr val="323E47"/>
                </a:solidFill>
                <a:latin typeface="Quicksand"/>
              </a:rPr>
              <a:t>- OCDE, Recomendación del Consejo sobre Gobierno Abierto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1ca188f3-71ef-4e4c-be2f-e9909fe119a6.png"/>
          <p:cNvPicPr>
            <a:picLocks noChangeAspect="1"/>
          </p:cNvPicPr>
          <p:nvPr/>
        </p:nvPicPr>
        <p:blipFill>
          <a:blip r:embed="rId2"/>
          <a:stretch>
            <a:fillRect/>
          </a:stretch>
        </p:blipFill>
        <p:spPr>
          <a:xfrm>
            <a:off x="1276350" y="2706885"/>
            <a:ext cx="3933824" cy="914400"/>
          </a:xfrm>
          <a:prstGeom prst="rect">
            <a:avLst/>
          </a:prstGeom>
        </p:spPr>
      </p:pic>
      <p:pic>
        <p:nvPicPr>
          <p:cNvPr id="3" name="Picture 2" descr="1ca188f3-71ef-4e4c-be2f-e9909fe119a6.png"/>
          <p:cNvPicPr>
            <a:picLocks noChangeAspect="1"/>
          </p:cNvPicPr>
          <p:nvPr/>
        </p:nvPicPr>
        <p:blipFill>
          <a:blip r:embed="rId2"/>
          <a:stretch>
            <a:fillRect/>
          </a:stretch>
        </p:blipFill>
        <p:spPr>
          <a:xfrm>
            <a:off x="5210174" y="2706885"/>
            <a:ext cx="3933824" cy="914400"/>
          </a:xfrm>
          <a:prstGeom prst="rect">
            <a:avLst/>
          </a:prstGeom>
        </p:spPr>
      </p:pic>
      <p:pic>
        <p:nvPicPr>
          <p:cNvPr id="4" name="Picture 3" descr="1ca188f3-71ef-4e4c-be2f-e9909fe119a6.png"/>
          <p:cNvPicPr>
            <a:picLocks noChangeAspect="1"/>
          </p:cNvPicPr>
          <p:nvPr/>
        </p:nvPicPr>
        <p:blipFill>
          <a:blip r:embed="rId2"/>
          <a:stretch>
            <a:fillRect/>
          </a:stretch>
        </p:blipFill>
        <p:spPr>
          <a:xfrm>
            <a:off x="9144000" y="2706885"/>
            <a:ext cx="3933824" cy="914400"/>
          </a:xfrm>
          <a:prstGeom prst="rect">
            <a:avLst/>
          </a:prstGeom>
        </p:spPr>
      </p:pic>
      <p:pic>
        <p:nvPicPr>
          <p:cNvPr id="5" name="Picture 4" descr="1ca188f3-71ef-4e4c-be2f-e9909fe119a6.png"/>
          <p:cNvPicPr>
            <a:picLocks noChangeAspect="1"/>
          </p:cNvPicPr>
          <p:nvPr/>
        </p:nvPicPr>
        <p:blipFill>
          <a:blip r:embed="rId2"/>
          <a:stretch>
            <a:fillRect/>
          </a:stretch>
        </p:blipFill>
        <p:spPr>
          <a:xfrm>
            <a:off x="13077824" y="2706885"/>
            <a:ext cx="3933824" cy="914400"/>
          </a:xfrm>
          <a:prstGeom prst="rect">
            <a:avLst/>
          </a:prstGeom>
        </p:spPr>
      </p:pic>
      <p:sp>
        <p:nvSpPr>
          <p:cNvPr id="7" name="TextBox 6"/>
          <p:cNvSpPr txBox="1"/>
          <p:nvPr/>
        </p:nvSpPr>
        <p:spPr>
          <a:xfrm>
            <a:off x="1276350" y="1276350"/>
            <a:ext cx="15735299" cy="859035"/>
          </a:xfrm>
          <a:prstGeom prst="rect">
            <a:avLst/>
          </a:prstGeom>
          <a:noFill/>
        </p:spPr>
        <p:txBody>
          <a:bodyPr wrap="square">
            <a:spAutoFit/>
          </a:bodyPr>
          <a:lstStyle/>
          <a:p>
            <a:pPr algn="ctr">
              <a:lnSpc>
                <a:spcPct val="99000"/>
              </a:lnSpc>
            </a:pPr>
            <a:r>
              <a:rPr sz="6150">
                <a:solidFill>
                  <a:srgbClr val="0F151A"/>
                </a:solidFill>
                <a:latin typeface="Quicksand Bold"/>
              </a:rPr>
              <a:t>Ciclo de Vida del Dato</a:t>
            </a:r>
          </a:p>
        </p:txBody>
      </p:sp>
      <p:sp>
        <p:nvSpPr>
          <p:cNvPr id="8" name="TextBox 7"/>
          <p:cNvSpPr txBox="1"/>
          <p:nvPr/>
        </p:nvSpPr>
        <p:spPr>
          <a:xfrm>
            <a:off x="2957512" y="2973585"/>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1</a:t>
            </a:r>
          </a:p>
        </p:txBody>
      </p:sp>
      <p:sp>
        <p:nvSpPr>
          <p:cNvPr id="9" name="TextBox 8"/>
          <p:cNvSpPr txBox="1"/>
          <p:nvPr/>
        </p:nvSpPr>
        <p:spPr>
          <a:xfrm>
            <a:off x="6891337" y="2973585"/>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2</a:t>
            </a:r>
          </a:p>
        </p:txBody>
      </p:sp>
      <p:sp>
        <p:nvSpPr>
          <p:cNvPr id="10" name="TextBox 9"/>
          <p:cNvSpPr txBox="1"/>
          <p:nvPr/>
        </p:nvSpPr>
        <p:spPr>
          <a:xfrm>
            <a:off x="10825162" y="2973585"/>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3</a:t>
            </a:r>
          </a:p>
        </p:txBody>
      </p:sp>
      <p:sp>
        <p:nvSpPr>
          <p:cNvPr id="11" name="TextBox 10"/>
          <p:cNvSpPr txBox="1"/>
          <p:nvPr/>
        </p:nvSpPr>
        <p:spPr>
          <a:xfrm>
            <a:off x="14758987" y="2973585"/>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4</a:t>
            </a:r>
          </a:p>
        </p:txBody>
      </p:sp>
      <p:sp>
        <p:nvSpPr>
          <p:cNvPr id="12" name="TextBox 11"/>
          <p:cNvSpPr txBox="1"/>
          <p:nvPr/>
        </p:nvSpPr>
        <p:spPr>
          <a:xfrm>
            <a:off x="1504950" y="4002285"/>
            <a:ext cx="3476624" cy="838200"/>
          </a:xfrm>
          <a:prstGeom prst="rect">
            <a:avLst/>
          </a:prstGeom>
          <a:noFill/>
        </p:spPr>
        <p:txBody>
          <a:bodyPr wrap="square">
            <a:spAutoFit/>
          </a:bodyPr>
          <a:lstStyle/>
          <a:p>
            <a:pPr algn="l">
              <a:lnSpc>
                <a:spcPct val="99000"/>
              </a:lnSpc>
            </a:pPr>
            <a:r>
              <a:rPr sz="3000">
                <a:solidFill>
                  <a:srgbClr val="0F151A"/>
                </a:solidFill>
                <a:latin typeface="Quicksand Bold"/>
              </a:rPr>
              <a:t>Planificar y Capturar Datos</a:t>
            </a:r>
          </a:p>
        </p:txBody>
      </p:sp>
      <p:sp>
        <p:nvSpPr>
          <p:cNvPr id="13" name="TextBox 12"/>
          <p:cNvSpPr txBox="1"/>
          <p:nvPr/>
        </p:nvSpPr>
        <p:spPr>
          <a:xfrm>
            <a:off x="5438774" y="4002285"/>
            <a:ext cx="3476624" cy="838200"/>
          </a:xfrm>
          <a:prstGeom prst="rect">
            <a:avLst/>
          </a:prstGeom>
          <a:noFill/>
        </p:spPr>
        <p:txBody>
          <a:bodyPr wrap="square">
            <a:spAutoFit/>
          </a:bodyPr>
          <a:lstStyle/>
          <a:p>
            <a:pPr algn="l">
              <a:lnSpc>
                <a:spcPct val="99000"/>
              </a:lnSpc>
            </a:pPr>
            <a:r>
              <a:rPr sz="3000">
                <a:solidFill>
                  <a:srgbClr val="0F151A"/>
                </a:solidFill>
                <a:latin typeface="Quicksand Bold"/>
              </a:rPr>
              <a:t>Procesar y Asegurar Calidad</a:t>
            </a:r>
          </a:p>
        </p:txBody>
      </p:sp>
      <p:sp>
        <p:nvSpPr>
          <p:cNvPr id="14" name="TextBox 13"/>
          <p:cNvSpPr txBox="1"/>
          <p:nvPr/>
        </p:nvSpPr>
        <p:spPr>
          <a:xfrm>
            <a:off x="9372600" y="4002285"/>
            <a:ext cx="3476624" cy="838200"/>
          </a:xfrm>
          <a:prstGeom prst="rect">
            <a:avLst/>
          </a:prstGeom>
          <a:noFill/>
        </p:spPr>
        <p:txBody>
          <a:bodyPr wrap="square">
            <a:spAutoFit/>
          </a:bodyPr>
          <a:lstStyle/>
          <a:p>
            <a:pPr algn="l">
              <a:lnSpc>
                <a:spcPct val="99000"/>
              </a:lnSpc>
            </a:pPr>
            <a:r>
              <a:rPr sz="3000">
                <a:solidFill>
                  <a:srgbClr val="0F151A"/>
                </a:solidFill>
                <a:latin typeface="Quicksand Bold"/>
              </a:rPr>
              <a:t>Almacenar con Seguridad</a:t>
            </a:r>
          </a:p>
        </p:txBody>
      </p:sp>
      <p:sp>
        <p:nvSpPr>
          <p:cNvPr id="15" name="TextBox 14"/>
          <p:cNvSpPr txBox="1"/>
          <p:nvPr/>
        </p:nvSpPr>
        <p:spPr>
          <a:xfrm>
            <a:off x="13306424" y="4002285"/>
            <a:ext cx="3476624" cy="838200"/>
          </a:xfrm>
          <a:prstGeom prst="rect">
            <a:avLst/>
          </a:prstGeom>
          <a:noFill/>
        </p:spPr>
        <p:txBody>
          <a:bodyPr wrap="square">
            <a:spAutoFit/>
          </a:bodyPr>
          <a:lstStyle/>
          <a:p>
            <a:pPr algn="l">
              <a:lnSpc>
                <a:spcPct val="99000"/>
              </a:lnSpc>
            </a:pPr>
            <a:r>
              <a:rPr sz="3000">
                <a:solidFill>
                  <a:srgbClr val="0F151A"/>
                </a:solidFill>
                <a:latin typeface="Quicksand Bold"/>
              </a:rPr>
              <a:t>Publicar y Abrir Datos</a:t>
            </a:r>
          </a:p>
        </p:txBody>
      </p:sp>
      <p:sp>
        <p:nvSpPr>
          <p:cNvPr id="16" name="TextBox 15"/>
          <p:cNvSpPr txBox="1"/>
          <p:nvPr/>
        </p:nvSpPr>
        <p:spPr>
          <a:xfrm>
            <a:off x="1504950" y="5030985"/>
            <a:ext cx="3476624" cy="2400300"/>
          </a:xfrm>
          <a:prstGeom prst="rect">
            <a:avLst/>
          </a:prstGeom>
          <a:noFill/>
        </p:spPr>
        <p:txBody>
          <a:bodyPr wrap="square">
            <a:spAutoFit/>
          </a:bodyPr>
          <a:lstStyle/>
          <a:p>
            <a:pPr algn="l">
              <a:lnSpc>
                <a:spcPct val="126000"/>
              </a:lnSpc>
            </a:pPr>
            <a:r>
              <a:rPr sz="2250">
                <a:solidFill>
                  <a:srgbClr val="0F151A"/>
                </a:solidFill>
                <a:latin typeface="Quicksand"/>
              </a:rPr>
              <a:t>Se definen los requisitos de los datos y se procede a su recolección en las fuentes originales, asegurando la </a:t>
            </a:r>
            <a:r>
              <a:rPr sz="2250" i="1">
                <a:solidFill>
                  <a:srgbClr val="0F151A"/>
                </a:solidFill>
                <a:latin typeface="Quicksand"/>
              </a:rPr>
              <a:t>pertinencia</a:t>
            </a:r>
            <a:r>
              <a:rPr sz="2250">
                <a:solidFill>
                  <a:srgbClr val="0F151A"/>
                </a:solidFill>
                <a:latin typeface="Quicksand"/>
              </a:rPr>
              <a:t>.</a:t>
            </a:r>
          </a:p>
        </p:txBody>
      </p:sp>
      <p:sp>
        <p:nvSpPr>
          <p:cNvPr id="17" name="TextBox 16"/>
          <p:cNvSpPr txBox="1"/>
          <p:nvPr/>
        </p:nvSpPr>
        <p:spPr>
          <a:xfrm>
            <a:off x="5438774" y="5030985"/>
            <a:ext cx="3476624" cy="2400300"/>
          </a:xfrm>
          <a:prstGeom prst="rect">
            <a:avLst/>
          </a:prstGeom>
          <a:noFill/>
        </p:spPr>
        <p:txBody>
          <a:bodyPr wrap="square">
            <a:spAutoFit/>
          </a:bodyPr>
          <a:lstStyle/>
          <a:p>
            <a:pPr algn="l">
              <a:lnSpc>
                <a:spcPct val="126000"/>
              </a:lnSpc>
            </a:pPr>
            <a:r>
              <a:rPr sz="2250">
                <a:solidFill>
                  <a:srgbClr val="0F151A"/>
                </a:solidFill>
                <a:latin typeface="Quicksand"/>
              </a:rPr>
              <a:t>Incluye la </a:t>
            </a:r>
            <a:r>
              <a:rPr sz="2250">
                <a:solidFill>
                  <a:srgbClr val="0F151A"/>
                </a:solidFill>
                <a:latin typeface="Quicksand Bold"/>
              </a:rPr>
              <a:t>limpieza</a:t>
            </a:r>
            <a:r>
              <a:rPr sz="2250">
                <a:solidFill>
                  <a:srgbClr val="0F151A"/>
                </a:solidFill>
                <a:latin typeface="Quicksand"/>
              </a:rPr>
              <a:t>, normalización y aplicación de reglas de negocio para garantizar la integridad y </a:t>
            </a:r>
            <a:r>
              <a:rPr sz="2250" i="1">
                <a:solidFill>
                  <a:srgbClr val="0F151A"/>
                </a:solidFill>
                <a:latin typeface="Quicksand"/>
              </a:rPr>
              <a:t>fiabilidad</a:t>
            </a:r>
            <a:r>
              <a:rPr sz="2250">
                <a:solidFill>
                  <a:srgbClr val="0F151A"/>
                </a:solidFill>
                <a:latin typeface="Quicksand"/>
              </a:rPr>
              <a:t> de los datos.</a:t>
            </a:r>
          </a:p>
        </p:txBody>
      </p:sp>
      <p:sp>
        <p:nvSpPr>
          <p:cNvPr id="18" name="TextBox 17"/>
          <p:cNvSpPr txBox="1"/>
          <p:nvPr/>
        </p:nvSpPr>
        <p:spPr>
          <a:xfrm>
            <a:off x="9372600" y="5030985"/>
            <a:ext cx="3476624" cy="2800350"/>
          </a:xfrm>
          <a:prstGeom prst="rect">
            <a:avLst/>
          </a:prstGeom>
          <a:noFill/>
        </p:spPr>
        <p:txBody>
          <a:bodyPr wrap="square">
            <a:spAutoFit/>
          </a:bodyPr>
          <a:lstStyle/>
          <a:p>
            <a:pPr algn="l">
              <a:lnSpc>
                <a:spcPct val="126000"/>
              </a:lnSpc>
            </a:pPr>
            <a:r>
              <a:rPr sz="2250">
                <a:solidFill>
                  <a:srgbClr val="0F151A"/>
                </a:solidFill>
                <a:latin typeface="Quicksand"/>
              </a:rPr>
              <a:t>Los datos se resguardan en bases de datos robustas, implementando protocolos de cifrado y controles de acceso estrictos para su </a:t>
            </a:r>
            <a:r>
              <a:rPr sz="2250">
                <a:solidFill>
                  <a:srgbClr val="0F151A"/>
                </a:solidFill>
                <a:latin typeface="Quicksand Bold"/>
              </a:rPr>
              <a:t>protección</a:t>
            </a:r>
            <a:r>
              <a:rPr sz="2250">
                <a:solidFill>
                  <a:srgbClr val="0F151A"/>
                </a:solidFill>
                <a:latin typeface="Quicksand"/>
              </a:rPr>
              <a:t>.</a:t>
            </a:r>
          </a:p>
        </p:txBody>
      </p:sp>
      <p:sp>
        <p:nvSpPr>
          <p:cNvPr id="19" name="TextBox 18"/>
          <p:cNvSpPr txBox="1"/>
          <p:nvPr/>
        </p:nvSpPr>
        <p:spPr>
          <a:xfrm>
            <a:off x="13306424" y="5030985"/>
            <a:ext cx="3476624" cy="2800350"/>
          </a:xfrm>
          <a:prstGeom prst="rect">
            <a:avLst/>
          </a:prstGeom>
          <a:noFill/>
        </p:spPr>
        <p:txBody>
          <a:bodyPr wrap="square">
            <a:spAutoFit/>
          </a:bodyPr>
          <a:lstStyle/>
          <a:p>
            <a:pPr algn="l">
              <a:lnSpc>
                <a:spcPct val="126000"/>
              </a:lnSpc>
            </a:pPr>
            <a:r>
              <a:rPr sz="2250">
                <a:solidFill>
                  <a:srgbClr val="0F151A"/>
                </a:solidFill>
                <a:latin typeface="Quicksand"/>
              </a:rPr>
              <a:t>Cargue de conjuntos de datos en el portal nacional de Datos Abiertos (datos.gov.co), incluyendo sus metadatos correspondientes para facilitar el descubrimiento.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f6f2a444-f53e-4a23-a0e2-9e3a54ad2571.png"/>
          <p:cNvPicPr>
            <a:picLocks noChangeAspect="1"/>
          </p:cNvPicPr>
          <p:nvPr/>
        </p:nvPicPr>
        <p:blipFill>
          <a:blip r:embed="rId2"/>
          <a:stretch>
            <a:fillRect/>
          </a:stretch>
        </p:blipFill>
        <p:spPr>
          <a:xfrm>
            <a:off x="1276350" y="2706885"/>
            <a:ext cx="7867649" cy="914400"/>
          </a:xfrm>
          <a:prstGeom prst="rect">
            <a:avLst/>
          </a:prstGeom>
        </p:spPr>
      </p:pic>
      <p:pic>
        <p:nvPicPr>
          <p:cNvPr id="3" name="Picture 2" descr="f6f2a444-f53e-4a23-a0e2-9e3a54ad2571.png"/>
          <p:cNvPicPr>
            <a:picLocks noChangeAspect="1"/>
          </p:cNvPicPr>
          <p:nvPr/>
        </p:nvPicPr>
        <p:blipFill>
          <a:blip r:embed="rId2"/>
          <a:stretch>
            <a:fillRect/>
          </a:stretch>
        </p:blipFill>
        <p:spPr>
          <a:xfrm>
            <a:off x="9144000" y="2706885"/>
            <a:ext cx="7867649" cy="914400"/>
          </a:xfrm>
          <a:prstGeom prst="rect">
            <a:avLst/>
          </a:prstGeom>
        </p:spPr>
      </p:pic>
      <p:sp>
        <p:nvSpPr>
          <p:cNvPr id="5" name="TextBox 4"/>
          <p:cNvSpPr txBox="1"/>
          <p:nvPr/>
        </p:nvSpPr>
        <p:spPr>
          <a:xfrm>
            <a:off x="1276350" y="1276350"/>
            <a:ext cx="15735299" cy="859035"/>
          </a:xfrm>
          <a:prstGeom prst="rect">
            <a:avLst/>
          </a:prstGeom>
          <a:noFill/>
        </p:spPr>
        <p:txBody>
          <a:bodyPr wrap="square">
            <a:spAutoFit/>
          </a:bodyPr>
          <a:lstStyle/>
          <a:p>
            <a:pPr algn="ctr">
              <a:lnSpc>
                <a:spcPct val="99000"/>
              </a:lnSpc>
            </a:pPr>
            <a:r>
              <a:rPr sz="6150">
                <a:solidFill>
                  <a:srgbClr val="0F151A"/>
                </a:solidFill>
                <a:latin typeface="Quicksand Bold"/>
              </a:rPr>
              <a:t>Ciclo de Vida del Dato</a:t>
            </a:r>
          </a:p>
        </p:txBody>
      </p:sp>
      <p:sp>
        <p:nvSpPr>
          <p:cNvPr id="6" name="TextBox 5"/>
          <p:cNvSpPr txBox="1"/>
          <p:nvPr/>
        </p:nvSpPr>
        <p:spPr>
          <a:xfrm>
            <a:off x="4924424" y="2973585"/>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5</a:t>
            </a:r>
          </a:p>
        </p:txBody>
      </p:sp>
      <p:sp>
        <p:nvSpPr>
          <p:cNvPr id="7" name="TextBox 6"/>
          <p:cNvSpPr txBox="1"/>
          <p:nvPr/>
        </p:nvSpPr>
        <p:spPr>
          <a:xfrm>
            <a:off x="12792074" y="2973585"/>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6</a:t>
            </a:r>
          </a:p>
        </p:txBody>
      </p:sp>
      <p:sp>
        <p:nvSpPr>
          <p:cNvPr id="8" name="TextBox 7"/>
          <p:cNvSpPr txBox="1"/>
          <p:nvPr/>
        </p:nvSpPr>
        <p:spPr>
          <a:xfrm>
            <a:off x="1504950" y="4002285"/>
            <a:ext cx="7410449" cy="419100"/>
          </a:xfrm>
          <a:prstGeom prst="rect">
            <a:avLst/>
          </a:prstGeom>
          <a:noFill/>
        </p:spPr>
        <p:txBody>
          <a:bodyPr wrap="square">
            <a:spAutoFit/>
          </a:bodyPr>
          <a:lstStyle/>
          <a:p>
            <a:pPr algn="l">
              <a:lnSpc>
                <a:spcPct val="99000"/>
              </a:lnSpc>
            </a:pPr>
            <a:r>
              <a:rPr sz="3000">
                <a:solidFill>
                  <a:srgbClr val="0F151A"/>
                </a:solidFill>
                <a:latin typeface="Quicksand Bold"/>
              </a:rPr>
              <a:t>Usar y Reutilizar Datos</a:t>
            </a:r>
          </a:p>
        </p:txBody>
      </p:sp>
      <p:sp>
        <p:nvSpPr>
          <p:cNvPr id="9" name="TextBox 8"/>
          <p:cNvSpPr txBox="1"/>
          <p:nvPr/>
        </p:nvSpPr>
        <p:spPr>
          <a:xfrm>
            <a:off x="9372600" y="4002285"/>
            <a:ext cx="7410449" cy="419100"/>
          </a:xfrm>
          <a:prstGeom prst="rect">
            <a:avLst/>
          </a:prstGeom>
          <a:noFill/>
        </p:spPr>
        <p:txBody>
          <a:bodyPr wrap="square">
            <a:spAutoFit/>
          </a:bodyPr>
          <a:lstStyle/>
          <a:p>
            <a:pPr algn="l">
              <a:lnSpc>
                <a:spcPct val="99000"/>
              </a:lnSpc>
            </a:pPr>
            <a:r>
              <a:rPr sz="3000">
                <a:solidFill>
                  <a:srgbClr val="0F151A"/>
                </a:solidFill>
                <a:latin typeface="Quicksand Bold"/>
              </a:rPr>
              <a:t>Preservar o Eliminar</a:t>
            </a:r>
          </a:p>
        </p:txBody>
      </p:sp>
      <p:sp>
        <p:nvSpPr>
          <p:cNvPr id="10" name="TextBox 9"/>
          <p:cNvSpPr txBox="1"/>
          <p:nvPr/>
        </p:nvSpPr>
        <p:spPr>
          <a:xfrm>
            <a:off x="1504950" y="4611885"/>
            <a:ext cx="7410449" cy="1200150"/>
          </a:xfrm>
          <a:prstGeom prst="rect">
            <a:avLst/>
          </a:prstGeom>
          <a:noFill/>
        </p:spPr>
        <p:txBody>
          <a:bodyPr wrap="square">
            <a:spAutoFit/>
          </a:bodyPr>
          <a:lstStyle/>
          <a:p>
            <a:pPr algn="l">
              <a:lnSpc>
                <a:spcPct val="126000"/>
              </a:lnSpc>
            </a:pPr>
            <a:r>
              <a:rPr sz="2250">
                <a:solidFill>
                  <a:srgbClr val="0F151A"/>
                </a:solidFill>
                <a:latin typeface="Quicksand"/>
              </a:rPr>
              <a:t>Los datos son explotados por la academia, el sector privado y los ciudadanos para generar nuevo conocimiento, </a:t>
            </a:r>
            <a:r>
              <a:rPr sz="2250">
                <a:solidFill>
                  <a:srgbClr val="0F151A"/>
                </a:solidFill>
                <a:latin typeface="Quicksand Bold"/>
              </a:rPr>
              <a:t>innovación</a:t>
            </a:r>
            <a:r>
              <a:rPr sz="2250">
                <a:solidFill>
                  <a:srgbClr val="0F151A"/>
                </a:solidFill>
                <a:latin typeface="Quicksand"/>
              </a:rPr>
              <a:t> y aplicaciones.</a:t>
            </a:r>
          </a:p>
        </p:txBody>
      </p:sp>
      <p:sp>
        <p:nvSpPr>
          <p:cNvPr id="11" name="TextBox 10"/>
          <p:cNvSpPr txBox="1"/>
          <p:nvPr/>
        </p:nvSpPr>
        <p:spPr>
          <a:xfrm>
            <a:off x="9372600" y="4611885"/>
            <a:ext cx="7410449" cy="1200150"/>
          </a:xfrm>
          <a:prstGeom prst="rect">
            <a:avLst/>
          </a:prstGeom>
          <a:noFill/>
        </p:spPr>
        <p:txBody>
          <a:bodyPr wrap="square">
            <a:spAutoFit/>
          </a:bodyPr>
          <a:lstStyle/>
          <a:p>
            <a:pPr algn="l">
              <a:lnSpc>
                <a:spcPct val="126000"/>
              </a:lnSpc>
            </a:pPr>
            <a:r>
              <a:rPr sz="2250">
                <a:solidFill>
                  <a:srgbClr val="0F151A"/>
                </a:solidFill>
                <a:latin typeface="Quicksand"/>
              </a:rPr>
              <a:t>Se gestiona la retención documental y la disposición final de los datos, siguiendo estrictamente la normativa legal vigente para su </a:t>
            </a:r>
            <a:r>
              <a:rPr sz="2250">
                <a:solidFill>
                  <a:srgbClr val="0F151A"/>
                </a:solidFill>
                <a:latin typeface="Quicksand Bold"/>
              </a:rPr>
              <a:t>permanencia</a:t>
            </a:r>
            <a:r>
              <a:rPr sz="2250">
                <a:solidFill>
                  <a:srgbClr val="0F151A"/>
                </a:solidFill>
                <a:latin typeface="Quicksand"/>
              </a:rPr>
              <a:t> o descarte.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276350"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305425"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34499"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3363574"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28850" y="3087885"/>
            <a:ext cx="3076574"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57925" y="3087885"/>
            <a:ext cx="3076574"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287000" y="3087885"/>
            <a:ext cx="3076574"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6350" y="1276350"/>
            <a:ext cx="15735299" cy="859035"/>
          </a:xfrm>
          <a:prstGeom prst="rect">
            <a:avLst/>
          </a:prstGeom>
          <a:noFill/>
        </p:spPr>
        <p:txBody>
          <a:bodyPr wrap="square">
            <a:spAutoFit/>
          </a:bodyPr>
          <a:lstStyle/>
          <a:p>
            <a:pPr algn="ctr">
              <a:lnSpc>
                <a:spcPct val="99000"/>
              </a:lnSpc>
            </a:pPr>
            <a:r>
              <a:rPr sz="6150">
                <a:solidFill>
                  <a:srgbClr val="0F151A"/>
                </a:solidFill>
                <a:latin typeface="Quicksand Bold"/>
              </a:rPr>
              <a:t>Marco Normativo en Colombia</a:t>
            </a:r>
          </a:p>
        </p:txBody>
      </p:sp>
      <p:sp>
        <p:nvSpPr>
          <p:cNvPr id="11" name="TextBox 10"/>
          <p:cNvSpPr txBox="1"/>
          <p:nvPr/>
        </p:nvSpPr>
        <p:spPr>
          <a:xfrm>
            <a:off x="1633537" y="2859285"/>
            <a:ext cx="238124" cy="457200"/>
          </a:xfrm>
          <a:prstGeom prst="rect">
            <a:avLst/>
          </a:prstGeom>
          <a:noFill/>
        </p:spPr>
        <p:txBody>
          <a:bodyPr wrap="square">
            <a:spAutoFit/>
          </a:bodyPr>
          <a:lstStyle/>
          <a:p>
            <a:pPr algn="l">
              <a:lnSpc>
                <a:spcPct val="90000"/>
              </a:lnSpc>
            </a:pPr>
            <a:r>
              <a:rPr sz="3600">
                <a:solidFill>
                  <a:srgbClr val="FFFFFF"/>
                </a:solidFill>
                <a:latin typeface="Quicksand Bold"/>
              </a:rPr>
              <a:t>1</a:t>
            </a:r>
          </a:p>
        </p:txBody>
      </p:sp>
      <p:sp>
        <p:nvSpPr>
          <p:cNvPr id="12" name="TextBox 11"/>
          <p:cNvSpPr txBox="1"/>
          <p:nvPr/>
        </p:nvSpPr>
        <p:spPr>
          <a:xfrm>
            <a:off x="5662612" y="2859285"/>
            <a:ext cx="238124" cy="457200"/>
          </a:xfrm>
          <a:prstGeom prst="rect">
            <a:avLst/>
          </a:prstGeom>
          <a:noFill/>
        </p:spPr>
        <p:txBody>
          <a:bodyPr wrap="square">
            <a:spAutoFit/>
          </a:bodyPr>
          <a:lstStyle/>
          <a:p>
            <a:pPr algn="l">
              <a:lnSpc>
                <a:spcPct val="90000"/>
              </a:lnSpc>
            </a:pPr>
            <a:r>
              <a:rPr sz="3600">
                <a:solidFill>
                  <a:srgbClr val="FFFFFF"/>
                </a:solidFill>
                <a:latin typeface="Quicksand Bold"/>
              </a:rPr>
              <a:t>2</a:t>
            </a:r>
          </a:p>
        </p:txBody>
      </p:sp>
      <p:sp>
        <p:nvSpPr>
          <p:cNvPr id="13" name="TextBox 12"/>
          <p:cNvSpPr txBox="1"/>
          <p:nvPr/>
        </p:nvSpPr>
        <p:spPr>
          <a:xfrm>
            <a:off x="9691687" y="2859285"/>
            <a:ext cx="238124" cy="457200"/>
          </a:xfrm>
          <a:prstGeom prst="rect">
            <a:avLst/>
          </a:prstGeom>
          <a:noFill/>
        </p:spPr>
        <p:txBody>
          <a:bodyPr wrap="square">
            <a:spAutoFit/>
          </a:bodyPr>
          <a:lstStyle/>
          <a:p>
            <a:pPr algn="l">
              <a:lnSpc>
                <a:spcPct val="90000"/>
              </a:lnSpc>
            </a:pPr>
            <a:r>
              <a:rPr sz="3600">
                <a:solidFill>
                  <a:srgbClr val="FFFFFF"/>
                </a:solidFill>
                <a:latin typeface="Quicksand Bold"/>
              </a:rPr>
              <a:t>3</a:t>
            </a:r>
          </a:p>
        </p:txBody>
      </p:sp>
      <p:sp>
        <p:nvSpPr>
          <p:cNvPr id="14" name="TextBox 13"/>
          <p:cNvSpPr txBox="1"/>
          <p:nvPr/>
        </p:nvSpPr>
        <p:spPr>
          <a:xfrm>
            <a:off x="13720762" y="2859285"/>
            <a:ext cx="238124" cy="457200"/>
          </a:xfrm>
          <a:prstGeom prst="rect">
            <a:avLst/>
          </a:prstGeom>
          <a:noFill/>
        </p:spPr>
        <p:txBody>
          <a:bodyPr wrap="square">
            <a:spAutoFit/>
          </a:bodyPr>
          <a:lstStyle/>
          <a:p>
            <a:pPr algn="l">
              <a:lnSpc>
                <a:spcPct val="90000"/>
              </a:lnSpc>
            </a:pPr>
            <a:r>
              <a:rPr sz="3600">
                <a:solidFill>
                  <a:srgbClr val="FFFFFF"/>
                </a:solidFill>
                <a:latin typeface="Quicksand Bold"/>
              </a:rPr>
              <a:t>4</a:t>
            </a:r>
          </a:p>
        </p:txBody>
      </p:sp>
      <p:sp>
        <p:nvSpPr>
          <p:cNvPr id="15" name="TextBox 14"/>
          <p:cNvSpPr txBox="1"/>
          <p:nvPr/>
        </p:nvSpPr>
        <p:spPr>
          <a:xfrm>
            <a:off x="1276350" y="3945135"/>
            <a:ext cx="3648074" cy="502890"/>
          </a:xfrm>
          <a:prstGeom prst="rect">
            <a:avLst/>
          </a:prstGeom>
          <a:noFill/>
        </p:spPr>
        <p:txBody>
          <a:bodyPr wrap="square">
            <a:spAutoFit/>
          </a:bodyPr>
          <a:lstStyle/>
          <a:p>
            <a:pPr algn="l">
              <a:lnSpc>
                <a:spcPct val="108000"/>
              </a:lnSpc>
            </a:pPr>
            <a:r>
              <a:rPr sz="3300">
                <a:solidFill>
                  <a:srgbClr val="0F151A"/>
                </a:solidFill>
                <a:latin typeface="Quicksand Bold"/>
              </a:rPr>
              <a:t>- Ley 1712</a:t>
            </a:r>
          </a:p>
        </p:txBody>
      </p:sp>
      <p:sp>
        <p:nvSpPr>
          <p:cNvPr id="16" name="TextBox 15"/>
          <p:cNvSpPr txBox="1"/>
          <p:nvPr/>
        </p:nvSpPr>
        <p:spPr>
          <a:xfrm>
            <a:off x="5305425" y="3945135"/>
            <a:ext cx="3648074" cy="502890"/>
          </a:xfrm>
          <a:prstGeom prst="rect">
            <a:avLst/>
          </a:prstGeom>
          <a:noFill/>
        </p:spPr>
        <p:txBody>
          <a:bodyPr wrap="square">
            <a:spAutoFit/>
          </a:bodyPr>
          <a:lstStyle/>
          <a:p>
            <a:pPr algn="l">
              <a:lnSpc>
                <a:spcPct val="108000"/>
              </a:lnSpc>
            </a:pPr>
            <a:r>
              <a:rPr sz="3300">
                <a:solidFill>
                  <a:srgbClr val="0F151A"/>
                </a:solidFill>
                <a:latin typeface="Quicksand Bold"/>
              </a:rPr>
              <a:t>- CONPES 3920</a:t>
            </a:r>
          </a:p>
        </p:txBody>
      </p:sp>
      <p:sp>
        <p:nvSpPr>
          <p:cNvPr id="17" name="TextBox 16"/>
          <p:cNvSpPr txBox="1"/>
          <p:nvPr/>
        </p:nvSpPr>
        <p:spPr>
          <a:xfrm>
            <a:off x="9334499" y="3945135"/>
            <a:ext cx="3648074" cy="502890"/>
          </a:xfrm>
          <a:prstGeom prst="rect">
            <a:avLst/>
          </a:prstGeom>
          <a:noFill/>
        </p:spPr>
        <p:txBody>
          <a:bodyPr wrap="square">
            <a:spAutoFit/>
          </a:bodyPr>
          <a:lstStyle/>
          <a:p>
            <a:pPr algn="l">
              <a:lnSpc>
                <a:spcPct val="108000"/>
              </a:lnSpc>
            </a:pPr>
            <a:r>
              <a:rPr sz="3300">
                <a:solidFill>
                  <a:srgbClr val="0F151A"/>
                </a:solidFill>
                <a:latin typeface="Quicksand Bold"/>
              </a:rPr>
              <a:t>- Resolución 1519</a:t>
            </a:r>
          </a:p>
        </p:txBody>
      </p:sp>
      <p:sp>
        <p:nvSpPr>
          <p:cNvPr id="18" name="TextBox 17"/>
          <p:cNvSpPr txBox="1"/>
          <p:nvPr/>
        </p:nvSpPr>
        <p:spPr>
          <a:xfrm>
            <a:off x="13363574" y="3945135"/>
            <a:ext cx="3648074" cy="1005780"/>
          </a:xfrm>
          <a:prstGeom prst="rect">
            <a:avLst/>
          </a:prstGeom>
          <a:noFill/>
        </p:spPr>
        <p:txBody>
          <a:bodyPr wrap="square">
            <a:spAutoFit/>
          </a:bodyPr>
          <a:lstStyle/>
          <a:p>
            <a:pPr algn="l">
              <a:lnSpc>
                <a:spcPct val="108000"/>
              </a:lnSpc>
            </a:pPr>
            <a:r>
              <a:rPr sz="3300">
                <a:solidFill>
                  <a:srgbClr val="0F151A"/>
                </a:solidFill>
                <a:latin typeface="Quicksand Bold"/>
              </a:rPr>
              <a:t>- Marco de Interoperabilidad</a:t>
            </a:r>
          </a:p>
        </p:txBody>
      </p:sp>
      <p:sp>
        <p:nvSpPr>
          <p:cNvPr id="19" name="TextBox 18"/>
          <p:cNvSpPr txBox="1"/>
          <p:nvPr/>
        </p:nvSpPr>
        <p:spPr>
          <a:xfrm>
            <a:off x="1276350" y="4590901"/>
            <a:ext cx="3648074" cy="3626643"/>
          </a:xfrm>
          <a:prstGeom prst="rect">
            <a:avLst/>
          </a:prstGeom>
          <a:noFill/>
        </p:spPr>
        <p:txBody>
          <a:bodyPr wrap="square">
            <a:spAutoFit/>
          </a:bodyPr>
          <a:lstStyle/>
          <a:p>
            <a:pPr algn="l">
              <a:lnSpc>
                <a:spcPct val="126000"/>
              </a:lnSpc>
            </a:pPr>
            <a:r>
              <a:rPr sz="2550">
                <a:solidFill>
                  <a:srgbClr val="0F151A"/>
                </a:solidFill>
                <a:latin typeface="Quicksand"/>
              </a:rPr>
              <a:t>Estableció la Ley de Transparencia y del Derecho de Acceso a la Información Pública Nacional, marcando un </a:t>
            </a:r>
            <a:r>
              <a:rPr sz="2550">
                <a:solidFill>
                  <a:srgbClr val="0F151A"/>
                </a:solidFill>
                <a:latin typeface="Quicksand Bold"/>
              </a:rPr>
              <a:t>hito fundamental</a:t>
            </a:r>
            <a:r>
              <a:rPr sz="2550">
                <a:solidFill>
                  <a:srgbClr val="0F151A"/>
                </a:solidFill>
                <a:latin typeface="Quicksand"/>
              </a:rPr>
              <a:t> para la apertura de datos en el país.</a:t>
            </a:r>
          </a:p>
        </p:txBody>
      </p:sp>
      <p:sp>
        <p:nvSpPr>
          <p:cNvPr id="20" name="TextBox 19"/>
          <p:cNvSpPr txBox="1"/>
          <p:nvPr/>
        </p:nvSpPr>
        <p:spPr>
          <a:xfrm>
            <a:off x="5305425" y="4590901"/>
            <a:ext cx="3648074" cy="3626643"/>
          </a:xfrm>
          <a:prstGeom prst="rect">
            <a:avLst/>
          </a:prstGeom>
          <a:noFill/>
        </p:spPr>
        <p:txBody>
          <a:bodyPr wrap="square">
            <a:spAutoFit/>
          </a:bodyPr>
          <a:lstStyle/>
          <a:p>
            <a:pPr algn="l">
              <a:lnSpc>
                <a:spcPct val="126000"/>
              </a:lnSpc>
            </a:pPr>
            <a:r>
              <a:rPr sz="2550">
                <a:solidFill>
                  <a:srgbClr val="0F151A"/>
                </a:solidFill>
                <a:latin typeface="Quicksand"/>
              </a:rPr>
              <a:t>Se aprobó la Política Nacional de Explotación de Datos (</a:t>
            </a:r>
            <a:r>
              <a:rPr sz="2550" i="1">
                <a:solidFill>
                  <a:srgbClr val="0F151A"/>
                </a:solidFill>
                <a:latin typeface="Quicksand"/>
              </a:rPr>
              <a:t>Big Data</a:t>
            </a:r>
            <a:r>
              <a:rPr sz="2550">
                <a:solidFill>
                  <a:srgbClr val="0F151A"/>
                </a:solidFill>
                <a:latin typeface="Quicksand"/>
              </a:rPr>
              <a:t>), que delinea la hoja de ruta para el aprovechamiento estratégico de los datos a nivel nacional.</a:t>
            </a:r>
          </a:p>
        </p:txBody>
      </p:sp>
      <p:sp>
        <p:nvSpPr>
          <p:cNvPr id="21" name="TextBox 20"/>
          <p:cNvSpPr txBox="1"/>
          <p:nvPr/>
        </p:nvSpPr>
        <p:spPr>
          <a:xfrm>
            <a:off x="9334499" y="4590901"/>
            <a:ext cx="3648074" cy="3173313"/>
          </a:xfrm>
          <a:prstGeom prst="rect">
            <a:avLst/>
          </a:prstGeom>
          <a:noFill/>
        </p:spPr>
        <p:txBody>
          <a:bodyPr wrap="square">
            <a:spAutoFit/>
          </a:bodyPr>
          <a:lstStyle/>
          <a:p>
            <a:pPr algn="l">
              <a:lnSpc>
                <a:spcPct val="126000"/>
              </a:lnSpc>
            </a:pPr>
            <a:r>
              <a:rPr sz="2550">
                <a:solidFill>
                  <a:srgbClr val="0F151A"/>
                </a:solidFill>
                <a:latin typeface="Quicksand"/>
              </a:rPr>
              <a:t>Define los estándares y directrices para la publicación eficiente de información, trámites y servicios en las sedes electrónicas de las entidades públicas.</a:t>
            </a:r>
          </a:p>
        </p:txBody>
      </p:sp>
      <p:sp>
        <p:nvSpPr>
          <p:cNvPr id="22" name="TextBox 21"/>
          <p:cNvSpPr txBox="1"/>
          <p:nvPr/>
        </p:nvSpPr>
        <p:spPr>
          <a:xfrm>
            <a:off x="13363574" y="5093791"/>
            <a:ext cx="3648074" cy="3626643"/>
          </a:xfrm>
          <a:prstGeom prst="rect">
            <a:avLst/>
          </a:prstGeom>
          <a:noFill/>
        </p:spPr>
        <p:txBody>
          <a:bodyPr wrap="square">
            <a:spAutoFit/>
          </a:bodyPr>
          <a:lstStyle/>
          <a:p>
            <a:pPr algn="l">
              <a:lnSpc>
                <a:spcPct val="126000"/>
              </a:lnSpc>
            </a:pPr>
            <a:r>
              <a:rPr sz="2550">
                <a:solidFill>
                  <a:srgbClr val="0F151A"/>
                </a:solidFill>
                <a:latin typeface="Quicksand"/>
              </a:rPr>
              <a:t>Actualización de los lineamientos técnicos y jurídicos para facilitar el intercambio seguro y eficiente de información entre las diferentes entidades del Estado (uso de X-Road).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b0def1ad-a7da-4914-9558-29d112964547.png"/>
          <p:cNvPicPr>
            <a:picLocks noChangeAspect="1"/>
          </p:cNvPicPr>
          <p:nvPr/>
        </p:nvPicPr>
        <p:blipFill>
          <a:blip r:embed="rId2"/>
          <a:stretch>
            <a:fillRect/>
          </a:stretch>
        </p:blipFill>
        <p:spPr>
          <a:xfrm>
            <a:off x="13696950" y="1276350"/>
            <a:ext cx="3819524" cy="3819524"/>
          </a:xfrm>
          <a:prstGeom prst="rect">
            <a:avLst/>
          </a:prstGeom>
        </p:spPr>
      </p:pic>
      <p:pic>
        <p:nvPicPr>
          <p:cNvPr id="3" name="Picture 2" descr="5ca8813e-4833-4eb5-a46e-5c37cf87d57e.png"/>
          <p:cNvPicPr>
            <a:picLocks noChangeAspect="1"/>
          </p:cNvPicPr>
          <p:nvPr/>
        </p:nvPicPr>
        <p:blipFill>
          <a:blip r:embed="rId3"/>
          <a:stretch>
            <a:fillRect/>
          </a:stretch>
        </p:blipFill>
        <p:spPr>
          <a:xfrm>
            <a:off x="13696950" y="5191125"/>
            <a:ext cx="3819524" cy="3819524"/>
          </a:xfrm>
          <a:prstGeom prst="rect">
            <a:avLst/>
          </a:prstGeom>
        </p:spPr>
      </p:pic>
      <p:sp>
        <p:nvSpPr>
          <p:cNvPr id="5" name="TextBox 4"/>
          <p:cNvSpPr txBox="1"/>
          <p:nvPr/>
        </p:nvSpPr>
        <p:spPr>
          <a:xfrm>
            <a:off x="1285875" y="1276350"/>
            <a:ext cx="11953875" cy="1508521"/>
          </a:xfrm>
          <a:prstGeom prst="rect">
            <a:avLst/>
          </a:prstGeom>
          <a:noFill/>
        </p:spPr>
        <p:txBody>
          <a:bodyPr wrap="square">
            <a:spAutoFit/>
          </a:bodyPr>
          <a:lstStyle/>
          <a:p>
            <a:pPr algn="l">
              <a:lnSpc>
                <a:spcPct val="99000"/>
              </a:lnSpc>
            </a:pPr>
            <a:r>
              <a:rPr sz="5400">
                <a:solidFill>
                  <a:srgbClr val="0F151A"/>
                </a:solidFill>
                <a:latin typeface="Quicksand Bold"/>
              </a:rPr>
              <a:t>Interoperabilidad: Estado como Plataforma</a:t>
            </a:r>
          </a:p>
        </p:txBody>
      </p:sp>
      <p:sp>
        <p:nvSpPr>
          <p:cNvPr id="6" name="TextBox 5"/>
          <p:cNvSpPr txBox="1"/>
          <p:nvPr/>
        </p:nvSpPr>
        <p:spPr>
          <a:xfrm>
            <a:off x="1285875" y="3089671"/>
            <a:ext cx="11953875" cy="411360"/>
          </a:xfrm>
          <a:prstGeom prst="rect">
            <a:avLst/>
          </a:prstGeom>
          <a:noFill/>
        </p:spPr>
        <p:txBody>
          <a:bodyPr wrap="square">
            <a:spAutoFit/>
          </a:bodyPr>
          <a:lstStyle/>
          <a:p>
            <a:pPr algn="l">
              <a:lnSpc>
                <a:spcPct val="108000"/>
              </a:lnSpc>
            </a:pPr>
            <a:r>
              <a:rPr sz="2700">
                <a:solidFill>
                  <a:srgbClr val="0F151A"/>
                </a:solidFill>
                <a:latin typeface="Quicksand Bold"/>
              </a:rPr>
              <a:t>Semántica</a:t>
            </a:r>
          </a:p>
        </p:txBody>
      </p:sp>
      <p:sp>
        <p:nvSpPr>
          <p:cNvPr id="7" name="TextBox 6"/>
          <p:cNvSpPr txBox="1"/>
          <p:nvPr/>
        </p:nvSpPr>
        <p:spPr>
          <a:xfrm>
            <a:off x="1285875" y="3615332"/>
            <a:ext cx="11953875" cy="1080045"/>
          </a:xfrm>
          <a:prstGeom prst="rect">
            <a:avLst/>
          </a:prstGeom>
          <a:noFill/>
        </p:spPr>
        <p:txBody>
          <a:bodyPr wrap="square">
            <a:spAutoFit/>
          </a:bodyPr>
          <a:lstStyle/>
          <a:p>
            <a:pPr algn="l">
              <a:lnSpc>
                <a:spcPct val="126000"/>
              </a:lnSpc>
            </a:pPr>
            <a:r>
              <a:rPr sz="2025">
                <a:solidFill>
                  <a:srgbClr val="323E47"/>
                </a:solidFill>
                <a:latin typeface="Quicksand"/>
              </a:rPr>
              <a:t>Asegura que el significado de los datos sea el mismo entre entidades, promoviendo la consistencia y evitando malas interpretaciones. Esto se logra mediante el uso de diccionarios de datos y </a:t>
            </a:r>
            <a:r>
              <a:rPr sz="2025" i="1">
                <a:solidFill>
                  <a:srgbClr val="323E47"/>
                </a:solidFill>
                <a:latin typeface="Quicksand"/>
              </a:rPr>
              <a:t>ontologías</a:t>
            </a:r>
            <a:r>
              <a:rPr sz="2025">
                <a:solidFill>
                  <a:srgbClr val="323E47"/>
                </a:solidFill>
                <a:latin typeface="Quicksand"/>
              </a:rPr>
              <a:t> comunes (esquemas formales para representar el conocimiento en un dominio).</a:t>
            </a:r>
          </a:p>
        </p:txBody>
      </p:sp>
      <p:sp>
        <p:nvSpPr>
          <p:cNvPr id="8" name="TextBox 7"/>
          <p:cNvSpPr txBox="1"/>
          <p:nvPr/>
        </p:nvSpPr>
        <p:spPr>
          <a:xfrm>
            <a:off x="1285875" y="4885878"/>
            <a:ext cx="11953875" cy="411360"/>
          </a:xfrm>
          <a:prstGeom prst="rect">
            <a:avLst/>
          </a:prstGeom>
          <a:noFill/>
        </p:spPr>
        <p:txBody>
          <a:bodyPr wrap="square">
            <a:spAutoFit/>
          </a:bodyPr>
          <a:lstStyle/>
          <a:p>
            <a:pPr algn="l">
              <a:lnSpc>
                <a:spcPct val="108000"/>
              </a:lnSpc>
            </a:pPr>
            <a:r>
              <a:rPr sz="2700">
                <a:solidFill>
                  <a:srgbClr val="0F151A"/>
                </a:solidFill>
                <a:latin typeface="Quicksand Bold"/>
              </a:rPr>
              <a:t>Técnica</a:t>
            </a:r>
          </a:p>
        </p:txBody>
      </p:sp>
      <p:sp>
        <p:nvSpPr>
          <p:cNvPr id="9" name="TextBox 8"/>
          <p:cNvSpPr txBox="1"/>
          <p:nvPr/>
        </p:nvSpPr>
        <p:spPr>
          <a:xfrm>
            <a:off x="1285875" y="5411539"/>
            <a:ext cx="11953875" cy="1080045"/>
          </a:xfrm>
          <a:prstGeom prst="rect">
            <a:avLst/>
          </a:prstGeom>
          <a:noFill/>
        </p:spPr>
        <p:txBody>
          <a:bodyPr wrap="square">
            <a:spAutoFit/>
          </a:bodyPr>
          <a:lstStyle/>
          <a:p>
            <a:pPr algn="l">
              <a:lnSpc>
                <a:spcPct val="126000"/>
              </a:lnSpc>
            </a:pPr>
            <a:r>
              <a:rPr sz="2025">
                <a:solidFill>
                  <a:srgbClr val="323E47"/>
                </a:solidFill>
                <a:latin typeface="Quicksand"/>
              </a:rPr>
              <a:t>Se refiere al uso de protocolos de comunicación estandarizados, interfaces de programación de aplicaciones (APIs) y formatos de transferencia de datos. Esto permite que sistemas de diferentes fabricantes puedan comunicarse e intercambiar información eficientemente.</a:t>
            </a:r>
          </a:p>
        </p:txBody>
      </p:sp>
      <p:sp>
        <p:nvSpPr>
          <p:cNvPr id="10" name="TextBox 9"/>
          <p:cNvSpPr txBox="1"/>
          <p:nvPr/>
        </p:nvSpPr>
        <p:spPr>
          <a:xfrm>
            <a:off x="1285875" y="6682085"/>
            <a:ext cx="11953875" cy="411360"/>
          </a:xfrm>
          <a:prstGeom prst="rect">
            <a:avLst/>
          </a:prstGeom>
          <a:noFill/>
        </p:spPr>
        <p:txBody>
          <a:bodyPr wrap="square">
            <a:spAutoFit/>
          </a:bodyPr>
          <a:lstStyle/>
          <a:p>
            <a:pPr algn="l">
              <a:lnSpc>
                <a:spcPct val="108000"/>
              </a:lnSpc>
            </a:pPr>
            <a:r>
              <a:rPr sz="2700">
                <a:solidFill>
                  <a:srgbClr val="0F151A"/>
                </a:solidFill>
                <a:latin typeface="Quicksand Bold"/>
              </a:rPr>
              <a:t>Organizacional</a:t>
            </a:r>
          </a:p>
        </p:txBody>
      </p:sp>
      <p:sp>
        <p:nvSpPr>
          <p:cNvPr id="11" name="TextBox 10"/>
          <p:cNvSpPr txBox="1"/>
          <p:nvPr/>
        </p:nvSpPr>
        <p:spPr>
          <a:xfrm>
            <a:off x="1285875" y="7207746"/>
            <a:ext cx="11953875" cy="1080045"/>
          </a:xfrm>
          <a:prstGeom prst="rect">
            <a:avLst/>
          </a:prstGeom>
          <a:noFill/>
        </p:spPr>
        <p:txBody>
          <a:bodyPr wrap="square">
            <a:spAutoFit/>
          </a:bodyPr>
          <a:lstStyle/>
          <a:p>
            <a:pPr algn="l">
              <a:lnSpc>
                <a:spcPct val="126000"/>
              </a:lnSpc>
            </a:pPr>
            <a:r>
              <a:rPr sz="2025">
                <a:solidFill>
                  <a:srgbClr val="323E47"/>
                </a:solidFill>
                <a:latin typeface="Quicksand"/>
              </a:rPr>
              <a:t>Implica el establecimiento de acuerdos de niveles de servicio (SLA) y la coordinación de procesos administrativos entre las entidades. Su objetivo es facilitar el intercambio de información y la colaboración fluida, reduciendo la burocracia técnica y operativa.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2820705"/>
            <a:ext cx="5118100" cy="2661412"/>
          </a:xfrm>
          <a:prstGeom prst="roundRect">
            <a:avLst>
              <a:gd name="adj" fmla="val 8333"/>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584950" y="2820705"/>
            <a:ext cx="5118100" cy="2661412"/>
          </a:xfrm>
          <a:prstGeom prst="roundRect">
            <a:avLst>
              <a:gd name="adj" fmla="val 8333"/>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893550" y="2820705"/>
            <a:ext cx="5118100" cy="2661412"/>
          </a:xfrm>
          <a:prstGeom prst="roundRect">
            <a:avLst>
              <a:gd name="adj" fmla="val 8333"/>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76350" y="1276350"/>
            <a:ext cx="15735299" cy="767953"/>
          </a:xfrm>
          <a:prstGeom prst="rect">
            <a:avLst/>
          </a:prstGeom>
          <a:noFill/>
        </p:spPr>
        <p:txBody>
          <a:bodyPr wrap="square">
            <a:spAutoFit/>
          </a:bodyPr>
          <a:lstStyle/>
          <a:p>
            <a:pPr algn="ctr">
              <a:lnSpc>
                <a:spcPct val="100800"/>
              </a:lnSpc>
            </a:pPr>
            <a:r>
              <a:rPr sz="5400">
                <a:solidFill>
                  <a:srgbClr val="0F151A"/>
                </a:solidFill>
                <a:latin typeface="Quicksand Bold"/>
              </a:rPr>
              <a:t>Datos Abiertos en Cifras</a:t>
            </a:r>
          </a:p>
        </p:txBody>
      </p:sp>
      <p:sp>
        <p:nvSpPr>
          <p:cNvPr id="7" name="TextBox 6"/>
          <p:cNvSpPr txBox="1"/>
          <p:nvPr/>
        </p:nvSpPr>
        <p:spPr>
          <a:xfrm>
            <a:off x="1504950" y="3539951"/>
            <a:ext cx="4660900" cy="822870"/>
          </a:xfrm>
          <a:prstGeom prst="rect">
            <a:avLst/>
          </a:prstGeom>
          <a:noFill/>
        </p:spPr>
        <p:txBody>
          <a:bodyPr wrap="square">
            <a:spAutoFit/>
          </a:bodyPr>
          <a:lstStyle/>
          <a:p>
            <a:pPr algn="ctr">
              <a:lnSpc>
                <a:spcPct val="97200"/>
              </a:lnSpc>
            </a:pPr>
            <a:r>
              <a:rPr sz="6000">
                <a:solidFill>
                  <a:srgbClr val="0F151A"/>
                </a:solidFill>
                <a:latin typeface="Quicksand Bold"/>
              </a:rPr>
              <a:t>15,000+</a:t>
            </a:r>
          </a:p>
        </p:txBody>
      </p:sp>
      <p:sp>
        <p:nvSpPr>
          <p:cNvPr id="8" name="TextBox 7"/>
          <p:cNvSpPr txBox="1"/>
          <p:nvPr/>
        </p:nvSpPr>
        <p:spPr>
          <a:xfrm>
            <a:off x="1504950" y="4477122"/>
            <a:ext cx="4660900" cy="285750"/>
          </a:xfrm>
          <a:prstGeom prst="rect">
            <a:avLst/>
          </a:prstGeom>
          <a:noFill/>
        </p:spPr>
        <p:txBody>
          <a:bodyPr wrap="square">
            <a:spAutoFit/>
          </a:bodyPr>
          <a:lstStyle/>
          <a:p>
            <a:pPr algn="ctr">
              <a:lnSpc>
                <a:spcPct val="112500"/>
              </a:lnSpc>
            </a:pPr>
            <a:r>
              <a:rPr sz="1800">
                <a:solidFill>
                  <a:srgbClr val="323E47"/>
                </a:solidFill>
                <a:latin typeface="Quicksand"/>
              </a:rPr>
              <a:t>Conjuntos de datos publicados</a:t>
            </a:r>
          </a:p>
        </p:txBody>
      </p:sp>
      <p:sp>
        <p:nvSpPr>
          <p:cNvPr id="9" name="TextBox 8"/>
          <p:cNvSpPr txBox="1"/>
          <p:nvPr/>
        </p:nvSpPr>
        <p:spPr>
          <a:xfrm>
            <a:off x="6813550" y="3539951"/>
            <a:ext cx="4660900" cy="822870"/>
          </a:xfrm>
          <a:prstGeom prst="rect">
            <a:avLst/>
          </a:prstGeom>
          <a:noFill/>
        </p:spPr>
        <p:txBody>
          <a:bodyPr wrap="square">
            <a:spAutoFit/>
          </a:bodyPr>
          <a:lstStyle/>
          <a:p>
            <a:pPr algn="ctr">
              <a:lnSpc>
                <a:spcPct val="97200"/>
              </a:lnSpc>
            </a:pPr>
            <a:r>
              <a:rPr sz="6000">
                <a:solidFill>
                  <a:srgbClr val="0F151A"/>
                </a:solidFill>
                <a:latin typeface="Quicksand Bold"/>
              </a:rPr>
              <a:t>1,100+</a:t>
            </a:r>
          </a:p>
        </p:txBody>
      </p:sp>
      <p:sp>
        <p:nvSpPr>
          <p:cNvPr id="10" name="TextBox 9"/>
          <p:cNvSpPr txBox="1"/>
          <p:nvPr/>
        </p:nvSpPr>
        <p:spPr>
          <a:xfrm>
            <a:off x="6813550" y="4477122"/>
            <a:ext cx="4660900" cy="285750"/>
          </a:xfrm>
          <a:prstGeom prst="rect">
            <a:avLst/>
          </a:prstGeom>
          <a:noFill/>
        </p:spPr>
        <p:txBody>
          <a:bodyPr wrap="square">
            <a:spAutoFit/>
          </a:bodyPr>
          <a:lstStyle/>
          <a:p>
            <a:pPr algn="ctr">
              <a:lnSpc>
                <a:spcPct val="112500"/>
              </a:lnSpc>
            </a:pPr>
            <a:r>
              <a:rPr sz="1800">
                <a:solidFill>
                  <a:srgbClr val="323E47"/>
                </a:solidFill>
                <a:latin typeface="Quicksand"/>
              </a:rPr>
              <a:t>Entidades gubernamentales</a:t>
            </a:r>
          </a:p>
        </p:txBody>
      </p:sp>
      <p:sp>
        <p:nvSpPr>
          <p:cNvPr id="11" name="TextBox 10"/>
          <p:cNvSpPr txBox="1"/>
          <p:nvPr/>
        </p:nvSpPr>
        <p:spPr>
          <a:xfrm>
            <a:off x="12122150" y="3128516"/>
            <a:ext cx="4660900" cy="1645741"/>
          </a:xfrm>
          <a:prstGeom prst="rect">
            <a:avLst/>
          </a:prstGeom>
          <a:noFill/>
        </p:spPr>
        <p:txBody>
          <a:bodyPr wrap="square">
            <a:spAutoFit/>
          </a:bodyPr>
          <a:lstStyle/>
          <a:p>
            <a:pPr algn="ctr">
              <a:lnSpc>
                <a:spcPct val="97200"/>
              </a:lnSpc>
            </a:pPr>
            <a:r>
              <a:rPr sz="6000">
                <a:solidFill>
                  <a:srgbClr val="0F151A"/>
                </a:solidFill>
                <a:latin typeface="Quicksand Bold"/>
              </a:rPr>
              <a:t>4.5 Millones+</a:t>
            </a:r>
          </a:p>
        </p:txBody>
      </p:sp>
      <p:sp>
        <p:nvSpPr>
          <p:cNvPr id="12" name="TextBox 11"/>
          <p:cNvSpPr txBox="1"/>
          <p:nvPr/>
        </p:nvSpPr>
        <p:spPr>
          <a:xfrm>
            <a:off x="12122150" y="4888557"/>
            <a:ext cx="4660900" cy="285750"/>
          </a:xfrm>
          <a:prstGeom prst="rect">
            <a:avLst/>
          </a:prstGeom>
          <a:noFill/>
        </p:spPr>
        <p:txBody>
          <a:bodyPr wrap="square">
            <a:spAutoFit/>
          </a:bodyPr>
          <a:lstStyle/>
          <a:p>
            <a:pPr algn="ctr">
              <a:lnSpc>
                <a:spcPct val="112500"/>
              </a:lnSpc>
            </a:pPr>
            <a:r>
              <a:rPr sz="1800">
                <a:solidFill>
                  <a:srgbClr val="323E47"/>
                </a:solidFill>
                <a:latin typeface="Quicksand"/>
              </a:rPr>
              <a:t>Descargas anuales de datasets</a:t>
            </a:r>
          </a:p>
        </p:txBody>
      </p:sp>
      <p:sp>
        <p:nvSpPr>
          <p:cNvPr id="13" name="TextBox 12"/>
          <p:cNvSpPr txBox="1"/>
          <p:nvPr/>
        </p:nvSpPr>
        <p:spPr>
          <a:xfrm>
            <a:off x="1276350" y="5939317"/>
            <a:ext cx="15735299" cy="2485429"/>
          </a:xfrm>
          <a:prstGeom prst="rect">
            <a:avLst/>
          </a:prstGeom>
          <a:noFill/>
        </p:spPr>
        <p:txBody>
          <a:bodyPr wrap="square">
            <a:spAutoFit/>
          </a:bodyPr>
          <a:lstStyle/>
          <a:p>
            <a:pPr algn="ctr">
              <a:lnSpc>
                <a:spcPct val="130500"/>
              </a:lnSpc>
            </a:pPr>
            <a:r>
              <a:rPr sz="2700">
                <a:solidFill>
                  <a:srgbClr val="323E47"/>
                </a:solidFill>
                <a:latin typeface="Quicksand"/>
              </a:rPr>
              <a:t>Colombia es líder regional en la publicación de datos. A través de la plataforma www.datos.gov.co, el Estado ha logrado centralizar la oferta de información de más de 1.000 entidades públicas. Estas cifras demuestran el compromiso con la transparencia y el potencial para la economía digital, reflejando cómo la </a:t>
            </a:r>
            <a:r>
              <a:rPr sz="2700">
                <a:solidFill>
                  <a:srgbClr val="323E47"/>
                </a:solidFill>
                <a:latin typeface="Quicksand Bold"/>
              </a:rPr>
              <a:t>interoperabilidad</a:t>
            </a:r>
            <a:r>
              <a:rPr sz="2700">
                <a:solidFill>
                  <a:srgbClr val="323E47"/>
                </a:solidFill>
                <a:latin typeface="Quicksand"/>
              </a:rPr>
              <a:t> se materializa en resultados tangibles disponibles para la ciudadanía.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71600" y="3569940"/>
          <a:ext cx="15544797" cy="4514844"/>
        </p:xfrm>
        <a:graphic>
          <a:graphicData uri="http://schemas.openxmlformats.org/drawingml/2006/table">
            <a:tbl>
              <a:tblPr firstRow="1" bandRow="1">
                <a:tableStyleId>{5C22544A-7EE6-4342-B048-85BDC9FD1C3A}</a:tableStyleId>
              </a:tblPr>
              <a:tblGrid>
                <a:gridCol w="5181599">
                  <a:extLst>
                    <a:ext uri="{9D8B030D-6E8A-4147-A177-3AD203B41FA5}">
                      <a16:colId xmlns:a16="http://schemas.microsoft.com/office/drawing/2014/main" val="20000"/>
                    </a:ext>
                  </a:extLst>
                </a:gridCol>
                <a:gridCol w="5181599">
                  <a:extLst>
                    <a:ext uri="{9D8B030D-6E8A-4147-A177-3AD203B41FA5}">
                      <a16:colId xmlns:a16="http://schemas.microsoft.com/office/drawing/2014/main" val="20001"/>
                    </a:ext>
                  </a:extLst>
                </a:gridCol>
                <a:gridCol w="5181599">
                  <a:extLst>
                    <a:ext uri="{9D8B030D-6E8A-4147-A177-3AD203B41FA5}">
                      <a16:colId xmlns:a16="http://schemas.microsoft.com/office/drawing/2014/main" val="20002"/>
                    </a:ext>
                  </a:extLst>
                </a:gridCol>
              </a:tblGrid>
              <a:tr h="752474">
                <a:tc>
                  <a:txBody>
                    <a:bodyPr/>
                    <a:lstStyle/>
                    <a:p>
                      <a:pPr algn="ctr"/>
                      <a:r>
                        <a:rPr sz="2250">
                          <a:solidFill>
                            <a:srgbClr val="8D6E0D"/>
                          </a:solidFill>
                          <a:latin typeface="Quicksand Bold"/>
                        </a:rPr>
                        <a:t>Formato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250">
                          <a:solidFill>
                            <a:srgbClr val="8D6E0D"/>
                          </a:solidFill>
                          <a:latin typeface="Quicksand Bold"/>
                        </a:rPr>
                        <a:t>Nivel de Apertura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250">
                          <a:solidFill>
                            <a:srgbClr val="8D6E0D"/>
                          </a:solidFill>
                          <a:latin typeface="Quicksand Bold"/>
                        </a:rPr>
                        <a:t>Descripción Técnica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extLst>
                  <a:ext uri="{0D108BD9-81ED-4DB2-BD59-A6C34878D82A}">
                    <a16:rowId xmlns:a16="http://schemas.microsoft.com/office/drawing/2014/main" val="10000"/>
                  </a:ext>
                </a:extLst>
              </a:tr>
              <a:tr h="752474">
                <a:tc>
                  <a:txBody>
                    <a:bodyPr/>
                    <a:lstStyle/>
                    <a:p>
                      <a:pPr algn="l"/>
                      <a:r>
                        <a:rPr sz="1800">
                          <a:solidFill>
                            <a:srgbClr val="0F151A"/>
                          </a:solidFill>
                          <a:latin typeface="Quicksand"/>
                        </a:rPr>
                        <a:t>**PDF / Imagen**</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No procesable por máquinas; solo lectura humana.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1"/>
                  </a:ext>
                </a:extLst>
              </a:tr>
              <a:tr h="752474">
                <a:tc>
                  <a:txBody>
                    <a:bodyPr/>
                    <a:lstStyle/>
                    <a:p>
                      <a:pPr algn="l"/>
                      <a:r>
                        <a:rPr sz="1800">
                          <a:solidFill>
                            <a:srgbClr val="0F151A"/>
                          </a:solidFill>
                          <a:latin typeface="Quicksand"/>
                        </a:rPr>
                        <a:t>**XLS (Excel)**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Procesable, pero formato propietario con dependencias de software.</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2"/>
                  </a:ext>
                </a:extLst>
              </a:tr>
              <a:tr h="752474">
                <a:tc>
                  <a:txBody>
                    <a:bodyPr/>
                    <a:lstStyle/>
                    <a:p>
                      <a:pPr algn="l"/>
                      <a:r>
                        <a:rPr sz="1800">
                          <a:solidFill>
                            <a:srgbClr val="0F151A"/>
                          </a:solidFill>
                          <a:latin typeface="Quicksand"/>
                        </a:rPr>
                        <a:t>**CSV / XML**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Formato abierto y no propietario; alta compatibilidad.</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3"/>
                  </a:ext>
                </a:extLst>
              </a:tr>
              <a:tr h="752474">
                <a:tc>
                  <a:txBody>
                    <a:bodyPr/>
                    <a:lstStyle/>
                    <a:p>
                      <a:pPr algn="l"/>
                      <a:r>
                        <a:rPr sz="1800">
                          <a:solidFill>
                            <a:srgbClr val="0F151A"/>
                          </a:solidFill>
                          <a:latin typeface="Quicksand"/>
                        </a:rPr>
                        <a:t>**JSON**</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Ideal para aplicaciones web y APIs por su ligereza y estructura.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4"/>
                  </a:ext>
                </a:extLst>
              </a:tr>
              <a:tr h="752474">
                <a:tc>
                  <a:txBody>
                    <a:bodyPr/>
                    <a:lstStyle/>
                    <a:p>
                      <a:pPr algn="l"/>
                      <a:r>
                        <a:rPr sz="1800">
                          <a:solidFill>
                            <a:srgbClr val="0F151A"/>
                          </a:solidFill>
                          <a:latin typeface="Quicksand"/>
                        </a:rPr>
                        <a:t>**RDF / Linked Data**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1800">
                          <a:solidFill>
                            <a:srgbClr val="0F151A"/>
                          </a:solidFill>
                          <a:latin typeface="Quicksand"/>
                        </a:rPr>
                        <a:t>Datos conectados mediante URIs, permitiendo el contexto semántico global.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1371600" y="1695449"/>
            <a:ext cx="15544800" cy="838200"/>
          </a:xfrm>
          <a:prstGeom prst="rect">
            <a:avLst/>
          </a:prstGeom>
          <a:noFill/>
        </p:spPr>
        <p:txBody>
          <a:bodyPr wrap="square">
            <a:spAutoFit/>
          </a:bodyPr>
          <a:lstStyle/>
          <a:p>
            <a:pPr algn="l">
              <a:lnSpc>
                <a:spcPct val="99000"/>
              </a:lnSpc>
            </a:pPr>
            <a:r>
              <a:rPr sz="6000">
                <a:solidFill>
                  <a:srgbClr val="0F151A"/>
                </a:solidFill>
                <a:latin typeface="Quicksand Bold"/>
              </a:rPr>
              <a:t>Estándares y Formatos Técnicos</a:t>
            </a:r>
          </a:p>
        </p:txBody>
      </p:sp>
      <p:sp>
        <p:nvSpPr>
          <p:cNvPr id="5" name="TextBox 4"/>
          <p:cNvSpPr txBox="1"/>
          <p:nvPr/>
        </p:nvSpPr>
        <p:spPr>
          <a:xfrm>
            <a:off x="1371600" y="2838450"/>
            <a:ext cx="15544800" cy="426690"/>
          </a:xfrm>
          <a:prstGeom prst="rect">
            <a:avLst/>
          </a:prstGeom>
          <a:noFill/>
        </p:spPr>
        <p:txBody>
          <a:bodyPr wrap="square">
            <a:spAutoFit/>
          </a:bodyPr>
          <a:lstStyle/>
          <a:p>
            <a:pPr algn="l">
              <a:lnSpc>
                <a:spcPct val="126000"/>
              </a:lnSpc>
            </a:pPr>
            <a:r>
              <a:rPr sz="2400">
                <a:solidFill>
                  <a:srgbClr val="323E47"/>
                </a:solidFill>
                <a:latin typeface="Quicksand"/>
              </a:rPr>
              <a:t>Esta tabla compara formatos técnicos de datos según su nivel de apertura y descripción.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600200" y="251460"/>
            <a:ext cx="15087600" cy="4526280"/>
          </a:xfrm>
          <a:prstGeom prst="rect">
            <a:avLst/>
          </a:prstGeom>
          <a:noFill/>
        </p:spPr>
        <p:txBody>
          <a:bodyPr wrap="square">
            <a:spAutoFit/>
          </a:bodyPr>
          <a:lstStyle/>
          <a:p>
            <a:pPr algn="l"/>
            <a:r>
              <a:rPr sz="3600" b="1">
                <a:solidFill>
                  <a:srgbClr val="0F151A"/>
                </a:solidFill>
                <a:latin typeface="Calibri"/>
              </a:rPr>
              <a:t>¿Una entidad pública colombiana busca optimizar la gestión de sus activos de información para mejorar la toma de decisiones estratégicas, asegurar el cumplimiento normativo (especialmente la Ley 1712 de 2014) y promover la **transparencia activa**. ¿Cuál de las siguientes acciones representa la aproximación fundamental del *Gobierno de Datos* frente a la *Gestión de Datos* para alcanzar estos objetivos?</a:t>
            </a:r>
          </a:p>
        </p:txBody>
      </p:sp>
      <p:sp>
        <p:nvSpPr>
          <p:cNvPr id="3" name="Rounded Rectangle 2"/>
          <p:cNvSpPr/>
          <p:nvPr/>
        </p:nvSpPr>
        <p:spPr>
          <a:xfrm>
            <a:off x="1600200" y="5158740"/>
            <a:ext cx="15087600" cy="990599"/>
          </a:xfrm>
          <a:prstGeom prst="roundRect">
            <a:avLst>
              <a:gd name="adj" fmla="val 2777"/>
            </a:avLst>
          </a:prstGeom>
          <a:solidFill>
            <a:srgbClr val="EDF2FF"/>
          </a:solidFill>
          <a:ln w="25400">
            <a:solidFill>
              <a:srgbClr val="80A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905000" y="5425440"/>
            <a:ext cx="457200" cy="457200"/>
          </a:xfrm>
          <a:prstGeom prst="ellipse">
            <a:avLst/>
          </a:prstGeom>
          <a:solidFill>
            <a:srgbClr val="588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A</a:t>
            </a:r>
          </a:p>
        </p:txBody>
      </p:sp>
      <p:sp>
        <p:nvSpPr>
          <p:cNvPr id="5" name="TextBox 4"/>
          <p:cNvSpPr txBox="1"/>
          <p:nvPr/>
        </p:nvSpPr>
        <p:spPr>
          <a:xfrm>
            <a:off x="2533650" y="5311140"/>
            <a:ext cx="13849349" cy="685800"/>
          </a:xfrm>
          <a:prstGeom prst="rect">
            <a:avLst/>
          </a:prstGeom>
          <a:noFill/>
        </p:spPr>
        <p:txBody>
          <a:bodyPr wrap="square" anchor="ctr">
            <a:spAutoFit/>
          </a:bodyPr>
          <a:lstStyle/>
          <a:p>
            <a:pPr algn="l"/>
            <a:r>
              <a:rPr sz="1800">
                <a:solidFill>
                  <a:srgbClr val="0F151A"/>
                </a:solidFill>
                <a:latin typeface="Rubik"/>
              </a:rPr>
              <a:t>El desarrollo de un catálogo de metadatos detallado que documente únicamente los esquemas de bases de datos y los diccionarios de datos técnicos, sin involucrar a los usuarios de negocio.</a:t>
            </a:r>
          </a:p>
        </p:txBody>
      </p:sp>
      <p:sp>
        <p:nvSpPr>
          <p:cNvPr id="6" name="Rounded Rectangle 5"/>
          <p:cNvSpPr/>
          <p:nvPr/>
        </p:nvSpPr>
        <p:spPr>
          <a:xfrm>
            <a:off x="1600200" y="6454140"/>
            <a:ext cx="15087600" cy="990599"/>
          </a:xfrm>
          <a:prstGeom prst="roundRect">
            <a:avLst>
              <a:gd name="adj" fmla="val 2777"/>
            </a:avLst>
          </a:prstGeom>
          <a:solidFill>
            <a:srgbClr val="E2FAF8"/>
          </a:solidFill>
          <a:ln w="25400">
            <a:solidFill>
              <a:srgbClr val="77C7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905000" y="6720840"/>
            <a:ext cx="457200" cy="457200"/>
          </a:xfrm>
          <a:prstGeom prst="ellipse">
            <a:avLst/>
          </a:prstGeom>
          <a:solidFill>
            <a:srgbClr val="00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B</a:t>
            </a:r>
          </a:p>
        </p:txBody>
      </p:sp>
      <p:sp>
        <p:nvSpPr>
          <p:cNvPr id="8" name="TextBox 7"/>
          <p:cNvSpPr txBox="1"/>
          <p:nvPr/>
        </p:nvSpPr>
        <p:spPr>
          <a:xfrm>
            <a:off x="2533650" y="6606540"/>
            <a:ext cx="13849349" cy="685800"/>
          </a:xfrm>
          <a:prstGeom prst="rect">
            <a:avLst/>
          </a:prstGeom>
          <a:noFill/>
        </p:spPr>
        <p:txBody>
          <a:bodyPr wrap="square" anchor="ctr">
            <a:spAutoFit/>
          </a:bodyPr>
          <a:lstStyle/>
          <a:p>
            <a:pPr algn="l"/>
            <a:r>
              <a:rPr sz="1800">
                <a:solidFill>
                  <a:srgbClr val="0F151A"/>
                </a:solidFill>
                <a:latin typeface="Rubik"/>
              </a:rPr>
              <a:t>La creación de políticas y procedimientos para la calidad, seguridad y uso de los datos, asignando la responsabilidad primaria de su ejecución al equipo técnico de TI para la operación diaria.</a:t>
            </a:r>
          </a:p>
        </p:txBody>
      </p:sp>
      <p:sp>
        <p:nvSpPr>
          <p:cNvPr id="9" name="Rounded Rectangle 8"/>
          <p:cNvSpPr/>
          <p:nvPr/>
        </p:nvSpPr>
        <p:spPr>
          <a:xfrm>
            <a:off x="1600200" y="7749540"/>
            <a:ext cx="15087600" cy="990599"/>
          </a:xfrm>
          <a:prstGeom prst="roundRect">
            <a:avLst>
              <a:gd name="adj" fmla="val 2777"/>
            </a:avLst>
          </a:prstGeom>
          <a:solidFill>
            <a:srgbClr val="FFF7E0"/>
          </a:solidFill>
          <a:ln w="25400">
            <a:solidFill>
              <a:srgbClr val="FFC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905000" y="8016240"/>
            <a:ext cx="457200" cy="457200"/>
          </a:xfrm>
          <a:prstGeom prst="ellipse">
            <a:avLst/>
          </a:prstGeom>
          <a:solidFill>
            <a:srgbClr val="C7A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C</a:t>
            </a:r>
          </a:p>
        </p:txBody>
      </p:sp>
      <p:sp>
        <p:nvSpPr>
          <p:cNvPr id="11" name="TextBox 10"/>
          <p:cNvSpPr txBox="1"/>
          <p:nvPr/>
        </p:nvSpPr>
        <p:spPr>
          <a:xfrm>
            <a:off x="2533650" y="7901940"/>
            <a:ext cx="13849349" cy="685800"/>
          </a:xfrm>
          <a:prstGeom prst="rect">
            <a:avLst/>
          </a:prstGeom>
          <a:noFill/>
        </p:spPr>
        <p:txBody>
          <a:bodyPr wrap="square" anchor="ctr">
            <a:spAutoFit/>
          </a:bodyPr>
          <a:lstStyle/>
          <a:p>
            <a:pPr algn="l"/>
            <a:r>
              <a:rPr sz="1800">
                <a:solidFill>
                  <a:srgbClr val="0F151A"/>
                </a:solidFill>
                <a:latin typeface="Rubik"/>
              </a:rPr>
              <a:t>El establecimiento de marcos de decisión, roles y responsabilidades para definir, controlar y auditar la estrategia global del dato, garantizando su valor para el negocio y su disponibilidad pública.</a:t>
            </a:r>
          </a:p>
        </p:txBody>
      </p:sp>
      <p:sp>
        <p:nvSpPr>
          <p:cNvPr id="12" name="Rounded Rectangle 11"/>
          <p:cNvSpPr/>
          <p:nvPr/>
        </p:nvSpPr>
        <p:spPr>
          <a:xfrm>
            <a:off x="1600200" y="9044940"/>
            <a:ext cx="15087600" cy="990599"/>
          </a:xfrm>
          <a:prstGeom prst="roundRect">
            <a:avLst>
              <a:gd name="adj" fmla="val 2777"/>
            </a:avLst>
          </a:prstGeom>
          <a:solidFill>
            <a:srgbClr val="FFEDE0"/>
          </a:solidFill>
          <a:ln w="25400">
            <a:solidFill>
              <a:srgbClr val="FA7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05000" y="9311640"/>
            <a:ext cx="457200" cy="457200"/>
          </a:xfrm>
          <a:prstGeom prst="ellipse">
            <a:avLst/>
          </a:prstGeom>
          <a:solidFill>
            <a:srgbClr val="FA7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D</a:t>
            </a:r>
          </a:p>
        </p:txBody>
      </p:sp>
      <p:sp>
        <p:nvSpPr>
          <p:cNvPr id="14" name="TextBox 13"/>
          <p:cNvSpPr txBox="1"/>
          <p:nvPr/>
        </p:nvSpPr>
        <p:spPr>
          <a:xfrm>
            <a:off x="2533650" y="9197340"/>
            <a:ext cx="13849349" cy="685800"/>
          </a:xfrm>
          <a:prstGeom prst="rect">
            <a:avLst/>
          </a:prstGeom>
          <a:noFill/>
        </p:spPr>
        <p:txBody>
          <a:bodyPr wrap="square" anchor="ctr">
            <a:spAutoFit/>
          </a:bodyPr>
          <a:lstStyle/>
          <a:p>
            <a:pPr algn="l"/>
            <a:r>
              <a:rPr sz="1800">
                <a:solidFill>
                  <a:srgbClr val="0F151A"/>
                </a:solidFill>
                <a:latin typeface="Rubik"/>
              </a:rPr>
              <a:t>La implementación de un sistema ETL (Extracción, Transformación y Carga) para integrar datos de diversas fuentes operacionales, priorizando la eficiencia técnica en el flujo de información.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2476499" y="1904999"/>
            <a:ext cx="13334999" cy="822870"/>
          </a:xfrm>
          <a:prstGeom prst="rect">
            <a:avLst/>
          </a:prstGeom>
          <a:noFill/>
        </p:spPr>
        <p:txBody>
          <a:bodyPr wrap="square">
            <a:spAutoFit/>
          </a:bodyPr>
          <a:lstStyle/>
          <a:p>
            <a:pPr algn="l">
              <a:lnSpc>
                <a:spcPct val="108000"/>
              </a:lnSpc>
            </a:pPr>
            <a:r>
              <a:rPr sz="5400">
                <a:solidFill>
                  <a:srgbClr val="323E47"/>
                </a:solidFill>
                <a:latin typeface="Quicksand Bold"/>
              </a:rPr>
              <a:t>Privacidad vs. Transparencia Total</a:t>
            </a:r>
          </a:p>
        </p:txBody>
      </p:sp>
      <p:sp>
        <p:nvSpPr>
          <p:cNvPr id="5" name="TextBox 4"/>
          <p:cNvSpPr txBox="1"/>
          <p:nvPr/>
        </p:nvSpPr>
        <p:spPr>
          <a:xfrm>
            <a:off x="2476499" y="2918370"/>
            <a:ext cx="13334999" cy="2133599"/>
          </a:xfrm>
          <a:prstGeom prst="rect">
            <a:avLst/>
          </a:prstGeom>
          <a:noFill/>
        </p:spPr>
        <p:txBody>
          <a:bodyPr wrap="square">
            <a:spAutoFit/>
          </a:bodyPr>
          <a:lstStyle/>
          <a:p>
            <a:pPr algn="l">
              <a:lnSpc>
                <a:spcPct val="126000"/>
              </a:lnSpc>
            </a:pPr>
            <a:r>
              <a:rPr sz="3000">
                <a:solidFill>
                  <a:srgbClr val="323E47"/>
                </a:solidFill>
                <a:latin typeface="Quicksand"/>
              </a:rPr>
              <a:t>¿Cómo equilibra el Estado colombiano la transparencia constitucional y los datos abiertos con el derecho fundamental al Habeas Data? Reflexionemos sobre casos donde la apertura de datos de contratación o salud podría vulnerar la seguridad o privacidad individual.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371600" y="1695449"/>
            <a:ext cx="6248400" cy="1005780"/>
          </a:xfrm>
          <a:prstGeom prst="rect">
            <a:avLst/>
          </a:prstGeom>
          <a:noFill/>
        </p:spPr>
        <p:txBody>
          <a:bodyPr wrap="square">
            <a:spAutoFit/>
          </a:bodyPr>
          <a:lstStyle/>
          <a:p>
            <a:pPr algn="l">
              <a:lnSpc>
                <a:spcPct val="99000"/>
              </a:lnSpc>
            </a:pPr>
            <a:r>
              <a:rPr sz="7200">
                <a:solidFill>
                  <a:srgbClr val="0F151A"/>
                </a:solidFill>
                <a:latin typeface="Quicksand Bold"/>
              </a:rPr>
              <a:t>Conclusión</a:t>
            </a:r>
          </a:p>
        </p:txBody>
      </p:sp>
      <p:sp>
        <p:nvSpPr>
          <p:cNvPr id="4" name="TextBox 3"/>
          <p:cNvSpPr txBox="1"/>
          <p:nvPr/>
        </p:nvSpPr>
        <p:spPr>
          <a:xfrm>
            <a:off x="7619999" y="1585912"/>
            <a:ext cx="9391649" cy="7115175"/>
          </a:xfrm>
          <a:prstGeom prst="rect">
            <a:avLst/>
          </a:prstGeom>
          <a:noFill/>
        </p:spPr>
        <p:txBody>
          <a:bodyPr wrap="square">
            <a:spAutoFit/>
          </a:bodyPr>
          <a:lstStyle/>
          <a:p>
            <a:pPr algn="l">
              <a:buChar char="•"/>
            </a:pPr>
            <a:r>
              <a:rPr sz="3000">
                <a:latin typeface="Quicksand"/>
              </a:rPr>
              <a:t>  </a:t>
            </a:r>
            <a:r>
              <a:rPr sz="3000">
                <a:solidFill>
                  <a:srgbClr val="323E47"/>
                </a:solidFill>
                <a:latin typeface="Quicksand"/>
              </a:rPr>
              <a:t>El Gobierno de Datos establece la autoridad y control sobre los activos de datos, asegurando su calidad (exactitud, completitud) y seguridad.</a:t>
            </a:r>
          </a:p>
          <a:p>
            <a:pPr algn="l">
              <a:lnSpc>
                <a:spcPct val="126000"/>
              </a:lnSpc>
              <a:spcBef>
                <a:spcPts val="1875"/>
              </a:spcBef>
              <a:buChar char="•"/>
            </a:pPr>
            <a:r>
              <a:rPr sz="3000">
                <a:latin typeface="Quicksand"/>
              </a:rPr>
              <a:t>  </a:t>
            </a:r>
            <a:r>
              <a:rPr sz="3000">
                <a:solidFill>
                  <a:srgbClr val="323E47"/>
                </a:solidFill>
                <a:latin typeface="Quicksand"/>
              </a:rPr>
              <a:t>Colombia ha avanzado con leyes como la 1712 de 2014 y el CONPES 3920 de 2018, posicionándose en la región.</a:t>
            </a:r>
          </a:p>
          <a:p>
            <a:pPr algn="l">
              <a:lnSpc>
                <a:spcPct val="126000"/>
              </a:lnSpc>
              <a:spcBef>
                <a:spcPts val="1875"/>
              </a:spcBef>
              <a:buChar char="•"/>
            </a:pPr>
            <a:r>
              <a:rPr sz="3000">
                <a:latin typeface="Quicksand"/>
              </a:rPr>
              <a:t>  </a:t>
            </a:r>
            <a:r>
              <a:rPr sz="3000">
                <a:solidFill>
                  <a:srgbClr val="323E47"/>
                </a:solidFill>
                <a:latin typeface="Quicksand"/>
              </a:rPr>
              <a:t>Los Datos Abiertos fomentan la transparencia y el desarrollo inclusivo, con más de 15,000 datasets publicados en datos.gov.co.</a:t>
            </a:r>
          </a:p>
          <a:p>
            <a:pPr algn="l">
              <a:lnSpc>
                <a:spcPct val="126000"/>
              </a:lnSpc>
              <a:spcBef>
                <a:spcPts val="1875"/>
              </a:spcBef>
              <a:buChar char="•"/>
            </a:pPr>
            <a:r>
              <a:rPr sz="3000">
                <a:latin typeface="Quicksand"/>
              </a:rPr>
              <a:t>  </a:t>
            </a:r>
            <a:r>
              <a:rPr sz="3000">
                <a:solidFill>
                  <a:srgbClr val="323E47"/>
                </a:solidFill>
                <a:latin typeface="Quicksand"/>
              </a:rPr>
              <a:t>La interoperabilidad semántica, técnica y organizacional es clave para un "Estado como Plataforma", optimizando el flujo de información.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1798</Words>
  <Application>Microsoft Office PowerPoint</Application>
  <PresentationFormat>Personalizado</PresentationFormat>
  <Paragraphs>153</Paragraphs>
  <Slides>21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Calibri</vt:lpstr>
      <vt:lpstr>Arial</vt:lpstr>
      <vt:lpstr>Gill Sans MT</vt:lpstr>
      <vt:lpstr>Quicksand Bold</vt:lpstr>
      <vt:lpstr>Quicksand</vt:lpstr>
      <vt:lpstr>Times New Roman</vt:lpstr>
      <vt:lpstr>Rubik</vt:lpstr>
      <vt:lpstr>Office Theme</vt:lpstr>
      <vt:lpstr>Gobierno de Datos y Gobernanza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Datos y Gobernanza </dc:title>
  <dc:subject/>
  <dc:creator/>
  <cp:keywords/>
  <cp:lastModifiedBy>José Ramon Iglesias Gamarra</cp:lastModifiedBy>
  <cp:revision>3</cp:revision>
  <dcterms:created xsi:type="dcterms:W3CDTF">2013-01-27T09:14:16Z</dcterms:created>
  <dcterms:modified xsi:type="dcterms:W3CDTF">2026-05-27T14:35:59Z</dcterms:modified>
  <cp:category/>
</cp:coreProperties>
</file>