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84"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8288000" cy="10287000"/>
  <p:notesSz cx="6858000" cy="9144000"/>
  <p:embeddedFontLst>
    <p:embeddedFont>
      <p:font typeface="Calibri" panose="020F0502020204030204" pitchFamily="34" charset="0"/>
      <p:regular r:id="rId31"/>
      <p:bold r:id="rId32"/>
      <p:italic r:id="rId33"/>
      <p:boldItalic r:id="rId34"/>
    </p:embeddedFont>
    <p:embeddedFont>
      <p:font typeface="Gill Sans MT" panose="020B0502020104020203" pitchFamily="34" charset="0"/>
      <p:regular r:id="rId35"/>
      <p:bold r:id="rId36"/>
      <p:italic r:id="rId37"/>
      <p:boldItalic r:id="rId38"/>
    </p:embeddedFont>
    <p:embeddedFont>
      <p:font typeface="Quicksand" panose="020B0604020202020204" charset="0"/>
      <p:regular r:id="rId39"/>
    </p:embeddedFont>
    <p:embeddedFont>
      <p:font typeface="Quicksand Bold" panose="020B0604020202020204" charset="0"/>
      <p:regular r:id="rId40"/>
    </p:embeddedFont>
    <p:embeddedFont>
      <p:font typeface="Rubik" panose="020B0604020202020204" charset="-79"/>
      <p:regular r:id="rId41"/>
    </p:embeddedFont>
    <p:embeddedFont>
      <p:font typeface="Rubik Italic" panose="020B0604020202020204" charset="-79"/>
      <p:regular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3" d="100"/>
          <a:sy n="43" d="100"/>
        </p:scale>
        <p:origin x="93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6292CB-8D64-48C9-B40E-42A1DFBC31DC}" type="datetimeFigureOut">
              <a:rPr lang="es-CO" smtClean="0"/>
              <a:t>27/05/2026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4849A7-8021-4EB2-91F7-13574AE9EF53}" type="slidenum">
              <a:rPr lang="es-CO" smtClean="0"/>
              <a:t>‹Nº›</a:t>
            </a:fld>
            <a:endParaRPr lang="es-CO"/>
          </a:p>
        </p:txBody>
      </p:sp>
    </p:spTree>
    <p:extLst>
      <p:ext uri="{BB962C8B-B14F-4D97-AF65-F5344CB8AC3E}">
        <p14:creationId xmlns:p14="http://schemas.microsoft.com/office/powerpoint/2010/main" val="2286927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a2604522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a2604522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pic>
        <p:nvPicPr>
          <p:cNvPr id="7" name="Google Shape;30;p1">
            <a:extLst>
              <a:ext uri="{FF2B5EF4-FFF2-40B4-BE49-F238E27FC236}">
                <a16:creationId xmlns:a16="http://schemas.microsoft.com/office/drawing/2014/main" id="{B43D71AE-7D90-57C2-2A57-B99D30F29DDE}"/>
              </a:ext>
            </a:extLst>
          </p:cNvPr>
          <p:cNvPicPr preferRelativeResize="0"/>
          <p:nvPr userDrawn="1"/>
        </p:nvPicPr>
        <p:blipFill rotWithShape="1">
          <a:blip r:embed="rId13">
            <a:alphaModFix/>
          </a:blip>
          <a:srcRect/>
          <a:stretch/>
        </p:blipFill>
        <p:spPr>
          <a:xfrm>
            <a:off x="10871201" y="487640"/>
            <a:ext cx="3889210" cy="1381799"/>
          </a:xfrm>
          <a:prstGeom prst="rect">
            <a:avLst/>
          </a:prstGeom>
          <a:noFill/>
          <a:ln>
            <a:noFill/>
          </a:ln>
        </p:spPr>
      </p:pic>
      <p:sp>
        <p:nvSpPr>
          <p:cNvPr id="8" name="TextBox 7">
            <a:extLst>
              <a:ext uri="{FF2B5EF4-FFF2-40B4-BE49-F238E27FC236}">
                <a16:creationId xmlns:a16="http://schemas.microsoft.com/office/drawing/2014/main" id="{4FE1C3D9-5F02-C01E-B70F-90EBB076E09B}"/>
              </a:ext>
            </a:extLst>
          </p:cNvPr>
          <p:cNvSpPr txBox="1"/>
          <p:nvPr userDrawn="1"/>
        </p:nvSpPr>
        <p:spPr>
          <a:xfrm>
            <a:off x="11348996" y="1915956"/>
            <a:ext cx="5983964" cy="369332"/>
          </a:xfrm>
          <a:prstGeom prst="rect">
            <a:avLst/>
          </a:prstGeom>
          <a:noFill/>
        </p:spPr>
        <p:txBody>
          <a:bodyPr wrap="square" rtlCol="0">
            <a:spAutoFit/>
          </a:bodyPr>
          <a:lstStyle/>
          <a:p>
            <a:pPr defTabSz="514350"/>
            <a:r>
              <a:rPr lang="en-US" sz="1800" dirty="0" err="1">
                <a:latin typeface="Gill Sans MT" panose="020B0502020104020203" pitchFamily="34" charset="77"/>
              </a:rPr>
              <a:t>Inteligencia</a:t>
            </a:r>
            <a:r>
              <a:rPr lang="en-US" sz="1800" dirty="0">
                <a:latin typeface="Gill Sans MT" panose="020B0502020104020203" pitchFamily="34" charset="77"/>
              </a:rPr>
              <a:t> Artificial en las </a:t>
            </a:r>
            <a:r>
              <a:rPr lang="en-US" sz="1800" dirty="0" err="1">
                <a:latin typeface="Gill Sans MT" panose="020B0502020104020203" pitchFamily="34" charset="77"/>
              </a:rPr>
              <a:t>Energías</a:t>
            </a:r>
            <a:r>
              <a:rPr lang="en-US" sz="1800" dirty="0">
                <a:latin typeface="Gill Sans MT" panose="020B0502020104020203" pitchFamily="34" charset="77"/>
              </a:rPr>
              <a:t> </a:t>
            </a:r>
            <a:r>
              <a:rPr lang="en-US" sz="1800" dirty="0" err="1">
                <a:latin typeface="Gill Sans MT" panose="020B0502020104020203" pitchFamily="34" charset="77"/>
              </a:rPr>
              <a:t>Renovables</a:t>
            </a:r>
            <a:endParaRPr lang="en-US" sz="1800" dirty="0">
              <a:latin typeface="Gill Sans MT" panose="020B0502020104020203" pitchFamily="34" charset="77"/>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651153" y="3021189"/>
            <a:ext cx="14560610" cy="2082802"/>
          </a:xfrm>
          <a:prstGeom prst="rect">
            <a:avLst/>
          </a:prstGeom>
        </p:spPr>
        <p:txBody>
          <a:bodyPr spcFirstLastPara="1" vert="horz" wrap="square" lIns="182850" tIns="182850" rIns="182850" bIns="182850" rtlCol="0" anchor="ctr" anchorCtr="0">
            <a:noAutofit/>
          </a:bodyPr>
          <a:lstStyle/>
          <a:p>
            <a:pPr>
              <a:spcBef>
                <a:spcPts val="0"/>
              </a:spcBef>
            </a:pPr>
            <a:r>
              <a:rPr lang="en" dirty="0">
                <a:ln w="0">
                  <a:solidFill>
                    <a:schemeClr val="accent1">
                      <a:lumMod val="50000"/>
                    </a:schemeClr>
                  </a:solidFill>
                </a:ln>
                <a:solidFill>
                  <a:sysClr val="windowText" lastClr="000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Gobierno Digital para la Transición Energética</a:t>
            </a:r>
            <a:br>
              <a:rPr lang="en" dirty="0">
                <a:ln w="0">
                  <a:solidFill>
                    <a:schemeClr val="accent1">
                      <a:lumMod val="50000"/>
                    </a:schemeClr>
                  </a:solidFill>
                </a:ln>
                <a:solidFill>
                  <a:sysClr val="windowText" lastClr="000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br>
            <a:endParaRPr dirty="0">
              <a:ln w="0">
                <a:solidFill>
                  <a:schemeClr val="accent1">
                    <a:lumMod val="50000"/>
                  </a:schemeClr>
                </a:solidFill>
              </a:ln>
              <a:solidFill>
                <a:sysClr val="windowText" lastClr="000000"/>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
        <p:nvSpPr>
          <p:cNvPr id="5" name="TextBox 8">
            <a:extLst>
              <a:ext uri="{FF2B5EF4-FFF2-40B4-BE49-F238E27FC236}">
                <a16:creationId xmlns:a16="http://schemas.microsoft.com/office/drawing/2014/main" id="{787C5CA5-58B7-1323-F065-2F33655A4429}"/>
              </a:ext>
            </a:extLst>
          </p:cNvPr>
          <p:cNvSpPr txBox="1"/>
          <p:nvPr/>
        </p:nvSpPr>
        <p:spPr>
          <a:xfrm>
            <a:off x="3327636" y="5779361"/>
            <a:ext cx="5009128" cy="2331407"/>
          </a:xfrm>
          <a:prstGeom prst="rect">
            <a:avLst/>
          </a:prstGeom>
          <a:noFill/>
        </p:spPr>
        <p:txBody>
          <a:bodyPr wrap="none" rtlCol="0">
            <a:spAutoFit/>
          </a:bodyPr>
          <a:lstStyle/>
          <a:p>
            <a:pPr defTabSz="1028700"/>
            <a:r>
              <a:rPr lang="en-US" sz="4050" dirty="0">
                <a:latin typeface="Gill Sans MT" panose="020B0502020104020203" pitchFamily="34" charset="77"/>
              </a:rPr>
              <a:t>Dr. José Ramón Iglesias</a:t>
            </a:r>
          </a:p>
          <a:p>
            <a:pPr defTabSz="1028700"/>
            <a:r>
              <a:rPr lang="en-US" sz="2100" dirty="0">
                <a:solidFill>
                  <a:prstClr val="white">
                    <a:lumMod val="50000"/>
                  </a:prstClr>
                </a:solidFill>
                <a:latin typeface="Gill Sans MT" panose="020B0502020104020203" pitchFamily="34" charset="77"/>
              </a:rPr>
              <a:t>DSP-ASIC BUILDER GROUP</a:t>
            </a:r>
          </a:p>
          <a:p>
            <a:pPr defTabSz="1028700"/>
            <a:r>
              <a:rPr lang="en-US" sz="2100" dirty="0">
                <a:solidFill>
                  <a:prstClr val="white">
                    <a:lumMod val="50000"/>
                  </a:prstClr>
                </a:solidFill>
                <a:latin typeface="Gill Sans MT" panose="020B0502020104020203" pitchFamily="34" charset="77"/>
              </a:rPr>
              <a:t>Director Semillero TRIAC</a:t>
            </a:r>
          </a:p>
          <a:p>
            <a:pPr defTabSz="1028700"/>
            <a:r>
              <a:rPr lang="en-US" sz="2100" dirty="0">
                <a:solidFill>
                  <a:prstClr val="white">
                    <a:lumMod val="50000"/>
                  </a:prstClr>
                </a:solidFill>
                <a:latin typeface="Gill Sans MT" panose="020B0502020104020203" pitchFamily="34" charset="77"/>
              </a:rPr>
              <a:t>Ingenieria Electronica</a:t>
            </a:r>
          </a:p>
          <a:p>
            <a:pPr defTabSz="1028700"/>
            <a:r>
              <a:rPr lang="en-US" sz="2100" dirty="0">
                <a:solidFill>
                  <a:prstClr val="white">
                    <a:lumMod val="50000"/>
                  </a:prstClr>
                </a:solidFill>
                <a:latin typeface="Gill Sans MT" panose="020B0502020104020203" pitchFamily="34" charset="77"/>
              </a:rPr>
              <a:t>Universidad Popular del Cesar</a:t>
            </a:r>
          </a:p>
          <a:p>
            <a:pPr defTabSz="1028700"/>
            <a:endParaRPr lang="en-US" sz="2100" dirty="0">
              <a:solidFill>
                <a:prstClr val="white">
                  <a:lumMod val="50000"/>
                </a:prstClr>
              </a:solidFill>
              <a:latin typeface="Gill Sans MT" panose="020B0502020104020203"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rot="120000">
            <a:off x="4546568" y="3915667"/>
            <a:ext cx="9309163" cy="5200650"/>
          </a:xfrm>
          <a:prstGeom prst="roundRect">
            <a:avLst>
              <a:gd name="adj" fmla="val 2777"/>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79d1db1e-7734-474e-be2b-5187aca20a31.jpg"/>
          <p:cNvPicPr>
            <a:picLocks noChangeAspect="1"/>
          </p:cNvPicPr>
          <p:nvPr/>
        </p:nvPicPr>
        <p:blipFill>
          <a:blip r:embed="rId2"/>
          <a:stretch>
            <a:fillRect/>
          </a:stretch>
        </p:blipFill>
        <p:spPr>
          <a:xfrm rot="21480000">
            <a:off x="4432268" y="4125217"/>
            <a:ext cx="9309163" cy="5200650"/>
          </a:xfrm>
          <a:prstGeom prst="rect">
            <a:avLst/>
          </a:prstGeom>
        </p:spPr>
      </p:pic>
      <p:pic>
        <p:nvPicPr>
          <p:cNvPr id="4" name="Picture 3" descr="f2910af4-cf7a-45ff-9b29-667e4941fc32.png"/>
          <p:cNvPicPr>
            <a:picLocks noChangeAspect="1"/>
          </p:cNvPicPr>
          <p:nvPr/>
        </p:nvPicPr>
        <p:blipFill>
          <a:blip r:embed="rId3"/>
          <a:stretch>
            <a:fillRect/>
          </a:stretch>
        </p:blipFill>
        <p:spPr>
          <a:xfrm>
            <a:off x="8353424" y="3820417"/>
            <a:ext cx="1581149" cy="380999"/>
          </a:xfrm>
          <a:prstGeom prst="rect">
            <a:avLst/>
          </a:prstGeom>
        </p:spPr>
      </p:pic>
      <p:sp>
        <p:nvSpPr>
          <p:cNvPr id="6" name="TextBox 5"/>
          <p:cNvSpPr txBox="1"/>
          <p:nvPr/>
        </p:nvSpPr>
        <p:spPr>
          <a:xfrm>
            <a:off x="1285875" y="961132"/>
            <a:ext cx="15716250" cy="2010623"/>
          </a:xfrm>
          <a:prstGeom prst="rect">
            <a:avLst/>
          </a:prstGeom>
          <a:noFill/>
        </p:spPr>
        <p:txBody>
          <a:bodyPr wrap="square">
            <a:spAutoFit/>
          </a:bodyPr>
          <a:lstStyle/>
          <a:p>
            <a:pPr algn="ctr">
              <a:lnSpc>
                <a:spcPct val="99000"/>
              </a:lnSpc>
            </a:pPr>
            <a:r>
              <a:rPr sz="7200">
                <a:solidFill>
                  <a:srgbClr val="0F151A"/>
                </a:solidFill>
                <a:latin typeface="Quicksand Bold"/>
              </a:rPr>
              <a:t>Gobierno Digital para la Transición Energética</a:t>
            </a:r>
          </a:p>
        </p:txBody>
      </p:sp>
      <p:sp>
        <p:nvSpPr>
          <p:cNvPr id="7" name="TextBox 6"/>
          <p:cNvSpPr txBox="1"/>
          <p:nvPr/>
        </p:nvSpPr>
        <p:spPr>
          <a:xfrm>
            <a:off x="1285875" y="3086992"/>
            <a:ext cx="15716250" cy="456917"/>
          </a:xfrm>
          <a:prstGeom prst="rect">
            <a:avLst/>
          </a:prstGeom>
          <a:noFill/>
        </p:spPr>
        <p:txBody>
          <a:bodyPr wrap="square">
            <a:spAutoFit/>
          </a:bodyPr>
          <a:lstStyle/>
          <a:p>
            <a:pPr algn="ctr">
              <a:lnSpc>
                <a:spcPct val="108000"/>
              </a:lnSpc>
            </a:pPr>
            <a:r>
              <a:rPr sz="3000">
                <a:solidFill>
                  <a:srgbClr val="0F151A"/>
                </a:solidFill>
                <a:latin typeface="Quicksand"/>
              </a:rPr>
              <a:t>Acelerando la descarbonización mediante innovación y eficiencia digital en Colombia.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371600" y="1695449"/>
            <a:ext cx="7486650" cy="1005780"/>
          </a:xfrm>
          <a:prstGeom prst="rect">
            <a:avLst/>
          </a:prstGeom>
          <a:noFill/>
        </p:spPr>
        <p:txBody>
          <a:bodyPr wrap="square">
            <a:spAutoFit/>
          </a:bodyPr>
          <a:lstStyle/>
          <a:p>
            <a:pPr algn="l">
              <a:lnSpc>
                <a:spcPct val="99000"/>
              </a:lnSpc>
            </a:pPr>
            <a:r>
              <a:rPr sz="7200">
                <a:solidFill>
                  <a:srgbClr val="0F151A"/>
                </a:solidFill>
                <a:latin typeface="Quicksand Bold"/>
              </a:rPr>
              <a:t>Índice</a:t>
            </a:r>
          </a:p>
        </p:txBody>
      </p:sp>
      <p:sp>
        <p:nvSpPr>
          <p:cNvPr id="4" name="TextBox 3"/>
          <p:cNvSpPr txBox="1"/>
          <p:nvPr/>
        </p:nvSpPr>
        <p:spPr>
          <a:xfrm>
            <a:off x="9334499" y="2000250"/>
            <a:ext cx="7248525" cy="6286500"/>
          </a:xfrm>
          <a:prstGeom prst="rect">
            <a:avLst/>
          </a:prstGeom>
          <a:noFill/>
        </p:spPr>
        <p:txBody>
          <a:bodyPr wrap="square">
            <a:spAutoFit/>
          </a:bodyPr>
          <a:lstStyle/>
          <a:p>
            <a:pPr algn="l">
              <a:buChar char="•"/>
            </a:pPr>
            <a:r>
              <a:rPr sz="3000">
                <a:latin typeface="Quicksand"/>
              </a:rPr>
              <a:t>  </a:t>
            </a:r>
            <a:r>
              <a:rPr sz="3000">
                <a:solidFill>
                  <a:srgbClr val="323E47"/>
                </a:solidFill>
                <a:latin typeface="Quicksand"/>
              </a:rPr>
              <a:t>La Doble Transición: Digitalización y Descarbonización</a:t>
            </a:r>
          </a:p>
          <a:p>
            <a:pPr algn="l">
              <a:lnSpc>
                <a:spcPct val="126000"/>
              </a:lnSpc>
              <a:spcBef>
                <a:spcPts val="1875"/>
              </a:spcBef>
              <a:buChar char="•"/>
            </a:pPr>
            <a:r>
              <a:rPr sz="3000">
                <a:latin typeface="Quicksand"/>
              </a:rPr>
              <a:t>  </a:t>
            </a:r>
            <a:r>
              <a:rPr sz="3000">
                <a:solidFill>
                  <a:srgbClr val="323E47"/>
                </a:solidFill>
                <a:latin typeface="Quicksand"/>
              </a:rPr>
              <a:t>Marco de Gobierno Digital y Sinergia Energética</a:t>
            </a:r>
          </a:p>
          <a:p>
            <a:pPr algn="l">
              <a:lnSpc>
                <a:spcPct val="126000"/>
              </a:lnSpc>
              <a:spcBef>
                <a:spcPts val="1875"/>
              </a:spcBef>
              <a:buChar char="•"/>
            </a:pPr>
            <a:r>
              <a:rPr sz="3000">
                <a:latin typeface="Quicksand"/>
              </a:rPr>
              <a:t>  </a:t>
            </a:r>
            <a:r>
              <a:rPr sz="3000">
                <a:solidFill>
                  <a:srgbClr val="323E47"/>
                </a:solidFill>
                <a:latin typeface="Quicksand"/>
              </a:rPr>
              <a:t>Metas 2030, AMI y Estrategia de Datos Abiertos</a:t>
            </a:r>
          </a:p>
          <a:p>
            <a:pPr algn="l">
              <a:lnSpc>
                <a:spcPct val="126000"/>
              </a:lnSpc>
              <a:spcBef>
                <a:spcPts val="1875"/>
              </a:spcBef>
              <a:buChar char="•"/>
            </a:pPr>
            <a:r>
              <a:rPr sz="3000">
                <a:latin typeface="Quicksand"/>
              </a:rPr>
              <a:t>  </a:t>
            </a:r>
            <a:r>
              <a:rPr sz="3000">
                <a:solidFill>
                  <a:srgbClr val="323E47"/>
                </a:solidFill>
                <a:latin typeface="Quicksand"/>
              </a:rPr>
              <a:t>Seguridad, Gobernanza y Analítica Avanzada</a:t>
            </a:r>
          </a:p>
          <a:p>
            <a:pPr algn="l">
              <a:lnSpc>
                <a:spcPct val="126000"/>
              </a:lnSpc>
              <a:spcBef>
                <a:spcPts val="1875"/>
              </a:spcBef>
              <a:buChar char="•"/>
            </a:pPr>
            <a:r>
              <a:rPr sz="3000">
                <a:latin typeface="Quicksand"/>
              </a:rPr>
              <a:t>  </a:t>
            </a:r>
            <a:r>
              <a:rPr sz="3000">
                <a:solidFill>
                  <a:srgbClr val="323E47"/>
                </a:solidFill>
                <a:latin typeface="Quicksand"/>
              </a:rPr>
              <a:t>Blockchain, Sandboxes y Casos Prácticos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20b21bb8-05ad-4c59-8b94-e4ae7778e320.png"/>
          <p:cNvPicPr>
            <a:picLocks noChangeAspect="1"/>
          </p:cNvPicPr>
          <p:nvPr/>
        </p:nvPicPr>
        <p:blipFill>
          <a:blip r:embed="rId2"/>
          <a:stretch>
            <a:fillRect/>
          </a:stretch>
        </p:blipFill>
        <p:spPr>
          <a:xfrm>
            <a:off x="9782175" y="1276350"/>
            <a:ext cx="7734299" cy="7734299"/>
          </a:xfrm>
          <a:prstGeom prst="rect">
            <a:avLst/>
          </a:prstGeom>
        </p:spPr>
      </p:pic>
      <p:sp>
        <p:nvSpPr>
          <p:cNvPr id="4" name="TextBox 3"/>
          <p:cNvSpPr txBox="1"/>
          <p:nvPr/>
        </p:nvSpPr>
        <p:spPr>
          <a:xfrm>
            <a:off x="1285875" y="1276350"/>
            <a:ext cx="8039099" cy="754260"/>
          </a:xfrm>
          <a:prstGeom prst="rect">
            <a:avLst/>
          </a:prstGeom>
          <a:noFill/>
        </p:spPr>
        <p:txBody>
          <a:bodyPr wrap="square">
            <a:spAutoFit/>
          </a:bodyPr>
          <a:lstStyle/>
          <a:p>
            <a:pPr algn="l">
              <a:lnSpc>
                <a:spcPct val="99000"/>
              </a:lnSpc>
            </a:pPr>
            <a:r>
              <a:rPr sz="5400">
                <a:solidFill>
                  <a:srgbClr val="0F151A"/>
                </a:solidFill>
                <a:latin typeface="Quicksand Bold"/>
              </a:rPr>
              <a:t>La Doble Transición</a:t>
            </a:r>
          </a:p>
        </p:txBody>
      </p:sp>
      <p:sp>
        <p:nvSpPr>
          <p:cNvPr id="5" name="TextBox 4"/>
          <p:cNvSpPr txBox="1"/>
          <p:nvPr/>
        </p:nvSpPr>
        <p:spPr>
          <a:xfrm>
            <a:off x="1285875" y="2335410"/>
            <a:ext cx="8039099" cy="4693592"/>
          </a:xfrm>
          <a:prstGeom prst="rect">
            <a:avLst/>
          </a:prstGeom>
          <a:noFill/>
        </p:spPr>
        <p:txBody>
          <a:bodyPr wrap="square">
            <a:spAutoFit/>
          </a:bodyPr>
          <a:lstStyle/>
          <a:p>
            <a:pPr algn="l">
              <a:lnSpc>
                <a:spcPct val="126000"/>
              </a:lnSpc>
            </a:pPr>
            <a:r>
              <a:rPr sz="2400">
                <a:solidFill>
                  <a:srgbClr val="323E47"/>
                </a:solidFill>
                <a:latin typeface="Quicksand"/>
              </a:rPr>
              <a:t>La convergencia entre la </a:t>
            </a:r>
            <a:r>
              <a:rPr sz="2400">
                <a:solidFill>
                  <a:srgbClr val="323E47"/>
                </a:solidFill>
                <a:latin typeface="Quicksand Bold"/>
              </a:rPr>
              <a:t>digitalización</a:t>
            </a:r>
            <a:r>
              <a:rPr sz="2400">
                <a:solidFill>
                  <a:srgbClr val="323E47"/>
                </a:solidFill>
                <a:latin typeface="Quicksand"/>
              </a:rPr>
              <a:t> y la </a:t>
            </a:r>
            <a:r>
              <a:rPr sz="2400">
                <a:solidFill>
                  <a:srgbClr val="323E47"/>
                </a:solidFill>
                <a:latin typeface="Quicksand Bold"/>
              </a:rPr>
              <a:t>descarbonización</a:t>
            </a:r>
            <a:r>
              <a:rPr sz="2400">
                <a:solidFill>
                  <a:srgbClr val="323E47"/>
                </a:solidFill>
                <a:latin typeface="Quicksand"/>
              </a:rPr>
              <a:t> define la agenda global. Este concepto, la 'Twin Transition', postula que no es posible alcanzar metas de sostenibilidad sin una infraestructura digital robusta. En Colombia, implica modernizar el Estado para gestionar una matriz energética más compleja y descentralizada. Los ejes fundamentales son: descarbonización (reducción de emisiones con FNCER), digitalización (optimización de oferta y demanda con TI) y descentralización (empoderamiento de actores locales y prosumidores).</a:t>
            </a:r>
          </a:p>
        </p:txBody>
      </p:sp>
      <p:sp>
        <p:nvSpPr>
          <p:cNvPr id="6" name="TextBox 5"/>
          <p:cNvSpPr txBox="1"/>
          <p:nvPr/>
        </p:nvSpPr>
        <p:spPr>
          <a:xfrm>
            <a:off x="9782175" y="9067800"/>
            <a:ext cx="7734299" cy="214312"/>
          </a:xfrm>
          <a:prstGeom prst="rect">
            <a:avLst/>
          </a:prstGeom>
          <a:noFill/>
        </p:spPr>
        <p:txBody>
          <a:bodyPr wrap="square">
            <a:spAutoFit/>
          </a:bodyPr>
          <a:lstStyle/>
          <a:p>
            <a:pPr algn="l">
              <a:lnSpc>
                <a:spcPct val="112500"/>
              </a:lnSpc>
            </a:pPr>
            <a:r>
              <a:rPr sz="1350">
                <a:solidFill>
                  <a:srgbClr val="323E47"/>
                </a:solidFill>
                <a:latin typeface="Quicksand"/>
              </a:rPr>
              <a:t>Bioética digital: integrando tecnología, sociedad y medio ambiente.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276350" y="1276350"/>
            <a:ext cx="7200900" cy="2343150"/>
          </a:xfrm>
          <a:prstGeom prst="rect">
            <a:avLst/>
          </a:prstGeom>
          <a:noFill/>
        </p:spPr>
        <p:txBody>
          <a:bodyPr wrap="square">
            <a:spAutoFit/>
          </a:bodyPr>
          <a:lstStyle/>
          <a:p>
            <a:pPr algn="l">
              <a:lnSpc>
                <a:spcPct val="90000"/>
              </a:lnSpc>
            </a:pPr>
            <a:r>
              <a:rPr sz="6150">
                <a:solidFill>
                  <a:srgbClr val="0F151A"/>
                </a:solidFill>
                <a:latin typeface="Quicksand Bold"/>
              </a:rPr>
              <a:t>Marco de Gobierno Digital en Colombia</a:t>
            </a:r>
          </a:p>
        </p:txBody>
      </p:sp>
      <p:sp>
        <p:nvSpPr>
          <p:cNvPr id="4" name="TextBox 3"/>
          <p:cNvSpPr txBox="1"/>
          <p:nvPr/>
        </p:nvSpPr>
        <p:spPr>
          <a:xfrm>
            <a:off x="9144000" y="1569392"/>
            <a:ext cx="7867649" cy="548580"/>
          </a:xfrm>
          <a:prstGeom prst="rect">
            <a:avLst/>
          </a:prstGeom>
          <a:noFill/>
        </p:spPr>
        <p:txBody>
          <a:bodyPr wrap="square">
            <a:spAutoFit/>
          </a:bodyPr>
          <a:lstStyle/>
          <a:p>
            <a:pPr algn="l">
              <a:lnSpc>
                <a:spcPct val="108000"/>
              </a:lnSpc>
            </a:pPr>
            <a:r>
              <a:rPr sz="3600">
                <a:solidFill>
                  <a:srgbClr val="0F151A"/>
                </a:solidFill>
                <a:latin typeface="Quicksand Bold"/>
              </a:rPr>
              <a:t>TIC para el Estado</a:t>
            </a:r>
          </a:p>
        </p:txBody>
      </p:sp>
      <p:sp>
        <p:nvSpPr>
          <p:cNvPr id="5" name="TextBox 4"/>
          <p:cNvSpPr txBox="1"/>
          <p:nvPr/>
        </p:nvSpPr>
        <p:spPr>
          <a:xfrm>
            <a:off x="9144000" y="2260848"/>
            <a:ext cx="7867649" cy="1386482"/>
          </a:xfrm>
          <a:prstGeom prst="rect">
            <a:avLst/>
          </a:prstGeom>
          <a:noFill/>
        </p:spPr>
        <p:txBody>
          <a:bodyPr wrap="square">
            <a:spAutoFit/>
          </a:bodyPr>
          <a:lstStyle/>
          <a:p>
            <a:pPr algn="l">
              <a:lnSpc>
                <a:spcPct val="126000"/>
              </a:lnSpc>
            </a:pPr>
            <a:r>
              <a:rPr sz="1950">
                <a:solidFill>
                  <a:srgbClr val="323E47"/>
                </a:solidFill>
                <a:latin typeface="Quicksand"/>
              </a:rPr>
              <a:t>Promueve la </a:t>
            </a:r>
            <a:r>
              <a:rPr sz="1950" i="1">
                <a:solidFill>
                  <a:srgbClr val="323E47"/>
                </a:solidFill>
                <a:latin typeface="Quicksand"/>
              </a:rPr>
              <a:t>eficiencia administrativa</a:t>
            </a:r>
            <a:r>
              <a:rPr sz="1950">
                <a:solidFill>
                  <a:srgbClr val="323E47"/>
                </a:solidFill>
                <a:latin typeface="Quicksand"/>
              </a:rPr>
              <a:t> y la automatización de procesos internos, impulsando la modernización institucional. El objetivo es consolidar un Estado competitivo, proactivo e innovador, fundamentado en el Decreto 767 de 2022 y liderado por el MinTIC.</a:t>
            </a:r>
          </a:p>
        </p:txBody>
      </p:sp>
      <p:sp>
        <p:nvSpPr>
          <p:cNvPr id="6" name="TextBox 5"/>
          <p:cNvSpPr txBox="1"/>
          <p:nvPr/>
        </p:nvSpPr>
        <p:spPr>
          <a:xfrm>
            <a:off x="9144000" y="4104530"/>
            <a:ext cx="7867649" cy="548580"/>
          </a:xfrm>
          <a:prstGeom prst="rect">
            <a:avLst/>
          </a:prstGeom>
          <a:noFill/>
        </p:spPr>
        <p:txBody>
          <a:bodyPr wrap="square">
            <a:spAutoFit/>
          </a:bodyPr>
          <a:lstStyle/>
          <a:p>
            <a:pPr algn="l">
              <a:lnSpc>
                <a:spcPct val="108000"/>
              </a:lnSpc>
            </a:pPr>
            <a:r>
              <a:rPr sz="3600">
                <a:solidFill>
                  <a:srgbClr val="0F151A"/>
                </a:solidFill>
                <a:latin typeface="Quicksand Bold"/>
              </a:rPr>
              <a:t>TIC para la Sociedad</a:t>
            </a:r>
          </a:p>
        </p:txBody>
      </p:sp>
      <p:sp>
        <p:nvSpPr>
          <p:cNvPr id="7" name="TextBox 6"/>
          <p:cNvSpPr txBox="1"/>
          <p:nvPr/>
        </p:nvSpPr>
        <p:spPr>
          <a:xfrm>
            <a:off x="9144000" y="4795986"/>
            <a:ext cx="7867649" cy="1386482"/>
          </a:xfrm>
          <a:prstGeom prst="rect">
            <a:avLst/>
          </a:prstGeom>
          <a:noFill/>
        </p:spPr>
        <p:txBody>
          <a:bodyPr wrap="square">
            <a:spAutoFit/>
          </a:bodyPr>
          <a:lstStyle/>
          <a:p>
            <a:pPr algn="l">
              <a:lnSpc>
                <a:spcPct val="126000"/>
              </a:lnSpc>
            </a:pPr>
            <a:r>
              <a:rPr sz="1950">
                <a:solidFill>
                  <a:srgbClr val="323E47"/>
                </a:solidFill>
                <a:latin typeface="Quicksand"/>
              </a:rPr>
              <a:t>Busca el </a:t>
            </a:r>
            <a:r>
              <a:rPr sz="1950" i="1">
                <a:solidFill>
                  <a:srgbClr val="323E47"/>
                </a:solidFill>
                <a:latin typeface="Quicksand"/>
              </a:rPr>
              <a:t>fortalecimiento del ecosistema digital</a:t>
            </a:r>
            <a:r>
              <a:rPr sz="1950">
                <a:solidFill>
                  <a:srgbClr val="323E47"/>
                </a:solidFill>
                <a:latin typeface="Quicksand"/>
              </a:rPr>
              <a:t> y la optimización de los servicios ciudadanos. Esto se traduce en una mejora en la calidad de vida y en la competitividad global de la sociedad, facilitando el acceso y uso de las tecnologías.</a:t>
            </a:r>
          </a:p>
        </p:txBody>
      </p:sp>
      <p:sp>
        <p:nvSpPr>
          <p:cNvPr id="8" name="TextBox 7"/>
          <p:cNvSpPr txBox="1"/>
          <p:nvPr/>
        </p:nvSpPr>
        <p:spPr>
          <a:xfrm>
            <a:off x="9144000" y="6639669"/>
            <a:ext cx="7867649" cy="548580"/>
          </a:xfrm>
          <a:prstGeom prst="rect">
            <a:avLst/>
          </a:prstGeom>
          <a:noFill/>
        </p:spPr>
        <p:txBody>
          <a:bodyPr wrap="square">
            <a:spAutoFit/>
          </a:bodyPr>
          <a:lstStyle/>
          <a:p>
            <a:pPr algn="l">
              <a:lnSpc>
                <a:spcPct val="108000"/>
              </a:lnSpc>
            </a:pPr>
            <a:r>
              <a:rPr sz="3600">
                <a:solidFill>
                  <a:srgbClr val="0F151A"/>
                </a:solidFill>
                <a:latin typeface="Quicksand Bold"/>
              </a:rPr>
              <a:t>Habilitadores Transversales</a:t>
            </a:r>
          </a:p>
        </p:txBody>
      </p:sp>
      <p:sp>
        <p:nvSpPr>
          <p:cNvPr id="9" name="TextBox 8"/>
          <p:cNvSpPr txBox="1"/>
          <p:nvPr/>
        </p:nvSpPr>
        <p:spPr>
          <a:xfrm>
            <a:off x="9144000" y="7331124"/>
            <a:ext cx="7867649" cy="1386482"/>
          </a:xfrm>
          <a:prstGeom prst="rect">
            <a:avLst/>
          </a:prstGeom>
          <a:noFill/>
        </p:spPr>
        <p:txBody>
          <a:bodyPr wrap="square">
            <a:spAutoFit/>
          </a:bodyPr>
          <a:lstStyle/>
          <a:p>
            <a:pPr algn="l">
              <a:lnSpc>
                <a:spcPct val="126000"/>
              </a:lnSpc>
            </a:pPr>
            <a:r>
              <a:rPr sz="1950">
                <a:solidFill>
                  <a:srgbClr val="323E47"/>
                </a:solidFill>
                <a:latin typeface="Quicksand"/>
              </a:rPr>
              <a:t>Incluyen la </a:t>
            </a:r>
            <a:r>
              <a:rPr sz="1950" i="1">
                <a:solidFill>
                  <a:srgbClr val="323E47"/>
                </a:solidFill>
                <a:latin typeface="Quicksand"/>
              </a:rPr>
              <a:t>arquitectura empresarial</a:t>
            </a:r>
            <a:r>
              <a:rPr sz="1950">
                <a:solidFill>
                  <a:srgbClr val="323E47"/>
                </a:solidFill>
                <a:latin typeface="Quicksand"/>
              </a:rPr>
              <a:t>, la seguridad de la información y el uso estratégico de datos. Estos elementos son cruciales para una toma de decisiones informada y la sostenibilidad de la política de Gobierno Digital, garantizando su implementación efectiva.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25753b3a-7ed2-40d3-8cf3-c43fcdaeb0dd.png"/>
          <p:cNvPicPr>
            <a:picLocks noChangeAspect="1"/>
          </p:cNvPicPr>
          <p:nvPr/>
        </p:nvPicPr>
        <p:blipFill>
          <a:blip r:embed="rId2"/>
          <a:stretch>
            <a:fillRect/>
          </a:stretch>
        </p:blipFill>
        <p:spPr>
          <a:xfrm>
            <a:off x="1657350" y="2686050"/>
            <a:ext cx="609600" cy="609600"/>
          </a:xfrm>
          <a:prstGeom prst="rect">
            <a:avLst/>
          </a:prstGeom>
        </p:spPr>
      </p:pic>
      <p:pic>
        <p:nvPicPr>
          <p:cNvPr id="3" name="Picture 2" descr="e9fc9ff1-1218-43a1-8958-336eec2f8d08.png"/>
          <p:cNvPicPr>
            <a:picLocks noChangeAspect="1"/>
          </p:cNvPicPr>
          <p:nvPr/>
        </p:nvPicPr>
        <p:blipFill>
          <a:blip r:embed="rId3"/>
          <a:stretch>
            <a:fillRect/>
          </a:stretch>
        </p:blipFill>
        <p:spPr>
          <a:xfrm>
            <a:off x="6775449" y="2686050"/>
            <a:ext cx="609600" cy="609600"/>
          </a:xfrm>
          <a:prstGeom prst="rect">
            <a:avLst/>
          </a:prstGeom>
        </p:spPr>
      </p:pic>
      <p:pic>
        <p:nvPicPr>
          <p:cNvPr id="4" name="Picture 3" descr="3947f272-9495-4138-99b7-7bd9c5585346.png"/>
          <p:cNvPicPr>
            <a:picLocks noChangeAspect="1"/>
          </p:cNvPicPr>
          <p:nvPr/>
        </p:nvPicPr>
        <p:blipFill>
          <a:blip r:embed="rId4"/>
          <a:stretch>
            <a:fillRect/>
          </a:stretch>
        </p:blipFill>
        <p:spPr>
          <a:xfrm>
            <a:off x="11893549" y="2686050"/>
            <a:ext cx="609600" cy="609600"/>
          </a:xfrm>
          <a:prstGeom prst="rect">
            <a:avLst/>
          </a:prstGeom>
        </p:spPr>
      </p:pic>
      <p:sp>
        <p:nvSpPr>
          <p:cNvPr id="6" name="TextBox 5"/>
          <p:cNvSpPr txBox="1"/>
          <p:nvPr/>
        </p:nvSpPr>
        <p:spPr>
          <a:xfrm>
            <a:off x="1276350" y="1276350"/>
            <a:ext cx="15716250" cy="838200"/>
          </a:xfrm>
          <a:prstGeom prst="rect">
            <a:avLst/>
          </a:prstGeom>
          <a:noFill/>
        </p:spPr>
        <p:txBody>
          <a:bodyPr wrap="square">
            <a:spAutoFit/>
          </a:bodyPr>
          <a:lstStyle/>
          <a:p>
            <a:pPr algn="ctr">
              <a:lnSpc>
                <a:spcPct val="99000"/>
              </a:lnSpc>
            </a:pPr>
            <a:r>
              <a:rPr sz="6000">
                <a:solidFill>
                  <a:srgbClr val="0F151A"/>
                </a:solidFill>
                <a:latin typeface="Quicksand Bold"/>
              </a:rPr>
              <a:t>Sinergia: Energía y Digitalización</a:t>
            </a:r>
          </a:p>
        </p:txBody>
      </p:sp>
      <p:sp>
        <p:nvSpPr>
          <p:cNvPr id="7" name="TextBox 6"/>
          <p:cNvSpPr txBox="1"/>
          <p:nvPr/>
        </p:nvSpPr>
        <p:spPr>
          <a:xfrm>
            <a:off x="1657350" y="3486150"/>
            <a:ext cx="4356100" cy="388590"/>
          </a:xfrm>
          <a:prstGeom prst="rect">
            <a:avLst/>
          </a:prstGeom>
          <a:noFill/>
        </p:spPr>
        <p:txBody>
          <a:bodyPr wrap="square">
            <a:spAutoFit/>
          </a:bodyPr>
          <a:lstStyle/>
          <a:p>
            <a:pPr algn="l">
              <a:lnSpc>
                <a:spcPct val="108000"/>
              </a:lnSpc>
            </a:pPr>
            <a:r>
              <a:rPr sz="2550">
                <a:solidFill>
                  <a:srgbClr val="0F151A"/>
                </a:solidFill>
                <a:latin typeface="Quicksand Bold"/>
              </a:rPr>
              <a:t>Aumenta la Transparencia</a:t>
            </a:r>
          </a:p>
        </p:txBody>
      </p:sp>
      <p:sp>
        <p:nvSpPr>
          <p:cNvPr id="8" name="TextBox 7"/>
          <p:cNvSpPr txBox="1"/>
          <p:nvPr/>
        </p:nvSpPr>
        <p:spPr>
          <a:xfrm>
            <a:off x="1657350" y="4017615"/>
            <a:ext cx="4356100" cy="3200400"/>
          </a:xfrm>
          <a:prstGeom prst="rect">
            <a:avLst/>
          </a:prstGeom>
          <a:noFill/>
        </p:spPr>
        <p:txBody>
          <a:bodyPr wrap="square">
            <a:spAutoFit/>
          </a:bodyPr>
          <a:lstStyle/>
          <a:p>
            <a:pPr algn="l">
              <a:lnSpc>
                <a:spcPct val="126000"/>
              </a:lnSpc>
            </a:pPr>
            <a:r>
              <a:rPr sz="2250">
                <a:solidFill>
                  <a:srgbClr val="323E47"/>
                </a:solidFill>
                <a:latin typeface="Quicksand"/>
              </a:rPr>
              <a:t>La digitalización facilita la publicación abierta de datos sobre </a:t>
            </a:r>
            <a:r>
              <a:rPr sz="2250">
                <a:solidFill>
                  <a:srgbClr val="323E47"/>
                </a:solidFill>
                <a:latin typeface="Quicksand Bold"/>
              </a:rPr>
              <a:t>subastas de energía</a:t>
            </a:r>
            <a:r>
              <a:rPr sz="2250">
                <a:solidFill>
                  <a:srgbClr val="323E47"/>
                </a:solidFill>
                <a:latin typeface="Quicksand"/>
              </a:rPr>
              <a:t> y la ejecución de proyectos de Fuentes No Convencionales de Energía Renovable (FNCER), promoviendo la confianza y el escrutinio público.</a:t>
            </a:r>
          </a:p>
        </p:txBody>
      </p:sp>
      <p:sp>
        <p:nvSpPr>
          <p:cNvPr id="9" name="TextBox 8"/>
          <p:cNvSpPr txBox="1"/>
          <p:nvPr/>
        </p:nvSpPr>
        <p:spPr>
          <a:xfrm>
            <a:off x="6775449" y="3486150"/>
            <a:ext cx="4356100" cy="388590"/>
          </a:xfrm>
          <a:prstGeom prst="rect">
            <a:avLst/>
          </a:prstGeom>
          <a:noFill/>
        </p:spPr>
        <p:txBody>
          <a:bodyPr wrap="square">
            <a:spAutoFit/>
          </a:bodyPr>
          <a:lstStyle/>
          <a:p>
            <a:pPr algn="l">
              <a:lnSpc>
                <a:spcPct val="108000"/>
              </a:lnSpc>
            </a:pPr>
            <a:r>
              <a:rPr sz="2550">
                <a:solidFill>
                  <a:srgbClr val="0F151A"/>
                </a:solidFill>
                <a:latin typeface="Quicksand Bold"/>
              </a:rPr>
              <a:t>Mejora Eficiencia Operativa</a:t>
            </a:r>
          </a:p>
        </p:txBody>
      </p:sp>
      <p:sp>
        <p:nvSpPr>
          <p:cNvPr id="10" name="TextBox 9"/>
          <p:cNvSpPr txBox="1"/>
          <p:nvPr/>
        </p:nvSpPr>
        <p:spPr>
          <a:xfrm>
            <a:off x="6775449" y="4017615"/>
            <a:ext cx="4356100" cy="3600450"/>
          </a:xfrm>
          <a:prstGeom prst="rect">
            <a:avLst/>
          </a:prstGeom>
          <a:noFill/>
        </p:spPr>
        <p:txBody>
          <a:bodyPr wrap="square">
            <a:spAutoFit/>
          </a:bodyPr>
          <a:lstStyle/>
          <a:p>
            <a:pPr algn="l">
              <a:lnSpc>
                <a:spcPct val="126000"/>
              </a:lnSpc>
            </a:pPr>
            <a:r>
              <a:rPr sz="2250">
                <a:solidFill>
                  <a:srgbClr val="323E47"/>
                </a:solidFill>
                <a:latin typeface="Quicksand"/>
              </a:rPr>
              <a:t>Se logran significativas reducciones en los </a:t>
            </a:r>
            <a:r>
              <a:rPr sz="2250">
                <a:solidFill>
                  <a:srgbClr val="323E47"/>
                </a:solidFill>
                <a:latin typeface="Quicksand Bold"/>
              </a:rPr>
              <a:t>costos de transacción</a:t>
            </a:r>
            <a:r>
              <a:rPr sz="2250">
                <a:solidFill>
                  <a:srgbClr val="323E47"/>
                </a:solidFill>
                <a:latin typeface="Quicksand"/>
              </a:rPr>
              <a:t> asociados a la gestión de trámites ante entidades reguladoras como la UPME (Unidad de Planeación Minero Energética) y la ANLA (Autoridad Nacional de Licencias Ambientales).</a:t>
            </a:r>
          </a:p>
        </p:txBody>
      </p:sp>
      <p:sp>
        <p:nvSpPr>
          <p:cNvPr id="11" name="TextBox 10"/>
          <p:cNvSpPr txBox="1"/>
          <p:nvPr/>
        </p:nvSpPr>
        <p:spPr>
          <a:xfrm>
            <a:off x="11893549" y="3486150"/>
            <a:ext cx="4356100" cy="388590"/>
          </a:xfrm>
          <a:prstGeom prst="rect">
            <a:avLst/>
          </a:prstGeom>
          <a:noFill/>
        </p:spPr>
        <p:txBody>
          <a:bodyPr wrap="square">
            <a:spAutoFit/>
          </a:bodyPr>
          <a:lstStyle/>
          <a:p>
            <a:pPr algn="l">
              <a:lnSpc>
                <a:spcPct val="108000"/>
              </a:lnSpc>
            </a:pPr>
            <a:r>
              <a:rPr sz="2550">
                <a:solidFill>
                  <a:srgbClr val="0F151A"/>
                </a:solidFill>
                <a:latin typeface="Quicksand Bold"/>
              </a:rPr>
              <a:t>Fomenta la Flexibilidad</a:t>
            </a:r>
          </a:p>
        </p:txBody>
      </p:sp>
      <p:sp>
        <p:nvSpPr>
          <p:cNvPr id="12" name="TextBox 11"/>
          <p:cNvSpPr txBox="1"/>
          <p:nvPr/>
        </p:nvSpPr>
        <p:spPr>
          <a:xfrm>
            <a:off x="11893549" y="4017615"/>
            <a:ext cx="4356100" cy="2800350"/>
          </a:xfrm>
          <a:prstGeom prst="rect">
            <a:avLst/>
          </a:prstGeom>
          <a:noFill/>
        </p:spPr>
        <p:txBody>
          <a:bodyPr wrap="square">
            <a:spAutoFit/>
          </a:bodyPr>
          <a:lstStyle/>
          <a:p>
            <a:pPr algn="l">
              <a:lnSpc>
                <a:spcPct val="126000"/>
              </a:lnSpc>
            </a:pPr>
            <a:r>
              <a:rPr sz="2250">
                <a:solidFill>
                  <a:srgbClr val="323E47"/>
                </a:solidFill>
                <a:latin typeface="Quicksand"/>
              </a:rPr>
              <a:t>Permite una </a:t>
            </a:r>
            <a:r>
              <a:rPr sz="2250">
                <a:solidFill>
                  <a:srgbClr val="323E47"/>
                </a:solidFill>
                <a:latin typeface="Quicksand Bold"/>
              </a:rPr>
              <a:t>respuesta en tiempo real</a:t>
            </a:r>
            <a:r>
              <a:rPr sz="2250">
                <a:solidFill>
                  <a:srgbClr val="323E47"/>
                </a:solidFill>
                <a:latin typeface="Quicksand"/>
              </a:rPr>
              <a:t> a las variaciones inherentes a la generación de energía renovable (solar y eólica) mediante la implementación de algoritmos avanzados de gestión pública.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71600" y="3996630"/>
          <a:ext cx="15544797" cy="2689860"/>
        </p:xfrm>
        <a:graphic>
          <a:graphicData uri="http://schemas.openxmlformats.org/drawingml/2006/table">
            <a:tbl>
              <a:tblPr firstRow="1" bandRow="1">
                <a:tableStyleId>{5C22544A-7EE6-4342-B048-85BDC9FD1C3A}</a:tableStyleId>
              </a:tblPr>
              <a:tblGrid>
                <a:gridCol w="5181599">
                  <a:extLst>
                    <a:ext uri="{9D8B030D-6E8A-4147-A177-3AD203B41FA5}">
                      <a16:colId xmlns:a16="http://schemas.microsoft.com/office/drawing/2014/main" val="20000"/>
                    </a:ext>
                  </a:extLst>
                </a:gridCol>
                <a:gridCol w="5181599">
                  <a:extLst>
                    <a:ext uri="{9D8B030D-6E8A-4147-A177-3AD203B41FA5}">
                      <a16:colId xmlns:a16="http://schemas.microsoft.com/office/drawing/2014/main" val="20001"/>
                    </a:ext>
                  </a:extLst>
                </a:gridCol>
                <a:gridCol w="5181599">
                  <a:extLst>
                    <a:ext uri="{9D8B030D-6E8A-4147-A177-3AD203B41FA5}">
                      <a16:colId xmlns:a16="http://schemas.microsoft.com/office/drawing/2014/main" val="20002"/>
                    </a:ext>
                  </a:extLst>
                </a:gridCol>
              </a:tblGrid>
              <a:tr h="672465">
                <a:tc>
                  <a:txBody>
                    <a:bodyPr/>
                    <a:lstStyle/>
                    <a:p>
                      <a:pPr algn="ctr"/>
                      <a:r>
                        <a:rPr sz="2700">
                          <a:solidFill>
                            <a:srgbClr val="8D6E0D"/>
                          </a:solidFill>
                          <a:latin typeface="Quicksand Bold"/>
                        </a:rPr>
                        <a:t>Indicador</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a:lstStyle/>
                    <a:p>
                      <a:pPr algn="ctr"/>
                      <a:r>
                        <a:rPr sz="2700">
                          <a:solidFill>
                            <a:srgbClr val="8D6E0D"/>
                          </a:solidFill>
                          <a:latin typeface="Quicksand Bold"/>
                        </a:rPr>
                        <a:t>Meta 2025/2030</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a:lstStyle/>
                    <a:p>
                      <a:pPr algn="ctr"/>
                      <a:r>
                        <a:rPr sz="2700">
                          <a:solidFill>
                            <a:srgbClr val="8D6E0D"/>
                          </a:solidFill>
                          <a:latin typeface="Quicksand Bold"/>
                        </a:rPr>
                        <a:t>Impacto Esperado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extLst>
                  <a:ext uri="{0D108BD9-81ED-4DB2-BD59-A6C34878D82A}">
                    <a16:rowId xmlns:a16="http://schemas.microsoft.com/office/drawing/2014/main" val="10000"/>
                  </a:ext>
                </a:extLst>
              </a:tr>
              <a:tr h="672465">
                <a:tc>
                  <a:txBody>
                    <a:bodyPr/>
                    <a:lstStyle/>
                    <a:p>
                      <a:pPr algn="l"/>
                      <a:r>
                        <a:rPr sz="2250">
                          <a:solidFill>
                            <a:srgbClr val="0F151A"/>
                          </a:solidFill>
                          <a:latin typeface="Quicksand"/>
                        </a:rPr>
                        <a:t>Trámites en Línea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100%</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Eliminación de barreras físicas.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1"/>
                  </a:ext>
                </a:extLst>
              </a:tr>
              <a:tr h="672465">
                <a:tc>
                  <a:txBody>
                    <a:bodyPr/>
                    <a:lstStyle/>
                    <a:p>
                      <a:pPr algn="l"/>
                      <a:r>
                        <a:rPr sz="2250">
                          <a:solidFill>
                            <a:srgbClr val="0F151A"/>
                          </a:solidFill>
                          <a:latin typeface="Quicksand"/>
                        </a:rPr>
                        <a:t>Licenciamiento Ambiental</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60% Reducción</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Agilización de proyectos.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2"/>
                  </a:ext>
                </a:extLst>
              </a:tr>
              <a:tr h="672465">
                <a:tc>
                  <a:txBody>
                    <a:bodyPr/>
                    <a:lstStyle/>
                    <a:p>
                      <a:pPr algn="l"/>
                      <a:r>
                        <a:rPr sz="2250">
                          <a:solidFill>
                            <a:srgbClr val="0F151A"/>
                          </a:solidFill>
                          <a:latin typeface="Quicksand"/>
                        </a:rPr>
                        <a:t>Madurez Digital (ITA)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Nivel 4.0</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Máxima transparencia.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1371600" y="1695449"/>
            <a:ext cx="15544800" cy="838200"/>
          </a:xfrm>
          <a:prstGeom prst="rect">
            <a:avLst/>
          </a:prstGeom>
          <a:noFill/>
        </p:spPr>
        <p:txBody>
          <a:bodyPr wrap="square">
            <a:spAutoFit/>
          </a:bodyPr>
          <a:lstStyle/>
          <a:p>
            <a:pPr algn="l">
              <a:lnSpc>
                <a:spcPct val="99000"/>
              </a:lnSpc>
            </a:pPr>
            <a:r>
              <a:rPr sz="6000">
                <a:solidFill>
                  <a:srgbClr val="0F151A"/>
                </a:solidFill>
                <a:latin typeface="Quicksand Bold"/>
              </a:rPr>
              <a:t>Metas 2030: Madurez y Eficiencia</a:t>
            </a:r>
          </a:p>
        </p:txBody>
      </p:sp>
      <p:sp>
        <p:nvSpPr>
          <p:cNvPr id="5" name="TextBox 4"/>
          <p:cNvSpPr txBox="1"/>
          <p:nvPr/>
        </p:nvSpPr>
        <p:spPr>
          <a:xfrm>
            <a:off x="1371600" y="2838450"/>
            <a:ext cx="15544800" cy="853380"/>
          </a:xfrm>
          <a:prstGeom prst="rect">
            <a:avLst/>
          </a:prstGeom>
          <a:noFill/>
        </p:spPr>
        <p:txBody>
          <a:bodyPr wrap="square">
            <a:spAutoFit/>
          </a:bodyPr>
          <a:lstStyle/>
          <a:p>
            <a:pPr algn="l">
              <a:lnSpc>
                <a:spcPct val="126000"/>
              </a:lnSpc>
            </a:pPr>
            <a:r>
              <a:rPr sz="2400">
                <a:solidFill>
                  <a:srgbClr val="323E47"/>
                </a:solidFill>
                <a:latin typeface="Quicksand"/>
              </a:rPr>
              <a:t>Estas metas clave de digitalización para 2030 buscan optimizar la gestión y la eficiencia en el sector energético.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f8db7372-5896-4810-bbbf-571755c9b230.png"/>
          <p:cNvPicPr>
            <a:picLocks noChangeAspect="1"/>
          </p:cNvPicPr>
          <p:nvPr/>
        </p:nvPicPr>
        <p:blipFill>
          <a:blip r:embed="rId2"/>
          <a:stretch>
            <a:fillRect/>
          </a:stretch>
        </p:blipFill>
        <p:spPr>
          <a:xfrm>
            <a:off x="1276350" y="3565921"/>
            <a:ext cx="3933824" cy="914400"/>
          </a:xfrm>
          <a:prstGeom prst="rect">
            <a:avLst/>
          </a:prstGeom>
        </p:spPr>
      </p:pic>
      <p:pic>
        <p:nvPicPr>
          <p:cNvPr id="3" name="Picture 2" descr="f8db7372-5896-4810-bbbf-571755c9b230.png"/>
          <p:cNvPicPr>
            <a:picLocks noChangeAspect="1"/>
          </p:cNvPicPr>
          <p:nvPr/>
        </p:nvPicPr>
        <p:blipFill>
          <a:blip r:embed="rId2"/>
          <a:stretch>
            <a:fillRect/>
          </a:stretch>
        </p:blipFill>
        <p:spPr>
          <a:xfrm>
            <a:off x="5210174" y="3565921"/>
            <a:ext cx="3933824" cy="914400"/>
          </a:xfrm>
          <a:prstGeom prst="rect">
            <a:avLst/>
          </a:prstGeom>
        </p:spPr>
      </p:pic>
      <p:pic>
        <p:nvPicPr>
          <p:cNvPr id="4" name="Picture 3" descr="f8db7372-5896-4810-bbbf-571755c9b230.png"/>
          <p:cNvPicPr>
            <a:picLocks noChangeAspect="1"/>
          </p:cNvPicPr>
          <p:nvPr/>
        </p:nvPicPr>
        <p:blipFill>
          <a:blip r:embed="rId2"/>
          <a:stretch>
            <a:fillRect/>
          </a:stretch>
        </p:blipFill>
        <p:spPr>
          <a:xfrm>
            <a:off x="9144000" y="3565921"/>
            <a:ext cx="3933824" cy="914400"/>
          </a:xfrm>
          <a:prstGeom prst="rect">
            <a:avLst/>
          </a:prstGeom>
        </p:spPr>
      </p:pic>
      <p:pic>
        <p:nvPicPr>
          <p:cNvPr id="5" name="Picture 4" descr="f8db7372-5896-4810-bbbf-571755c9b230.png"/>
          <p:cNvPicPr>
            <a:picLocks noChangeAspect="1"/>
          </p:cNvPicPr>
          <p:nvPr/>
        </p:nvPicPr>
        <p:blipFill>
          <a:blip r:embed="rId2"/>
          <a:stretch>
            <a:fillRect/>
          </a:stretch>
        </p:blipFill>
        <p:spPr>
          <a:xfrm>
            <a:off x="13077824" y="3565921"/>
            <a:ext cx="3933824" cy="914400"/>
          </a:xfrm>
          <a:prstGeom prst="rect">
            <a:avLst/>
          </a:prstGeom>
        </p:spPr>
      </p:pic>
      <p:sp>
        <p:nvSpPr>
          <p:cNvPr id="7" name="TextBox 6"/>
          <p:cNvSpPr txBox="1"/>
          <p:nvPr/>
        </p:nvSpPr>
        <p:spPr>
          <a:xfrm>
            <a:off x="1276350" y="1276350"/>
            <a:ext cx="15735299" cy="1718071"/>
          </a:xfrm>
          <a:prstGeom prst="rect">
            <a:avLst/>
          </a:prstGeom>
          <a:noFill/>
        </p:spPr>
        <p:txBody>
          <a:bodyPr wrap="square">
            <a:spAutoFit/>
          </a:bodyPr>
          <a:lstStyle/>
          <a:p>
            <a:pPr algn="ctr">
              <a:lnSpc>
                <a:spcPct val="99000"/>
              </a:lnSpc>
            </a:pPr>
            <a:r>
              <a:rPr sz="6150">
                <a:solidFill>
                  <a:srgbClr val="0F151A"/>
                </a:solidFill>
                <a:latin typeface="Quicksand Bold"/>
              </a:rPr>
              <a:t>Infraestructura de Medición Avanzada (AMI)</a:t>
            </a:r>
          </a:p>
        </p:txBody>
      </p:sp>
      <p:sp>
        <p:nvSpPr>
          <p:cNvPr id="8" name="TextBox 7"/>
          <p:cNvSpPr txBox="1"/>
          <p:nvPr/>
        </p:nvSpPr>
        <p:spPr>
          <a:xfrm>
            <a:off x="2957512" y="3832621"/>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1</a:t>
            </a:r>
          </a:p>
        </p:txBody>
      </p:sp>
      <p:sp>
        <p:nvSpPr>
          <p:cNvPr id="9" name="TextBox 8"/>
          <p:cNvSpPr txBox="1"/>
          <p:nvPr/>
        </p:nvSpPr>
        <p:spPr>
          <a:xfrm>
            <a:off x="6891337" y="3832621"/>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2</a:t>
            </a:r>
          </a:p>
        </p:txBody>
      </p:sp>
      <p:sp>
        <p:nvSpPr>
          <p:cNvPr id="10" name="TextBox 9"/>
          <p:cNvSpPr txBox="1"/>
          <p:nvPr/>
        </p:nvSpPr>
        <p:spPr>
          <a:xfrm>
            <a:off x="10825162" y="3832621"/>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3</a:t>
            </a:r>
          </a:p>
        </p:txBody>
      </p:sp>
      <p:sp>
        <p:nvSpPr>
          <p:cNvPr id="11" name="TextBox 10"/>
          <p:cNvSpPr txBox="1"/>
          <p:nvPr/>
        </p:nvSpPr>
        <p:spPr>
          <a:xfrm>
            <a:off x="14758987" y="3832621"/>
            <a:ext cx="571500" cy="380999"/>
          </a:xfrm>
          <a:prstGeom prst="rect">
            <a:avLst/>
          </a:prstGeom>
          <a:noFill/>
        </p:spPr>
        <p:txBody>
          <a:bodyPr wrap="square">
            <a:spAutoFit/>
          </a:bodyPr>
          <a:lstStyle/>
          <a:p>
            <a:pPr algn="ctr">
              <a:lnSpc>
                <a:spcPct val="90000"/>
              </a:lnSpc>
            </a:pPr>
            <a:r>
              <a:rPr sz="3000">
                <a:solidFill>
                  <a:srgbClr val="FFFFFF"/>
                </a:solidFill>
                <a:latin typeface="Quicksand Bold"/>
              </a:rPr>
              <a:t>4</a:t>
            </a:r>
          </a:p>
        </p:txBody>
      </p:sp>
      <p:sp>
        <p:nvSpPr>
          <p:cNvPr id="12" name="TextBox 11"/>
          <p:cNvSpPr txBox="1"/>
          <p:nvPr/>
        </p:nvSpPr>
        <p:spPr>
          <a:xfrm>
            <a:off x="1504950" y="4861321"/>
            <a:ext cx="3476624" cy="775096"/>
          </a:xfrm>
          <a:prstGeom prst="rect">
            <a:avLst/>
          </a:prstGeom>
          <a:noFill/>
        </p:spPr>
        <p:txBody>
          <a:bodyPr wrap="square">
            <a:spAutoFit/>
          </a:bodyPr>
          <a:lstStyle/>
          <a:p>
            <a:pPr algn="l">
              <a:lnSpc>
                <a:spcPct val="99000"/>
              </a:lnSpc>
            </a:pPr>
            <a:r>
              <a:rPr sz="2775">
                <a:solidFill>
                  <a:srgbClr val="0F151A"/>
                </a:solidFill>
                <a:latin typeface="Quicksand Bold"/>
              </a:rPr>
              <a:t>Despliegue de Dispositivos</a:t>
            </a:r>
          </a:p>
        </p:txBody>
      </p:sp>
      <p:sp>
        <p:nvSpPr>
          <p:cNvPr id="13" name="TextBox 12"/>
          <p:cNvSpPr txBox="1"/>
          <p:nvPr/>
        </p:nvSpPr>
        <p:spPr>
          <a:xfrm>
            <a:off x="5438774" y="4861321"/>
            <a:ext cx="3476624" cy="775096"/>
          </a:xfrm>
          <a:prstGeom prst="rect">
            <a:avLst/>
          </a:prstGeom>
          <a:noFill/>
        </p:spPr>
        <p:txBody>
          <a:bodyPr wrap="square">
            <a:spAutoFit/>
          </a:bodyPr>
          <a:lstStyle/>
          <a:p>
            <a:pPr algn="l">
              <a:lnSpc>
                <a:spcPct val="99000"/>
              </a:lnSpc>
            </a:pPr>
            <a:r>
              <a:rPr sz="2775">
                <a:solidFill>
                  <a:srgbClr val="0F151A"/>
                </a:solidFill>
                <a:latin typeface="Quicksand Bold"/>
              </a:rPr>
              <a:t>Protocolos de Comunicación</a:t>
            </a:r>
          </a:p>
        </p:txBody>
      </p:sp>
      <p:sp>
        <p:nvSpPr>
          <p:cNvPr id="14" name="TextBox 13"/>
          <p:cNvSpPr txBox="1"/>
          <p:nvPr/>
        </p:nvSpPr>
        <p:spPr>
          <a:xfrm>
            <a:off x="9372600" y="4861321"/>
            <a:ext cx="3476624" cy="775096"/>
          </a:xfrm>
          <a:prstGeom prst="rect">
            <a:avLst/>
          </a:prstGeom>
          <a:noFill/>
        </p:spPr>
        <p:txBody>
          <a:bodyPr wrap="square">
            <a:spAutoFit/>
          </a:bodyPr>
          <a:lstStyle/>
          <a:p>
            <a:pPr algn="l">
              <a:lnSpc>
                <a:spcPct val="99000"/>
              </a:lnSpc>
            </a:pPr>
            <a:r>
              <a:rPr sz="2775">
                <a:solidFill>
                  <a:srgbClr val="0F151A"/>
                </a:solidFill>
                <a:latin typeface="Quicksand Bold"/>
              </a:rPr>
              <a:t>Gestión de Datos en Nube</a:t>
            </a:r>
          </a:p>
        </p:txBody>
      </p:sp>
      <p:sp>
        <p:nvSpPr>
          <p:cNvPr id="15" name="TextBox 14"/>
          <p:cNvSpPr txBox="1"/>
          <p:nvPr/>
        </p:nvSpPr>
        <p:spPr>
          <a:xfrm>
            <a:off x="13306424" y="4861321"/>
            <a:ext cx="3476624" cy="775096"/>
          </a:xfrm>
          <a:prstGeom prst="rect">
            <a:avLst/>
          </a:prstGeom>
          <a:noFill/>
        </p:spPr>
        <p:txBody>
          <a:bodyPr wrap="square">
            <a:spAutoFit/>
          </a:bodyPr>
          <a:lstStyle/>
          <a:p>
            <a:pPr algn="l">
              <a:lnSpc>
                <a:spcPct val="99000"/>
              </a:lnSpc>
            </a:pPr>
            <a:r>
              <a:rPr sz="2775">
                <a:solidFill>
                  <a:srgbClr val="0F151A"/>
                </a:solidFill>
                <a:latin typeface="Quicksand Bold"/>
              </a:rPr>
              <a:t>Interoperabilidad con el Estado</a:t>
            </a:r>
          </a:p>
        </p:txBody>
      </p:sp>
      <p:sp>
        <p:nvSpPr>
          <p:cNvPr id="16" name="TextBox 15"/>
          <p:cNvSpPr txBox="1"/>
          <p:nvPr/>
        </p:nvSpPr>
        <p:spPr>
          <a:xfrm>
            <a:off x="1504950" y="5826918"/>
            <a:ext cx="3476624" cy="2160091"/>
          </a:xfrm>
          <a:prstGeom prst="rect">
            <a:avLst/>
          </a:prstGeom>
          <a:noFill/>
        </p:spPr>
        <p:txBody>
          <a:bodyPr wrap="square">
            <a:spAutoFit/>
          </a:bodyPr>
          <a:lstStyle/>
          <a:p>
            <a:pPr algn="l">
              <a:lnSpc>
                <a:spcPct val="126000"/>
              </a:lnSpc>
            </a:pPr>
            <a:r>
              <a:rPr sz="2025">
                <a:solidFill>
                  <a:srgbClr val="0F151A"/>
                </a:solidFill>
                <a:latin typeface="Quicksand"/>
              </a:rPr>
              <a:t>Implementación de </a:t>
            </a:r>
            <a:r>
              <a:rPr sz="2025">
                <a:solidFill>
                  <a:srgbClr val="0F151A"/>
                </a:solidFill>
                <a:latin typeface="Quicksand Bold"/>
              </a:rPr>
              <a:t>medidores inteligentes</a:t>
            </a:r>
            <a:r>
              <a:rPr sz="2025">
                <a:solidFill>
                  <a:srgbClr val="0F151A"/>
                </a:solidFill>
                <a:latin typeface="Quicksand"/>
              </a:rPr>
              <a:t> con capacidad de comunicación bidireccional, vital para la red de datos del gobierno digital en energía.</a:t>
            </a:r>
          </a:p>
        </p:txBody>
      </p:sp>
      <p:sp>
        <p:nvSpPr>
          <p:cNvPr id="17" name="TextBox 16"/>
          <p:cNvSpPr txBox="1"/>
          <p:nvPr/>
        </p:nvSpPr>
        <p:spPr>
          <a:xfrm>
            <a:off x="5438774" y="5826918"/>
            <a:ext cx="3476624" cy="2160091"/>
          </a:xfrm>
          <a:prstGeom prst="rect">
            <a:avLst/>
          </a:prstGeom>
          <a:noFill/>
        </p:spPr>
        <p:txBody>
          <a:bodyPr wrap="square">
            <a:spAutoFit/>
          </a:bodyPr>
          <a:lstStyle/>
          <a:p>
            <a:pPr algn="l">
              <a:lnSpc>
                <a:spcPct val="126000"/>
              </a:lnSpc>
            </a:pPr>
            <a:r>
              <a:rPr sz="2025">
                <a:solidFill>
                  <a:srgbClr val="0F151A"/>
                </a:solidFill>
                <a:latin typeface="Quicksand"/>
              </a:rPr>
              <a:t>Estandarización bajo normas internacionales, como </a:t>
            </a:r>
            <a:r>
              <a:rPr sz="2025" i="1">
                <a:solidFill>
                  <a:srgbClr val="0F151A"/>
                </a:solidFill>
                <a:latin typeface="Quicksand"/>
              </a:rPr>
              <a:t>DLMS/COSEM</a:t>
            </a:r>
            <a:r>
              <a:rPr sz="2025">
                <a:solidFill>
                  <a:srgbClr val="0F151A"/>
                </a:solidFill>
                <a:latin typeface="Quicksand"/>
              </a:rPr>
              <a:t>, para asegurar la integridad y la confiabilidad del dato transmitido a los operadores.</a:t>
            </a:r>
          </a:p>
        </p:txBody>
      </p:sp>
      <p:sp>
        <p:nvSpPr>
          <p:cNvPr id="18" name="TextBox 17"/>
          <p:cNvSpPr txBox="1"/>
          <p:nvPr/>
        </p:nvSpPr>
        <p:spPr>
          <a:xfrm>
            <a:off x="9372600" y="5826918"/>
            <a:ext cx="3476624" cy="2520106"/>
          </a:xfrm>
          <a:prstGeom prst="rect">
            <a:avLst/>
          </a:prstGeom>
          <a:noFill/>
        </p:spPr>
        <p:txBody>
          <a:bodyPr wrap="square">
            <a:spAutoFit/>
          </a:bodyPr>
          <a:lstStyle/>
          <a:p>
            <a:pPr algn="l">
              <a:lnSpc>
                <a:spcPct val="126000"/>
              </a:lnSpc>
            </a:pPr>
            <a:r>
              <a:rPr sz="2025">
                <a:solidFill>
                  <a:srgbClr val="0F151A"/>
                </a:solidFill>
                <a:latin typeface="Quicksand"/>
              </a:rPr>
              <a:t>Almacenamiento y procesamiento masivo de </a:t>
            </a:r>
            <a:r>
              <a:rPr sz="2025">
                <a:solidFill>
                  <a:srgbClr val="0F151A"/>
                </a:solidFill>
                <a:latin typeface="Quicksand Bold"/>
              </a:rPr>
              <a:t>curvas de carga</a:t>
            </a:r>
            <a:r>
              <a:rPr sz="2025">
                <a:solidFill>
                  <a:srgbClr val="0F151A"/>
                </a:solidFill>
                <a:latin typeface="Quicksand"/>
              </a:rPr>
              <a:t> y otros datos energéticos en plataformas de nube, permitiendo análisis complejos.</a:t>
            </a:r>
          </a:p>
        </p:txBody>
      </p:sp>
      <p:sp>
        <p:nvSpPr>
          <p:cNvPr id="19" name="TextBox 18"/>
          <p:cNvSpPr txBox="1"/>
          <p:nvPr/>
        </p:nvSpPr>
        <p:spPr>
          <a:xfrm>
            <a:off x="13306424" y="5826918"/>
            <a:ext cx="3476624" cy="2520106"/>
          </a:xfrm>
          <a:prstGeom prst="rect">
            <a:avLst/>
          </a:prstGeom>
          <a:noFill/>
        </p:spPr>
        <p:txBody>
          <a:bodyPr wrap="square">
            <a:spAutoFit/>
          </a:bodyPr>
          <a:lstStyle/>
          <a:p>
            <a:pPr algn="l">
              <a:lnSpc>
                <a:spcPct val="126000"/>
              </a:lnSpc>
            </a:pPr>
            <a:r>
              <a:rPr sz="2025">
                <a:solidFill>
                  <a:srgbClr val="0F151A"/>
                </a:solidFill>
                <a:latin typeface="Quicksand"/>
              </a:rPr>
              <a:t>Integración estratégica de la información de consumo con las políticas de subsidios y eficiencia energética del Ministerio de Minas y Energía, optimizando la gestión pública.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886580" y="3257550"/>
            <a:ext cx="5066919" cy="5753099"/>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334499" y="3257550"/>
            <a:ext cx="5066919" cy="5753099"/>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a707d06-eb80-45ff-9f40-9e7fc5ee4d02.png"/>
          <p:cNvPicPr>
            <a:picLocks noChangeAspect="1"/>
          </p:cNvPicPr>
          <p:nvPr/>
        </p:nvPicPr>
        <p:blipFill>
          <a:blip r:embed="rId2"/>
          <a:stretch>
            <a:fillRect/>
          </a:stretch>
        </p:blipFill>
        <p:spPr>
          <a:xfrm>
            <a:off x="5684838" y="3638550"/>
            <a:ext cx="1470404" cy="1771571"/>
          </a:xfrm>
          <a:prstGeom prst="rect">
            <a:avLst/>
          </a:prstGeom>
        </p:spPr>
      </p:pic>
      <p:pic>
        <p:nvPicPr>
          <p:cNvPr id="5" name="Picture 4" descr="b365a88e-2ff4-4cf9-83f1-5ae4754781d6.jpg"/>
          <p:cNvPicPr>
            <a:picLocks noChangeAspect="1"/>
          </p:cNvPicPr>
          <p:nvPr/>
        </p:nvPicPr>
        <p:blipFill>
          <a:blip r:embed="rId3"/>
          <a:stretch>
            <a:fillRect/>
          </a:stretch>
        </p:blipFill>
        <p:spPr>
          <a:xfrm>
            <a:off x="9715500" y="3638550"/>
            <a:ext cx="4304919" cy="1771571"/>
          </a:xfrm>
          <a:prstGeom prst="rect">
            <a:avLst/>
          </a:prstGeom>
        </p:spPr>
      </p:pic>
      <p:sp>
        <p:nvSpPr>
          <p:cNvPr id="7" name="TextBox 6"/>
          <p:cNvSpPr txBox="1"/>
          <p:nvPr/>
        </p:nvSpPr>
        <p:spPr>
          <a:xfrm>
            <a:off x="1276350" y="1276350"/>
            <a:ext cx="15716250" cy="1676400"/>
          </a:xfrm>
          <a:prstGeom prst="rect">
            <a:avLst/>
          </a:prstGeom>
          <a:noFill/>
        </p:spPr>
        <p:txBody>
          <a:bodyPr wrap="square">
            <a:spAutoFit/>
          </a:bodyPr>
          <a:lstStyle/>
          <a:p>
            <a:pPr algn="ctr">
              <a:lnSpc>
                <a:spcPct val="99000"/>
              </a:lnSpc>
            </a:pPr>
            <a:r>
              <a:rPr sz="6000">
                <a:solidFill>
                  <a:srgbClr val="0F151A"/>
                </a:solidFill>
                <a:latin typeface="Quicksand Bold"/>
              </a:rPr>
              <a:t>Estrategia de Datos Abiertos para Energías Renovables</a:t>
            </a:r>
          </a:p>
        </p:txBody>
      </p:sp>
      <p:sp>
        <p:nvSpPr>
          <p:cNvPr id="8" name="TextBox 7"/>
          <p:cNvSpPr txBox="1"/>
          <p:nvPr/>
        </p:nvSpPr>
        <p:spPr>
          <a:xfrm>
            <a:off x="4267580" y="5600621"/>
            <a:ext cx="4304919" cy="388590"/>
          </a:xfrm>
          <a:prstGeom prst="rect">
            <a:avLst/>
          </a:prstGeom>
          <a:noFill/>
        </p:spPr>
        <p:txBody>
          <a:bodyPr wrap="square">
            <a:spAutoFit/>
          </a:bodyPr>
          <a:lstStyle/>
          <a:p>
            <a:pPr algn="l">
              <a:lnSpc>
                <a:spcPct val="108000"/>
              </a:lnSpc>
            </a:pPr>
            <a:r>
              <a:rPr sz="2550">
                <a:solidFill>
                  <a:srgbClr val="0F151A"/>
                </a:solidFill>
                <a:latin typeface="Quicksand Bold"/>
              </a:rPr>
              <a:t>Visibilidad de Recursos</a:t>
            </a:r>
          </a:p>
        </p:txBody>
      </p:sp>
      <p:sp>
        <p:nvSpPr>
          <p:cNvPr id="9" name="TextBox 8"/>
          <p:cNvSpPr txBox="1"/>
          <p:nvPr/>
        </p:nvSpPr>
        <p:spPr>
          <a:xfrm>
            <a:off x="4267580" y="6132086"/>
            <a:ext cx="4304919" cy="2452687"/>
          </a:xfrm>
          <a:prstGeom prst="rect">
            <a:avLst/>
          </a:prstGeom>
          <a:noFill/>
        </p:spPr>
        <p:txBody>
          <a:bodyPr wrap="square">
            <a:spAutoFit/>
          </a:bodyPr>
          <a:lstStyle/>
          <a:p>
            <a:pPr algn="l">
              <a:lnSpc>
                <a:spcPct val="126000"/>
              </a:lnSpc>
            </a:pPr>
            <a:r>
              <a:rPr sz="1725">
                <a:solidFill>
                  <a:srgbClr val="323E47"/>
                </a:solidFill>
                <a:latin typeface="Quicksand"/>
              </a:rPr>
              <a:t>Se publican datos geoespaciales críticos, como </a:t>
            </a:r>
            <a:r>
              <a:rPr sz="1725">
                <a:solidFill>
                  <a:srgbClr val="323E47"/>
                </a:solidFill>
                <a:latin typeface="Quicksand Bold"/>
              </a:rPr>
              <a:t>mapas de radiación solar</a:t>
            </a:r>
            <a:r>
              <a:rPr sz="1725">
                <a:solidFill>
                  <a:srgbClr val="323E47"/>
                </a:solidFill>
                <a:latin typeface="Quicksand"/>
              </a:rPr>
              <a:t> y velocidad de viento. Esta información, crucial para la modelación y planificación, está disponible para desarrolladores privados y el público general, facilitando la identificación de sitios óptimos para proyectos de energía renovable.</a:t>
            </a:r>
          </a:p>
        </p:txBody>
      </p:sp>
      <p:sp>
        <p:nvSpPr>
          <p:cNvPr id="10" name="TextBox 9"/>
          <p:cNvSpPr txBox="1"/>
          <p:nvPr/>
        </p:nvSpPr>
        <p:spPr>
          <a:xfrm>
            <a:off x="9715500" y="5600621"/>
            <a:ext cx="4304919" cy="388590"/>
          </a:xfrm>
          <a:prstGeom prst="rect">
            <a:avLst/>
          </a:prstGeom>
          <a:noFill/>
        </p:spPr>
        <p:txBody>
          <a:bodyPr wrap="square">
            <a:spAutoFit/>
          </a:bodyPr>
          <a:lstStyle/>
          <a:p>
            <a:pPr algn="l">
              <a:lnSpc>
                <a:spcPct val="108000"/>
              </a:lnSpc>
            </a:pPr>
            <a:r>
              <a:rPr sz="2550">
                <a:solidFill>
                  <a:srgbClr val="0F151A"/>
                </a:solidFill>
                <a:latin typeface="Quicksand Bold"/>
              </a:rPr>
              <a:t>Monitoreo de Proyectos</a:t>
            </a:r>
          </a:p>
        </p:txBody>
      </p:sp>
      <p:sp>
        <p:nvSpPr>
          <p:cNvPr id="11" name="TextBox 10"/>
          <p:cNvSpPr txBox="1"/>
          <p:nvPr/>
        </p:nvSpPr>
        <p:spPr>
          <a:xfrm>
            <a:off x="9715500" y="6132086"/>
            <a:ext cx="4304919" cy="2452687"/>
          </a:xfrm>
          <a:prstGeom prst="rect">
            <a:avLst/>
          </a:prstGeom>
          <a:noFill/>
        </p:spPr>
        <p:txBody>
          <a:bodyPr wrap="square">
            <a:spAutoFit/>
          </a:bodyPr>
          <a:lstStyle/>
          <a:p>
            <a:pPr algn="l">
              <a:lnSpc>
                <a:spcPct val="126000"/>
              </a:lnSpc>
            </a:pPr>
            <a:r>
              <a:rPr sz="1725">
                <a:solidFill>
                  <a:srgbClr val="323E47"/>
                </a:solidFill>
                <a:latin typeface="Quicksand"/>
              </a:rPr>
              <a:t>La UPME, a través del SIEL (Sistema de Información Eléctrico Colombiano), ofrece </a:t>
            </a:r>
            <a:r>
              <a:rPr sz="1725">
                <a:solidFill>
                  <a:srgbClr val="323E47"/>
                </a:solidFill>
                <a:latin typeface="Quicksand Bold"/>
              </a:rPr>
              <a:t>tableros de control</a:t>
            </a:r>
            <a:r>
              <a:rPr sz="1725">
                <a:solidFill>
                  <a:srgbClr val="323E47"/>
                </a:solidFill>
                <a:latin typeface="Quicksand"/>
              </a:rPr>
              <a:t> detallados sobre el estado de las conexiones al Sistema Interconectado Nacional (SIN). Esto permite un seguimiento transparente y en tiempo real del progreso y la integración de nuevos proyectos energéticos.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547675" y="3257550"/>
            <a:ext cx="5192649" cy="5753099"/>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0ab6adf-c0f6-458f-9f65-3c9d27d813af.jpg"/>
          <p:cNvPicPr>
            <a:picLocks noChangeAspect="1"/>
          </p:cNvPicPr>
          <p:nvPr/>
        </p:nvPicPr>
        <p:blipFill>
          <a:blip r:embed="rId2"/>
          <a:stretch>
            <a:fillRect/>
          </a:stretch>
        </p:blipFill>
        <p:spPr>
          <a:xfrm>
            <a:off x="7376687" y="3638550"/>
            <a:ext cx="3534624" cy="2123033"/>
          </a:xfrm>
          <a:prstGeom prst="rect">
            <a:avLst/>
          </a:prstGeom>
        </p:spPr>
      </p:pic>
      <p:sp>
        <p:nvSpPr>
          <p:cNvPr id="5" name="TextBox 4"/>
          <p:cNvSpPr txBox="1"/>
          <p:nvPr/>
        </p:nvSpPr>
        <p:spPr>
          <a:xfrm>
            <a:off x="1276350" y="1276350"/>
            <a:ext cx="15716250" cy="1676400"/>
          </a:xfrm>
          <a:prstGeom prst="rect">
            <a:avLst/>
          </a:prstGeom>
          <a:noFill/>
        </p:spPr>
        <p:txBody>
          <a:bodyPr wrap="square">
            <a:spAutoFit/>
          </a:bodyPr>
          <a:lstStyle/>
          <a:p>
            <a:pPr algn="ctr">
              <a:lnSpc>
                <a:spcPct val="99000"/>
              </a:lnSpc>
            </a:pPr>
            <a:r>
              <a:rPr sz="6000">
                <a:solidFill>
                  <a:srgbClr val="0F151A"/>
                </a:solidFill>
                <a:latin typeface="Quicksand Bold"/>
              </a:rPr>
              <a:t>Estrategia de Datos Abiertos para Energías Renovables</a:t>
            </a:r>
          </a:p>
        </p:txBody>
      </p:sp>
      <p:sp>
        <p:nvSpPr>
          <p:cNvPr id="6" name="TextBox 5"/>
          <p:cNvSpPr txBox="1"/>
          <p:nvPr/>
        </p:nvSpPr>
        <p:spPr>
          <a:xfrm>
            <a:off x="6928675" y="5952083"/>
            <a:ext cx="4430649" cy="388590"/>
          </a:xfrm>
          <a:prstGeom prst="rect">
            <a:avLst/>
          </a:prstGeom>
          <a:noFill/>
        </p:spPr>
        <p:txBody>
          <a:bodyPr wrap="square">
            <a:spAutoFit/>
          </a:bodyPr>
          <a:lstStyle/>
          <a:p>
            <a:pPr algn="l">
              <a:lnSpc>
                <a:spcPct val="108000"/>
              </a:lnSpc>
            </a:pPr>
            <a:r>
              <a:rPr sz="2550">
                <a:solidFill>
                  <a:srgbClr val="0F151A"/>
                </a:solidFill>
                <a:latin typeface="Quicksand Bold"/>
              </a:rPr>
              <a:t>Participación Ciudadana</a:t>
            </a:r>
          </a:p>
        </p:txBody>
      </p:sp>
      <p:sp>
        <p:nvSpPr>
          <p:cNvPr id="7" name="TextBox 6"/>
          <p:cNvSpPr txBox="1"/>
          <p:nvPr/>
        </p:nvSpPr>
        <p:spPr>
          <a:xfrm>
            <a:off x="6928675" y="6483548"/>
            <a:ext cx="4430649" cy="2146101"/>
          </a:xfrm>
          <a:prstGeom prst="rect">
            <a:avLst/>
          </a:prstGeom>
          <a:noFill/>
        </p:spPr>
        <p:txBody>
          <a:bodyPr wrap="square">
            <a:spAutoFit/>
          </a:bodyPr>
          <a:lstStyle/>
          <a:p>
            <a:pPr algn="l">
              <a:lnSpc>
                <a:spcPct val="126000"/>
              </a:lnSpc>
            </a:pPr>
            <a:r>
              <a:rPr sz="1725">
                <a:solidFill>
                  <a:srgbClr val="323E47"/>
                </a:solidFill>
                <a:latin typeface="Quicksand"/>
              </a:rPr>
              <a:t>Se garantiza el acceso público a </a:t>
            </a:r>
            <a:r>
              <a:rPr sz="1725">
                <a:solidFill>
                  <a:srgbClr val="323E47"/>
                </a:solidFill>
                <a:latin typeface="Quicksand Bold"/>
              </a:rPr>
              <a:t>precios de bolsa y tarifas</a:t>
            </a:r>
            <a:r>
              <a:rPr sz="1725">
                <a:solidFill>
                  <a:srgbClr val="323E47"/>
                </a:solidFill>
                <a:latin typeface="Quicksand"/>
              </a:rPr>
              <a:t> por comercializador. Esta transparencia en el mercado energético fomenta la competencia, empodera a los consumidores y promueve la toma de decisiones informadas sobre el consumo y la inversión en energías renovables.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71600" y="3996630"/>
          <a:ext cx="15544800" cy="3489960"/>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872490">
                <a:tc>
                  <a:txBody>
                    <a:bodyPr/>
                    <a:lstStyle/>
                    <a:p>
                      <a:pPr algn="ctr"/>
                      <a:r>
                        <a:rPr sz="2700">
                          <a:solidFill>
                            <a:srgbClr val="8D6E0D"/>
                          </a:solidFill>
                          <a:latin typeface="Quicksand Bold"/>
                        </a:rPr>
                        <a:t>Categoría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tc>
                  <a:txBody>
                    <a:bodyPr/>
                    <a:lstStyle/>
                    <a:p>
                      <a:pPr algn="ctr"/>
                      <a:r>
                        <a:rPr sz="2700">
                          <a:solidFill>
                            <a:srgbClr val="8D6E0D"/>
                          </a:solidFill>
                          <a:latin typeface="Quicksand Bold"/>
                        </a:rPr>
                        <a:t>Enfoque en Energías Renovables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9E7"/>
                    </a:solidFill>
                  </a:tcPr>
                </a:tc>
                <a:extLst>
                  <a:ext uri="{0D108BD9-81ED-4DB2-BD59-A6C34878D82A}">
                    <a16:rowId xmlns:a16="http://schemas.microsoft.com/office/drawing/2014/main" val="10000"/>
                  </a:ext>
                </a:extLst>
              </a:tr>
              <a:tr h="872490">
                <a:tc>
                  <a:txBody>
                    <a:bodyPr/>
                    <a:lstStyle/>
                    <a:p>
                      <a:pPr algn="l"/>
                      <a:r>
                        <a:rPr sz="2250">
                          <a:solidFill>
                            <a:srgbClr val="0F151A"/>
                          </a:solidFill>
                          <a:latin typeface="Quicksand"/>
                        </a:rPr>
                        <a:t>G2C (Gobierno a Ciudadano)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Ventanilla única para autogeneradores y subsidios solares.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1"/>
                  </a:ext>
                </a:extLst>
              </a:tr>
              <a:tr h="872490">
                <a:tc>
                  <a:txBody>
                    <a:bodyPr/>
                    <a:lstStyle/>
                    <a:p>
                      <a:pPr algn="l"/>
                      <a:r>
                        <a:rPr sz="2250">
                          <a:solidFill>
                            <a:srgbClr val="0F151A"/>
                          </a:solidFill>
                          <a:latin typeface="Quicksand"/>
                        </a:rPr>
                        <a:t>G2G (Gobierno a Gobierno)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Interoperabilidad UPME, ANLA, CREG para aprobación de proyectos.</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2"/>
                  </a:ext>
                </a:extLst>
              </a:tr>
              <a:tr h="872490">
                <a:tc>
                  <a:txBody>
                    <a:bodyPr/>
                    <a:lstStyle/>
                    <a:p>
                      <a:pPr algn="l"/>
                      <a:r>
                        <a:rPr sz="2250">
                          <a:solidFill>
                            <a:srgbClr val="0F151A"/>
                          </a:solidFill>
                          <a:latin typeface="Quicksand"/>
                        </a:rPr>
                        <a:t>G2B (Gobierno a Empresa)</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tc>
                  <a:txBody>
                    <a:bodyPr/>
                    <a:lstStyle/>
                    <a:p>
                      <a:pPr algn="l"/>
                      <a:r>
                        <a:rPr sz="2250">
                          <a:solidFill>
                            <a:srgbClr val="0F151A"/>
                          </a:solidFill>
                          <a:latin typeface="Quicksand"/>
                        </a:rPr>
                        <a:t>Plataformas digitales para subastas de contratos a largo plazo.</a:t>
                      </a:r>
                    </a:p>
                  </a:txBody>
                  <a:tcPr anchor="ctr">
                    <a:lnL w="12700">
                      <a:solidFill>
                        <a:srgbClr val="8D6E0D"/>
                      </a:solidFill>
                    </a:lnL>
                    <a:lnR w="12700">
                      <a:solidFill>
                        <a:srgbClr val="8D6E0D"/>
                      </a:solidFill>
                    </a:lnR>
                    <a:lnT w="12700">
                      <a:solidFill>
                        <a:srgbClr val="8D6E0D"/>
                      </a:solidFill>
                    </a:lnT>
                    <a:lnB w="12700">
                      <a:solidFill>
                        <a:srgbClr val="8D6E0D"/>
                      </a:solidFill>
                    </a:lnB>
                    <a:solidFill>
                      <a:srgbClr val="FFFFFF"/>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1371600" y="1695449"/>
            <a:ext cx="15544800" cy="838200"/>
          </a:xfrm>
          <a:prstGeom prst="rect">
            <a:avLst/>
          </a:prstGeom>
          <a:noFill/>
        </p:spPr>
        <p:txBody>
          <a:bodyPr wrap="square">
            <a:spAutoFit/>
          </a:bodyPr>
          <a:lstStyle/>
          <a:p>
            <a:pPr algn="l">
              <a:lnSpc>
                <a:spcPct val="99000"/>
              </a:lnSpc>
            </a:pPr>
            <a:r>
              <a:rPr sz="6000">
                <a:solidFill>
                  <a:srgbClr val="0F151A"/>
                </a:solidFill>
                <a:latin typeface="Quicksand Bold"/>
              </a:rPr>
              <a:t>Gobernanza y Relacionamiento Digital</a:t>
            </a:r>
          </a:p>
        </p:txBody>
      </p:sp>
      <p:sp>
        <p:nvSpPr>
          <p:cNvPr id="5" name="TextBox 4"/>
          <p:cNvSpPr txBox="1"/>
          <p:nvPr/>
        </p:nvSpPr>
        <p:spPr>
          <a:xfrm>
            <a:off x="1371600" y="2838450"/>
            <a:ext cx="15544800" cy="853380"/>
          </a:xfrm>
          <a:prstGeom prst="rect">
            <a:avLst/>
          </a:prstGeom>
          <a:noFill/>
        </p:spPr>
        <p:txBody>
          <a:bodyPr wrap="square">
            <a:spAutoFit/>
          </a:bodyPr>
          <a:lstStyle/>
          <a:p>
            <a:pPr algn="l">
              <a:lnSpc>
                <a:spcPct val="126000"/>
              </a:lnSpc>
            </a:pPr>
            <a:r>
              <a:rPr sz="2400">
                <a:solidFill>
                  <a:srgbClr val="323E47"/>
                </a:solidFill>
                <a:latin typeface="Quicksand"/>
              </a:rPr>
              <a:t>La digitalización redefine cómo interactúan los actores del ecosistema energético a través de canales principales de la política de Gobierno Digital.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3426156a-3967-40c8-aa6f-f0bfde89a5cc.png"/>
          <p:cNvPicPr>
            <a:picLocks noChangeAspect="1"/>
          </p:cNvPicPr>
          <p:nvPr/>
        </p:nvPicPr>
        <p:blipFill>
          <a:blip r:embed="rId2"/>
          <a:stretch>
            <a:fillRect/>
          </a:stretch>
        </p:blipFill>
        <p:spPr>
          <a:xfrm>
            <a:off x="1285875" y="1638299"/>
            <a:ext cx="7000875" cy="7000875"/>
          </a:xfrm>
          <a:prstGeom prst="rect">
            <a:avLst/>
          </a:prstGeom>
        </p:spPr>
      </p:pic>
      <p:sp>
        <p:nvSpPr>
          <p:cNvPr id="4" name="TextBox 3"/>
          <p:cNvSpPr txBox="1"/>
          <p:nvPr/>
        </p:nvSpPr>
        <p:spPr>
          <a:xfrm>
            <a:off x="1285875" y="8829675"/>
            <a:ext cx="7367587" cy="428625"/>
          </a:xfrm>
          <a:prstGeom prst="rect">
            <a:avLst/>
          </a:prstGeom>
          <a:noFill/>
        </p:spPr>
        <p:txBody>
          <a:bodyPr wrap="square">
            <a:spAutoFit/>
          </a:bodyPr>
          <a:lstStyle/>
          <a:p>
            <a:pPr algn="l">
              <a:lnSpc>
                <a:spcPct val="126000"/>
              </a:lnSpc>
            </a:pPr>
            <a:r>
              <a:rPr sz="2100" i="1">
                <a:solidFill>
                  <a:srgbClr val="323E47"/>
                </a:solidFill>
                <a:latin typeface="Quicksand"/>
              </a:rPr>
              <a:t>Escudo de ciberseguridad: protección esencial para redes de energía renovable.</a:t>
            </a:r>
          </a:p>
        </p:txBody>
      </p:sp>
      <p:sp>
        <p:nvSpPr>
          <p:cNvPr id="5" name="TextBox 4"/>
          <p:cNvSpPr txBox="1"/>
          <p:nvPr/>
        </p:nvSpPr>
        <p:spPr>
          <a:xfrm>
            <a:off x="9639300" y="1790700"/>
            <a:ext cx="7362824" cy="1718071"/>
          </a:xfrm>
          <a:prstGeom prst="rect">
            <a:avLst/>
          </a:prstGeom>
          <a:noFill/>
        </p:spPr>
        <p:txBody>
          <a:bodyPr wrap="square">
            <a:spAutoFit/>
          </a:bodyPr>
          <a:lstStyle/>
          <a:p>
            <a:pPr algn="l">
              <a:lnSpc>
                <a:spcPct val="99000"/>
              </a:lnSpc>
            </a:pPr>
            <a:r>
              <a:rPr sz="6150">
                <a:solidFill>
                  <a:srgbClr val="0F151A"/>
                </a:solidFill>
                <a:latin typeface="Quicksand Bold"/>
              </a:rPr>
              <a:t>Seguridad Digital Crítica</a:t>
            </a:r>
          </a:p>
        </p:txBody>
      </p:sp>
      <p:sp>
        <p:nvSpPr>
          <p:cNvPr id="6" name="TextBox 5"/>
          <p:cNvSpPr txBox="1"/>
          <p:nvPr/>
        </p:nvSpPr>
        <p:spPr>
          <a:xfrm>
            <a:off x="9639300" y="3813571"/>
            <a:ext cx="7362824" cy="4533304"/>
          </a:xfrm>
          <a:prstGeom prst="rect">
            <a:avLst/>
          </a:prstGeom>
          <a:noFill/>
        </p:spPr>
        <p:txBody>
          <a:bodyPr wrap="square">
            <a:spAutoFit/>
          </a:bodyPr>
          <a:lstStyle/>
          <a:p>
            <a:pPr algn="l">
              <a:buChar char="•"/>
            </a:pPr>
            <a:r>
              <a:rPr sz="2550">
                <a:latin typeface="Quicksand"/>
              </a:rPr>
              <a:t>  </a:t>
            </a:r>
            <a:r>
              <a:rPr sz="2550">
                <a:solidFill>
                  <a:srgbClr val="323E47"/>
                </a:solidFill>
                <a:latin typeface="Quicksand Bold"/>
              </a:rPr>
              <a:t>Marcos de Referencia:</a:t>
            </a:r>
            <a:r>
              <a:rPr sz="2550">
                <a:solidFill>
                  <a:srgbClr val="323E47"/>
                </a:solidFill>
                <a:latin typeface="Quicksand"/>
              </a:rPr>
              <a:t> Se aplica el Modelo de Seguridad y Privacidad de la Información (MSPI) del MinTIC en las empresas de servicios públicos para establecer estándares.</a:t>
            </a:r>
          </a:p>
          <a:p>
            <a:pPr algn="l">
              <a:lnSpc>
                <a:spcPct val="126000"/>
              </a:lnSpc>
              <a:spcBef>
                <a:spcPts val="1593"/>
              </a:spcBef>
              <a:buChar char="•"/>
            </a:pPr>
            <a:r>
              <a:rPr sz="2550">
                <a:latin typeface="Quicksand"/>
              </a:rPr>
              <a:t>  </a:t>
            </a:r>
            <a:r>
              <a:rPr sz="2550">
                <a:solidFill>
                  <a:srgbClr val="323E47"/>
                </a:solidFill>
                <a:latin typeface="Quicksand Bold"/>
              </a:rPr>
              <a:t>Resiliencia de Red:</a:t>
            </a:r>
            <a:r>
              <a:rPr sz="2550">
                <a:solidFill>
                  <a:srgbClr val="323E47"/>
                </a:solidFill>
                <a:latin typeface="Quicksand"/>
              </a:rPr>
              <a:t> El sistema debe tener la capacidad de operar de forma aislada a través de microredes si el nodo central sufre un ataque.</a:t>
            </a:r>
          </a:p>
          <a:p>
            <a:pPr algn="l">
              <a:lnSpc>
                <a:spcPct val="126000"/>
              </a:lnSpc>
              <a:spcBef>
                <a:spcPts val="1593"/>
              </a:spcBef>
              <a:buChar char="•"/>
            </a:pPr>
            <a:r>
              <a:rPr sz="2550">
                <a:latin typeface="Quicksand"/>
              </a:rPr>
              <a:t>  </a:t>
            </a:r>
            <a:r>
              <a:rPr sz="2550">
                <a:solidFill>
                  <a:srgbClr val="323E47"/>
                </a:solidFill>
                <a:latin typeface="Quicksand Bold"/>
              </a:rPr>
              <a:t>Cifrado de Extremo a Extremo:</a:t>
            </a:r>
            <a:r>
              <a:rPr sz="2550">
                <a:solidFill>
                  <a:srgbClr val="323E47"/>
                </a:solidFill>
                <a:latin typeface="Quicksand"/>
              </a:rPr>
              <a:t> Es crucial proteger los datos sensibles desde el sensor del panel solar hasta el centro de control nacional.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63b3797b-2a70-480d-a46e-1d7c39e89c56.jpg"/>
          <p:cNvPicPr>
            <a:picLocks noChangeAspect="1"/>
          </p:cNvPicPr>
          <p:nvPr/>
        </p:nvPicPr>
        <p:blipFill>
          <a:blip r:embed="rId2"/>
          <a:stretch>
            <a:fillRect/>
          </a:stretch>
        </p:blipFill>
        <p:spPr>
          <a:xfrm>
            <a:off x="771525" y="3936251"/>
            <a:ext cx="3381375" cy="2414496"/>
          </a:xfrm>
          <a:prstGeom prst="rect">
            <a:avLst/>
          </a:prstGeom>
        </p:spPr>
      </p:pic>
      <p:sp>
        <p:nvSpPr>
          <p:cNvPr id="4" name="TextBox 3"/>
          <p:cNvSpPr txBox="1"/>
          <p:nvPr/>
        </p:nvSpPr>
        <p:spPr>
          <a:xfrm>
            <a:off x="4610099" y="718789"/>
            <a:ext cx="12392024" cy="754260"/>
          </a:xfrm>
          <a:prstGeom prst="rect">
            <a:avLst/>
          </a:prstGeom>
          <a:noFill/>
        </p:spPr>
        <p:txBody>
          <a:bodyPr wrap="square">
            <a:spAutoFit/>
          </a:bodyPr>
          <a:lstStyle/>
          <a:p>
            <a:pPr algn="l">
              <a:lnSpc>
                <a:spcPct val="99000"/>
              </a:lnSpc>
            </a:pPr>
            <a:r>
              <a:rPr sz="5400" dirty="0" err="1">
                <a:solidFill>
                  <a:srgbClr val="0F151A"/>
                </a:solidFill>
                <a:latin typeface="Quicksand Bold"/>
              </a:rPr>
              <a:t>Gobernanza</a:t>
            </a:r>
            <a:r>
              <a:rPr sz="5400" dirty="0">
                <a:solidFill>
                  <a:srgbClr val="0F151A"/>
                </a:solidFill>
                <a:latin typeface="Quicksand Bold"/>
              </a:rPr>
              <a:t> de </a:t>
            </a:r>
            <a:r>
              <a:rPr sz="5400" dirty="0" err="1">
                <a:solidFill>
                  <a:srgbClr val="0F151A"/>
                </a:solidFill>
                <a:latin typeface="Quicksand Bold"/>
              </a:rPr>
              <a:t>Recursos</a:t>
            </a:r>
            <a:r>
              <a:rPr sz="5400" dirty="0">
                <a:solidFill>
                  <a:srgbClr val="0F151A"/>
                </a:solidFill>
                <a:latin typeface="Quicksand Bold"/>
              </a:rPr>
              <a:t> </a:t>
            </a:r>
            <a:r>
              <a:rPr sz="5400" dirty="0" err="1">
                <a:solidFill>
                  <a:srgbClr val="0F151A"/>
                </a:solidFill>
                <a:latin typeface="Quicksand Bold"/>
              </a:rPr>
              <a:t>Distribuidos</a:t>
            </a:r>
            <a:endParaRPr sz="5400" dirty="0">
              <a:solidFill>
                <a:srgbClr val="0F151A"/>
              </a:solidFill>
              <a:latin typeface="Quicksand Bold"/>
            </a:endParaRPr>
          </a:p>
        </p:txBody>
      </p:sp>
      <p:sp>
        <p:nvSpPr>
          <p:cNvPr id="5" name="TextBox 4"/>
          <p:cNvSpPr txBox="1"/>
          <p:nvPr/>
        </p:nvSpPr>
        <p:spPr>
          <a:xfrm>
            <a:off x="4610099" y="2335410"/>
            <a:ext cx="12392024" cy="411360"/>
          </a:xfrm>
          <a:prstGeom prst="rect">
            <a:avLst/>
          </a:prstGeom>
          <a:noFill/>
        </p:spPr>
        <p:txBody>
          <a:bodyPr wrap="square">
            <a:spAutoFit/>
          </a:bodyPr>
          <a:lstStyle/>
          <a:p>
            <a:pPr algn="l">
              <a:lnSpc>
                <a:spcPct val="108000"/>
              </a:lnSpc>
            </a:pPr>
            <a:r>
              <a:rPr sz="2700">
                <a:solidFill>
                  <a:srgbClr val="0F151A"/>
                </a:solidFill>
                <a:latin typeface="Quicksand Bold"/>
              </a:rPr>
              <a:t>Sistemas VPP</a:t>
            </a:r>
          </a:p>
        </p:txBody>
      </p:sp>
      <p:sp>
        <p:nvSpPr>
          <p:cNvPr id="6" name="TextBox 5"/>
          <p:cNvSpPr txBox="1"/>
          <p:nvPr/>
        </p:nvSpPr>
        <p:spPr>
          <a:xfrm>
            <a:off x="4610099" y="2861071"/>
            <a:ext cx="12392024" cy="1386482"/>
          </a:xfrm>
          <a:prstGeom prst="rect">
            <a:avLst/>
          </a:prstGeom>
          <a:noFill/>
        </p:spPr>
        <p:txBody>
          <a:bodyPr wrap="square">
            <a:spAutoFit/>
          </a:bodyPr>
          <a:lstStyle/>
          <a:p>
            <a:pPr algn="l">
              <a:lnSpc>
                <a:spcPct val="126000"/>
              </a:lnSpc>
            </a:pPr>
            <a:r>
              <a:rPr sz="1950" dirty="0">
                <a:solidFill>
                  <a:srgbClr val="323E47"/>
                </a:solidFill>
                <a:latin typeface="Quicksand"/>
              </a:rPr>
              <a:t>La </a:t>
            </a:r>
            <a:r>
              <a:rPr sz="1950" dirty="0" err="1">
                <a:solidFill>
                  <a:srgbClr val="323E47"/>
                </a:solidFill>
                <a:latin typeface="Quicksand"/>
              </a:rPr>
              <a:t>gestión</a:t>
            </a:r>
            <a:r>
              <a:rPr sz="1950" dirty="0">
                <a:solidFill>
                  <a:srgbClr val="323E47"/>
                </a:solidFill>
                <a:latin typeface="Quicksand"/>
              </a:rPr>
              <a:t> de </a:t>
            </a:r>
            <a:r>
              <a:rPr sz="1950" dirty="0" err="1">
                <a:solidFill>
                  <a:srgbClr val="323E47"/>
                </a:solidFill>
                <a:latin typeface="Quicksand"/>
              </a:rPr>
              <a:t>los</a:t>
            </a:r>
            <a:r>
              <a:rPr sz="1950" dirty="0">
                <a:solidFill>
                  <a:srgbClr val="323E47"/>
                </a:solidFill>
                <a:latin typeface="Quicksand"/>
              </a:rPr>
              <a:t> </a:t>
            </a:r>
            <a:r>
              <a:rPr sz="1950" dirty="0" err="1">
                <a:solidFill>
                  <a:srgbClr val="323E47"/>
                </a:solidFill>
                <a:latin typeface="Quicksand"/>
              </a:rPr>
              <a:t>Recursos</a:t>
            </a:r>
            <a:r>
              <a:rPr sz="1950" dirty="0">
                <a:solidFill>
                  <a:srgbClr val="323E47"/>
                </a:solidFill>
                <a:latin typeface="Quicksand"/>
              </a:rPr>
              <a:t> </a:t>
            </a:r>
            <a:r>
              <a:rPr sz="1950" dirty="0" err="1">
                <a:solidFill>
                  <a:srgbClr val="323E47"/>
                </a:solidFill>
                <a:latin typeface="Quicksand"/>
              </a:rPr>
              <a:t>Energéticos</a:t>
            </a:r>
            <a:r>
              <a:rPr sz="1950" dirty="0">
                <a:solidFill>
                  <a:srgbClr val="323E47"/>
                </a:solidFill>
                <a:latin typeface="Quicksand"/>
              </a:rPr>
              <a:t> </a:t>
            </a:r>
            <a:r>
              <a:rPr sz="1950" dirty="0" err="1">
                <a:solidFill>
                  <a:srgbClr val="323E47"/>
                </a:solidFill>
                <a:latin typeface="Quicksand"/>
              </a:rPr>
              <a:t>Distribuidos</a:t>
            </a:r>
            <a:r>
              <a:rPr sz="1950" dirty="0">
                <a:solidFill>
                  <a:srgbClr val="323E47"/>
                </a:solidFill>
                <a:latin typeface="Quicksand"/>
              </a:rPr>
              <a:t> (DER) </a:t>
            </a:r>
            <a:r>
              <a:rPr sz="1950" dirty="0" err="1">
                <a:solidFill>
                  <a:srgbClr val="323E47"/>
                </a:solidFill>
                <a:latin typeface="Quicksand"/>
              </a:rPr>
              <a:t>exige</a:t>
            </a:r>
            <a:r>
              <a:rPr sz="1950" dirty="0">
                <a:solidFill>
                  <a:srgbClr val="323E47"/>
                </a:solidFill>
                <a:latin typeface="Quicksand"/>
              </a:rPr>
              <a:t> </a:t>
            </a:r>
            <a:r>
              <a:rPr sz="1950" dirty="0" err="1">
                <a:solidFill>
                  <a:srgbClr val="323E47"/>
                </a:solidFill>
                <a:latin typeface="Quicksand"/>
              </a:rPr>
              <a:t>una</a:t>
            </a:r>
            <a:r>
              <a:rPr sz="1950" dirty="0">
                <a:solidFill>
                  <a:srgbClr val="323E47"/>
                </a:solidFill>
                <a:latin typeface="Quicksand"/>
              </a:rPr>
              <a:t> </a:t>
            </a:r>
            <a:r>
              <a:rPr sz="1950" dirty="0" err="1">
                <a:solidFill>
                  <a:srgbClr val="323E47"/>
                </a:solidFill>
                <a:latin typeface="Quicksand"/>
              </a:rPr>
              <a:t>arquitectura</a:t>
            </a:r>
            <a:r>
              <a:rPr sz="1950" dirty="0">
                <a:solidFill>
                  <a:srgbClr val="323E47"/>
                </a:solidFill>
                <a:latin typeface="Quicksand"/>
              </a:rPr>
              <a:t> </a:t>
            </a:r>
            <a:r>
              <a:rPr sz="1950" dirty="0" err="1">
                <a:solidFill>
                  <a:srgbClr val="323E47"/>
                </a:solidFill>
                <a:latin typeface="Quicksand"/>
              </a:rPr>
              <a:t>gubernamental</a:t>
            </a:r>
            <a:r>
              <a:rPr sz="1950" dirty="0">
                <a:solidFill>
                  <a:srgbClr val="323E47"/>
                </a:solidFill>
                <a:latin typeface="Quicksand"/>
              </a:rPr>
              <a:t> </a:t>
            </a:r>
            <a:r>
              <a:rPr sz="1950" dirty="0" err="1">
                <a:solidFill>
                  <a:srgbClr val="323E47"/>
                </a:solidFill>
                <a:latin typeface="Quicksand"/>
              </a:rPr>
              <a:t>descentralizada</a:t>
            </a:r>
            <a:r>
              <a:rPr sz="1950" dirty="0">
                <a:solidFill>
                  <a:srgbClr val="323E47"/>
                </a:solidFill>
                <a:latin typeface="Quicksand"/>
              </a:rPr>
              <a:t>. Los </a:t>
            </a:r>
            <a:r>
              <a:rPr sz="1950" dirty="0">
                <a:solidFill>
                  <a:srgbClr val="323E47"/>
                </a:solidFill>
                <a:latin typeface="Quicksand Bold"/>
              </a:rPr>
              <a:t>Sistemas VPP</a:t>
            </a:r>
            <a:r>
              <a:rPr sz="1950" dirty="0">
                <a:solidFill>
                  <a:srgbClr val="323E47"/>
                </a:solidFill>
                <a:latin typeface="Quicksand"/>
              </a:rPr>
              <a:t> (</a:t>
            </a:r>
            <a:r>
              <a:rPr sz="1950" i="1" dirty="0">
                <a:solidFill>
                  <a:srgbClr val="323E47"/>
                </a:solidFill>
                <a:latin typeface="Quicksand"/>
              </a:rPr>
              <a:t>Virtual Power Plants</a:t>
            </a:r>
            <a:r>
              <a:rPr sz="1950" dirty="0">
                <a:solidFill>
                  <a:srgbClr val="323E47"/>
                </a:solidFill>
                <a:latin typeface="Quicksand"/>
              </a:rPr>
              <a:t>) </a:t>
            </a:r>
            <a:r>
              <a:rPr sz="1950" dirty="0" err="1">
                <a:solidFill>
                  <a:srgbClr val="323E47"/>
                </a:solidFill>
                <a:latin typeface="Quicksand"/>
              </a:rPr>
              <a:t>consisten</a:t>
            </a:r>
            <a:r>
              <a:rPr sz="1950" dirty="0">
                <a:solidFill>
                  <a:srgbClr val="323E47"/>
                </a:solidFill>
                <a:latin typeface="Quicksand"/>
              </a:rPr>
              <a:t> en la </a:t>
            </a:r>
            <a:r>
              <a:rPr sz="1950" dirty="0" err="1">
                <a:solidFill>
                  <a:srgbClr val="323E47"/>
                </a:solidFill>
                <a:latin typeface="Quicksand"/>
              </a:rPr>
              <a:t>agregación</a:t>
            </a:r>
            <a:r>
              <a:rPr sz="1950" dirty="0">
                <a:solidFill>
                  <a:srgbClr val="323E47"/>
                </a:solidFill>
                <a:latin typeface="Quicksand"/>
              </a:rPr>
              <a:t> digital de </a:t>
            </a:r>
            <a:r>
              <a:rPr sz="1950" dirty="0" err="1">
                <a:solidFill>
                  <a:srgbClr val="323E47"/>
                </a:solidFill>
                <a:latin typeface="Quicksand"/>
              </a:rPr>
              <a:t>múltiples</a:t>
            </a:r>
            <a:r>
              <a:rPr sz="1950" dirty="0">
                <a:solidFill>
                  <a:srgbClr val="323E47"/>
                </a:solidFill>
                <a:latin typeface="Quicksand"/>
              </a:rPr>
              <a:t> </a:t>
            </a:r>
            <a:r>
              <a:rPr sz="1950" dirty="0" err="1">
                <a:solidFill>
                  <a:srgbClr val="323E47"/>
                </a:solidFill>
                <a:latin typeface="Quicksand"/>
              </a:rPr>
              <a:t>sistemas</a:t>
            </a:r>
            <a:r>
              <a:rPr sz="1950" dirty="0">
                <a:solidFill>
                  <a:srgbClr val="323E47"/>
                </a:solidFill>
                <a:latin typeface="Quicksand"/>
              </a:rPr>
              <a:t> </a:t>
            </a:r>
            <a:r>
              <a:rPr sz="1950" dirty="0" err="1">
                <a:solidFill>
                  <a:srgbClr val="323E47"/>
                </a:solidFill>
                <a:latin typeface="Quicksand"/>
              </a:rPr>
              <a:t>solares</a:t>
            </a:r>
            <a:r>
              <a:rPr sz="1950" dirty="0">
                <a:solidFill>
                  <a:srgbClr val="323E47"/>
                </a:solidFill>
                <a:latin typeface="Quicksand"/>
              </a:rPr>
              <a:t> </a:t>
            </a:r>
            <a:r>
              <a:rPr sz="1950" dirty="0" err="1">
                <a:solidFill>
                  <a:srgbClr val="323E47"/>
                </a:solidFill>
                <a:latin typeface="Quicksand"/>
              </a:rPr>
              <a:t>residenciales</a:t>
            </a:r>
            <a:r>
              <a:rPr sz="1950" dirty="0">
                <a:solidFill>
                  <a:srgbClr val="323E47"/>
                </a:solidFill>
                <a:latin typeface="Quicksand"/>
              </a:rPr>
              <a:t> o </a:t>
            </a:r>
            <a:r>
              <a:rPr sz="1950" dirty="0" err="1">
                <a:solidFill>
                  <a:srgbClr val="323E47"/>
                </a:solidFill>
                <a:latin typeface="Quicksand"/>
              </a:rPr>
              <a:t>comerciales</a:t>
            </a:r>
            <a:r>
              <a:rPr sz="1950" dirty="0">
                <a:solidFill>
                  <a:srgbClr val="323E47"/>
                </a:solidFill>
                <a:latin typeface="Quicksand"/>
              </a:rPr>
              <a:t> para que </a:t>
            </a:r>
            <a:r>
              <a:rPr sz="1950" dirty="0" err="1">
                <a:solidFill>
                  <a:srgbClr val="323E47"/>
                </a:solidFill>
                <a:latin typeface="Quicksand"/>
              </a:rPr>
              <a:t>actúen</a:t>
            </a:r>
            <a:r>
              <a:rPr sz="1950" dirty="0">
                <a:solidFill>
                  <a:srgbClr val="323E47"/>
                </a:solidFill>
                <a:latin typeface="Quicksand"/>
              </a:rPr>
              <a:t> </a:t>
            </a:r>
            <a:r>
              <a:rPr sz="1950" dirty="0" err="1">
                <a:solidFill>
                  <a:srgbClr val="323E47"/>
                </a:solidFill>
                <a:latin typeface="Quicksand"/>
              </a:rPr>
              <a:t>como</a:t>
            </a:r>
            <a:r>
              <a:rPr sz="1950" dirty="0">
                <a:solidFill>
                  <a:srgbClr val="323E47"/>
                </a:solidFill>
                <a:latin typeface="Quicksand"/>
              </a:rPr>
              <a:t> </a:t>
            </a:r>
            <a:r>
              <a:rPr sz="1950" dirty="0" err="1">
                <a:solidFill>
                  <a:srgbClr val="323E47"/>
                </a:solidFill>
                <a:latin typeface="Quicksand"/>
              </a:rPr>
              <a:t>una</a:t>
            </a:r>
            <a:r>
              <a:rPr sz="1950" dirty="0">
                <a:solidFill>
                  <a:srgbClr val="323E47"/>
                </a:solidFill>
                <a:latin typeface="Quicksand"/>
              </a:rPr>
              <a:t> </a:t>
            </a:r>
            <a:r>
              <a:rPr sz="1950" dirty="0" err="1">
                <a:solidFill>
                  <a:srgbClr val="323E47"/>
                </a:solidFill>
                <a:latin typeface="Quicksand"/>
              </a:rPr>
              <a:t>única</a:t>
            </a:r>
            <a:r>
              <a:rPr sz="1950" dirty="0">
                <a:solidFill>
                  <a:srgbClr val="323E47"/>
                </a:solidFill>
                <a:latin typeface="Quicksand"/>
              </a:rPr>
              <a:t> planta de </a:t>
            </a:r>
            <a:r>
              <a:rPr sz="1950" dirty="0" err="1">
                <a:solidFill>
                  <a:srgbClr val="323E47"/>
                </a:solidFill>
                <a:latin typeface="Quicksand"/>
              </a:rPr>
              <a:t>energía</a:t>
            </a:r>
            <a:r>
              <a:rPr sz="1950" dirty="0">
                <a:solidFill>
                  <a:srgbClr val="323E47"/>
                </a:solidFill>
                <a:latin typeface="Quicksand"/>
              </a:rPr>
              <a:t> en </a:t>
            </a:r>
            <a:r>
              <a:rPr sz="1950" dirty="0" err="1">
                <a:solidFill>
                  <a:srgbClr val="323E47"/>
                </a:solidFill>
                <a:latin typeface="Quicksand"/>
              </a:rPr>
              <a:t>el</a:t>
            </a:r>
            <a:r>
              <a:rPr sz="1950" dirty="0">
                <a:solidFill>
                  <a:srgbClr val="323E47"/>
                </a:solidFill>
                <a:latin typeface="Quicksand"/>
              </a:rPr>
              <a:t> mercado.</a:t>
            </a:r>
          </a:p>
        </p:txBody>
      </p:sp>
      <p:sp>
        <p:nvSpPr>
          <p:cNvPr id="7" name="TextBox 6"/>
          <p:cNvSpPr txBox="1"/>
          <p:nvPr/>
        </p:nvSpPr>
        <p:spPr>
          <a:xfrm>
            <a:off x="4610099" y="4438054"/>
            <a:ext cx="12392024" cy="411360"/>
          </a:xfrm>
          <a:prstGeom prst="rect">
            <a:avLst/>
          </a:prstGeom>
          <a:noFill/>
        </p:spPr>
        <p:txBody>
          <a:bodyPr wrap="square">
            <a:spAutoFit/>
          </a:bodyPr>
          <a:lstStyle/>
          <a:p>
            <a:pPr algn="l">
              <a:lnSpc>
                <a:spcPct val="108000"/>
              </a:lnSpc>
            </a:pPr>
            <a:r>
              <a:rPr sz="2700">
                <a:solidFill>
                  <a:srgbClr val="0F151A"/>
                </a:solidFill>
                <a:latin typeface="Quicksand Bold"/>
              </a:rPr>
              <a:t>Regulación Dinámica</a:t>
            </a:r>
          </a:p>
        </p:txBody>
      </p:sp>
      <p:sp>
        <p:nvSpPr>
          <p:cNvPr id="8" name="TextBox 7"/>
          <p:cNvSpPr txBox="1"/>
          <p:nvPr/>
        </p:nvSpPr>
        <p:spPr>
          <a:xfrm>
            <a:off x="4610099" y="4963715"/>
            <a:ext cx="12392024" cy="1039862"/>
          </a:xfrm>
          <a:prstGeom prst="rect">
            <a:avLst/>
          </a:prstGeom>
          <a:noFill/>
        </p:spPr>
        <p:txBody>
          <a:bodyPr wrap="square">
            <a:spAutoFit/>
          </a:bodyPr>
          <a:lstStyle/>
          <a:p>
            <a:pPr algn="l">
              <a:lnSpc>
                <a:spcPct val="126000"/>
              </a:lnSpc>
            </a:pPr>
            <a:r>
              <a:rPr sz="1950">
                <a:solidFill>
                  <a:srgbClr val="323E47"/>
                </a:solidFill>
                <a:latin typeface="Quicksand"/>
              </a:rPr>
              <a:t>La </a:t>
            </a:r>
            <a:r>
              <a:rPr sz="1950">
                <a:solidFill>
                  <a:srgbClr val="323E47"/>
                </a:solidFill>
                <a:latin typeface="Quicksand Bold"/>
              </a:rPr>
              <a:t>regulación dinámica</a:t>
            </a:r>
            <a:r>
              <a:rPr sz="1950">
                <a:solidFill>
                  <a:srgbClr val="323E47"/>
                </a:solidFill>
                <a:latin typeface="Quicksand"/>
              </a:rPr>
              <a:t> se refiere a la capacidad de las entidades reguladoras, como la CREG, para ajustar normativas de manera flexible. Esto se logra mediante el uso de algoritmos avanzados que analizan el comportamiento de la red eléctrica en tiempo real, permitiendo respuestas ágiles a las fluctuaciones.</a:t>
            </a:r>
          </a:p>
        </p:txBody>
      </p:sp>
      <p:sp>
        <p:nvSpPr>
          <p:cNvPr id="9" name="TextBox 8"/>
          <p:cNvSpPr txBox="1"/>
          <p:nvPr/>
        </p:nvSpPr>
        <p:spPr>
          <a:xfrm>
            <a:off x="4610099" y="6605437"/>
            <a:ext cx="12392024" cy="411360"/>
          </a:xfrm>
          <a:prstGeom prst="rect">
            <a:avLst/>
          </a:prstGeom>
          <a:noFill/>
        </p:spPr>
        <p:txBody>
          <a:bodyPr wrap="square">
            <a:spAutoFit/>
          </a:bodyPr>
          <a:lstStyle/>
          <a:p>
            <a:pPr algn="l">
              <a:lnSpc>
                <a:spcPct val="108000"/>
              </a:lnSpc>
            </a:pPr>
            <a:r>
              <a:rPr sz="2700" dirty="0" err="1">
                <a:solidFill>
                  <a:srgbClr val="0F151A"/>
                </a:solidFill>
                <a:latin typeface="Quicksand Bold"/>
              </a:rPr>
              <a:t>Plataformas</a:t>
            </a:r>
            <a:r>
              <a:rPr sz="2700" dirty="0">
                <a:solidFill>
                  <a:srgbClr val="0F151A"/>
                </a:solidFill>
                <a:latin typeface="Quicksand Bold"/>
              </a:rPr>
              <a:t> P2P</a:t>
            </a:r>
          </a:p>
        </p:txBody>
      </p:sp>
      <p:sp>
        <p:nvSpPr>
          <p:cNvPr id="10" name="TextBox 9"/>
          <p:cNvSpPr txBox="1"/>
          <p:nvPr/>
        </p:nvSpPr>
        <p:spPr>
          <a:xfrm>
            <a:off x="4610099" y="7258349"/>
            <a:ext cx="12392024" cy="1386482"/>
          </a:xfrm>
          <a:prstGeom prst="rect">
            <a:avLst/>
          </a:prstGeom>
          <a:noFill/>
        </p:spPr>
        <p:txBody>
          <a:bodyPr wrap="square">
            <a:spAutoFit/>
          </a:bodyPr>
          <a:lstStyle/>
          <a:p>
            <a:pPr algn="l">
              <a:lnSpc>
                <a:spcPct val="126000"/>
              </a:lnSpc>
            </a:pPr>
            <a:r>
              <a:rPr sz="1950" dirty="0">
                <a:solidFill>
                  <a:srgbClr val="323E47"/>
                </a:solidFill>
                <a:latin typeface="Quicksand"/>
              </a:rPr>
              <a:t>Las </a:t>
            </a:r>
            <a:r>
              <a:rPr sz="1950" dirty="0" err="1">
                <a:solidFill>
                  <a:srgbClr val="323E47"/>
                </a:solidFill>
                <a:latin typeface="Quicksand Bold"/>
              </a:rPr>
              <a:t>plataformas</a:t>
            </a:r>
            <a:r>
              <a:rPr sz="1950" dirty="0">
                <a:solidFill>
                  <a:srgbClr val="323E47"/>
                </a:solidFill>
                <a:latin typeface="Quicksand Bold"/>
              </a:rPr>
              <a:t> de </a:t>
            </a:r>
            <a:r>
              <a:rPr sz="1950" dirty="0" err="1">
                <a:solidFill>
                  <a:srgbClr val="323E47"/>
                </a:solidFill>
                <a:latin typeface="Quicksand Bold"/>
              </a:rPr>
              <a:t>intercambio</a:t>
            </a:r>
            <a:r>
              <a:rPr sz="1950" dirty="0">
                <a:solidFill>
                  <a:srgbClr val="323E47"/>
                </a:solidFill>
                <a:latin typeface="Quicksand Bold"/>
              </a:rPr>
              <a:t> P2P</a:t>
            </a:r>
            <a:r>
              <a:rPr sz="1950" dirty="0">
                <a:solidFill>
                  <a:srgbClr val="323E47"/>
                </a:solidFill>
                <a:latin typeface="Quicksand"/>
              </a:rPr>
              <a:t> (</a:t>
            </a:r>
            <a:r>
              <a:rPr sz="1950" i="1" dirty="0">
                <a:solidFill>
                  <a:srgbClr val="323E47"/>
                </a:solidFill>
                <a:latin typeface="Quicksand"/>
              </a:rPr>
              <a:t>Peer-to-Peer</a:t>
            </a:r>
            <a:r>
              <a:rPr sz="1950" dirty="0">
                <a:solidFill>
                  <a:srgbClr val="323E47"/>
                </a:solidFill>
                <a:latin typeface="Quicksand"/>
              </a:rPr>
              <a:t>) </a:t>
            </a:r>
            <a:r>
              <a:rPr sz="1950" dirty="0" err="1">
                <a:solidFill>
                  <a:srgbClr val="323E47"/>
                </a:solidFill>
                <a:latin typeface="Quicksand"/>
              </a:rPr>
              <a:t>facilitan</a:t>
            </a:r>
            <a:r>
              <a:rPr sz="1950" dirty="0">
                <a:solidFill>
                  <a:srgbClr val="323E47"/>
                </a:solidFill>
                <a:latin typeface="Quicksand"/>
              </a:rPr>
              <a:t> que </a:t>
            </a:r>
            <a:r>
              <a:rPr sz="1950" dirty="0" err="1">
                <a:solidFill>
                  <a:srgbClr val="323E47"/>
                </a:solidFill>
                <a:latin typeface="Quicksand"/>
              </a:rPr>
              <a:t>los</a:t>
            </a:r>
            <a:r>
              <a:rPr sz="1950" dirty="0">
                <a:solidFill>
                  <a:srgbClr val="323E47"/>
                </a:solidFill>
                <a:latin typeface="Quicksand"/>
              </a:rPr>
              <a:t> </a:t>
            </a:r>
            <a:r>
              <a:rPr sz="1950" dirty="0" err="1">
                <a:solidFill>
                  <a:srgbClr val="323E47"/>
                </a:solidFill>
                <a:latin typeface="Quicksand"/>
              </a:rPr>
              <a:t>prosumidores</a:t>
            </a:r>
            <a:r>
              <a:rPr sz="1950" dirty="0">
                <a:solidFill>
                  <a:srgbClr val="323E47"/>
                </a:solidFill>
                <a:latin typeface="Quicksand"/>
              </a:rPr>
              <a:t> (</a:t>
            </a:r>
            <a:r>
              <a:rPr sz="1950" dirty="0" err="1">
                <a:solidFill>
                  <a:srgbClr val="323E47"/>
                </a:solidFill>
                <a:latin typeface="Quicksand"/>
              </a:rPr>
              <a:t>consumidores</a:t>
            </a:r>
            <a:r>
              <a:rPr sz="1950" dirty="0">
                <a:solidFill>
                  <a:srgbClr val="323E47"/>
                </a:solidFill>
                <a:latin typeface="Quicksand"/>
              </a:rPr>
              <a:t> y </a:t>
            </a:r>
            <a:r>
              <a:rPr sz="1950" dirty="0" err="1">
                <a:solidFill>
                  <a:srgbClr val="323E47"/>
                </a:solidFill>
                <a:latin typeface="Quicksand"/>
              </a:rPr>
              <a:t>productores</a:t>
            </a:r>
            <a:r>
              <a:rPr sz="1950" dirty="0">
                <a:solidFill>
                  <a:srgbClr val="323E47"/>
                </a:solidFill>
                <a:latin typeface="Quicksand"/>
              </a:rPr>
              <a:t> de </a:t>
            </a:r>
            <a:r>
              <a:rPr sz="1950" dirty="0" err="1">
                <a:solidFill>
                  <a:srgbClr val="323E47"/>
                </a:solidFill>
                <a:latin typeface="Quicksand"/>
              </a:rPr>
              <a:t>energía</a:t>
            </a:r>
            <a:r>
              <a:rPr sz="1950" dirty="0">
                <a:solidFill>
                  <a:srgbClr val="323E47"/>
                </a:solidFill>
                <a:latin typeface="Quicksand"/>
              </a:rPr>
              <a:t>) </a:t>
            </a:r>
            <a:r>
              <a:rPr sz="1950" dirty="0" err="1">
                <a:solidFill>
                  <a:srgbClr val="323E47"/>
                </a:solidFill>
                <a:latin typeface="Quicksand"/>
              </a:rPr>
              <a:t>puedan</a:t>
            </a:r>
            <a:r>
              <a:rPr sz="1950" dirty="0">
                <a:solidFill>
                  <a:srgbClr val="323E47"/>
                </a:solidFill>
                <a:latin typeface="Quicksand"/>
              </a:rPr>
              <a:t> vender sus </a:t>
            </a:r>
            <a:r>
              <a:rPr sz="1950" dirty="0" err="1">
                <a:solidFill>
                  <a:srgbClr val="323E47"/>
                </a:solidFill>
                <a:latin typeface="Quicksand"/>
              </a:rPr>
              <a:t>excedentes</a:t>
            </a:r>
            <a:r>
              <a:rPr sz="1950" dirty="0">
                <a:solidFill>
                  <a:srgbClr val="323E47"/>
                </a:solidFill>
                <a:latin typeface="Quicksand"/>
              </a:rPr>
              <a:t> de </a:t>
            </a:r>
            <a:r>
              <a:rPr sz="1950" dirty="0" err="1">
                <a:solidFill>
                  <a:srgbClr val="323E47"/>
                </a:solidFill>
                <a:latin typeface="Quicksand"/>
              </a:rPr>
              <a:t>energía</a:t>
            </a:r>
            <a:r>
              <a:rPr sz="1950" dirty="0">
                <a:solidFill>
                  <a:srgbClr val="323E47"/>
                </a:solidFill>
                <a:latin typeface="Quicksand"/>
              </a:rPr>
              <a:t> solar </a:t>
            </a:r>
            <a:r>
              <a:rPr sz="1950" dirty="0" err="1">
                <a:solidFill>
                  <a:srgbClr val="323E47"/>
                </a:solidFill>
                <a:latin typeface="Quicksand"/>
              </a:rPr>
              <a:t>directamente</a:t>
            </a:r>
            <a:r>
              <a:rPr sz="1950" dirty="0">
                <a:solidFill>
                  <a:srgbClr val="323E47"/>
                </a:solidFill>
                <a:latin typeface="Quicksand"/>
              </a:rPr>
              <a:t> a </a:t>
            </a:r>
            <a:r>
              <a:rPr sz="1950" dirty="0" err="1">
                <a:solidFill>
                  <a:srgbClr val="323E47"/>
                </a:solidFill>
                <a:latin typeface="Quicksand"/>
              </a:rPr>
              <a:t>otros</a:t>
            </a:r>
            <a:r>
              <a:rPr sz="1950" dirty="0">
                <a:solidFill>
                  <a:srgbClr val="323E47"/>
                </a:solidFill>
                <a:latin typeface="Quicksand"/>
              </a:rPr>
              <a:t> </a:t>
            </a:r>
            <a:r>
              <a:rPr sz="1950" dirty="0" err="1">
                <a:solidFill>
                  <a:srgbClr val="323E47"/>
                </a:solidFill>
                <a:latin typeface="Quicksand"/>
              </a:rPr>
              <a:t>vecinos</a:t>
            </a:r>
            <a:r>
              <a:rPr sz="1950" dirty="0">
                <a:solidFill>
                  <a:srgbClr val="323E47"/>
                </a:solidFill>
                <a:latin typeface="Quicksand"/>
              </a:rPr>
              <a:t>. El </a:t>
            </a:r>
            <a:r>
              <a:rPr sz="1950" dirty="0" err="1">
                <a:solidFill>
                  <a:srgbClr val="323E47"/>
                </a:solidFill>
                <a:latin typeface="Quicksand"/>
              </a:rPr>
              <a:t>rol</a:t>
            </a:r>
            <a:r>
              <a:rPr sz="1950" dirty="0">
                <a:solidFill>
                  <a:srgbClr val="323E47"/>
                </a:solidFill>
                <a:latin typeface="Quicksand"/>
              </a:rPr>
              <a:t> </a:t>
            </a:r>
            <a:r>
              <a:rPr sz="1950" dirty="0" err="1">
                <a:solidFill>
                  <a:srgbClr val="323E47"/>
                </a:solidFill>
                <a:latin typeface="Quicksand"/>
              </a:rPr>
              <a:t>estatal</a:t>
            </a:r>
            <a:r>
              <a:rPr sz="1950" dirty="0">
                <a:solidFill>
                  <a:srgbClr val="323E47"/>
                </a:solidFill>
                <a:latin typeface="Quicksand"/>
              </a:rPr>
              <a:t> es </a:t>
            </a:r>
            <a:r>
              <a:rPr sz="1950" dirty="0" err="1">
                <a:solidFill>
                  <a:srgbClr val="323E47"/>
                </a:solidFill>
                <a:latin typeface="Quicksand"/>
              </a:rPr>
              <a:t>asegurar</a:t>
            </a:r>
            <a:r>
              <a:rPr sz="1950" dirty="0">
                <a:solidFill>
                  <a:srgbClr val="323E47"/>
                </a:solidFill>
                <a:latin typeface="Quicksand"/>
              </a:rPr>
              <a:t> que </a:t>
            </a:r>
            <a:r>
              <a:rPr sz="1950" dirty="0" err="1">
                <a:solidFill>
                  <a:srgbClr val="323E47"/>
                </a:solidFill>
                <a:latin typeface="Quicksand"/>
              </a:rPr>
              <a:t>estas</a:t>
            </a:r>
            <a:r>
              <a:rPr sz="1950" dirty="0">
                <a:solidFill>
                  <a:srgbClr val="323E47"/>
                </a:solidFill>
                <a:latin typeface="Quicksand"/>
              </a:rPr>
              <a:t> </a:t>
            </a:r>
            <a:r>
              <a:rPr sz="1950" dirty="0" err="1">
                <a:solidFill>
                  <a:srgbClr val="323E47"/>
                </a:solidFill>
                <a:latin typeface="Quicksand"/>
              </a:rPr>
              <a:t>transacciones</a:t>
            </a:r>
            <a:r>
              <a:rPr sz="1950" dirty="0">
                <a:solidFill>
                  <a:srgbClr val="323E47"/>
                </a:solidFill>
                <a:latin typeface="Quicksand"/>
              </a:rPr>
              <a:t> </a:t>
            </a:r>
            <a:r>
              <a:rPr sz="1950" dirty="0" err="1">
                <a:solidFill>
                  <a:srgbClr val="323E47"/>
                </a:solidFill>
                <a:latin typeface="Quicksand"/>
              </a:rPr>
              <a:t>sean</a:t>
            </a:r>
            <a:r>
              <a:rPr sz="1950" dirty="0">
                <a:solidFill>
                  <a:srgbClr val="323E47"/>
                </a:solidFill>
                <a:latin typeface="Quicksand"/>
              </a:rPr>
              <a:t> </a:t>
            </a:r>
            <a:r>
              <a:rPr sz="1950" dirty="0" err="1">
                <a:solidFill>
                  <a:srgbClr val="323E47"/>
                </a:solidFill>
                <a:latin typeface="Quicksand"/>
              </a:rPr>
              <a:t>legales</a:t>
            </a:r>
            <a:r>
              <a:rPr sz="1950" dirty="0">
                <a:solidFill>
                  <a:srgbClr val="323E47"/>
                </a:solidFill>
                <a:latin typeface="Quicksand"/>
              </a:rPr>
              <a:t>, </a:t>
            </a:r>
            <a:r>
              <a:rPr sz="1950" dirty="0" err="1">
                <a:solidFill>
                  <a:srgbClr val="323E47"/>
                </a:solidFill>
                <a:latin typeface="Quicksand"/>
              </a:rPr>
              <a:t>seguras</a:t>
            </a:r>
            <a:r>
              <a:rPr sz="1950" dirty="0">
                <a:solidFill>
                  <a:srgbClr val="323E47"/>
                </a:solidFill>
                <a:latin typeface="Quicksand"/>
              </a:rPr>
              <a:t> y </a:t>
            </a:r>
            <a:r>
              <a:rPr sz="1950" dirty="0" err="1">
                <a:solidFill>
                  <a:srgbClr val="323E47"/>
                </a:solidFill>
                <a:latin typeface="Quicksand"/>
              </a:rPr>
              <a:t>eficientes</a:t>
            </a:r>
            <a:r>
              <a:rPr sz="1950" dirty="0">
                <a:solidFill>
                  <a:srgbClr val="323E47"/>
                </a:solidFill>
                <a:latin typeface="Quicksand"/>
              </a:rPr>
              <a:t>, </a:t>
            </a:r>
            <a:r>
              <a:rPr sz="1950" dirty="0" err="1">
                <a:solidFill>
                  <a:srgbClr val="323E47"/>
                </a:solidFill>
                <a:latin typeface="Quicksand"/>
              </a:rPr>
              <a:t>promoviendo</a:t>
            </a:r>
            <a:r>
              <a:rPr sz="1950" dirty="0">
                <a:solidFill>
                  <a:srgbClr val="323E47"/>
                </a:solidFill>
                <a:latin typeface="Quicksand"/>
              </a:rPr>
              <a:t> la </a:t>
            </a:r>
            <a:r>
              <a:rPr sz="1950" dirty="0" err="1">
                <a:solidFill>
                  <a:srgbClr val="323E47"/>
                </a:solidFill>
                <a:latin typeface="Quicksand"/>
              </a:rPr>
              <a:t>descentralización</a:t>
            </a:r>
            <a:r>
              <a:rPr sz="1950" dirty="0">
                <a:solidFill>
                  <a:srgbClr val="323E47"/>
                </a:solidFill>
                <a:latin typeface="Quicksand"/>
              </a:rPr>
              <a:t> del mercado </a:t>
            </a:r>
            <a:r>
              <a:rPr sz="1950" dirty="0" err="1">
                <a:solidFill>
                  <a:srgbClr val="323E47"/>
                </a:solidFill>
                <a:latin typeface="Quicksand"/>
              </a:rPr>
              <a:t>energético</a:t>
            </a:r>
            <a:r>
              <a:rPr sz="1950" dirty="0">
                <a:solidFill>
                  <a:srgbClr val="323E47"/>
                </a:solidFill>
                <a:latin typeface="Quicksand"/>
              </a:rPr>
              <a:t>.</a:t>
            </a:r>
          </a:p>
        </p:txBody>
      </p:sp>
      <p:sp>
        <p:nvSpPr>
          <p:cNvPr id="11" name="TextBox 10"/>
          <p:cNvSpPr txBox="1"/>
          <p:nvPr/>
        </p:nvSpPr>
        <p:spPr>
          <a:xfrm>
            <a:off x="771525" y="6407898"/>
            <a:ext cx="3381375" cy="428625"/>
          </a:xfrm>
          <a:prstGeom prst="rect">
            <a:avLst/>
          </a:prstGeom>
          <a:noFill/>
        </p:spPr>
        <p:txBody>
          <a:bodyPr wrap="square">
            <a:spAutoFit/>
          </a:bodyPr>
          <a:lstStyle/>
          <a:p>
            <a:pPr algn="l">
              <a:lnSpc>
                <a:spcPct val="112500"/>
              </a:lnSpc>
            </a:pPr>
            <a:r>
              <a:rPr sz="1350">
                <a:solidFill>
                  <a:srgbClr val="323E47"/>
                </a:solidFill>
                <a:latin typeface="Quicksand"/>
              </a:rPr>
              <a:t>Sistema de energía renovable conectado: almacenamiento, hogar, coche y turbinas.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657350"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775449"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893549"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76350" y="1276350"/>
            <a:ext cx="15716250" cy="838200"/>
          </a:xfrm>
          <a:prstGeom prst="rect">
            <a:avLst/>
          </a:prstGeom>
          <a:noFill/>
        </p:spPr>
        <p:txBody>
          <a:bodyPr wrap="square">
            <a:spAutoFit/>
          </a:bodyPr>
          <a:lstStyle/>
          <a:p>
            <a:pPr algn="ctr">
              <a:lnSpc>
                <a:spcPct val="99000"/>
              </a:lnSpc>
            </a:pPr>
            <a:r>
              <a:rPr sz="6000">
                <a:solidFill>
                  <a:srgbClr val="0F151A"/>
                </a:solidFill>
                <a:latin typeface="Quicksand Bold"/>
              </a:rPr>
              <a:t>Analítica y Machine Learning</a:t>
            </a:r>
          </a:p>
        </p:txBody>
      </p:sp>
      <p:sp>
        <p:nvSpPr>
          <p:cNvPr id="7" name="TextBox 6"/>
          <p:cNvSpPr txBox="1"/>
          <p:nvPr/>
        </p:nvSpPr>
        <p:spPr>
          <a:xfrm>
            <a:off x="2038349" y="2800350"/>
            <a:ext cx="3975099" cy="388590"/>
          </a:xfrm>
          <a:prstGeom prst="rect">
            <a:avLst/>
          </a:prstGeom>
          <a:noFill/>
        </p:spPr>
        <p:txBody>
          <a:bodyPr wrap="square">
            <a:spAutoFit/>
          </a:bodyPr>
          <a:lstStyle/>
          <a:p>
            <a:pPr algn="l">
              <a:lnSpc>
                <a:spcPct val="108000"/>
              </a:lnSpc>
            </a:pPr>
            <a:r>
              <a:rPr sz="2550">
                <a:solidFill>
                  <a:srgbClr val="0F151A"/>
                </a:solidFill>
                <a:latin typeface="Quicksand Bold"/>
              </a:rPr>
              <a:t>Predicción de Demanda</a:t>
            </a:r>
          </a:p>
        </p:txBody>
      </p:sp>
      <p:sp>
        <p:nvSpPr>
          <p:cNvPr id="8" name="TextBox 7"/>
          <p:cNvSpPr txBox="1"/>
          <p:nvPr/>
        </p:nvSpPr>
        <p:spPr>
          <a:xfrm>
            <a:off x="2038349" y="3331815"/>
            <a:ext cx="3975099" cy="3840212"/>
          </a:xfrm>
          <a:prstGeom prst="rect">
            <a:avLst/>
          </a:prstGeom>
          <a:noFill/>
        </p:spPr>
        <p:txBody>
          <a:bodyPr wrap="square">
            <a:spAutoFit/>
          </a:bodyPr>
          <a:lstStyle/>
          <a:p>
            <a:pPr algn="l">
              <a:lnSpc>
                <a:spcPct val="126000"/>
              </a:lnSpc>
            </a:pPr>
            <a:r>
              <a:rPr sz="2400">
                <a:solidFill>
                  <a:srgbClr val="323E47"/>
                </a:solidFill>
                <a:latin typeface="Quicksand"/>
              </a:rPr>
              <a:t>Se implementan modelos avanzados que integran variables </a:t>
            </a:r>
            <a:r>
              <a:rPr sz="2400">
                <a:solidFill>
                  <a:srgbClr val="323E47"/>
                </a:solidFill>
                <a:latin typeface="Quicksand Bold"/>
              </a:rPr>
              <a:t>climáticas</a:t>
            </a:r>
            <a:r>
              <a:rPr sz="2400">
                <a:solidFill>
                  <a:srgbClr val="323E47"/>
                </a:solidFill>
                <a:latin typeface="Quicksand"/>
              </a:rPr>
              <a:t> y datos históricos para anticipar picos de consumo energético, permitiendo una planificación eficiente de la oferta de energías renovables.</a:t>
            </a:r>
          </a:p>
        </p:txBody>
      </p:sp>
      <p:sp>
        <p:nvSpPr>
          <p:cNvPr id="9" name="TextBox 8"/>
          <p:cNvSpPr txBox="1"/>
          <p:nvPr/>
        </p:nvSpPr>
        <p:spPr>
          <a:xfrm>
            <a:off x="7156449" y="2800350"/>
            <a:ext cx="3975099" cy="777180"/>
          </a:xfrm>
          <a:prstGeom prst="rect">
            <a:avLst/>
          </a:prstGeom>
          <a:noFill/>
        </p:spPr>
        <p:txBody>
          <a:bodyPr wrap="square">
            <a:spAutoFit/>
          </a:bodyPr>
          <a:lstStyle/>
          <a:p>
            <a:pPr algn="l">
              <a:lnSpc>
                <a:spcPct val="108000"/>
              </a:lnSpc>
            </a:pPr>
            <a:r>
              <a:rPr sz="2550">
                <a:solidFill>
                  <a:srgbClr val="0F151A"/>
                </a:solidFill>
                <a:latin typeface="Quicksand Bold"/>
              </a:rPr>
              <a:t>Optimización de Despacho</a:t>
            </a:r>
          </a:p>
        </p:txBody>
      </p:sp>
      <p:sp>
        <p:nvSpPr>
          <p:cNvPr id="10" name="TextBox 9"/>
          <p:cNvSpPr txBox="1"/>
          <p:nvPr/>
        </p:nvSpPr>
        <p:spPr>
          <a:xfrm>
            <a:off x="7156449" y="3720405"/>
            <a:ext cx="3975099" cy="3840212"/>
          </a:xfrm>
          <a:prstGeom prst="rect">
            <a:avLst/>
          </a:prstGeom>
          <a:noFill/>
        </p:spPr>
        <p:txBody>
          <a:bodyPr wrap="square">
            <a:spAutoFit/>
          </a:bodyPr>
          <a:lstStyle/>
          <a:p>
            <a:pPr algn="l">
              <a:lnSpc>
                <a:spcPct val="126000"/>
              </a:lnSpc>
            </a:pPr>
            <a:r>
              <a:rPr sz="2400">
                <a:solidFill>
                  <a:srgbClr val="323E47"/>
                </a:solidFill>
                <a:latin typeface="Quicksand"/>
              </a:rPr>
              <a:t>Algoritmos inteligentes deciden la asignación óptima de recursos energéticos, priorizando la energía solar y eólica sobre fuentes convencionales como el agua de embalses para </a:t>
            </a:r>
            <a:r>
              <a:rPr sz="2400">
                <a:solidFill>
                  <a:srgbClr val="323E47"/>
                </a:solidFill>
                <a:latin typeface="Quicksand Bold"/>
              </a:rPr>
              <a:t>minimizar costos</a:t>
            </a:r>
            <a:r>
              <a:rPr sz="2400">
                <a:solidFill>
                  <a:srgbClr val="323E47"/>
                </a:solidFill>
                <a:latin typeface="Quicksand"/>
              </a:rPr>
              <a:t> y emisiones.</a:t>
            </a:r>
          </a:p>
        </p:txBody>
      </p:sp>
      <p:sp>
        <p:nvSpPr>
          <p:cNvPr id="11" name="TextBox 10"/>
          <p:cNvSpPr txBox="1"/>
          <p:nvPr/>
        </p:nvSpPr>
        <p:spPr>
          <a:xfrm>
            <a:off x="12274549" y="2800350"/>
            <a:ext cx="3975099" cy="777180"/>
          </a:xfrm>
          <a:prstGeom prst="rect">
            <a:avLst/>
          </a:prstGeom>
          <a:noFill/>
        </p:spPr>
        <p:txBody>
          <a:bodyPr wrap="square">
            <a:spAutoFit/>
          </a:bodyPr>
          <a:lstStyle/>
          <a:p>
            <a:pPr algn="l">
              <a:lnSpc>
                <a:spcPct val="108000"/>
              </a:lnSpc>
            </a:pPr>
            <a:r>
              <a:rPr sz="2550">
                <a:solidFill>
                  <a:srgbClr val="0F151A"/>
                </a:solidFill>
                <a:latin typeface="Quicksand Bold"/>
              </a:rPr>
              <a:t>Mantenimiento Predictivo</a:t>
            </a:r>
          </a:p>
        </p:txBody>
      </p:sp>
      <p:sp>
        <p:nvSpPr>
          <p:cNvPr id="12" name="TextBox 11"/>
          <p:cNvSpPr txBox="1"/>
          <p:nvPr/>
        </p:nvSpPr>
        <p:spPr>
          <a:xfrm>
            <a:off x="12274549" y="3720405"/>
            <a:ext cx="3975099" cy="3840212"/>
          </a:xfrm>
          <a:prstGeom prst="rect">
            <a:avLst/>
          </a:prstGeom>
          <a:noFill/>
        </p:spPr>
        <p:txBody>
          <a:bodyPr wrap="square">
            <a:spAutoFit/>
          </a:bodyPr>
          <a:lstStyle/>
          <a:p>
            <a:pPr algn="l">
              <a:lnSpc>
                <a:spcPct val="126000"/>
              </a:lnSpc>
            </a:pPr>
            <a:r>
              <a:rPr sz="2400">
                <a:solidFill>
                  <a:srgbClr val="323E47"/>
                </a:solidFill>
                <a:latin typeface="Quicksand"/>
              </a:rPr>
              <a:t>El uso de sensores IoT y </a:t>
            </a:r>
            <a:r>
              <a:rPr sz="2400" i="1">
                <a:solidFill>
                  <a:srgbClr val="323E47"/>
                </a:solidFill>
                <a:latin typeface="Quicksand"/>
              </a:rPr>
              <a:t>Machine Learning</a:t>
            </a:r>
            <a:r>
              <a:rPr sz="2400">
                <a:solidFill>
                  <a:srgbClr val="323E47"/>
                </a:solidFill>
                <a:latin typeface="Quicksand"/>
              </a:rPr>
              <a:t> permite detectar anomalías y prever fallas en infraestructuras críticas, como aerogeneradores, </a:t>
            </a:r>
            <a:r>
              <a:rPr sz="2400">
                <a:solidFill>
                  <a:srgbClr val="323E47"/>
                </a:solidFill>
                <a:latin typeface="Quicksand Bold"/>
              </a:rPr>
              <a:t>reduciendo el tiempo de inactividad</a:t>
            </a:r>
            <a:r>
              <a:rPr sz="2400">
                <a:solidFill>
                  <a:srgbClr val="323E47"/>
                </a:solidFill>
                <a:latin typeface="Quicksand"/>
              </a:rPr>
              <a:t> y optimizando la operación de la 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66ba4375-5329-4561-bfad-45893b3d76d2.png"/>
          <p:cNvPicPr>
            <a:picLocks noChangeAspect="1"/>
          </p:cNvPicPr>
          <p:nvPr/>
        </p:nvPicPr>
        <p:blipFill>
          <a:blip r:embed="rId2"/>
          <a:stretch>
            <a:fillRect/>
          </a:stretch>
        </p:blipFill>
        <p:spPr>
          <a:xfrm>
            <a:off x="0" y="5286375"/>
            <a:ext cx="8524875" cy="5000625"/>
          </a:xfrm>
          <a:prstGeom prst="rect">
            <a:avLst/>
          </a:prstGeom>
        </p:spPr>
      </p:pic>
      <p:sp>
        <p:nvSpPr>
          <p:cNvPr id="4" name="TextBox 3"/>
          <p:cNvSpPr txBox="1"/>
          <p:nvPr/>
        </p:nvSpPr>
        <p:spPr>
          <a:xfrm>
            <a:off x="5695949" y="1695449"/>
            <a:ext cx="11296650" cy="6506765"/>
          </a:xfrm>
          <a:prstGeom prst="rect">
            <a:avLst/>
          </a:prstGeom>
          <a:noFill/>
        </p:spPr>
        <p:txBody>
          <a:bodyPr wrap="square">
            <a:spAutoFit/>
          </a:bodyPr>
          <a:lstStyle/>
          <a:p>
            <a:pPr algn="l">
              <a:lnSpc>
                <a:spcPct val="126000"/>
              </a:lnSpc>
            </a:pPr>
            <a:r>
              <a:rPr sz="4575">
                <a:solidFill>
                  <a:srgbClr val="323E47"/>
                </a:solidFill>
                <a:latin typeface="Quicksand Bold"/>
              </a:rPr>
              <a:t>"La inmutabilidad de los registros digitales es la clave para la trazabilidad de los Certificados de Energía Renovable (REC), garantizando que cada kilovatio-hora verde sea contado una sola vez y no haya doble contabilidad en las metas de descarbonización."</a:t>
            </a:r>
          </a:p>
        </p:txBody>
      </p:sp>
      <p:sp>
        <p:nvSpPr>
          <p:cNvPr id="5" name="TextBox 4"/>
          <p:cNvSpPr txBox="1"/>
          <p:nvPr/>
        </p:nvSpPr>
        <p:spPr>
          <a:xfrm>
            <a:off x="5695949" y="8507015"/>
            <a:ext cx="11296650" cy="411360"/>
          </a:xfrm>
          <a:prstGeom prst="rect">
            <a:avLst/>
          </a:prstGeom>
          <a:noFill/>
        </p:spPr>
        <p:txBody>
          <a:bodyPr wrap="square">
            <a:spAutoFit/>
          </a:bodyPr>
          <a:lstStyle/>
          <a:p>
            <a:pPr algn="l">
              <a:lnSpc>
                <a:spcPct val="108000"/>
              </a:lnSpc>
            </a:pPr>
            <a:r>
              <a:rPr sz="2700" i="1">
                <a:solidFill>
                  <a:srgbClr val="323E47"/>
                </a:solidFill>
                <a:latin typeface="Quicksand"/>
              </a:rPr>
              <a:t>- Perspectiva de Innovación en Servicios Públicos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657350"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775449"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893549" y="2419349"/>
            <a:ext cx="4737100" cy="6591300"/>
          </a:xfrm>
          <a:prstGeom prst="roundRect">
            <a:avLst>
              <a:gd name="adj" fmla="val 5555"/>
            </a:avLst>
          </a:prstGeom>
          <a:solidFill>
            <a:srgbClr val="D5E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bc67e47-7f2d-4577-8c17-5508e5f12904.png"/>
          <p:cNvPicPr>
            <a:picLocks noChangeAspect="1"/>
          </p:cNvPicPr>
          <p:nvPr/>
        </p:nvPicPr>
        <p:blipFill>
          <a:blip r:embed="rId2"/>
          <a:stretch>
            <a:fillRect/>
          </a:stretch>
        </p:blipFill>
        <p:spPr>
          <a:xfrm>
            <a:off x="2038349" y="2800350"/>
            <a:ext cx="609600" cy="609600"/>
          </a:xfrm>
          <a:prstGeom prst="rect">
            <a:avLst/>
          </a:prstGeom>
        </p:spPr>
      </p:pic>
      <p:pic>
        <p:nvPicPr>
          <p:cNvPr id="6" name="Picture 5" descr="fe43408f-146d-4409-a5ff-fc105a97f93e.png"/>
          <p:cNvPicPr>
            <a:picLocks noChangeAspect="1"/>
          </p:cNvPicPr>
          <p:nvPr/>
        </p:nvPicPr>
        <p:blipFill>
          <a:blip r:embed="rId3"/>
          <a:stretch>
            <a:fillRect/>
          </a:stretch>
        </p:blipFill>
        <p:spPr>
          <a:xfrm>
            <a:off x="7156449" y="2800350"/>
            <a:ext cx="609600" cy="609600"/>
          </a:xfrm>
          <a:prstGeom prst="rect">
            <a:avLst/>
          </a:prstGeom>
        </p:spPr>
      </p:pic>
      <p:pic>
        <p:nvPicPr>
          <p:cNvPr id="7" name="Picture 6" descr="a41205b9-a723-4264-8306-216bcd873008.png"/>
          <p:cNvPicPr>
            <a:picLocks noChangeAspect="1"/>
          </p:cNvPicPr>
          <p:nvPr/>
        </p:nvPicPr>
        <p:blipFill>
          <a:blip r:embed="rId4"/>
          <a:stretch>
            <a:fillRect/>
          </a:stretch>
        </p:blipFill>
        <p:spPr>
          <a:xfrm>
            <a:off x="12274549" y="2800350"/>
            <a:ext cx="609600" cy="609600"/>
          </a:xfrm>
          <a:prstGeom prst="rect">
            <a:avLst/>
          </a:prstGeom>
        </p:spPr>
      </p:pic>
      <p:sp>
        <p:nvSpPr>
          <p:cNvPr id="9" name="TextBox 8"/>
          <p:cNvSpPr txBox="1"/>
          <p:nvPr/>
        </p:nvSpPr>
        <p:spPr>
          <a:xfrm>
            <a:off x="1276350" y="1276350"/>
            <a:ext cx="15716250" cy="838200"/>
          </a:xfrm>
          <a:prstGeom prst="rect">
            <a:avLst/>
          </a:prstGeom>
          <a:noFill/>
        </p:spPr>
        <p:txBody>
          <a:bodyPr wrap="square">
            <a:spAutoFit/>
          </a:bodyPr>
          <a:lstStyle/>
          <a:p>
            <a:pPr algn="ctr">
              <a:lnSpc>
                <a:spcPct val="99000"/>
              </a:lnSpc>
            </a:pPr>
            <a:r>
              <a:rPr sz="6000">
                <a:solidFill>
                  <a:srgbClr val="0F151A"/>
                </a:solidFill>
                <a:latin typeface="Quicksand Bold"/>
              </a:rPr>
              <a:t>Sandboxes Regulatorios Digitales</a:t>
            </a:r>
          </a:p>
        </p:txBody>
      </p:sp>
      <p:sp>
        <p:nvSpPr>
          <p:cNvPr id="10" name="TextBox 9"/>
          <p:cNvSpPr txBox="1"/>
          <p:nvPr/>
        </p:nvSpPr>
        <p:spPr>
          <a:xfrm>
            <a:off x="2038349" y="3600450"/>
            <a:ext cx="3975099" cy="777180"/>
          </a:xfrm>
          <a:prstGeom prst="rect">
            <a:avLst/>
          </a:prstGeom>
          <a:noFill/>
        </p:spPr>
        <p:txBody>
          <a:bodyPr wrap="square">
            <a:spAutoFit/>
          </a:bodyPr>
          <a:lstStyle/>
          <a:p>
            <a:pPr algn="l">
              <a:lnSpc>
                <a:spcPct val="108000"/>
              </a:lnSpc>
            </a:pPr>
            <a:r>
              <a:rPr sz="2550">
                <a:solidFill>
                  <a:srgbClr val="0F151A"/>
                </a:solidFill>
                <a:latin typeface="Quicksand Bold"/>
              </a:rPr>
              <a:t>Experimentación Controlada</a:t>
            </a:r>
          </a:p>
        </p:txBody>
      </p:sp>
      <p:sp>
        <p:nvSpPr>
          <p:cNvPr id="11" name="TextBox 10"/>
          <p:cNvSpPr txBox="1"/>
          <p:nvPr/>
        </p:nvSpPr>
        <p:spPr>
          <a:xfrm>
            <a:off x="2038349" y="4520505"/>
            <a:ext cx="3975099" cy="3200400"/>
          </a:xfrm>
          <a:prstGeom prst="rect">
            <a:avLst/>
          </a:prstGeom>
          <a:noFill/>
        </p:spPr>
        <p:txBody>
          <a:bodyPr wrap="square">
            <a:spAutoFit/>
          </a:bodyPr>
          <a:lstStyle/>
          <a:p>
            <a:pPr algn="l">
              <a:lnSpc>
                <a:spcPct val="126000"/>
              </a:lnSpc>
            </a:pPr>
            <a:r>
              <a:rPr sz="2250">
                <a:solidFill>
                  <a:srgbClr val="323E47"/>
                </a:solidFill>
                <a:latin typeface="Quicksand"/>
              </a:rPr>
              <a:t>Los Sandboxes (areneras) regulatorios son espacios que permiten la flexibilización de normas existentes, posibilitando la prueba de nuevos modelos de negocio, como el hidrógeno verde, en un entorno </a:t>
            </a:r>
            <a:r>
              <a:rPr sz="2250">
                <a:solidFill>
                  <a:srgbClr val="323E47"/>
                </a:solidFill>
                <a:latin typeface="Quicksand Bold"/>
              </a:rPr>
              <a:t>controlado</a:t>
            </a:r>
            <a:r>
              <a:rPr sz="2250">
                <a:solidFill>
                  <a:srgbClr val="323E47"/>
                </a:solidFill>
                <a:latin typeface="Quicksand"/>
              </a:rPr>
              <a:t>.</a:t>
            </a:r>
          </a:p>
        </p:txBody>
      </p:sp>
      <p:sp>
        <p:nvSpPr>
          <p:cNvPr id="12" name="TextBox 11"/>
          <p:cNvSpPr txBox="1"/>
          <p:nvPr/>
        </p:nvSpPr>
        <p:spPr>
          <a:xfrm>
            <a:off x="7156449" y="3600450"/>
            <a:ext cx="3975099" cy="777180"/>
          </a:xfrm>
          <a:prstGeom prst="rect">
            <a:avLst/>
          </a:prstGeom>
          <a:noFill/>
        </p:spPr>
        <p:txBody>
          <a:bodyPr wrap="square">
            <a:spAutoFit/>
          </a:bodyPr>
          <a:lstStyle/>
          <a:p>
            <a:pPr algn="l">
              <a:lnSpc>
                <a:spcPct val="108000"/>
              </a:lnSpc>
            </a:pPr>
            <a:r>
              <a:rPr sz="2550">
                <a:solidFill>
                  <a:srgbClr val="0F151A"/>
                </a:solidFill>
                <a:latin typeface="Quicksand Bold"/>
              </a:rPr>
              <a:t>Monitoreo en Tiempo Real</a:t>
            </a:r>
          </a:p>
        </p:txBody>
      </p:sp>
      <p:sp>
        <p:nvSpPr>
          <p:cNvPr id="13" name="TextBox 12"/>
          <p:cNvSpPr txBox="1"/>
          <p:nvPr/>
        </p:nvSpPr>
        <p:spPr>
          <a:xfrm>
            <a:off x="7156449" y="4520505"/>
            <a:ext cx="3975099" cy="3200400"/>
          </a:xfrm>
          <a:prstGeom prst="rect">
            <a:avLst/>
          </a:prstGeom>
          <a:noFill/>
        </p:spPr>
        <p:txBody>
          <a:bodyPr wrap="square">
            <a:spAutoFit/>
          </a:bodyPr>
          <a:lstStyle/>
          <a:p>
            <a:pPr algn="l">
              <a:lnSpc>
                <a:spcPct val="126000"/>
              </a:lnSpc>
            </a:pPr>
            <a:r>
              <a:rPr sz="2250">
                <a:solidFill>
                  <a:srgbClr val="323E47"/>
                </a:solidFill>
                <a:latin typeface="Quicksand"/>
              </a:rPr>
              <a:t>El rol digital es fundamental, facilitando el monitoreo </a:t>
            </a:r>
            <a:r>
              <a:rPr sz="2250">
                <a:solidFill>
                  <a:srgbClr val="323E47"/>
                </a:solidFill>
                <a:latin typeface="Quicksand Bold"/>
              </a:rPr>
              <a:t>en tiempo real</a:t>
            </a:r>
            <a:r>
              <a:rPr sz="2250">
                <a:solidFill>
                  <a:srgbClr val="323E47"/>
                </a:solidFill>
                <a:latin typeface="Quicksand"/>
              </a:rPr>
              <a:t> del experimento a través de dashboards compartidos entre la entidad reguladora y el innovador, optimizando la supervisión y recopilación de datos.</a:t>
            </a:r>
          </a:p>
        </p:txBody>
      </p:sp>
      <p:sp>
        <p:nvSpPr>
          <p:cNvPr id="14" name="TextBox 13"/>
          <p:cNvSpPr txBox="1"/>
          <p:nvPr/>
        </p:nvSpPr>
        <p:spPr>
          <a:xfrm>
            <a:off x="12274549" y="3600450"/>
            <a:ext cx="3975099" cy="777180"/>
          </a:xfrm>
          <a:prstGeom prst="rect">
            <a:avLst/>
          </a:prstGeom>
          <a:noFill/>
        </p:spPr>
        <p:txBody>
          <a:bodyPr wrap="square">
            <a:spAutoFit/>
          </a:bodyPr>
          <a:lstStyle/>
          <a:p>
            <a:pPr algn="l">
              <a:lnSpc>
                <a:spcPct val="108000"/>
              </a:lnSpc>
            </a:pPr>
            <a:r>
              <a:rPr sz="2550">
                <a:solidFill>
                  <a:srgbClr val="0F151A"/>
                </a:solidFill>
                <a:latin typeface="Quicksand Bold"/>
              </a:rPr>
              <a:t>Escalabilidad Basada en Datos</a:t>
            </a:r>
          </a:p>
        </p:txBody>
      </p:sp>
      <p:sp>
        <p:nvSpPr>
          <p:cNvPr id="15" name="TextBox 14"/>
          <p:cNvSpPr txBox="1"/>
          <p:nvPr/>
        </p:nvSpPr>
        <p:spPr>
          <a:xfrm>
            <a:off x="12274549" y="4520505"/>
            <a:ext cx="3975099" cy="3200400"/>
          </a:xfrm>
          <a:prstGeom prst="rect">
            <a:avLst/>
          </a:prstGeom>
          <a:noFill/>
        </p:spPr>
        <p:txBody>
          <a:bodyPr wrap="square">
            <a:spAutoFit/>
          </a:bodyPr>
          <a:lstStyle/>
          <a:p>
            <a:pPr algn="l">
              <a:lnSpc>
                <a:spcPct val="126000"/>
              </a:lnSpc>
            </a:pPr>
            <a:r>
              <a:rPr sz="2250">
                <a:solidFill>
                  <a:srgbClr val="323E47"/>
                </a:solidFill>
                <a:latin typeface="Quicksand"/>
              </a:rPr>
              <a:t>La evaluación de los resultados se basa en datos concretos. Esto permite determinar si una excepción regulatoria inicial debe ser </a:t>
            </a:r>
            <a:r>
              <a:rPr sz="2250">
                <a:solidFill>
                  <a:srgbClr val="323E47"/>
                </a:solidFill>
                <a:latin typeface="Quicksand Bold"/>
              </a:rPr>
              <a:t>escalada</a:t>
            </a:r>
            <a:r>
              <a:rPr sz="2250">
                <a:solidFill>
                  <a:srgbClr val="323E47"/>
                </a:solidFill>
                <a:latin typeface="Quicksand"/>
              </a:rPr>
              <a:t> y, eventualmente, convertirse en parte de la legislación nacional.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3116580"/>
            <a:ext cx="15735299" cy="4419600"/>
          </a:xfrm>
          <a:prstGeom prst="roundRect">
            <a:avLst>
              <a:gd name="adj" fmla="val 1111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2750820"/>
            <a:ext cx="4102447" cy="731519"/>
          </a:xfrm>
          <a:prstGeom prst="roundRect">
            <a:avLst>
              <a:gd name="adj" fmla="val 5555"/>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5f61744e-af01-453a-835f-57e93b955bdf.png"/>
          <p:cNvPicPr>
            <a:picLocks noChangeAspect="1"/>
          </p:cNvPicPr>
          <p:nvPr/>
        </p:nvPicPr>
        <p:blipFill>
          <a:blip r:embed="rId2"/>
          <a:stretch>
            <a:fillRect/>
          </a:stretch>
        </p:blipFill>
        <p:spPr>
          <a:xfrm>
            <a:off x="11687175" y="419100"/>
            <a:ext cx="6600825" cy="9867900"/>
          </a:xfrm>
          <a:prstGeom prst="rect">
            <a:avLst/>
          </a:prstGeom>
        </p:spPr>
      </p:pic>
      <p:pic>
        <p:nvPicPr>
          <p:cNvPr id="5" name="Picture 4" descr="307cf46a-1158-4fe9-89cc-a6e31dd418d3.png"/>
          <p:cNvPicPr>
            <a:picLocks noChangeAspect="1"/>
          </p:cNvPicPr>
          <p:nvPr/>
        </p:nvPicPr>
        <p:blipFill>
          <a:blip r:embed="rId3"/>
          <a:stretch>
            <a:fillRect/>
          </a:stretch>
        </p:blipFill>
        <p:spPr>
          <a:xfrm>
            <a:off x="2171700" y="2964179"/>
            <a:ext cx="304800" cy="304800"/>
          </a:xfrm>
          <a:prstGeom prst="rect">
            <a:avLst/>
          </a:prstGeom>
        </p:spPr>
      </p:pic>
      <p:sp>
        <p:nvSpPr>
          <p:cNvPr id="7" name="TextBox 6"/>
          <p:cNvSpPr txBox="1"/>
          <p:nvPr/>
        </p:nvSpPr>
        <p:spPr>
          <a:xfrm>
            <a:off x="2628900" y="2884170"/>
            <a:ext cx="3283297" cy="426719"/>
          </a:xfrm>
          <a:prstGeom prst="rect">
            <a:avLst/>
          </a:prstGeom>
          <a:noFill/>
        </p:spPr>
        <p:txBody>
          <a:bodyPr wrap="square">
            <a:spAutoFit/>
          </a:bodyPr>
          <a:lstStyle/>
          <a:p>
            <a:pPr algn="l">
              <a:lnSpc>
                <a:spcPct val="126000"/>
              </a:lnSpc>
            </a:pPr>
            <a:r>
              <a:rPr sz="2400">
                <a:solidFill>
                  <a:srgbClr val="0F1519"/>
                </a:solidFill>
                <a:latin typeface="Quicksand Bold"/>
              </a:rPr>
              <a:t>Demostración Guiada</a:t>
            </a:r>
          </a:p>
        </p:txBody>
      </p:sp>
      <p:sp>
        <p:nvSpPr>
          <p:cNvPr id="8" name="TextBox 7"/>
          <p:cNvSpPr txBox="1"/>
          <p:nvPr/>
        </p:nvSpPr>
        <p:spPr>
          <a:xfrm>
            <a:off x="1885950" y="3726179"/>
            <a:ext cx="14516100" cy="3200400"/>
          </a:xfrm>
          <a:prstGeom prst="rect">
            <a:avLst/>
          </a:prstGeom>
          <a:noFill/>
        </p:spPr>
        <p:txBody>
          <a:bodyPr wrap="square">
            <a:spAutoFit/>
          </a:bodyPr>
          <a:lstStyle/>
          <a:p>
            <a:pPr algn="l">
              <a:lnSpc>
                <a:spcPct val="126000"/>
              </a:lnSpc>
            </a:pPr>
            <a:r>
              <a:rPr sz="3000">
                <a:solidFill>
                  <a:srgbClr val="0F1519"/>
                </a:solidFill>
                <a:latin typeface="Quicksand"/>
              </a:rPr>
              <a:t>Demostraremos cómo un algoritmo de </a:t>
            </a:r>
            <a:r>
              <a:rPr sz="3000">
                <a:solidFill>
                  <a:srgbClr val="0F1519"/>
                </a:solidFill>
                <a:latin typeface="Quicksand Bold"/>
              </a:rPr>
              <a:t>despacho económico</a:t>
            </a:r>
            <a:r>
              <a:rPr sz="3000">
                <a:solidFill>
                  <a:srgbClr val="0F1519"/>
                </a:solidFill>
                <a:latin typeface="Quicksand"/>
              </a:rPr>
              <a:t> integra variables clave del </a:t>
            </a:r>
            <a:r>
              <a:rPr sz="3000">
                <a:solidFill>
                  <a:srgbClr val="0F1519"/>
                </a:solidFill>
                <a:latin typeface="Quicksand Bold"/>
              </a:rPr>
              <a:t>Gobierno Digital</a:t>
            </a:r>
            <a:r>
              <a:rPr sz="3000">
                <a:solidFill>
                  <a:srgbClr val="0F1519"/>
                </a:solidFill>
                <a:latin typeface="Quicksand"/>
              </a:rPr>
              <a:t>, como datos climáticos en tiempo real del </a:t>
            </a:r>
            <a:r>
              <a:rPr sz="3000" i="1">
                <a:solidFill>
                  <a:srgbClr val="0F1519"/>
                </a:solidFill>
                <a:latin typeface="Quicksand"/>
              </a:rPr>
              <a:t>IDEAM</a:t>
            </a:r>
            <a:r>
              <a:rPr sz="3000">
                <a:solidFill>
                  <a:srgbClr val="0F1519"/>
                </a:solidFill>
                <a:latin typeface="Quicksand"/>
              </a:rPr>
              <a:t> y precios de bolsa de </a:t>
            </a:r>
            <a:r>
              <a:rPr sz="3000" i="1">
                <a:solidFill>
                  <a:srgbClr val="0F1519"/>
                </a:solidFill>
                <a:latin typeface="Quicksand"/>
              </a:rPr>
              <a:t>XM</a:t>
            </a:r>
            <a:r>
              <a:rPr sz="3000">
                <a:solidFill>
                  <a:srgbClr val="0F1519"/>
                </a:solidFill>
                <a:latin typeface="Quicksand"/>
              </a:rPr>
              <a:t>, para optimizar la red eléctrica. Esta demostración ilustra la aplicación práctica de los </a:t>
            </a:r>
            <a:r>
              <a:rPr sz="3000" i="1">
                <a:solidFill>
                  <a:srgbClr val="0F1519"/>
                </a:solidFill>
                <a:latin typeface="Quicksand"/>
              </a:rPr>
              <a:t>sandboxes</a:t>
            </a:r>
            <a:r>
              <a:rPr sz="3000">
                <a:solidFill>
                  <a:srgbClr val="0F1519"/>
                </a:solidFill>
                <a:latin typeface="Quicksand"/>
              </a:rPr>
              <a:t> al convertir los datos en decisiones operativas que minimizan el uso de combustibles fósiles, asegurando una gestión energética más eficiente y sostenible.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1988983"/>
            <a:ext cx="15735299" cy="6674792"/>
          </a:xfrm>
          <a:prstGeom prst="roundRect">
            <a:avLst>
              <a:gd name="adj" fmla="val 1111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1623223"/>
            <a:ext cx="4102447" cy="731519"/>
          </a:xfrm>
          <a:prstGeom prst="roundRect">
            <a:avLst>
              <a:gd name="adj" fmla="val 5555"/>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733550" y="2598583"/>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733550" y="4259654"/>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33550" y="6347415"/>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5f61744e-af01-453a-835f-57e93b955bdf.png"/>
          <p:cNvPicPr>
            <a:picLocks noChangeAspect="1"/>
          </p:cNvPicPr>
          <p:nvPr/>
        </p:nvPicPr>
        <p:blipFill>
          <a:blip r:embed="rId2"/>
          <a:stretch>
            <a:fillRect/>
          </a:stretch>
        </p:blipFill>
        <p:spPr>
          <a:xfrm>
            <a:off x="11687175" y="419100"/>
            <a:ext cx="6600825" cy="9867900"/>
          </a:xfrm>
          <a:prstGeom prst="rect">
            <a:avLst/>
          </a:prstGeom>
        </p:spPr>
      </p:pic>
      <p:pic>
        <p:nvPicPr>
          <p:cNvPr id="8" name="Picture 7" descr="307cf46a-1158-4fe9-89cc-a6e31dd418d3.png"/>
          <p:cNvPicPr>
            <a:picLocks noChangeAspect="1"/>
          </p:cNvPicPr>
          <p:nvPr/>
        </p:nvPicPr>
        <p:blipFill>
          <a:blip r:embed="rId3"/>
          <a:stretch>
            <a:fillRect/>
          </a:stretch>
        </p:blipFill>
        <p:spPr>
          <a:xfrm>
            <a:off x="2171700" y="1836583"/>
            <a:ext cx="304800" cy="304800"/>
          </a:xfrm>
          <a:prstGeom prst="rect">
            <a:avLst/>
          </a:prstGeom>
        </p:spPr>
      </p:pic>
      <p:sp>
        <p:nvSpPr>
          <p:cNvPr id="10" name="TextBox 9"/>
          <p:cNvSpPr txBox="1"/>
          <p:nvPr/>
        </p:nvSpPr>
        <p:spPr>
          <a:xfrm>
            <a:off x="2628900" y="1756573"/>
            <a:ext cx="3283297" cy="426719"/>
          </a:xfrm>
          <a:prstGeom prst="rect">
            <a:avLst/>
          </a:prstGeom>
          <a:noFill/>
        </p:spPr>
        <p:txBody>
          <a:bodyPr wrap="square">
            <a:spAutoFit/>
          </a:bodyPr>
          <a:lstStyle/>
          <a:p>
            <a:pPr algn="l">
              <a:lnSpc>
                <a:spcPct val="126000"/>
              </a:lnSpc>
            </a:pPr>
            <a:r>
              <a:rPr sz="2400">
                <a:solidFill>
                  <a:srgbClr val="0F1519"/>
                </a:solidFill>
                <a:latin typeface="Quicksand Bold"/>
              </a:rPr>
              <a:t>Demostración Guiada</a:t>
            </a:r>
          </a:p>
        </p:txBody>
      </p:sp>
      <p:sp>
        <p:nvSpPr>
          <p:cNvPr id="11" name="TextBox 10"/>
          <p:cNvSpPr txBox="1"/>
          <p:nvPr/>
        </p:nvSpPr>
        <p:spPr>
          <a:xfrm>
            <a:off x="2140966" y="2874808"/>
            <a:ext cx="232916" cy="304800"/>
          </a:xfrm>
          <a:prstGeom prst="rect">
            <a:avLst/>
          </a:prstGeom>
          <a:noFill/>
        </p:spPr>
        <p:txBody>
          <a:bodyPr wrap="square">
            <a:spAutoFit/>
          </a:bodyPr>
          <a:lstStyle/>
          <a:p>
            <a:pPr algn="l">
              <a:lnSpc>
                <a:spcPct val="90000"/>
              </a:lnSpc>
            </a:pPr>
            <a:r>
              <a:rPr sz="2400">
                <a:solidFill>
                  <a:srgbClr val="111827"/>
                </a:solidFill>
                <a:latin typeface="Quicksand Bold"/>
              </a:rPr>
              <a:t>1</a:t>
            </a:r>
          </a:p>
        </p:txBody>
      </p:sp>
      <p:sp>
        <p:nvSpPr>
          <p:cNvPr id="12" name="TextBox 11"/>
          <p:cNvSpPr txBox="1"/>
          <p:nvPr/>
        </p:nvSpPr>
        <p:spPr>
          <a:xfrm>
            <a:off x="2743200" y="2598583"/>
            <a:ext cx="13811250" cy="1280070"/>
          </a:xfrm>
          <a:prstGeom prst="rect">
            <a:avLst/>
          </a:prstGeom>
          <a:noFill/>
        </p:spPr>
        <p:txBody>
          <a:bodyPr wrap="square">
            <a:spAutoFit/>
          </a:bodyPr>
          <a:lstStyle/>
          <a:p>
            <a:pPr algn="l">
              <a:lnSpc>
                <a:spcPct val="126000"/>
              </a:lnSpc>
            </a:pPr>
            <a:r>
              <a:rPr sz="2400">
                <a:solidFill>
                  <a:srgbClr val="0F1519"/>
                </a:solidFill>
                <a:latin typeface="Quicksand Bold"/>
              </a:rPr>
              <a:t>Entrada de Datos:</a:t>
            </a:r>
            <a:r>
              <a:rPr sz="2400">
                <a:solidFill>
                  <a:srgbClr val="0F1519"/>
                </a:solidFill>
                <a:latin typeface="Quicksand"/>
              </a:rPr>
              <a:t> Se reciben datos meteorológicos en tiempo real, específicamente la </a:t>
            </a:r>
            <a:r>
              <a:rPr sz="2400" i="1">
                <a:solidFill>
                  <a:srgbClr val="0F1519"/>
                </a:solidFill>
                <a:latin typeface="Quicksand"/>
              </a:rPr>
              <a:t>irradiación solar proyectada</a:t>
            </a:r>
            <a:r>
              <a:rPr sz="2400">
                <a:solidFill>
                  <a:srgbClr val="0F1519"/>
                </a:solidFill>
                <a:latin typeface="Quicksand"/>
              </a:rPr>
              <a:t> para las próximas horas. Esto es crucial porque permite anticipar la generación de energía solar, una fuente renovable intermitente.</a:t>
            </a:r>
          </a:p>
        </p:txBody>
      </p:sp>
      <p:sp>
        <p:nvSpPr>
          <p:cNvPr id="13" name="TextBox 12"/>
          <p:cNvSpPr txBox="1"/>
          <p:nvPr/>
        </p:nvSpPr>
        <p:spPr>
          <a:xfrm>
            <a:off x="2113508" y="4535879"/>
            <a:ext cx="287833" cy="304800"/>
          </a:xfrm>
          <a:prstGeom prst="rect">
            <a:avLst/>
          </a:prstGeom>
          <a:noFill/>
        </p:spPr>
        <p:txBody>
          <a:bodyPr wrap="square">
            <a:spAutoFit/>
          </a:bodyPr>
          <a:lstStyle/>
          <a:p>
            <a:pPr algn="l">
              <a:lnSpc>
                <a:spcPct val="90000"/>
              </a:lnSpc>
            </a:pPr>
            <a:r>
              <a:rPr sz="2400">
                <a:solidFill>
                  <a:srgbClr val="111827"/>
                </a:solidFill>
                <a:latin typeface="Quicksand Bold"/>
              </a:rPr>
              <a:t>2</a:t>
            </a:r>
          </a:p>
        </p:txBody>
      </p:sp>
      <p:sp>
        <p:nvSpPr>
          <p:cNvPr id="14" name="TextBox 13"/>
          <p:cNvSpPr txBox="1"/>
          <p:nvPr/>
        </p:nvSpPr>
        <p:spPr>
          <a:xfrm>
            <a:off x="2743200" y="4259654"/>
            <a:ext cx="13811250" cy="1706760"/>
          </a:xfrm>
          <a:prstGeom prst="rect">
            <a:avLst/>
          </a:prstGeom>
          <a:noFill/>
        </p:spPr>
        <p:txBody>
          <a:bodyPr wrap="square">
            <a:spAutoFit/>
          </a:bodyPr>
          <a:lstStyle/>
          <a:p>
            <a:pPr algn="l">
              <a:lnSpc>
                <a:spcPct val="126000"/>
              </a:lnSpc>
            </a:pPr>
            <a:r>
              <a:rPr sz="2400">
                <a:solidFill>
                  <a:srgbClr val="0F1519"/>
                </a:solidFill>
                <a:latin typeface="Quicksand Bold"/>
              </a:rPr>
              <a:t>Análisis de Restricciones:</a:t>
            </a:r>
            <a:r>
              <a:rPr sz="2400">
                <a:solidFill>
                  <a:srgbClr val="0F1519"/>
                </a:solidFill>
                <a:latin typeface="Quicksand"/>
              </a:rPr>
              <a:t> El sistema verifica de forma continua la capacidad disponible de las líneas de transmisión estatales. Este paso es fundamental para asegurar que la energía generada pueda ser transportada de manera segura y eficiente a los centros de consumo, evitando sobrecargas o congestiones en la red.</a:t>
            </a:r>
          </a:p>
        </p:txBody>
      </p:sp>
      <p:sp>
        <p:nvSpPr>
          <p:cNvPr id="15" name="TextBox 14"/>
          <p:cNvSpPr txBox="1"/>
          <p:nvPr/>
        </p:nvSpPr>
        <p:spPr>
          <a:xfrm>
            <a:off x="2118419" y="6623640"/>
            <a:ext cx="278010" cy="304800"/>
          </a:xfrm>
          <a:prstGeom prst="rect">
            <a:avLst/>
          </a:prstGeom>
          <a:noFill/>
        </p:spPr>
        <p:txBody>
          <a:bodyPr wrap="square">
            <a:spAutoFit/>
          </a:bodyPr>
          <a:lstStyle/>
          <a:p>
            <a:pPr algn="l">
              <a:lnSpc>
                <a:spcPct val="90000"/>
              </a:lnSpc>
            </a:pPr>
            <a:r>
              <a:rPr sz="2400">
                <a:solidFill>
                  <a:srgbClr val="111827"/>
                </a:solidFill>
                <a:latin typeface="Quicksand Bold"/>
              </a:rPr>
              <a:t>3</a:t>
            </a:r>
          </a:p>
        </p:txBody>
      </p:sp>
      <p:sp>
        <p:nvSpPr>
          <p:cNvPr id="16" name="TextBox 15"/>
          <p:cNvSpPr txBox="1"/>
          <p:nvPr/>
        </p:nvSpPr>
        <p:spPr>
          <a:xfrm>
            <a:off x="2743200" y="6347415"/>
            <a:ext cx="13811250" cy="1706760"/>
          </a:xfrm>
          <a:prstGeom prst="rect">
            <a:avLst/>
          </a:prstGeom>
          <a:noFill/>
        </p:spPr>
        <p:txBody>
          <a:bodyPr wrap="square">
            <a:spAutoFit/>
          </a:bodyPr>
          <a:lstStyle/>
          <a:p>
            <a:pPr algn="l">
              <a:lnSpc>
                <a:spcPct val="126000"/>
              </a:lnSpc>
            </a:pPr>
            <a:r>
              <a:rPr sz="2400">
                <a:solidFill>
                  <a:srgbClr val="0F1519"/>
                </a:solidFill>
                <a:latin typeface="Quicksand Bold"/>
              </a:rPr>
              <a:t>Cálculo del Costo Marginal:</a:t>
            </a:r>
            <a:r>
              <a:rPr sz="2400">
                <a:solidFill>
                  <a:srgbClr val="0F1519"/>
                </a:solidFill>
                <a:latin typeface="Quicksand"/>
              </a:rPr>
              <a:t> El algoritmo prioriza las fuentes de energía con un </a:t>
            </a:r>
            <a:r>
              <a:rPr sz="2400" i="1">
                <a:solidFill>
                  <a:srgbClr val="0F1519"/>
                </a:solidFill>
                <a:latin typeface="Quicksand"/>
              </a:rPr>
              <a:t>costo variable cero</a:t>
            </a:r>
            <a:r>
              <a:rPr sz="2400">
                <a:solidFill>
                  <a:srgbClr val="0F1519"/>
                </a:solidFill>
                <a:latin typeface="Quicksand"/>
              </a:rPr>
              <a:t> (principalmente las energías renovables, como la solar y la eólica). Esto se hace para minimizar el costo total de la generación y maximizar el uso de recursos más económicos y limpios.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3863399"/>
            <a:ext cx="15735299" cy="2925960"/>
          </a:xfrm>
          <a:prstGeom prst="roundRect">
            <a:avLst>
              <a:gd name="adj" fmla="val 1111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3497639"/>
            <a:ext cx="4102447" cy="731519"/>
          </a:xfrm>
          <a:prstGeom prst="roundRect">
            <a:avLst>
              <a:gd name="adj" fmla="val 5555"/>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733550" y="4472999"/>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5f61744e-af01-453a-835f-57e93b955bdf.png"/>
          <p:cNvPicPr>
            <a:picLocks noChangeAspect="1"/>
          </p:cNvPicPr>
          <p:nvPr/>
        </p:nvPicPr>
        <p:blipFill>
          <a:blip r:embed="rId2"/>
          <a:stretch>
            <a:fillRect/>
          </a:stretch>
        </p:blipFill>
        <p:spPr>
          <a:xfrm>
            <a:off x="11687175" y="419100"/>
            <a:ext cx="6600825" cy="9867900"/>
          </a:xfrm>
          <a:prstGeom prst="rect">
            <a:avLst/>
          </a:prstGeom>
        </p:spPr>
      </p:pic>
      <p:pic>
        <p:nvPicPr>
          <p:cNvPr id="6" name="Picture 5" descr="307cf46a-1158-4fe9-89cc-a6e31dd418d3.png"/>
          <p:cNvPicPr>
            <a:picLocks noChangeAspect="1"/>
          </p:cNvPicPr>
          <p:nvPr/>
        </p:nvPicPr>
        <p:blipFill>
          <a:blip r:embed="rId3"/>
          <a:stretch>
            <a:fillRect/>
          </a:stretch>
        </p:blipFill>
        <p:spPr>
          <a:xfrm>
            <a:off x="2171700" y="3710999"/>
            <a:ext cx="304800" cy="304800"/>
          </a:xfrm>
          <a:prstGeom prst="rect">
            <a:avLst/>
          </a:prstGeom>
        </p:spPr>
      </p:pic>
      <p:sp>
        <p:nvSpPr>
          <p:cNvPr id="8" name="TextBox 7"/>
          <p:cNvSpPr txBox="1"/>
          <p:nvPr/>
        </p:nvSpPr>
        <p:spPr>
          <a:xfrm>
            <a:off x="2628900" y="3630989"/>
            <a:ext cx="3283297" cy="426719"/>
          </a:xfrm>
          <a:prstGeom prst="rect">
            <a:avLst/>
          </a:prstGeom>
          <a:noFill/>
        </p:spPr>
        <p:txBody>
          <a:bodyPr wrap="square">
            <a:spAutoFit/>
          </a:bodyPr>
          <a:lstStyle/>
          <a:p>
            <a:pPr algn="l">
              <a:lnSpc>
                <a:spcPct val="126000"/>
              </a:lnSpc>
            </a:pPr>
            <a:r>
              <a:rPr sz="2400">
                <a:solidFill>
                  <a:srgbClr val="0F1519"/>
                </a:solidFill>
                <a:latin typeface="Quicksand Bold"/>
              </a:rPr>
              <a:t>Demostración Guiada</a:t>
            </a:r>
          </a:p>
        </p:txBody>
      </p:sp>
      <p:sp>
        <p:nvSpPr>
          <p:cNvPr id="9" name="TextBox 8"/>
          <p:cNvSpPr txBox="1"/>
          <p:nvPr/>
        </p:nvSpPr>
        <p:spPr>
          <a:xfrm>
            <a:off x="2110606" y="4749224"/>
            <a:ext cx="293637" cy="304800"/>
          </a:xfrm>
          <a:prstGeom prst="rect">
            <a:avLst/>
          </a:prstGeom>
          <a:noFill/>
        </p:spPr>
        <p:txBody>
          <a:bodyPr wrap="square">
            <a:spAutoFit/>
          </a:bodyPr>
          <a:lstStyle/>
          <a:p>
            <a:pPr algn="l">
              <a:lnSpc>
                <a:spcPct val="90000"/>
              </a:lnSpc>
            </a:pPr>
            <a:r>
              <a:rPr sz="2400">
                <a:solidFill>
                  <a:srgbClr val="111827"/>
                </a:solidFill>
                <a:latin typeface="Quicksand Bold"/>
              </a:rPr>
              <a:t>4</a:t>
            </a:r>
          </a:p>
        </p:txBody>
      </p:sp>
      <p:sp>
        <p:nvSpPr>
          <p:cNvPr id="10" name="TextBox 9"/>
          <p:cNvSpPr txBox="1"/>
          <p:nvPr/>
        </p:nvSpPr>
        <p:spPr>
          <a:xfrm>
            <a:off x="2743200" y="4472999"/>
            <a:ext cx="13811250" cy="1706760"/>
          </a:xfrm>
          <a:prstGeom prst="rect">
            <a:avLst/>
          </a:prstGeom>
          <a:noFill/>
        </p:spPr>
        <p:txBody>
          <a:bodyPr wrap="square">
            <a:spAutoFit/>
          </a:bodyPr>
          <a:lstStyle/>
          <a:p>
            <a:pPr algn="l">
              <a:lnSpc>
                <a:spcPct val="126000"/>
              </a:lnSpc>
            </a:pPr>
            <a:r>
              <a:rPr sz="2400">
                <a:solidFill>
                  <a:srgbClr val="0F1519"/>
                </a:solidFill>
                <a:latin typeface="Quicksand Bold"/>
              </a:rPr>
              <a:t>Resultado: Orden de Despacho Automatizada:</a:t>
            </a:r>
            <a:r>
              <a:rPr sz="2400">
                <a:solidFill>
                  <a:srgbClr val="0F1519"/>
                </a:solidFill>
                <a:latin typeface="Quicksand"/>
              </a:rPr>
              <a:t> Finalmente, se genera una orden de despacho automatizada para las diferentes plantas de generación. Esta orden busca </a:t>
            </a:r>
            <a:r>
              <a:rPr sz="2400">
                <a:solidFill>
                  <a:srgbClr val="0F1519"/>
                </a:solidFill>
                <a:latin typeface="Quicksand Bold"/>
              </a:rPr>
              <a:t>minimizar el uso de combustibles fósiles</a:t>
            </a:r>
            <a:r>
              <a:rPr sz="2400">
                <a:solidFill>
                  <a:srgbClr val="0F1519"/>
                </a:solidFill>
                <a:latin typeface="Quicksand"/>
              </a:rPr>
              <a:t> (como el carbón o el gas natural), priorizando la energía renovable y contribuyendo a la sostenibilidad ambiental y la eficiencia económica del sistema.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3649979"/>
            <a:ext cx="15735299" cy="3352800"/>
          </a:xfrm>
          <a:prstGeom prst="roundRect">
            <a:avLst>
              <a:gd name="adj" fmla="val 1111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3284220"/>
            <a:ext cx="3467844" cy="731519"/>
          </a:xfrm>
          <a:prstGeom prst="roundRect">
            <a:avLst>
              <a:gd name="adj" fmla="val 5555"/>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5f61744e-af01-453a-835f-57e93b955bdf.png"/>
          <p:cNvPicPr>
            <a:picLocks noChangeAspect="1"/>
          </p:cNvPicPr>
          <p:nvPr/>
        </p:nvPicPr>
        <p:blipFill>
          <a:blip r:embed="rId2"/>
          <a:stretch>
            <a:fillRect/>
          </a:stretch>
        </p:blipFill>
        <p:spPr>
          <a:xfrm>
            <a:off x="11687175" y="419100"/>
            <a:ext cx="6600825" cy="9867900"/>
          </a:xfrm>
          <a:prstGeom prst="rect">
            <a:avLst/>
          </a:prstGeom>
        </p:spPr>
      </p:pic>
      <p:pic>
        <p:nvPicPr>
          <p:cNvPr id="5" name="Picture 4" descr="307cf46a-1158-4fe9-89cc-a6e31dd418d3.png"/>
          <p:cNvPicPr>
            <a:picLocks noChangeAspect="1"/>
          </p:cNvPicPr>
          <p:nvPr/>
        </p:nvPicPr>
        <p:blipFill>
          <a:blip r:embed="rId3"/>
          <a:stretch>
            <a:fillRect/>
          </a:stretch>
        </p:blipFill>
        <p:spPr>
          <a:xfrm>
            <a:off x="2171700" y="3497579"/>
            <a:ext cx="304800" cy="304800"/>
          </a:xfrm>
          <a:prstGeom prst="rect">
            <a:avLst/>
          </a:prstGeom>
        </p:spPr>
      </p:pic>
      <p:sp>
        <p:nvSpPr>
          <p:cNvPr id="7" name="TextBox 6"/>
          <p:cNvSpPr txBox="1"/>
          <p:nvPr/>
        </p:nvSpPr>
        <p:spPr>
          <a:xfrm>
            <a:off x="2628900" y="3417570"/>
            <a:ext cx="2648694" cy="426719"/>
          </a:xfrm>
          <a:prstGeom prst="rect">
            <a:avLst/>
          </a:prstGeom>
          <a:noFill/>
        </p:spPr>
        <p:txBody>
          <a:bodyPr wrap="square">
            <a:spAutoFit/>
          </a:bodyPr>
          <a:lstStyle/>
          <a:p>
            <a:pPr algn="l">
              <a:lnSpc>
                <a:spcPct val="126000"/>
              </a:lnSpc>
            </a:pPr>
            <a:r>
              <a:rPr sz="2400">
                <a:solidFill>
                  <a:srgbClr val="0F1519"/>
                </a:solidFill>
                <a:latin typeface="Quicksand Bold"/>
              </a:rPr>
              <a:t>Ejemplo Resuelto</a:t>
            </a:r>
          </a:p>
        </p:txBody>
      </p:sp>
      <p:sp>
        <p:nvSpPr>
          <p:cNvPr id="8" name="TextBox 7"/>
          <p:cNvSpPr txBox="1"/>
          <p:nvPr/>
        </p:nvSpPr>
        <p:spPr>
          <a:xfrm>
            <a:off x="1885950" y="4259580"/>
            <a:ext cx="14516100" cy="2133599"/>
          </a:xfrm>
          <a:prstGeom prst="rect">
            <a:avLst/>
          </a:prstGeom>
          <a:noFill/>
        </p:spPr>
        <p:txBody>
          <a:bodyPr wrap="square">
            <a:spAutoFit/>
          </a:bodyPr>
          <a:lstStyle/>
          <a:p>
            <a:pPr algn="l">
              <a:lnSpc>
                <a:spcPct val="126000"/>
              </a:lnSpc>
            </a:pPr>
            <a:r>
              <a:rPr sz="3000">
                <a:solidFill>
                  <a:srgbClr val="0F1519"/>
                </a:solidFill>
                <a:latin typeface="Quicksand"/>
              </a:rPr>
              <a:t>¿Cuál es el beneficio económico recuperado por la digitalización si una plataforma de interoperabilidad reduce los trámites de mantenimiento de 30 días a 5 días para un parque eólico en la Guajira que genera 200 MWh/día y vende su energía a $250/kWh?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276350" y="2007959"/>
            <a:ext cx="15735299" cy="6636841"/>
          </a:xfrm>
          <a:prstGeom prst="roundRect">
            <a:avLst>
              <a:gd name="adj" fmla="val 1111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943100" y="1642199"/>
            <a:ext cx="3467844" cy="731519"/>
          </a:xfrm>
          <a:prstGeom prst="roundRect">
            <a:avLst>
              <a:gd name="adj" fmla="val 5555"/>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733550" y="2617559"/>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733550" y="3855809"/>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33550" y="5516880"/>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733550" y="6755130"/>
            <a:ext cx="857250" cy="857250"/>
          </a:xfrm>
          <a:prstGeom prst="roundRect">
            <a:avLst>
              <a:gd name="adj" fmla="val 5555"/>
            </a:avLst>
          </a:prstGeom>
          <a:solidFill>
            <a:srgbClr val="EF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5f61744e-af01-453a-835f-57e93b955bdf.png"/>
          <p:cNvPicPr>
            <a:picLocks noChangeAspect="1"/>
          </p:cNvPicPr>
          <p:nvPr/>
        </p:nvPicPr>
        <p:blipFill>
          <a:blip r:embed="rId2"/>
          <a:stretch>
            <a:fillRect/>
          </a:stretch>
        </p:blipFill>
        <p:spPr>
          <a:xfrm>
            <a:off x="11687175" y="419100"/>
            <a:ext cx="6600825" cy="9867900"/>
          </a:xfrm>
          <a:prstGeom prst="rect">
            <a:avLst/>
          </a:prstGeom>
        </p:spPr>
      </p:pic>
      <p:pic>
        <p:nvPicPr>
          <p:cNvPr id="9" name="Picture 8" descr="307cf46a-1158-4fe9-89cc-a6e31dd418d3.png"/>
          <p:cNvPicPr>
            <a:picLocks noChangeAspect="1"/>
          </p:cNvPicPr>
          <p:nvPr/>
        </p:nvPicPr>
        <p:blipFill>
          <a:blip r:embed="rId3"/>
          <a:stretch>
            <a:fillRect/>
          </a:stretch>
        </p:blipFill>
        <p:spPr>
          <a:xfrm>
            <a:off x="2171700" y="1855559"/>
            <a:ext cx="304800" cy="304800"/>
          </a:xfrm>
          <a:prstGeom prst="rect">
            <a:avLst/>
          </a:prstGeom>
        </p:spPr>
      </p:pic>
      <p:sp>
        <p:nvSpPr>
          <p:cNvPr id="11" name="TextBox 10"/>
          <p:cNvSpPr txBox="1"/>
          <p:nvPr/>
        </p:nvSpPr>
        <p:spPr>
          <a:xfrm>
            <a:off x="2628900" y="1775549"/>
            <a:ext cx="2648694" cy="426719"/>
          </a:xfrm>
          <a:prstGeom prst="rect">
            <a:avLst/>
          </a:prstGeom>
          <a:noFill/>
        </p:spPr>
        <p:txBody>
          <a:bodyPr wrap="square">
            <a:spAutoFit/>
          </a:bodyPr>
          <a:lstStyle/>
          <a:p>
            <a:pPr algn="l">
              <a:lnSpc>
                <a:spcPct val="126000"/>
              </a:lnSpc>
            </a:pPr>
            <a:r>
              <a:rPr sz="2400">
                <a:solidFill>
                  <a:srgbClr val="0F1519"/>
                </a:solidFill>
                <a:latin typeface="Quicksand Bold"/>
              </a:rPr>
              <a:t>Ejemplo Resuelto</a:t>
            </a:r>
          </a:p>
        </p:txBody>
      </p:sp>
      <p:sp>
        <p:nvSpPr>
          <p:cNvPr id="12" name="TextBox 11"/>
          <p:cNvSpPr txBox="1"/>
          <p:nvPr/>
        </p:nvSpPr>
        <p:spPr>
          <a:xfrm>
            <a:off x="2140966" y="2893784"/>
            <a:ext cx="232916" cy="304800"/>
          </a:xfrm>
          <a:prstGeom prst="rect">
            <a:avLst/>
          </a:prstGeom>
          <a:noFill/>
        </p:spPr>
        <p:txBody>
          <a:bodyPr wrap="square">
            <a:spAutoFit/>
          </a:bodyPr>
          <a:lstStyle/>
          <a:p>
            <a:pPr algn="l">
              <a:lnSpc>
                <a:spcPct val="90000"/>
              </a:lnSpc>
            </a:pPr>
            <a:r>
              <a:rPr sz="2400">
                <a:solidFill>
                  <a:srgbClr val="111827"/>
                </a:solidFill>
                <a:latin typeface="Quicksand Bold"/>
              </a:rPr>
              <a:t>1</a:t>
            </a:r>
          </a:p>
        </p:txBody>
      </p:sp>
      <p:sp>
        <p:nvSpPr>
          <p:cNvPr id="13" name="TextBox 12"/>
          <p:cNvSpPr txBox="1"/>
          <p:nvPr/>
        </p:nvSpPr>
        <p:spPr>
          <a:xfrm>
            <a:off x="2743200" y="2619494"/>
            <a:ext cx="13811250" cy="853380"/>
          </a:xfrm>
          <a:prstGeom prst="rect">
            <a:avLst/>
          </a:prstGeom>
          <a:noFill/>
        </p:spPr>
        <p:txBody>
          <a:bodyPr wrap="square">
            <a:spAutoFit/>
          </a:bodyPr>
          <a:lstStyle/>
          <a:p>
            <a:pPr algn="l">
              <a:lnSpc>
                <a:spcPct val="126000"/>
              </a:lnSpc>
            </a:pPr>
            <a:r>
              <a:rPr sz="2400">
                <a:solidFill>
                  <a:srgbClr val="0F1519"/>
                </a:solidFill>
                <a:latin typeface="Quicksand"/>
              </a:rPr>
              <a:t>Calcular los días ahorrados por la digitalización: la reducción en los trámites de mantenimiento de 30 días a 5 días resulta en un ahorro de 25 días (30 - 5 = 25 días).</a:t>
            </a:r>
          </a:p>
        </p:txBody>
      </p:sp>
      <p:sp>
        <p:nvSpPr>
          <p:cNvPr id="14" name="TextBox 13"/>
          <p:cNvSpPr txBox="1"/>
          <p:nvPr/>
        </p:nvSpPr>
        <p:spPr>
          <a:xfrm>
            <a:off x="2113508" y="4132034"/>
            <a:ext cx="287833" cy="304800"/>
          </a:xfrm>
          <a:prstGeom prst="rect">
            <a:avLst/>
          </a:prstGeom>
          <a:noFill/>
        </p:spPr>
        <p:txBody>
          <a:bodyPr wrap="square">
            <a:spAutoFit/>
          </a:bodyPr>
          <a:lstStyle/>
          <a:p>
            <a:pPr algn="l">
              <a:lnSpc>
                <a:spcPct val="90000"/>
              </a:lnSpc>
            </a:pPr>
            <a:r>
              <a:rPr sz="2400">
                <a:solidFill>
                  <a:srgbClr val="111827"/>
                </a:solidFill>
                <a:latin typeface="Quicksand Bold"/>
              </a:rPr>
              <a:t>2</a:t>
            </a:r>
          </a:p>
        </p:txBody>
      </p:sp>
      <p:sp>
        <p:nvSpPr>
          <p:cNvPr id="15" name="TextBox 14"/>
          <p:cNvSpPr txBox="1"/>
          <p:nvPr/>
        </p:nvSpPr>
        <p:spPr>
          <a:xfrm>
            <a:off x="2743200" y="3855809"/>
            <a:ext cx="13811250" cy="1280070"/>
          </a:xfrm>
          <a:prstGeom prst="rect">
            <a:avLst/>
          </a:prstGeom>
          <a:noFill/>
        </p:spPr>
        <p:txBody>
          <a:bodyPr wrap="square">
            <a:spAutoFit/>
          </a:bodyPr>
          <a:lstStyle/>
          <a:p>
            <a:pPr algn="l">
              <a:lnSpc>
                <a:spcPct val="126000"/>
              </a:lnSpc>
            </a:pPr>
            <a:r>
              <a:rPr sz="2400">
                <a:solidFill>
                  <a:srgbClr val="0F1519"/>
                </a:solidFill>
                <a:latin typeface="Quicksand"/>
              </a:rPr>
              <a:t>Determinar la energía recuperada debido a los días de inactividad evitados: al generar 200 MWh/día, los 25 días ahorrados permiten recuperar 5,000 MWh de energía (25 días * 200 MWh/día = 5,000 MWh).</a:t>
            </a:r>
          </a:p>
        </p:txBody>
      </p:sp>
      <p:sp>
        <p:nvSpPr>
          <p:cNvPr id="16" name="TextBox 15"/>
          <p:cNvSpPr txBox="1"/>
          <p:nvPr/>
        </p:nvSpPr>
        <p:spPr>
          <a:xfrm>
            <a:off x="2118419" y="5793105"/>
            <a:ext cx="278010" cy="304800"/>
          </a:xfrm>
          <a:prstGeom prst="rect">
            <a:avLst/>
          </a:prstGeom>
          <a:noFill/>
        </p:spPr>
        <p:txBody>
          <a:bodyPr wrap="square">
            <a:spAutoFit/>
          </a:bodyPr>
          <a:lstStyle/>
          <a:p>
            <a:pPr algn="l">
              <a:lnSpc>
                <a:spcPct val="90000"/>
              </a:lnSpc>
            </a:pPr>
            <a:r>
              <a:rPr sz="2400">
                <a:solidFill>
                  <a:srgbClr val="111827"/>
                </a:solidFill>
                <a:latin typeface="Quicksand Bold"/>
              </a:rPr>
              <a:t>3</a:t>
            </a:r>
          </a:p>
        </p:txBody>
      </p:sp>
      <p:sp>
        <p:nvSpPr>
          <p:cNvPr id="17" name="TextBox 16"/>
          <p:cNvSpPr txBox="1"/>
          <p:nvPr/>
        </p:nvSpPr>
        <p:spPr>
          <a:xfrm>
            <a:off x="2743200" y="5518814"/>
            <a:ext cx="13811250" cy="853380"/>
          </a:xfrm>
          <a:prstGeom prst="rect">
            <a:avLst/>
          </a:prstGeom>
          <a:noFill/>
        </p:spPr>
        <p:txBody>
          <a:bodyPr wrap="square">
            <a:spAutoFit/>
          </a:bodyPr>
          <a:lstStyle/>
          <a:p>
            <a:pPr algn="l">
              <a:lnSpc>
                <a:spcPct val="126000"/>
              </a:lnSpc>
            </a:pPr>
            <a:r>
              <a:rPr sz="2400">
                <a:solidFill>
                  <a:srgbClr val="0F1519"/>
                </a:solidFill>
                <a:latin typeface="Quicksand"/>
              </a:rPr>
              <a:t>Convertir la energía recuperada de MWh a kWh para el cálculo monetario: 5,000 MWh equivalen a 5,000,000 kWh (5,000 MWh * 1,000 kWh/MWh = 5,000,000 kWh).</a:t>
            </a:r>
          </a:p>
        </p:txBody>
      </p:sp>
      <p:sp>
        <p:nvSpPr>
          <p:cNvPr id="18" name="TextBox 17"/>
          <p:cNvSpPr txBox="1"/>
          <p:nvPr/>
        </p:nvSpPr>
        <p:spPr>
          <a:xfrm>
            <a:off x="2110606" y="7031355"/>
            <a:ext cx="293637" cy="304800"/>
          </a:xfrm>
          <a:prstGeom prst="rect">
            <a:avLst/>
          </a:prstGeom>
          <a:noFill/>
        </p:spPr>
        <p:txBody>
          <a:bodyPr wrap="square">
            <a:spAutoFit/>
          </a:bodyPr>
          <a:lstStyle/>
          <a:p>
            <a:pPr algn="l">
              <a:lnSpc>
                <a:spcPct val="90000"/>
              </a:lnSpc>
            </a:pPr>
            <a:r>
              <a:rPr sz="2400">
                <a:solidFill>
                  <a:srgbClr val="111827"/>
                </a:solidFill>
                <a:latin typeface="Quicksand Bold"/>
              </a:rPr>
              <a:t>4</a:t>
            </a:r>
          </a:p>
        </p:txBody>
      </p:sp>
      <p:sp>
        <p:nvSpPr>
          <p:cNvPr id="19" name="TextBox 18"/>
          <p:cNvSpPr txBox="1"/>
          <p:nvPr/>
        </p:nvSpPr>
        <p:spPr>
          <a:xfrm>
            <a:off x="2743200" y="6755130"/>
            <a:ext cx="13811250" cy="1280070"/>
          </a:xfrm>
          <a:prstGeom prst="rect">
            <a:avLst/>
          </a:prstGeom>
          <a:noFill/>
        </p:spPr>
        <p:txBody>
          <a:bodyPr wrap="square">
            <a:spAutoFit/>
          </a:bodyPr>
          <a:lstStyle/>
          <a:p>
            <a:pPr algn="l">
              <a:lnSpc>
                <a:spcPct val="126000"/>
              </a:lnSpc>
            </a:pPr>
            <a:r>
              <a:rPr sz="2400">
                <a:solidFill>
                  <a:srgbClr val="0F1519"/>
                </a:solidFill>
                <a:latin typeface="Quicksand"/>
              </a:rPr>
              <a:t>Calcular el beneficio económico total multiplicando la energía recuperada en kWh por el precio por kWh: el beneficio es de $1,250,000,000 COP (5,000,000 kWh * $250/kWh = $1,250,000,000 COP).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81362" y="1862137"/>
            <a:ext cx="6562725" cy="6562725"/>
          </a:xfrm>
          <a:prstGeom prst="rect">
            <a:avLst/>
          </a:prstGeom>
        </p:spPr>
      </p:pic>
      <p:pic>
        <p:nvPicPr>
          <p:cNvPr id="3" name="Picture 2" descr="image.png"/>
          <p:cNvPicPr>
            <a:picLocks noChangeAspect="1"/>
          </p:cNvPicPr>
          <p:nvPr/>
        </p:nvPicPr>
        <p:blipFill>
          <a:blip r:embed="rId3"/>
          <a:stretch>
            <a:fillRect/>
          </a:stretch>
        </p:blipFill>
        <p:spPr>
          <a:xfrm>
            <a:off x="14449424" y="2352675"/>
            <a:ext cx="7677149" cy="5581649"/>
          </a:xfrm>
          <a:prstGeom prst="rect">
            <a:avLst/>
          </a:prstGeom>
        </p:spPr>
      </p:pic>
      <p:sp>
        <p:nvSpPr>
          <p:cNvPr id="4" name="Rounded Rectangle 3"/>
          <p:cNvSpPr/>
          <p:nvPr/>
        </p:nvSpPr>
        <p:spPr>
          <a:xfrm>
            <a:off x="2557462" y="2667000"/>
            <a:ext cx="13173075" cy="2849880"/>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096124" y="2324100"/>
            <a:ext cx="4095749" cy="685800"/>
          </a:xfrm>
          <a:prstGeom prst="roundRect">
            <a:avLst>
              <a:gd name="adj" fmla="val 8333"/>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48525" y="2419349"/>
            <a:ext cx="3790949" cy="495299"/>
          </a:xfrm>
          <a:prstGeom prst="rect">
            <a:avLst/>
          </a:prstGeom>
          <a:noFill/>
        </p:spPr>
        <p:txBody>
          <a:bodyPr wrap="square" anchor="ctr">
            <a:spAutoFit/>
          </a:bodyPr>
          <a:lstStyle/>
          <a:p>
            <a:pPr algn="ctr">
              <a:lnSpc>
                <a:spcPct val="99000"/>
              </a:lnSpc>
            </a:pPr>
            <a:r>
              <a:rPr sz="2175">
                <a:solidFill>
                  <a:srgbClr val="0F151A"/>
                </a:solidFill>
                <a:latin typeface="Quicksand Bold"/>
              </a:rPr>
              <a:t>¿Verdadero o falso?</a:t>
            </a:r>
          </a:p>
        </p:txBody>
      </p:sp>
      <p:sp>
        <p:nvSpPr>
          <p:cNvPr id="7" name="TextBox 6"/>
          <p:cNvSpPr txBox="1"/>
          <p:nvPr/>
        </p:nvSpPr>
        <p:spPr>
          <a:xfrm>
            <a:off x="3014662" y="3200400"/>
            <a:ext cx="12258675" cy="1783080"/>
          </a:xfrm>
          <a:prstGeom prst="rect">
            <a:avLst/>
          </a:prstGeom>
          <a:noFill/>
        </p:spPr>
        <p:txBody>
          <a:bodyPr wrap="square" anchor="ctr">
            <a:spAutoFit/>
          </a:bodyPr>
          <a:lstStyle/>
          <a:p>
            <a:pPr algn="ctr">
              <a:lnSpc>
                <a:spcPct val="117000"/>
              </a:lnSpc>
            </a:pPr>
            <a:r>
              <a:rPr sz="3600">
                <a:solidFill>
                  <a:srgbClr val="0F151A"/>
                </a:solidFill>
                <a:latin typeface="Rubik"/>
              </a:rPr>
              <a:t>La infraestructura AMI es puramente un avance de hardware sin relación con la gobernanza de datos del Estado.</a:t>
            </a:r>
          </a:p>
        </p:txBody>
      </p:sp>
      <p:sp>
        <p:nvSpPr>
          <p:cNvPr id="8" name="Rounded Rectangle 7"/>
          <p:cNvSpPr/>
          <p:nvPr/>
        </p:nvSpPr>
        <p:spPr>
          <a:xfrm>
            <a:off x="1281112" y="6812280"/>
            <a:ext cx="4267199" cy="990599"/>
          </a:xfrm>
          <a:prstGeom prst="roundRect">
            <a:avLst>
              <a:gd name="adj" fmla="val 8333"/>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38262" y="7040880"/>
            <a:ext cx="4152899" cy="533399"/>
          </a:xfrm>
          <a:prstGeom prst="rect">
            <a:avLst/>
          </a:prstGeom>
          <a:noFill/>
        </p:spPr>
        <p:txBody>
          <a:bodyPr wrap="square" anchor="ctr">
            <a:spAutoFit/>
          </a:bodyPr>
          <a:lstStyle/>
          <a:p>
            <a:pPr algn="ctr">
              <a:lnSpc>
                <a:spcPct val="90000"/>
              </a:lnSpc>
            </a:pPr>
            <a:r>
              <a:rPr sz="3300">
                <a:solidFill>
                  <a:srgbClr val="FFFFFF"/>
                </a:solidFill>
                <a:latin typeface="Quicksand Bold"/>
              </a:rPr>
              <a:t>← Falso</a:t>
            </a:r>
          </a:p>
        </p:txBody>
      </p:sp>
      <p:sp>
        <p:nvSpPr>
          <p:cNvPr id="10" name="Rounded Rectangle 9"/>
          <p:cNvSpPr/>
          <p:nvPr/>
        </p:nvSpPr>
        <p:spPr>
          <a:xfrm>
            <a:off x="12739687" y="6812280"/>
            <a:ext cx="4267199" cy="990599"/>
          </a:xfrm>
          <a:prstGeom prst="roundRect">
            <a:avLst>
              <a:gd name="adj" fmla="val 8333"/>
            </a:avLst>
          </a:prstGeom>
          <a:solidFill>
            <a:srgbClr val="38B8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796837" y="7040880"/>
            <a:ext cx="4152899" cy="533399"/>
          </a:xfrm>
          <a:prstGeom prst="rect">
            <a:avLst/>
          </a:prstGeom>
          <a:noFill/>
        </p:spPr>
        <p:txBody>
          <a:bodyPr wrap="square" anchor="ctr">
            <a:spAutoFit/>
          </a:bodyPr>
          <a:lstStyle/>
          <a:p>
            <a:pPr algn="ctr">
              <a:lnSpc>
                <a:spcPct val="90000"/>
              </a:lnSpc>
            </a:pPr>
            <a:r>
              <a:rPr sz="3300">
                <a:solidFill>
                  <a:srgbClr val="FFFFFF"/>
                </a:solidFill>
                <a:latin typeface="Quicksand Bold"/>
              </a:rPr>
              <a:t>Verdadero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2557462" y="1619250"/>
            <a:ext cx="2552700" cy="800100"/>
          </a:xfrm>
          <a:prstGeom prst="roundRect">
            <a:avLst>
              <a:gd name="adj" fmla="val 12500"/>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652712" y="1752599"/>
            <a:ext cx="2362199" cy="533399"/>
          </a:xfrm>
          <a:prstGeom prst="rect">
            <a:avLst/>
          </a:prstGeom>
          <a:noFill/>
        </p:spPr>
        <p:txBody>
          <a:bodyPr wrap="square" anchor="ctr">
            <a:spAutoFit/>
          </a:bodyPr>
          <a:lstStyle/>
          <a:p>
            <a:pPr algn="ctr">
              <a:lnSpc>
                <a:spcPct val="90000"/>
              </a:lnSpc>
            </a:pPr>
            <a:r>
              <a:rPr sz="2700">
                <a:solidFill>
                  <a:srgbClr val="FFFFFF"/>
                </a:solidFill>
                <a:latin typeface="Quicksand Bold"/>
              </a:rPr>
              <a:t>✕ Falso</a:t>
            </a:r>
          </a:p>
        </p:txBody>
      </p:sp>
      <p:sp>
        <p:nvSpPr>
          <p:cNvPr id="5" name="Rounded Rectangle 4"/>
          <p:cNvSpPr/>
          <p:nvPr/>
        </p:nvSpPr>
        <p:spPr>
          <a:xfrm>
            <a:off x="2557462" y="2647949"/>
            <a:ext cx="13173075" cy="1501140"/>
          </a:xfrm>
          <a:prstGeom prst="roundRect">
            <a:avLst>
              <a:gd name="adj" fmla="val 4166"/>
            </a:avLst>
          </a:prstGeom>
          <a:solidFill>
            <a:srgbClr val="FF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57462" y="2647949"/>
            <a:ext cx="57150" cy="1501140"/>
          </a:xfrm>
          <a:prstGeom prst="rect">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862262" y="2914650"/>
            <a:ext cx="12563474" cy="967740"/>
          </a:xfrm>
          <a:prstGeom prst="rect">
            <a:avLst/>
          </a:prstGeom>
          <a:noFill/>
        </p:spPr>
        <p:txBody>
          <a:bodyPr wrap="square" anchor="ctr">
            <a:spAutoFit/>
          </a:bodyPr>
          <a:lstStyle/>
          <a:p>
            <a:pPr algn="l">
              <a:lnSpc>
                <a:spcPct val="117000"/>
              </a:lnSpc>
            </a:pPr>
            <a:r>
              <a:rPr sz="2700">
                <a:solidFill>
                  <a:srgbClr val="0F151A"/>
                </a:solidFill>
                <a:latin typeface="Rubik Italic"/>
              </a:rPr>
              <a:t>La infraestructura AMI es puramente un avance de hardware sin relación con la gobernanza de datos del Estado.</a:t>
            </a:r>
          </a:p>
        </p:txBody>
      </p:sp>
      <p:sp>
        <p:nvSpPr>
          <p:cNvPr id="8" name="Rounded Rectangle 7"/>
          <p:cNvSpPr/>
          <p:nvPr/>
        </p:nvSpPr>
        <p:spPr>
          <a:xfrm>
            <a:off x="2557462" y="4377690"/>
            <a:ext cx="13173075" cy="4152899"/>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4662" y="4739640"/>
            <a:ext cx="12258675" cy="361950"/>
          </a:xfrm>
          <a:prstGeom prst="rect">
            <a:avLst/>
          </a:prstGeom>
          <a:noFill/>
        </p:spPr>
        <p:txBody>
          <a:bodyPr wrap="square">
            <a:spAutoFit/>
          </a:bodyPr>
          <a:lstStyle/>
          <a:p>
            <a:pPr algn="l">
              <a:lnSpc>
                <a:spcPct val="99000"/>
              </a:lnSpc>
            </a:pPr>
            <a:r>
              <a:rPr sz="2175">
                <a:solidFill>
                  <a:srgbClr val="6F7F8B"/>
                </a:solidFill>
                <a:latin typeface="Quicksand Bold"/>
              </a:rPr>
              <a:t>Explicación</a:t>
            </a:r>
          </a:p>
        </p:txBody>
      </p:sp>
      <p:sp>
        <p:nvSpPr>
          <p:cNvPr id="10" name="TextBox 9"/>
          <p:cNvSpPr txBox="1"/>
          <p:nvPr/>
        </p:nvSpPr>
        <p:spPr>
          <a:xfrm>
            <a:off x="3014662" y="5177790"/>
            <a:ext cx="12258675" cy="2971800"/>
          </a:xfrm>
          <a:prstGeom prst="rect">
            <a:avLst/>
          </a:prstGeom>
          <a:noFill/>
        </p:spPr>
        <p:txBody>
          <a:bodyPr wrap="square">
            <a:spAutoFit/>
          </a:bodyPr>
          <a:lstStyle/>
          <a:p>
            <a:pPr algn="l">
              <a:lnSpc>
                <a:spcPct val="117000"/>
              </a:lnSpc>
            </a:pPr>
            <a:r>
              <a:rPr sz="3600">
                <a:solidFill>
                  <a:srgbClr val="0F151A"/>
                </a:solidFill>
                <a:latin typeface="Rubik"/>
              </a:rPr>
              <a:t>La infraestructura AMI (Infraestructura de Medición Avanzada) genera grandes volúmenes de datos que son cruciales para la gobernanza de datos, la gestión energética inteligente y la toma de decisiones por parte del Estado.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81362" y="1862137"/>
            <a:ext cx="6562725" cy="6562725"/>
          </a:xfrm>
          <a:prstGeom prst="rect">
            <a:avLst/>
          </a:prstGeom>
        </p:spPr>
      </p:pic>
      <p:pic>
        <p:nvPicPr>
          <p:cNvPr id="3" name="Picture 2" descr="image.png"/>
          <p:cNvPicPr>
            <a:picLocks noChangeAspect="1"/>
          </p:cNvPicPr>
          <p:nvPr/>
        </p:nvPicPr>
        <p:blipFill>
          <a:blip r:embed="rId3"/>
          <a:stretch>
            <a:fillRect/>
          </a:stretch>
        </p:blipFill>
        <p:spPr>
          <a:xfrm>
            <a:off x="14449424" y="2352675"/>
            <a:ext cx="7677149" cy="5581649"/>
          </a:xfrm>
          <a:prstGeom prst="rect">
            <a:avLst/>
          </a:prstGeom>
        </p:spPr>
      </p:pic>
      <p:sp>
        <p:nvSpPr>
          <p:cNvPr id="4" name="Rounded Rectangle 3"/>
          <p:cNvSpPr/>
          <p:nvPr/>
        </p:nvSpPr>
        <p:spPr>
          <a:xfrm>
            <a:off x="2557462" y="2667000"/>
            <a:ext cx="13173075" cy="2849880"/>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096124" y="2324100"/>
            <a:ext cx="4095749" cy="685800"/>
          </a:xfrm>
          <a:prstGeom prst="roundRect">
            <a:avLst>
              <a:gd name="adj" fmla="val 8333"/>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48525" y="2419349"/>
            <a:ext cx="3790949" cy="495299"/>
          </a:xfrm>
          <a:prstGeom prst="rect">
            <a:avLst/>
          </a:prstGeom>
          <a:noFill/>
        </p:spPr>
        <p:txBody>
          <a:bodyPr wrap="square" anchor="ctr">
            <a:spAutoFit/>
          </a:bodyPr>
          <a:lstStyle/>
          <a:p>
            <a:pPr algn="ctr">
              <a:lnSpc>
                <a:spcPct val="99000"/>
              </a:lnSpc>
            </a:pPr>
            <a:r>
              <a:rPr sz="2175">
                <a:solidFill>
                  <a:srgbClr val="0F151A"/>
                </a:solidFill>
                <a:latin typeface="Quicksand Bold"/>
              </a:rPr>
              <a:t>¿Verdadero o falso?</a:t>
            </a:r>
          </a:p>
        </p:txBody>
      </p:sp>
      <p:sp>
        <p:nvSpPr>
          <p:cNvPr id="7" name="TextBox 6"/>
          <p:cNvSpPr txBox="1"/>
          <p:nvPr/>
        </p:nvSpPr>
        <p:spPr>
          <a:xfrm>
            <a:off x="3014662" y="3200400"/>
            <a:ext cx="12258675" cy="1783080"/>
          </a:xfrm>
          <a:prstGeom prst="rect">
            <a:avLst/>
          </a:prstGeom>
          <a:noFill/>
        </p:spPr>
        <p:txBody>
          <a:bodyPr wrap="square" anchor="ctr">
            <a:spAutoFit/>
          </a:bodyPr>
          <a:lstStyle/>
          <a:p>
            <a:pPr algn="ctr">
              <a:lnSpc>
                <a:spcPct val="117000"/>
              </a:lnSpc>
            </a:pPr>
            <a:r>
              <a:rPr sz="3600">
                <a:solidFill>
                  <a:srgbClr val="0F151A"/>
                </a:solidFill>
                <a:latin typeface="Rubik"/>
              </a:rPr>
              <a:t>La política de Gobierno Digital en Colombia solo se aplica a los servicios internos de las alcaldías y no afecta al sector energético.</a:t>
            </a:r>
          </a:p>
        </p:txBody>
      </p:sp>
      <p:sp>
        <p:nvSpPr>
          <p:cNvPr id="8" name="Rounded Rectangle 7"/>
          <p:cNvSpPr/>
          <p:nvPr/>
        </p:nvSpPr>
        <p:spPr>
          <a:xfrm>
            <a:off x="1281112" y="6812280"/>
            <a:ext cx="4267199" cy="990599"/>
          </a:xfrm>
          <a:prstGeom prst="roundRect">
            <a:avLst>
              <a:gd name="adj" fmla="val 8333"/>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38262" y="7040880"/>
            <a:ext cx="4152899" cy="533399"/>
          </a:xfrm>
          <a:prstGeom prst="rect">
            <a:avLst/>
          </a:prstGeom>
          <a:noFill/>
        </p:spPr>
        <p:txBody>
          <a:bodyPr wrap="square" anchor="ctr">
            <a:spAutoFit/>
          </a:bodyPr>
          <a:lstStyle/>
          <a:p>
            <a:pPr algn="ctr">
              <a:lnSpc>
                <a:spcPct val="90000"/>
              </a:lnSpc>
            </a:pPr>
            <a:r>
              <a:rPr sz="3300">
                <a:solidFill>
                  <a:srgbClr val="FFFFFF"/>
                </a:solidFill>
                <a:latin typeface="Quicksand Bold"/>
              </a:rPr>
              <a:t>← Falso</a:t>
            </a:r>
          </a:p>
        </p:txBody>
      </p:sp>
      <p:sp>
        <p:nvSpPr>
          <p:cNvPr id="10" name="Rounded Rectangle 9"/>
          <p:cNvSpPr/>
          <p:nvPr/>
        </p:nvSpPr>
        <p:spPr>
          <a:xfrm>
            <a:off x="12739687" y="6812280"/>
            <a:ext cx="4267199" cy="990599"/>
          </a:xfrm>
          <a:prstGeom prst="roundRect">
            <a:avLst>
              <a:gd name="adj" fmla="val 8333"/>
            </a:avLst>
          </a:prstGeom>
          <a:solidFill>
            <a:srgbClr val="38B8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796837" y="7040880"/>
            <a:ext cx="4152899" cy="533399"/>
          </a:xfrm>
          <a:prstGeom prst="rect">
            <a:avLst/>
          </a:prstGeom>
          <a:noFill/>
        </p:spPr>
        <p:txBody>
          <a:bodyPr wrap="square" anchor="ctr">
            <a:spAutoFit/>
          </a:bodyPr>
          <a:lstStyle/>
          <a:p>
            <a:pPr algn="ctr">
              <a:lnSpc>
                <a:spcPct val="90000"/>
              </a:lnSpc>
            </a:pPr>
            <a:r>
              <a:rPr sz="3300">
                <a:solidFill>
                  <a:srgbClr val="FFFFFF"/>
                </a:solidFill>
                <a:latin typeface="Quicksand Bold"/>
              </a:rPr>
              <a:t>Verdadero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2557462" y="1464945"/>
            <a:ext cx="2552700" cy="800100"/>
          </a:xfrm>
          <a:prstGeom prst="roundRect">
            <a:avLst>
              <a:gd name="adj" fmla="val 12500"/>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652712" y="1598295"/>
            <a:ext cx="2362199" cy="533399"/>
          </a:xfrm>
          <a:prstGeom prst="rect">
            <a:avLst/>
          </a:prstGeom>
          <a:noFill/>
        </p:spPr>
        <p:txBody>
          <a:bodyPr wrap="square" anchor="ctr">
            <a:spAutoFit/>
          </a:bodyPr>
          <a:lstStyle/>
          <a:p>
            <a:pPr algn="ctr">
              <a:lnSpc>
                <a:spcPct val="90000"/>
              </a:lnSpc>
            </a:pPr>
            <a:r>
              <a:rPr sz="2700">
                <a:solidFill>
                  <a:srgbClr val="FFFFFF"/>
                </a:solidFill>
                <a:latin typeface="Quicksand Bold"/>
              </a:rPr>
              <a:t>✕ Falso</a:t>
            </a:r>
          </a:p>
        </p:txBody>
      </p:sp>
      <p:sp>
        <p:nvSpPr>
          <p:cNvPr id="5" name="Rounded Rectangle 4"/>
          <p:cNvSpPr/>
          <p:nvPr/>
        </p:nvSpPr>
        <p:spPr>
          <a:xfrm>
            <a:off x="2557462" y="2493645"/>
            <a:ext cx="13173075" cy="1946909"/>
          </a:xfrm>
          <a:prstGeom prst="roundRect">
            <a:avLst>
              <a:gd name="adj" fmla="val 4166"/>
            </a:avLst>
          </a:prstGeom>
          <a:solidFill>
            <a:srgbClr val="FF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57462" y="2493645"/>
            <a:ext cx="57150" cy="1946909"/>
          </a:xfrm>
          <a:prstGeom prst="rect">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862262" y="2760345"/>
            <a:ext cx="12563474" cy="1413510"/>
          </a:xfrm>
          <a:prstGeom prst="rect">
            <a:avLst/>
          </a:prstGeom>
          <a:noFill/>
        </p:spPr>
        <p:txBody>
          <a:bodyPr wrap="square" anchor="ctr">
            <a:spAutoFit/>
          </a:bodyPr>
          <a:lstStyle/>
          <a:p>
            <a:pPr algn="l">
              <a:lnSpc>
                <a:spcPct val="117000"/>
              </a:lnSpc>
            </a:pPr>
            <a:r>
              <a:rPr sz="2700">
                <a:solidFill>
                  <a:srgbClr val="0F151A"/>
                </a:solidFill>
                <a:latin typeface="Rubik Italic"/>
              </a:rPr>
              <a:t>La política de Gobierno Digital en Colombia solo se aplica a los servicios internos de las alcaldías y no afecta al sector energético.</a:t>
            </a:r>
          </a:p>
        </p:txBody>
      </p:sp>
      <p:sp>
        <p:nvSpPr>
          <p:cNvPr id="8" name="Rounded Rectangle 7"/>
          <p:cNvSpPr/>
          <p:nvPr/>
        </p:nvSpPr>
        <p:spPr>
          <a:xfrm>
            <a:off x="2557462" y="4669155"/>
            <a:ext cx="13173075" cy="4152899"/>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4662" y="5031105"/>
            <a:ext cx="12258675" cy="361950"/>
          </a:xfrm>
          <a:prstGeom prst="rect">
            <a:avLst/>
          </a:prstGeom>
          <a:noFill/>
        </p:spPr>
        <p:txBody>
          <a:bodyPr wrap="square">
            <a:spAutoFit/>
          </a:bodyPr>
          <a:lstStyle/>
          <a:p>
            <a:pPr algn="l">
              <a:lnSpc>
                <a:spcPct val="99000"/>
              </a:lnSpc>
            </a:pPr>
            <a:r>
              <a:rPr sz="2175">
                <a:solidFill>
                  <a:srgbClr val="6F7F8B"/>
                </a:solidFill>
                <a:latin typeface="Quicksand Bold"/>
              </a:rPr>
              <a:t>Explicación</a:t>
            </a:r>
          </a:p>
        </p:txBody>
      </p:sp>
      <p:sp>
        <p:nvSpPr>
          <p:cNvPr id="10" name="TextBox 9"/>
          <p:cNvSpPr txBox="1"/>
          <p:nvPr/>
        </p:nvSpPr>
        <p:spPr>
          <a:xfrm>
            <a:off x="3014662" y="5469255"/>
            <a:ext cx="12258675" cy="2971800"/>
          </a:xfrm>
          <a:prstGeom prst="rect">
            <a:avLst/>
          </a:prstGeom>
          <a:noFill/>
        </p:spPr>
        <p:txBody>
          <a:bodyPr wrap="square">
            <a:spAutoFit/>
          </a:bodyPr>
          <a:lstStyle/>
          <a:p>
            <a:pPr algn="l">
              <a:lnSpc>
                <a:spcPct val="117000"/>
              </a:lnSpc>
            </a:pPr>
            <a:r>
              <a:rPr sz="3600">
                <a:solidFill>
                  <a:srgbClr val="0F151A"/>
                </a:solidFill>
                <a:latin typeface="Rubik"/>
              </a:rPr>
              <a:t>La política de Gobierno Digital en Colombia es de aplicación transversal y busca transformar la gestión pública en todos los sectores, incluyendo el energético, para promover la eficiencia y la transparencia.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81362" y="1862137"/>
            <a:ext cx="6562725" cy="6562725"/>
          </a:xfrm>
          <a:prstGeom prst="rect">
            <a:avLst/>
          </a:prstGeom>
        </p:spPr>
      </p:pic>
      <p:pic>
        <p:nvPicPr>
          <p:cNvPr id="3" name="Picture 2" descr="image.png"/>
          <p:cNvPicPr>
            <a:picLocks noChangeAspect="1"/>
          </p:cNvPicPr>
          <p:nvPr/>
        </p:nvPicPr>
        <p:blipFill>
          <a:blip r:embed="rId3"/>
          <a:stretch>
            <a:fillRect/>
          </a:stretch>
        </p:blipFill>
        <p:spPr>
          <a:xfrm>
            <a:off x="14449424" y="2352675"/>
            <a:ext cx="7677149" cy="5581649"/>
          </a:xfrm>
          <a:prstGeom prst="rect">
            <a:avLst/>
          </a:prstGeom>
        </p:spPr>
      </p:pic>
      <p:sp>
        <p:nvSpPr>
          <p:cNvPr id="4" name="Rounded Rectangle 3"/>
          <p:cNvSpPr/>
          <p:nvPr/>
        </p:nvSpPr>
        <p:spPr>
          <a:xfrm>
            <a:off x="2557462" y="2667000"/>
            <a:ext cx="13173075" cy="2849880"/>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096124" y="2324100"/>
            <a:ext cx="4095749" cy="685800"/>
          </a:xfrm>
          <a:prstGeom prst="roundRect">
            <a:avLst>
              <a:gd name="adj" fmla="val 8333"/>
            </a:avLst>
          </a:prstGeom>
          <a:solidFill>
            <a:srgbClr val="ED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48525" y="2419349"/>
            <a:ext cx="3790949" cy="495299"/>
          </a:xfrm>
          <a:prstGeom prst="rect">
            <a:avLst/>
          </a:prstGeom>
          <a:noFill/>
        </p:spPr>
        <p:txBody>
          <a:bodyPr wrap="square" anchor="ctr">
            <a:spAutoFit/>
          </a:bodyPr>
          <a:lstStyle/>
          <a:p>
            <a:pPr algn="ctr">
              <a:lnSpc>
                <a:spcPct val="99000"/>
              </a:lnSpc>
            </a:pPr>
            <a:r>
              <a:rPr sz="2175">
                <a:solidFill>
                  <a:srgbClr val="0F151A"/>
                </a:solidFill>
                <a:latin typeface="Quicksand Bold"/>
              </a:rPr>
              <a:t>¿Verdadero o falso?</a:t>
            </a:r>
          </a:p>
        </p:txBody>
      </p:sp>
      <p:sp>
        <p:nvSpPr>
          <p:cNvPr id="7" name="TextBox 6"/>
          <p:cNvSpPr txBox="1"/>
          <p:nvPr/>
        </p:nvSpPr>
        <p:spPr>
          <a:xfrm>
            <a:off x="3014662" y="3200400"/>
            <a:ext cx="12258675" cy="1783080"/>
          </a:xfrm>
          <a:prstGeom prst="rect">
            <a:avLst/>
          </a:prstGeom>
          <a:noFill/>
        </p:spPr>
        <p:txBody>
          <a:bodyPr wrap="square" anchor="ctr">
            <a:spAutoFit/>
          </a:bodyPr>
          <a:lstStyle/>
          <a:p>
            <a:pPr algn="ctr">
              <a:lnSpc>
                <a:spcPct val="117000"/>
              </a:lnSpc>
            </a:pPr>
            <a:r>
              <a:rPr sz="3600">
                <a:solidFill>
                  <a:srgbClr val="0F151A"/>
                </a:solidFill>
                <a:latin typeface="Rubik"/>
              </a:rPr>
              <a:t>Los sandboxes regulatorios permiten probar innovaciones tecnológicas bajo supervisión digital antes de emitir normativas definitivas.</a:t>
            </a:r>
          </a:p>
        </p:txBody>
      </p:sp>
      <p:sp>
        <p:nvSpPr>
          <p:cNvPr id="8" name="Rounded Rectangle 7"/>
          <p:cNvSpPr/>
          <p:nvPr/>
        </p:nvSpPr>
        <p:spPr>
          <a:xfrm>
            <a:off x="1281112" y="6812280"/>
            <a:ext cx="4267199" cy="990599"/>
          </a:xfrm>
          <a:prstGeom prst="roundRect">
            <a:avLst>
              <a:gd name="adj" fmla="val 8333"/>
            </a:avLst>
          </a:prstGeom>
          <a:solidFill>
            <a:srgbClr val="ED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38262" y="7040880"/>
            <a:ext cx="4152899" cy="533399"/>
          </a:xfrm>
          <a:prstGeom prst="rect">
            <a:avLst/>
          </a:prstGeom>
          <a:noFill/>
        </p:spPr>
        <p:txBody>
          <a:bodyPr wrap="square" anchor="ctr">
            <a:spAutoFit/>
          </a:bodyPr>
          <a:lstStyle/>
          <a:p>
            <a:pPr algn="ctr">
              <a:lnSpc>
                <a:spcPct val="90000"/>
              </a:lnSpc>
            </a:pPr>
            <a:r>
              <a:rPr sz="3300">
                <a:solidFill>
                  <a:srgbClr val="FFFFFF"/>
                </a:solidFill>
                <a:latin typeface="Quicksand Bold"/>
              </a:rPr>
              <a:t>← Falso</a:t>
            </a:r>
          </a:p>
        </p:txBody>
      </p:sp>
      <p:sp>
        <p:nvSpPr>
          <p:cNvPr id="10" name="Rounded Rectangle 9"/>
          <p:cNvSpPr/>
          <p:nvPr/>
        </p:nvSpPr>
        <p:spPr>
          <a:xfrm>
            <a:off x="12739687" y="6812280"/>
            <a:ext cx="4267199" cy="990599"/>
          </a:xfrm>
          <a:prstGeom prst="roundRect">
            <a:avLst>
              <a:gd name="adj" fmla="val 8333"/>
            </a:avLst>
          </a:prstGeom>
          <a:solidFill>
            <a:srgbClr val="38B8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796837" y="7040880"/>
            <a:ext cx="4152899" cy="533399"/>
          </a:xfrm>
          <a:prstGeom prst="rect">
            <a:avLst/>
          </a:prstGeom>
          <a:noFill/>
        </p:spPr>
        <p:txBody>
          <a:bodyPr wrap="square" anchor="ctr">
            <a:spAutoFit/>
          </a:bodyPr>
          <a:lstStyle/>
          <a:p>
            <a:pPr algn="ctr">
              <a:lnSpc>
                <a:spcPct val="90000"/>
              </a:lnSpc>
            </a:pPr>
            <a:r>
              <a:rPr sz="3300">
                <a:solidFill>
                  <a:srgbClr val="FFFFFF"/>
                </a:solidFill>
                <a:latin typeface="Quicksand Bold"/>
              </a:rPr>
              <a:t>Verdadero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2557462" y="1464945"/>
            <a:ext cx="3276599" cy="800100"/>
          </a:xfrm>
          <a:prstGeom prst="roundRect">
            <a:avLst>
              <a:gd name="adj" fmla="val 12500"/>
            </a:avLst>
          </a:prstGeom>
          <a:solidFill>
            <a:srgbClr val="38B8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652712" y="1598295"/>
            <a:ext cx="3086100" cy="533399"/>
          </a:xfrm>
          <a:prstGeom prst="rect">
            <a:avLst/>
          </a:prstGeom>
          <a:noFill/>
        </p:spPr>
        <p:txBody>
          <a:bodyPr wrap="square" anchor="ctr">
            <a:spAutoFit/>
          </a:bodyPr>
          <a:lstStyle/>
          <a:p>
            <a:pPr algn="ctr">
              <a:lnSpc>
                <a:spcPct val="90000"/>
              </a:lnSpc>
            </a:pPr>
            <a:r>
              <a:rPr sz="2700">
                <a:solidFill>
                  <a:srgbClr val="FFFFFF"/>
                </a:solidFill>
                <a:latin typeface="Quicksand Bold"/>
              </a:rPr>
              <a:t>✓ Verdadero</a:t>
            </a:r>
          </a:p>
        </p:txBody>
      </p:sp>
      <p:sp>
        <p:nvSpPr>
          <p:cNvPr id="5" name="Rounded Rectangle 4"/>
          <p:cNvSpPr/>
          <p:nvPr/>
        </p:nvSpPr>
        <p:spPr>
          <a:xfrm>
            <a:off x="2557462" y="2493645"/>
            <a:ext cx="13173075" cy="1946909"/>
          </a:xfrm>
          <a:prstGeom prst="roundRect">
            <a:avLst>
              <a:gd name="adj" fmla="val 4166"/>
            </a:avLst>
          </a:prstGeom>
          <a:solidFill>
            <a:srgbClr val="E2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57462" y="2493645"/>
            <a:ext cx="57150" cy="1946909"/>
          </a:xfrm>
          <a:prstGeom prst="rect">
            <a:avLst/>
          </a:prstGeom>
          <a:solidFill>
            <a:srgbClr val="77C7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862262" y="2760345"/>
            <a:ext cx="12563474" cy="1413510"/>
          </a:xfrm>
          <a:prstGeom prst="rect">
            <a:avLst/>
          </a:prstGeom>
          <a:noFill/>
        </p:spPr>
        <p:txBody>
          <a:bodyPr wrap="square" anchor="ctr">
            <a:spAutoFit/>
          </a:bodyPr>
          <a:lstStyle/>
          <a:p>
            <a:pPr algn="l">
              <a:lnSpc>
                <a:spcPct val="117000"/>
              </a:lnSpc>
            </a:pPr>
            <a:r>
              <a:rPr sz="2700">
                <a:solidFill>
                  <a:srgbClr val="0F151A"/>
                </a:solidFill>
                <a:latin typeface="Rubik Italic"/>
              </a:rPr>
              <a:t>Los sandboxes regulatorios permiten probar innovaciones tecnológicas bajo supervisión digital antes de emitir normativas definitivas.</a:t>
            </a:r>
          </a:p>
        </p:txBody>
      </p:sp>
      <p:sp>
        <p:nvSpPr>
          <p:cNvPr id="8" name="Rounded Rectangle 7"/>
          <p:cNvSpPr/>
          <p:nvPr/>
        </p:nvSpPr>
        <p:spPr>
          <a:xfrm>
            <a:off x="2557462" y="4669155"/>
            <a:ext cx="13173075" cy="4152899"/>
          </a:xfrm>
          <a:prstGeom prst="roundRect">
            <a:avLst>
              <a:gd name="adj" fmla="val 11111"/>
            </a:avLst>
          </a:prstGeom>
          <a:solidFill>
            <a:srgbClr val="FFFFFF"/>
          </a:solidFill>
          <a:ln w="25400">
            <a:solidFill>
              <a:srgbClr val="D2D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4662" y="5031105"/>
            <a:ext cx="12258675" cy="361950"/>
          </a:xfrm>
          <a:prstGeom prst="rect">
            <a:avLst/>
          </a:prstGeom>
          <a:noFill/>
        </p:spPr>
        <p:txBody>
          <a:bodyPr wrap="square">
            <a:spAutoFit/>
          </a:bodyPr>
          <a:lstStyle/>
          <a:p>
            <a:pPr algn="l">
              <a:lnSpc>
                <a:spcPct val="99000"/>
              </a:lnSpc>
            </a:pPr>
            <a:r>
              <a:rPr sz="2175">
                <a:solidFill>
                  <a:srgbClr val="6F7F8B"/>
                </a:solidFill>
                <a:latin typeface="Quicksand Bold"/>
              </a:rPr>
              <a:t>Explicación</a:t>
            </a:r>
          </a:p>
        </p:txBody>
      </p:sp>
      <p:sp>
        <p:nvSpPr>
          <p:cNvPr id="10" name="TextBox 9"/>
          <p:cNvSpPr txBox="1"/>
          <p:nvPr/>
        </p:nvSpPr>
        <p:spPr>
          <a:xfrm>
            <a:off x="3014662" y="5469255"/>
            <a:ext cx="12258675" cy="2971800"/>
          </a:xfrm>
          <a:prstGeom prst="rect">
            <a:avLst/>
          </a:prstGeom>
          <a:noFill/>
        </p:spPr>
        <p:txBody>
          <a:bodyPr wrap="square">
            <a:spAutoFit/>
          </a:bodyPr>
          <a:lstStyle/>
          <a:p>
            <a:pPr algn="l">
              <a:lnSpc>
                <a:spcPct val="117000"/>
              </a:lnSpc>
            </a:pPr>
            <a:r>
              <a:rPr sz="3600">
                <a:solidFill>
                  <a:srgbClr val="0F151A"/>
                </a:solidFill>
                <a:latin typeface="Rubik"/>
              </a:rPr>
              <a:t>Los sandboxes regulatorios son espacios controlados que facilitan la experimentación de nuevas tecnologías y modelos de negocio en un entorno real pero supervisado, informando así la creación de marcos regulatorios adecuados.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371600" y="1695449"/>
            <a:ext cx="6248400" cy="1005780"/>
          </a:xfrm>
          <a:prstGeom prst="rect">
            <a:avLst/>
          </a:prstGeom>
          <a:noFill/>
        </p:spPr>
        <p:txBody>
          <a:bodyPr wrap="square">
            <a:spAutoFit/>
          </a:bodyPr>
          <a:lstStyle/>
          <a:p>
            <a:pPr algn="l">
              <a:lnSpc>
                <a:spcPct val="99000"/>
              </a:lnSpc>
            </a:pPr>
            <a:r>
              <a:rPr sz="7200">
                <a:solidFill>
                  <a:srgbClr val="0F151A"/>
                </a:solidFill>
                <a:latin typeface="Quicksand Bold"/>
              </a:rPr>
              <a:t>Conclusión</a:t>
            </a:r>
          </a:p>
        </p:txBody>
      </p:sp>
      <p:sp>
        <p:nvSpPr>
          <p:cNvPr id="4" name="TextBox 3"/>
          <p:cNvSpPr txBox="1"/>
          <p:nvPr/>
        </p:nvSpPr>
        <p:spPr>
          <a:xfrm>
            <a:off x="7619999" y="1319212"/>
            <a:ext cx="9391649" cy="7648574"/>
          </a:xfrm>
          <a:prstGeom prst="rect">
            <a:avLst/>
          </a:prstGeom>
          <a:noFill/>
        </p:spPr>
        <p:txBody>
          <a:bodyPr wrap="square">
            <a:spAutoFit/>
          </a:bodyPr>
          <a:lstStyle/>
          <a:p>
            <a:pPr algn="l">
              <a:buChar char="•"/>
            </a:pPr>
            <a:r>
              <a:rPr sz="3000">
                <a:latin typeface="Quicksand"/>
              </a:rPr>
              <a:t>  </a:t>
            </a:r>
            <a:r>
              <a:rPr sz="3000">
                <a:solidFill>
                  <a:srgbClr val="323E47"/>
                </a:solidFill>
                <a:latin typeface="Quicksand"/>
              </a:rPr>
              <a:t>La 'Twin Transition' exige un Estado digital robusto para gestionar la matriz energética descentralizada y las FNCER, según Decreto 767 de 2022.</a:t>
            </a:r>
          </a:p>
          <a:p>
            <a:pPr algn="l">
              <a:lnSpc>
                <a:spcPct val="126000"/>
              </a:lnSpc>
              <a:spcBef>
                <a:spcPts val="1875"/>
              </a:spcBef>
              <a:buChar char="•"/>
            </a:pPr>
            <a:r>
              <a:rPr sz="3000">
                <a:latin typeface="Quicksand"/>
              </a:rPr>
              <a:t>  </a:t>
            </a:r>
            <a:r>
              <a:rPr sz="3000">
                <a:solidFill>
                  <a:srgbClr val="323E47"/>
                </a:solidFill>
                <a:latin typeface="Quicksand"/>
              </a:rPr>
              <a:t>La Infraestructura de Medición Avanzada (AMI) y el SIEL de UPME son pilares para datos abiertos y eficiencia operativa en el sector.</a:t>
            </a:r>
          </a:p>
          <a:p>
            <a:pPr algn="l">
              <a:lnSpc>
                <a:spcPct val="126000"/>
              </a:lnSpc>
              <a:spcBef>
                <a:spcPts val="1875"/>
              </a:spcBef>
              <a:buChar char="•"/>
            </a:pPr>
            <a:r>
              <a:rPr sz="3000">
                <a:latin typeface="Quicksand"/>
              </a:rPr>
              <a:t>  </a:t>
            </a:r>
            <a:r>
              <a:rPr sz="3000">
                <a:solidFill>
                  <a:srgbClr val="323E47"/>
                </a:solidFill>
                <a:latin typeface="Quicksand"/>
              </a:rPr>
              <a:t>La seguridad digital (MSPI MinTIC) es crucial para las Infraestructuras Críticas Cibernéticas del sistema eléctrico distribuido.</a:t>
            </a:r>
          </a:p>
          <a:p>
            <a:pPr algn="l">
              <a:lnSpc>
                <a:spcPct val="126000"/>
              </a:lnSpc>
              <a:spcBef>
                <a:spcPts val="1875"/>
              </a:spcBef>
              <a:buChar char="•"/>
            </a:pPr>
            <a:r>
              <a:rPr sz="3000">
                <a:latin typeface="Quicksand"/>
              </a:rPr>
              <a:t>  </a:t>
            </a:r>
            <a:r>
              <a:rPr sz="3000">
                <a:solidFill>
                  <a:srgbClr val="323E47"/>
                </a:solidFill>
                <a:latin typeface="Quicksand"/>
              </a:rPr>
              <a:t>Sandboxes regulatorios y analítica avanzada (IA/ML) optimizan el despacho y aceleran la adopción de nuevas tecnologías energéticas.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2249</Words>
  <Application>Microsoft Office PowerPoint</Application>
  <PresentationFormat>Personalizado</PresentationFormat>
  <Paragraphs>157</Paragraphs>
  <Slides>28</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28</vt:i4>
      </vt:variant>
    </vt:vector>
  </HeadingPairs>
  <TitlesOfParts>
    <vt:vector size="37" baseType="lpstr">
      <vt:lpstr>Rubik Italic</vt:lpstr>
      <vt:lpstr>Calibri</vt:lpstr>
      <vt:lpstr>Arial</vt:lpstr>
      <vt:lpstr>Gill Sans MT</vt:lpstr>
      <vt:lpstr>Quicksand Bold</vt:lpstr>
      <vt:lpstr>Quicksand</vt:lpstr>
      <vt:lpstr>Times New Roman</vt:lpstr>
      <vt:lpstr>Rubik</vt:lpstr>
      <vt:lpstr>Office Theme</vt:lpstr>
      <vt:lpstr>Gobierno Digital para la Transición Energética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Digital para la Transición Energética </dc:title>
  <dc:subject/>
  <dc:creator/>
  <cp:keywords/>
  <cp:lastModifiedBy>José Ramon Iglesias Gamarra</cp:lastModifiedBy>
  <cp:revision>2</cp:revision>
  <dcterms:created xsi:type="dcterms:W3CDTF">2013-01-27T09:14:16Z</dcterms:created>
  <dcterms:modified xsi:type="dcterms:W3CDTF">2026-05-27T14:36:10Z</dcterms:modified>
  <cp:category/>
</cp:coreProperties>
</file>