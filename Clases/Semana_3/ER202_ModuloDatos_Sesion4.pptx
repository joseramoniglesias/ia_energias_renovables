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7"/>
  </p:notesMasterIdLst>
  <p:sldIdLst>
    <p:sldId id="353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25" r:id="rId69"/>
    <p:sldId id="326" r:id="rId70"/>
    <p:sldId id="327" r:id="rId71"/>
    <p:sldId id="328" r:id="rId72"/>
    <p:sldId id="329" r:id="rId73"/>
    <p:sldId id="330" r:id="rId74"/>
    <p:sldId id="331" r:id="rId75"/>
    <p:sldId id="332" r:id="rId76"/>
    <p:sldId id="333" r:id="rId77"/>
    <p:sldId id="334" r:id="rId78"/>
    <p:sldId id="335" r:id="rId79"/>
    <p:sldId id="336" r:id="rId80"/>
    <p:sldId id="337" r:id="rId81"/>
    <p:sldId id="338" r:id="rId82"/>
    <p:sldId id="339" r:id="rId83"/>
    <p:sldId id="340" r:id="rId84"/>
    <p:sldId id="341" r:id="rId85"/>
    <p:sldId id="342" r:id="rId86"/>
    <p:sldId id="343" r:id="rId87"/>
    <p:sldId id="344" r:id="rId88"/>
    <p:sldId id="345" r:id="rId89"/>
    <p:sldId id="346" r:id="rId90"/>
    <p:sldId id="347" r:id="rId91"/>
    <p:sldId id="348" r:id="rId92"/>
    <p:sldId id="349" r:id="rId93"/>
    <p:sldId id="350" r:id="rId94"/>
    <p:sldId id="351" r:id="rId95"/>
    <p:sldId id="352" r:id="rId9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54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presProps" Target="presProps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A01523-AAAA-4ADE-88F5-BD91CAA1163B}" type="datetimeFigureOut">
              <a:rPr lang="es-CO" smtClean="0"/>
              <a:t>29/05/2026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4B90A5-3AAD-4F0C-BAC3-1AC7C11DA04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13111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O" dirty="0"/>
              <a:t>20 a 30 páginas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O" dirty="0"/>
              <a:t>Titulo del documento: Analítica de datos en el sector público: el poder de los datos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O" dirty="0"/>
              <a:t>Titulo del curso: ¿Cómo desarrollar analítica de datos en el sector público?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s-CO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O" dirty="0"/>
              <a:t>“Como fortalece la analítica y el </a:t>
            </a:r>
            <a:r>
              <a:rPr lang="es-CO" dirty="0" err="1"/>
              <a:t>bigdata</a:t>
            </a:r>
            <a:r>
              <a:rPr lang="es-CO" dirty="0"/>
              <a:t> a la gestión del conocimiento” =&gt; mejor gestión pública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s-CO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277102" y="2454097"/>
            <a:ext cx="4580255" cy="10020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0030B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rgbClr val="0030B8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030B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rgbClr val="0030B8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030B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0030B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">
  <p:cSld name="Título y texto">
    <p:bg>
      <p:bgPr>
        <a:solidFill>
          <a:srgbClr val="2D6DF3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5024967" y="2428291"/>
            <a:ext cx="6336800" cy="623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Work Sans SemiBold"/>
              <a:buNone/>
              <a:defRPr sz="4000">
                <a:solidFill>
                  <a:srgbClr val="FFFFFF"/>
                </a:solidFill>
                <a:latin typeface="Work Sans Light"/>
                <a:ea typeface="Work Sans Light"/>
                <a:cs typeface="Work Sans Light"/>
                <a:sym typeface="Work Sans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9pPr>
          </a:lstStyle>
          <a:p>
            <a:endParaRPr dirty="0"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5014834" y="3404467"/>
            <a:ext cx="6346933" cy="487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/>
          <a:lstStyle>
            <a:lvl1pPr marL="609585" lvl="0" indent="-304792" algn="l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2000">
                <a:solidFill>
                  <a:srgbClr val="FFFFFF"/>
                </a:solidFill>
              </a:defRPr>
            </a:lvl1pPr>
            <a:lvl2pPr marL="1219170" lvl="1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>
                <a:solidFill>
                  <a:srgbClr val="FFFFFF"/>
                </a:solidFill>
              </a:defRPr>
            </a:lvl2pPr>
            <a:lvl3pPr marL="1828754" lvl="2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>
                <a:solidFill>
                  <a:srgbClr val="FFFFFF"/>
                </a:solidFill>
              </a:defRPr>
            </a:lvl3pPr>
            <a:lvl4pPr marL="2438339" lvl="3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>
                <a:solidFill>
                  <a:srgbClr val="FFFFFF"/>
                </a:solidFill>
              </a:defRPr>
            </a:lvl4pPr>
            <a:lvl5pPr marL="3047924" lvl="4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>
                <a:solidFill>
                  <a:srgbClr val="FFFFFF"/>
                </a:solidFill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>
                <a:solidFill>
                  <a:srgbClr val="FFFFFF"/>
                </a:solidFill>
              </a:defRPr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>
                <a:solidFill>
                  <a:srgbClr val="FFFFFF"/>
                </a:solidFill>
              </a:defRPr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>
                <a:solidFill>
                  <a:srgbClr val="FFFFFF"/>
                </a:solidFill>
              </a:defRPr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57806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73777" y="1693925"/>
            <a:ext cx="7026275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0030B8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61713" y="2953003"/>
            <a:ext cx="6442075" cy="2769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rgbClr val="0030B8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opendatahandbook.org/" TargetMode="External"/><Relationship Id="rId5" Type="http://schemas.openxmlformats.org/officeDocument/2006/relationships/hyperlink" Target="https://www.funcionpublica.gov.co/" TargetMode="External"/><Relationship Id="rId4" Type="http://schemas.openxmlformats.org/officeDocument/2006/relationships/image" Target="../media/image11.jp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biernobogota.gov.co/" TargetMode="External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hyperlink" Target="http://medata.gov.co/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hyperlink" Target="http://medata.gov.co/" TargetMode="Externa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hyperlink" Target="http://medata.gov.co/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hyperlink" Target="http://medata.gov.co/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N1ltwg2nTK4" TargetMode="External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jp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hyperlink" Target="https://miro.com/welcomeonboard/TFd1YTJzSEdmTDFGN20za3oz" TargetMode="Externa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2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jp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jp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Relationship Id="rId14" Type="http://schemas.openxmlformats.org/officeDocument/2006/relationships/image" Target="../media/image63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4.png"/><Relationship Id="rId7" Type="http://schemas.openxmlformats.org/officeDocument/2006/relationships/image" Target="../media/image55.jp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11" Type="http://schemas.openxmlformats.org/officeDocument/2006/relationships/image" Target="../media/image71.png"/><Relationship Id="rId5" Type="http://schemas.openxmlformats.org/officeDocument/2006/relationships/image" Target="../media/image66.png"/><Relationship Id="rId10" Type="http://schemas.openxmlformats.org/officeDocument/2006/relationships/image" Target="../media/image70.png"/><Relationship Id="rId4" Type="http://schemas.openxmlformats.org/officeDocument/2006/relationships/image" Target="../media/image65.png"/><Relationship Id="rId9" Type="http://schemas.openxmlformats.org/officeDocument/2006/relationships/image" Target="../media/image69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hyperlink" Target="https://miro.com/welcomeonboard/TFd1YTJzSEdmTDFGN20za3oz" TargetMode="Externa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>
            <a:spLocks noGrp="1"/>
          </p:cNvSpPr>
          <p:nvPr>
            <p:ph type="title"/>
          </p:nvPr>
        </p:nvSpPr>
        <p:spPr>
          <a:xfrm>
            <a:off x="5014833" y="1429709"/>
            <a:ext cx="6966328" cy="199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rtl="0">
              <a:lnSpc>
                <a:spcPct val="115000"/>
              </a:lnSpc>
            </a:pPr>
            <a:r>
              <a:rPr lang="es-MX" dirty="0"/>
              <a:t>ANALÍTICA DE DATOS: EL PODER DE </a:t>
            </a:r>
            <a:r>
              <a:rPr lang="es-MX"/>
              <a:t>LOS DATOSII</a:t>
            </a:r>
            <a:endParaRPr dirty="0"/>
          </a:p>
        </p:txBody>
      </p:sp>
      <p:sp>
        <p:nvSpPr>
          <p:cNvPr id="126" name="Google Shape;126;p20"/>
          <p:cNvSpPr txBox="1">
            <a:spLocks noGrp="1"/>
          </p:cNvSpPr>
          <p:nvPr>
            <p:ph type="body" idx="1"/>
          </p:nvPr>
        </p:nvSpPr>
        <p:spPr>
          <a:xfrm>
            <a:off x="5024967" y="3853645"/>
            <a:ext cx="5463739" cy="177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indent="0" rtl="0">
              <a:lnSpc>
                <a:spcPct val="115000"/>
              </a:lnSpc>
              <a:buClr>
                <a:srgbClr val="0054BC"/>
              </a:buClr>
              <a:buSzPts val="2100"/>
            </a:pPr>
            <a:r>
              <a:rPr lang="es-MX" dirty="0">
                <a:latin typeface="Work Sans SemiBold"/>
                <a:ea typeface="Work Sans SemiBold"/>
                <a:cs typeface="Work Sans SemiBold"/>
                <a:sym typeface="Work Sans SemiBold"/>
              </a:rPr>
              <a:t>Autor: José Ramón Iglesias, </a:t>
            </a:r>
            <a:r>
              <a:rPr lang="es-MX" dirty="0" err="1">
                <a:latin typeface="Work Sans SemiBold"/>
                <a:ea typeface="Work Sans SemiBold"/>
                <a:cs typeface="Work Sans SemiBold"/>
                <a:sym typeface="Work Sans SemiBold"/>
              </a:rPr>
              <a:t>MSc</a:t>
            </a:r>
            <a:r>
              <a:rPr lang="es-MX" dirty="0">
                <a:latin typeface="Work Sans SemiBold"/>
                <a:ea typeface="Work Sans SemiBold"/>
                <a:cs typeface="Work Sans SemiBold"/>
                <a:sym typeface="Work Sans SemiBold"/>
              </a:rPr>
              <a:t>. PhD.</a:t>
            </a:r>
          </a:p>
          <a:p>
            <a:pPr marL="0" indent="0" rtl="0">
              <a:lnSpc>
                <a:spcPct val="115000"/>
              </a:lnSpc>
              <a:buClr>
                <a:srgbClr val="0054BC"/>
              </a:buClr>
              <a:buSzPts val="2100"/>
            </a:pPr>
            <a:r>
              <a:rPr lang="es-ES">
                <a:latin typeface="Work Sans SemiBold"/>
                <a:ea typeface="Work Sans SemiBold"/>
                <a:cs typeface="Work Sans SemiBold"/>
                <a:sym typeface="Work Sans SemiBold"/>
              </a:rPr>
              <a:t>Mayo </a:t>
            </a:r>
            <a:r>
              <a:rPr lang="es-ES" dirty="0">
                <a:latin typeface="Work Sans SemiBold"/>
                <a:ea typeface="Work Sans SemiBold"/>
                <a:cs typeface="Work Sans SemiBold"/>
                <a:sym typeface="Work Sans SemiBold"/>
              </a:rPr>
              <a:t>2026</a:t>
            </a:r>
            <a:endParaRPr dirty="0">
              <a:latin typeface="Work Sans SemiBold"/>
              <a:ea typeface="Work Sans SemiBold"/>
              <a:cs typeface="Work Sans SemiBold"/>
              <a:sym typeface="Work Sans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68771" y="4048125"/>
            <a:ext cx="476885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Generar</a:t>
            </a:r>
            <a:r>
              <a:rPr sz="15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resultados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que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atiendan</a:t>
            </a:r>
            <a:r>
              <a:rPr sz="15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planes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de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desarrollo</a:t>
            </a:r>
            <a:r>
              <a:rPr sz="15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garanticen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derechos,</a:t>
            </a:r>
            <a:r>
              <a:rPr sz="1500" spc="-11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resuelvan</a:t>
            </a:r>
            <a:r>
              <a:rPr sz="15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las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necesidades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5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problemas</a:t>
            </a:r>
            <a:r>
              <a:rPr sz="1500" spc="43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5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ciudadanos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con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integridad</a:t>
            </a:r>
            <a:r>
              <a:rPr sz="15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5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calidad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el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servicio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668771" y="1971592"/>
            <a:ext cx="4521200" cy="1614170"/>
          </a:xfrm>
          <a:prstGeom prst="rect">
            <a:avLst/>
          </a:prstGeom>
        </p:spPr>
        <p:txBody>
          <a:bodyPr vert="horz" wrap="square" lIns="0" tIns="212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70"/>
              </a:spcBef>
            </a:pPr>
            <a:r>
              <a:rPr spc="-360" dirty="0"/>
              <a:t>01.</a:t>
            </a:r>
            <a:r>
              <a:rPr spc="-45" dirty="0"/>
              <a:t> </a:t>
            </a:r>
            <a:r>
              <a:rPr spc="60" dirty="0"/>
              <a:t>Introducción</a:t>
            </a:r>
          </a:p>
          <a:p>
            <a:pPr marL="12700" marR="5080">
              <a:lnSpc>
                <a:spcPct val="100000"/>
              </a:lnSpc>
              <a:spcBef>
                <a:spcPts val="860"/>
              </a:spcBef>
            </a:pPr>
            <a:r>
              <a:rPr sz="2200" b="0" dirty="0">
                <a:solidFill>
                  <a:srgbClr val="2CDAFF"/>
                </a:solidFill>
                <a:latin typeface="Verdana"/>
                <a:cs typeface="Verdana"/>
              </a:rPr>
              <a:t>Datos</a:t>
            </a:r>
            <a:r>
              <a:rPr sz="2200" b="0" spc="-14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200" b="0" spc="65" dirty="0">
                <a:solidFill>
                  <a:srgbClr val="2CDAFF"/>
                </a:solidFill>
                <a:latin typeface="Verdana"/>
                <a:cs typeface="Verdana"/>
              </a:rPr>
              <a:t>que</a:t>
            </a:r>
            <a:r>
              <a:rPr sz="2200" b="0" spc="-13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200" b="0" dirty="0">
                <a:solidFill>
                  <a:srgbClr val="2CDAFF"/>
                </a:solidFill>
                <a:latin typeface="Verdana"/>
                <a:cs typeface="Verdana"/>
              </a:rPr>
              <a:t>transforman</a:t>
            </a:r>
            <a:r>
              <a:rPr sz="2200" b="0" spc="-9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200" b="0" dirty="0">
                <a:solidFill>
                  <a:srgbClr val="2CDAFF"/>
                </a:solidFill>
                <a:latin typeface="Verdana"/>
                <a:cs typeface="Verdana"/>
              </a:rPr>
              <a:t>desde</a:t>
            </a:r>
            <a:r>
              <a:rPr sz="2200" b="0" spc="-13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200" b="0" spc="-25" dirty="0">
                <a:solidFill>
                  <a:srgbClr val="2CDAFF"/>
                </a:solidFill>
                <a:latin typeface="Verdana"/>
                <a:cs typeface="Verdana"/>
              </a:rPr>
              <a:t>la </a:t>
            </a:r>
            <a:r>
              <a:rPr sz="2200" b="0" dirty="0">
                <a:solidFill>
                  <a:srgbClr val="2CDAFF"/>
                </a:solidFill>
                <a:latin typeface="Verdana"/>
                <a:cs typeface="Verdana"/>
              </a:rPr>
              <a:t>gestión</a:t>
            </a:r>
            <a:r>
              <a:rPr sz="2200" b="0" spc="-8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200" b="0" dirty="0">
                <a:solidFill>
                  <a:srgbClr val="2CDAFF"/>
                </a:solidFill>
                <a:latin typeface="Verdana"/>
                <a:cs typeface="Verdana"/>
              </a:rPr>
              <a:t>del</a:t>
            </a:r>
            <a:r>
              <a:rPr sz="2200" b="0" spc="-65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200" b="0" spc="40" dirty="0">
                <a:solidFill>
                  <a:srgbClr val="2CDAFF"/>
                </a:solidFill>
                <a:latin typeface="Verdana"/>
                <a:cs typeface="Verdana"/>
              </a:rPr>
              <a:t>conocimiento</a:t>
            </a:r>
            <a:endParaRPr sz="22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4676" y="2493264"/>
            <a:ext cx="5142230" cy="3255645"/>
            <a:chOff x="74676" y="2493264"/>
            <a:chExt cx="5142230" cy="32556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676" y="2493264"/>
              <a:ext cx="5141976" cy="325526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60933" y="2773553"/>
              <a:ext cx="451484" cy="454025"/>
            </a:xfrm>
            <a:custGeom>
              <a:avLst/>
              <a:gdLst/>
              <a:ahLst/>
              <a:cxnLst/>
              <a:rect l="l" t="t" r="r" b="b"/>
              <a:pathLst>
                <a:path w="451484" h="454025">
                  <a:moveTo>
                    <a:pt x="72758" y="0"/>
                  </a:moveTo>
                  <a:lnTo>
                    <a:pt x="0" y="72136"/>
                  </a:lnTo>
                  <a:lnTo>
                    <a:pt x="342303" y="417068"/>
                  </a:lnTo>
                  <a:lnTo>
                    <a:pt x="305930" y="453263"/>
                  </a:lnTo>
                  <a:lnTo>
                    <a:pt x="450888" y="453771"/>
                  </a:lnTo>
                  <a:lnTo>
                    <a:pt x="451446" y="308863"/>
                  </a:lnTo>
                  <a:lnTo>
                    <a:pt x="415061" y="344932"/>
                  </a:lnTo>
                  <a:lnTo>
                    <a:pt x="72758" y="0"/>
                  </a:lnTo>
                  <a:close/>
                </a:path>
              </a:pathLst>
            </a:custGeom>
            <a:solidFill>
              <a:srgbClr val="FF535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136775" y="5846470"/>
            <a:ext cx="124269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Derechos Problemas Necesidades</a:t>
            </a:r>
            <a:endParaRPr sz="15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64870" y="1235151"/>
            <a:ext cx="467550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85" dirty="0"/>
              <a:t>Analítica</a:t>
            </a:r>
            <a:r>
              <a:rPr sz="3200" spc="-65" dirty="0"/>
              <a:t> </a:t>
            </a:r>
            <a:r>
              <a:rPr sz="3200" spc="65" dirty="0"/>
              <a:t>institucional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664870" y="1835911"/>
            <a:ext cx="905700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Profundizar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5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análisis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información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datos</a:t>
            </a:r>
            <a:r>
              <a:rPr sz="15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que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genera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entidad</a:t>
            </a:r>
            <a:r>
              <a:rPr sz="15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para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fortalecer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el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conocimiento</a:t>
            </a:r>
            <a:r>
              <a:rPr sz="15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1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su</a:t>
            </a:r>
            <a:r>
              <a:rPr sz="1500" spc="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desempeño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1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su</a:t>
            </a:r>
            <a:r>
              <a:rPr sz="1500" spc="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propósito</a:t>
            </a:r>
            <a:r>
              <a:rPr sz="1500" spc="-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fundamental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64155" y="2555494"/>
            <a:ext cx="2889250" cy="804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200"/>
              </a:lnSpc>
              <a:spcBef>
                <a:spcPts val="95"/>
              </a:spcBef>
            </a:pPr>
            <a:r>
              <a:rPr sz="1500" b="1" spc="10" dirty="0">
                <a:solidFill>
                  <a:srgbClr val="0030B8"/>
                </a:solidFill>
                <a:latin typeface="Tahoma"/>
                <a:cs typeface="Tahoma"/>
              </a:rPr>
              <a:t>Diagnóstico</a:t>
            </a:r>
            <a:r>
              <a:rPr sz="1500" b="1" spc="190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1500" b="1" spc="65" dirty="0">
                <a:solidFill>
                  <a:srgbClr val="0030B8"/>
                </a:solidFill>
                <a:latin typeface="Tahoma"/>
                <a:cs typeface="Tahoma"/>
              </a:rPr>
              <a:t>de</a:t>
            </a:r>
            <a:r>
              <a:rPr sz="1500" b="1" spc="185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0030B8"/>
                </a:solidFill>
                <a:latin typeface="Tahoma"/>
                <a:cs typeface="Tahoma"/>
              </a:rPr>
              <a:t>datos: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Identificación,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organización </a:t>
            </a:r>
            <a:r>
              <a:rPr sz="1200" spc="-50" dirty="0">
                <a:solidFill>
                  <a:srgbClr val="0030B8"/>
                </a:solidFill>
                <a:latin typeface="Verdana"/>
                <a:cs typeface="Verdana"/>
              </a:rPr>
              <a:t>y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actualización</a:t>
            </a:r>
            <a:r>
              <a:rPr sz="12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2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2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datos</a:t>
            </a:r>
            <a:r>
              <a:rPr sz="12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producidos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por</a:t>
            </a:r>
            <a:r>
              <a:rPr sz="12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2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entidad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64155" y="4152087"/>
            <a:ext cx="3143250" cy="988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0030B8"/>
                </a:solidFill>
                <a:latin typeface="Tahoma"/>
                <a:cs typeface="Tahoma"/>
              </a:rPr>
              <a:t>Análisis</a:t>
            </a:r>
            <a:r>
              <a:rPr sz="1500" b="1" spc="105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1500" b="1" spc="70" dirty="0">
                <a:solidFill>
                  <a:srgbClr val="0030B8"/>
                </a:solidFill>
                <a:latin typeface="Tahoma"/>
                <a:cs typeface="Tahoma"/>
              </a:rPr>
              <a:t>de</a:t>
            </a:r>
            <a:r>
              <a:rPr sz="1500" b="1" spc="110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0030B8"/>
                </a:solidFill>
                <a:latin typeface="Tahoma"/>
                <a:cs typeface="Tahoma"/>
              </a:rPr>
              <a:t>datos:</a:t>
            </a:r>
            <a:endParaRPr sz="15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15"/>
              </a:spcBef>
            </a:pP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Profundizar</a:t>
            </a:r>
            <a:r>
              <a:rPr sz="12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12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2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análisis</a:t>
            </a:r>
            <a:r>
              <a:rPr sz="12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2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0030B8"/>
                </a:solidFill>
                <a:latin typeface="Verdana"/>
                <a:cs typeface="Verdana"/>
              </a:rPr>
              <a:t>datos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internos</a:t>
            </a:r>
            <a:r>
              <a:rPr sz="12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70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2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35" dirty="0">
                <a:solidFill>
                  <a:srgbClr val="0030B8"/>
                </a:solidFill>
                <a:latin typeface="Verdana"/>
                <a:cs typeface="Verdana"/>
              </a:rPr>
              <a:t>externos,</a:t>
            </a:r>
            <a:r>
              <a:rPr sz="12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haciendo</a:t>
            </a:r>
            <a:r>
              <a:rPr sz="1200" spc="-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cruces</a:t>
            </a:r>
            <a:r>
              <a:rPr sz="1200" spc="-25" dirty="0">
                <a:solidFill>
                  <a:srgbClr val="0030B8"/>
                </a:solidFill>
                <a:latin typeface="Verdana"/>
                <a:cs typeface="Verdana"/>
              </a:rPr>
              <a:t> que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permitan</a:t>
            </a:r>
            <a:r>
              <a:rPr sz="1200" spc="-30" dirty="0">
                <a:solidFill>
                  <a:srgbClr val="0030B8"/>
                </a:solidFill>
                <a:latin typeface="Verdana"/>
                <a:cs typeface="Verdana"/>
              </a:rPr>
              <a:t> extraer</a:t>
            </a:r>
            <a:r>
              <a:rPr sz="12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nuevas</a:t>
            </a:r>
            <a:r>
              <a:rPr sz="1200" spc="-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perspectivas</a:t>
            </a:r>
            <a:r>
              <a:rPr sz="1200" spc="-1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0030B8"/>
                </a:solidFill>
                <a:latin typeface="Verdana"/>
                <a:cs typeface="Verdana"/>
              </a:rPr>
              <a:t>de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2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datos</a:t>
            </a:r>
            <a:r>
              <a:rPr sz="12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70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2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2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2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información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41081" y="4057269"/>
            <a:ext cx="2458720" cy="987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200"/>
              </a:lnSpc>
              <a:spcBef>
                <a:spcPts val="95"/>
              </a:spcBef>
            </a:pPr>
            <a:r>
              <a:rPr sz="1500" b="1" spc="-10" dirty="0">
                <a:solidFill>
                  <a:srgbClr val="0030B8"/>
                </a:solidFill>
                <a:latin typeface="Tahoma"/>
                <a:cs typeface="Tahoma"/>
              </a:rPr>
              <a:t>Visualizaciones: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Visualización</a:t>
            </a:r>
            <a:r>
              <a:rPr sz="12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2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datos</a:t>
            </a:r>
            <a:r>
              <a:rPr sz="12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0030B8"/>
                </a:solidFill>
                <a:latin typeface="Verdana"/>
                <a:cs typeface="Verdana"/>
              </a:rPr>
              <a:t>para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formular</a:t>
            </a:r>
            <a:r>
              <a:rPr sz="12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preguntas</a:t>
            </a:r>
            <a:r>
              <a:rPr sz="12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diferentes</a:t>
            </a:r>
            <a:r>
              <a:rPr sz="1200" spc="-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50" dirty="0">
                <a:solidFill>
                  <a:srgbClr val="0030B8"/>
                </a:solidFill>
                <a:latin typeface="Verdana"/>
                <a:cs typeface="Verdana"/>
              </a:rPr>
              <a:t>y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contar</a:t>
            </a:r>
            <a:r>
              <a:rPr sz="12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historias</a:t>
            </a:r>
            <a:r>
              <a:rPr sz="12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30" dirty="0">
                <a:solidFill>
                  <a:srgbClr val="0030B8"/>
                </a:solidFill>
                <a:latin typeface="Verdana"/>
                <a:cs typeface="Verdana"/>
              </a:rPr>
              <a:t>a</a:t>
            </a:r>
            <a:r>
              <a:rPr sz="12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35" dirty="0">
                <a:solidFill>
                  <a:srgbClr val="0030B8"/>
                </a:solidFill>
                <a:latin typeface="Verdana"/>
                <a:cs typeface="Verdana"/>
              </a:rPr>
              <a:t>través</a:t>
            </a:r>
            <a:r>
              <a:rPr sz="12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2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0030B8"/>
                </a:solidFill>
                <a:latin typeface="Verdana"/>
                <a:cs typeface="Verdana"/>
              </a:rPr>
              <a:t>los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datos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41081" y="2504313"/>
            <a:ext cx="2459355" cy="804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200"/>
              </a:lnSpc>
              <a:spcBef>
                <a:spcPts val="95"/>
              </a:spcBef>
            </a:pPr>
            <a:r>
              <a:rPr sz="1500" b="1" dirty="0">
                <a:solidFill>
                  <a:srgbClr val="0030B8"/>
                </a:solidFill>
                <a:latin typeface="Tahoma"/>
                <a:cs typeface="Tahoma"/>
              </a:rPr>
              <a:t>Tableros</a:t>
            </a:r>
            <a:r>
              <a:rPr sz="1500" b="1" spc="114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1500" b="1" spc="65" dirty="0">
                <a:solidFill>
                  <a:srgbClr val="0030B8"/>
                </a:solidFill>
                <a:latin typeface="Tahoma"/>
                <a:cs typeface="Tahoma"/>
              </a:rPr>
              <a:t>de</a:t>
            </a:r>
            <a:r>
              <a:rPr sz="1500" b="1" spc="100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0030B8"/>
                </a:solidFill>
                <a:latin typeface="Tahoma"/>
                <a:cs typeface="Tahoma"/>
              </a:rPr>
              <a:t>indicadores: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Generación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200" spc="-1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indicadores</a:t>
            </a:r>
            <a:r>
              <a:rPr sz="1200" spc="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50" dirty="0">
                <a:solidFill>
                  <a:srgbClr val="0030B8"/>
                </a:solidFill>
                <a:latin typeface="Verdana"/>
                <a:cs typeface="Verdana"/>
              </a:rPr>
              <a:t>y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monitoreo</a:t>
            </a:r>
            <a:r>
              <a:rPr sz="12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200" spc="-1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200" spc="-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gestión</a:t>
            </a:r>
            <a:r>
              <a:rPr sz="1200" spc="-1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200" spc="-1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0030B8"/>
                </a:solidFill>
                <a:latin typeface="Verdana"/>
                <a:cs typeface="Verdana"/>
              </a:rPr>
              <a:t>la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entidad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984503" y="2485644"/>
            <a:ext cx="6471285" cy="2839720"/>
            <a:chOff x="984503" y="2485644"/>
            <a:chExt cx="6471285" cy="283972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4503" y="2485644"/>
              <a:ext cx="1130808" cy="129235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8323" y="4032504"/>
              <a:ext cx="963168" cy="129235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35624" y="2534412"/>
              <a:ext cx="1319783" cy="83362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60591" y="4081272"/>
              <a:ext cx="1176528" cy="11231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68771" y="3222459"/>
            <a:ext cx="5737860" cy="1276985"/>
          </a:xfrm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5"/>
              </a:spcBef>
            </a:pPr>
            <a:r>
              <a:rPr sz="4000" b="1" spc="-10" dirty="0">
                <a:solidFill>
                  <a:srgbClr val="0030B8"/>
                </a:solidFill>
                <a:latin typeface="Tahoma"/>
                <a:cs typeface="Tahoma"/>
              </a:rPr>
              <a:t>02.</a:t>
            </a:r>
            <a:r>
              <a:rPr sz="4000" b="1" spc="-114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4000" b="1" spc="95" dirty="0">
                <a:solidFill>
                  <a:srgbClr val="0030B8"/>
                </a:solidFill>
                <a:latin typeface="Tahoma"/>
                <a:cs typeface="Tahoma"/>
              </a:rPr>
              <a:t>Analítica</a:t>
            </a:r>
            <a:r>
              <a:rPr sz="4000" b="1" spc="-100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4000" b="1" spc="195" dirty="0">
                <a:solidFill>
                  <a:srgbClr val="0030B8"/>
                </a:solidFill>
                <a:latin typeface="Tahoma"/>
                <a:cs typeface="Tahoma"/>
              </a:rPr>
              <a:t>de</a:t>
            </a:r>
            <a:r>
              <a:rPr sz="4000" b="1" spc="-110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4000" b="1" spc="100" dirty="0">
                <a:solidFill>
                  <a:srgbClr val="0030B8"/>
                </a:solidFill>
                <a:latin typeface="Tahoma"/>
                <a:cs typeface="Tahoma"/>
              </a:rPr>
              <a:t>datos</a:t>
            </a:r>
            <a:endParaRPr sz="4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2200" spc="60" dirty="0">
                <a:solidFill>
                  <a:srgbClr val="2CDAFF"/>
                </a:solidFill>
                <a:latin typeface="Verdana"/>
                <a:cs typeface="Verdana"/>
              </a:rPr>
              <a:t>¿Por</a:t>
            </a:r>
            <a:r>
              <a:rPr sz="2200" spc="-145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200" spc="65" dirty="0">
                <a:solidFill>
                  <a:srgbClr val="2CDAFF"/>
                </a:solidFill>
                <a:latin typeface="Verdana"/>
                <a:cs typeface="Verdana"/>
              </a:rPr>
              <a:t>qué</a:t>
            </a:r>
            <a:r>
              <a:rPr sz="2200" spc="-155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2CDAFF"/>
                </a:solidFill>
                <a:latin typeface="Verdana"/>
                <a:cs typeface="Verdana"/>
              </a:rPr>
              <a:t>conocer</a:t>
            </a:r>
            <a:r>
              <a:rPr sz="2200" spc="-145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200" spc="65" dirty="0">
                <a:solidFill>
                  <a:srgbClr val="2CDAFF"/>
                </a:solidFill>
                <a:latin typeface="Verdana"/>
                <a:cs typeface="Verdana"/>
              </a:rPr>
              <a:t>no</a:t>
            </a:r>
            <a:r>
              <a:rPr sz="2200" spc="-155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200" spc="-45" dirty="0">
                <a:solidFill>
                  <a:srgbClr val="2CDAFF"/>
                </a:solidFill>
                <a:latin typeface="Verdana"/>
                <a:cs typeface="Verdana"/>
              </a:rPr>
              <a:t>es</a:t>
            </a:r>
            <a:r>
              <a:rPr sz="2200" spc="-145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2CDAFF"/>
                </a:solidFill>
                <a:latin typeface="Verdana"/>
                <a:cs typeface="Verdana"/>
              </a:rPr>
              <a:t>suficiente?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3039" y="2570988"/>
            <a:ext cx="3259836" cy="32598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68771" y="3189477"/>
            <a:ext cx="545719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4000" b="1" spc="150" dirty="0">
                <a:solidFill>
                  <a:srgbClr val="0030B8"/>
                </a:solidFill>
                <a:latin typeface="Tahoma"/>
                <a:cs typeface="Tahoma"/>
              </a:rPr>
              <a:t>¿Qué</a:t>
            </a:r>
            <a:r>
              <a:rPr sz="4000" b="1" spc="-20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4000" b="1" spc="170" dirty="0">
                <a:solidFill>
                  <a:srgbClr val="0030B8"/>
                </a:solidFill>
                <a:latin typeface="Tahoma"/>
                <a:cs typeface="Tahoma"/>
              </a:rPr>
              <a:t>conocemos</a:t>
            </a:r>
            <a:r>
              <a:rPr sz="4000" b="1" spc="40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4000" b="1" spc="170" dirty="0">
                <a:solidFill>
                  <a:srgbClr val="0030B8"/>
                </a:solidFill>
                <a:latin typeface="Tahoma"/>
                <a:cs typeface="Tahoma"/>
              </a:rPr>
              <a:t>de </a:t>
            </a:r>
            <a:r>
              <a:rPr sz="4000" b="1" spc="50" dirty="0">
                <a:solidFill>
                  <a:srgbClr val="0030B8"/>
                </a:solidFill>
                <a:latin typeface="Tahoma"/>
                <a:cs typeface="Tahoma"/>
              </a:rPr>
              <a:t>analítica?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68771" y="4654041"/>
            <a:ext cx="1726564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65" dirty="0">
                <a:solidFill>
                  <a:srgbClr val="2CDAFF"/>
                </a:solidFill>
                <a:latin typeface="Verdana"/>
                <a:cs typeface="Verdana"/>
              </a:rPr>
              <a:t>Juguemos</a:t>
            </a:r>
            <a:r>
              <a:rPr sz="2200" spc="-20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200" spc="-320" dirty="0">
                <a:solidFill>
                  <a:srgbClr val="2CDAFF"/>
                </a:solidFill>
                <a:latin typeface="Verdana"/>
                <a:cs typeface="Verdana"/>
              </a:rPr>
              <a:t>!!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9324" y="2919983"/>
            <a:ext cx="3680460" cy="36789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62000" y="838200"/>
            <a:ext cx="1003363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927100" algn="l"/>
              </a:tabLst>
            </a:pPr>
            <a:r>
              <a:rPr spc="-635" dirty="0"/>
              <a:t>1.</a:t>
            </a:r>
            <a:r>
              <a:rPr dirty="0"/>
              <a:t>	</a:t>
            </a:r>
            <a:r>
              <a:rPr spc="185" dirty="0"/>
              <a:t>De</a:t>
            </a:r>
            <a:r>
              <a:rPr spc="-5" dirty="0"/>
              <a:t> </a:t>
            </a:r>
            <a:r>
              <a:rPr dirty="0"/>
              <a:t>las</a:t>
            </a:r>
            <a:r>
              <a:rPr spc="-5" dirty="0"/>
              <a:t> </a:t>
            </a:r>
            <a:r>
              <a:rPr spc="95" dirty="0"/>
              <a:t>siguientes</a:t>
            </a:r>
            <a:r>
              <a:rPr spc="25" dirty="0"/>
              <a:t> </a:t>
            </a:r>
            <a:r>
              <a:rPr spc="130" dirty="0"/>
              <a:t>opciones</a:t>
            </a:r>
            <a:r>
              <a:rPr spc="30" dirty="0"/>
              <a:t> </a:t>
            </a:r>
            <a:r>
              <a:rPr spc="180" dirty="0"/>
              <a:t>¿Cómo </a:t>
            </a:r>
            <a:r>
              <a:rPr spc="85" dirty="0"/>
              <a:t>se</a:t>
            </a:r>
            <a:r>
              <a:rPr spc="-30" dirty="0"/>
              <a:t> </a:t>
            </a:r>
            <a:r>
              <a:rPr spc="125" dirty="0"/>
              <a:t>define</a:t>
            </a:r>
            <a:r>
              <a:rPr spc="-10" dirty="0"/>
              <a:t> </a:t>
            </a:r>
            <a:r>
              <a:rPr dirty="0"/>
              <a:t>la</a:t>
            </a:r>
            <a:r>
              <a:rPr spc="-30" dirty="0"/>
              <a:t> </a:t>
            </a:r>
            <a:r>
              <a:rPr spc="50" dirty="0"/>
              <a:t>analítica?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19200" y="2362200"/>
            <a:ext cx="8798560" cy="2769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63830" indent="-343535">
              <a:lnSpc>
                <a:spcPct val="100000"/>
              </a:lnSpc>
              <a:spcBef>
                <a:spcPts val="100"/>
              </a:spcBef>
              <a:buAutoNum type="alphaLcPeriod"/>
              <a:tabLst>
                <a:tab pos="355600" algn="l"/>
              </a:tabLst>
            </a:pP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Técnicas</a:t>
            </a:r>
            <a:r>
              <a:rPr sz="18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computacionales</a:t>
            </a:r>
            <a:r>
              <a:rPr sz="18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usadas</a:t>
            </a:r>
            <a:r>
              <a:rPr sz="18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forma</a:t>
            </a:r>
            <a:r>
              <a:rPr sz="18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eficiente</a:t>
            </a:r>
            <a:r>
              <a:rPr sz="18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18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datos</a:t>
            </a:r>
            <a:r>
              <a:rPr sz="18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0030B8"/>
                </a:solidFill>
                <a:latin typeface="Verdana"/>
                <a:cs typeface="Verdana"/>
              </a:rPr>
              <a:t>masivos</a:t>
            </a:r>
            <a:r>
              <a:rPr sz="1800" spc="-50" dirty="0">
                <a:solidFill>
                  <a:srgbClr val="0030B8"/>
                </a:solidFill>
                <a:latin typeface="Verdana"/>
                <a:cs typeface="Verdana"/>
              </a:rPr>
              <a:t> y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distintos</a:t>
            </a:r>
            <a:r>
              <a:rPr sz="1800" spc="-1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(estructurados</a:t>
            </a:r>
            <a:r>
              <a:rPr sz="1800" spc="-1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800" spc="-11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0030B8"/>
                </a:solidFill>
                <a:latin typeface="Verdana"/>
                <a:cs typeface="Verdana"/>
              </a:rPr>
              <a:t>no</a:t>
            </a:r>
            <a:r>
              <a:rPr sz="1800" spc="-1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estructurados)</a:t>
            </a:r>
            <a:r>
              <a:rPr sz="1800" spc="-1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para</a:t>
            </a:r>
            <a:r>
              <a:rPr sz="1800" spc="-11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8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toma</a:t>
            </a:r>
            <a:r>
              <a:rPr sz="1800" spc="-1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decisiones.</a:t>
            </a:r>
            <a:endParaRPr sz="1800" dirty="0">
              <a:latin typeface="Verdana"/>
              <a:cs typeface="Verdana"/>
            </a:endParaRPr>
          </a:p>
          <a:p>
            <a:pPr marL="339090" indent="-326390">
              <a:lnSpc>
                <a:spcPct val="100000"/>
              </a:lnSpc>
              <a:spcBef>
                <a:spcPts val="2160"/>
              </a:spcBef>
              <a:buAutoNum type="alphaLcPeriod"/>
              <a:tabLst>
                <a:tab pos="339090" algn="l"/>
              </a:tabLst>
            </a:pP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Conjunto</a:t>
            </a:r>
            <a:r>
              <a:rPr sz="1800" spc="-1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0030B8"/>
                </a:solidFill>
                <a:latin typeface="Verdana"/>
                <a:cs typeface="Verdana"/>
              </a:rPr>
              <a:t>servicios</a:t>
            </a:r>
            <a:r>
              <a:rPr sz="18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integración</a:t>
            </a:r>
            <a:r>
              <a:rPr sz="18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sistemas</a:t>
            </a:r>
            <a:r>
              <a:rPr sz="18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información.</a:t>
            </a:r>
            <a:endParaRPr sz="1800" dirty="0">
              <a:latin typeface="Verdana"/>
              <a:cs typeface="Verdana"/>
            </a:endParaRPr>
          </a:p>
          <a:p>
            <a:pPr marL="12700" marR="5080" indent="298450">
              <a:lnSpc>
                <a:spcPct val="100000"/>
              </a:lnSpc>
              <a:spcBef>
                <a:spcPts val="2160"/>
              </a:spcBef>
              <a:buAutoNum type="alphaLcPeriod"/>
              <a:tabLst>
                <a:tab pos="311150" algn="l"/>
              </a:tabLst>
            </a:pP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Analizar</a:t>
            </a:r>
            <a:r>
              <a:rPr sz="18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patrones</a:t>
            </a:r>
            <a:r>
              <a:rPr sz="18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0030B8"/>
                </a:solidFill>
                <a:latin typeface="Verdana"/>
                <a:cs typeface="Verdana"/>
              </a:rPr>
              <a:t>a</a:t>
            </a:r>
            <a:r>
              <a:rPr sz="18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partir</a:t>
            </a:r>
            <a:r>
              <a:rPr sz="18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8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datos</a:t>
            </a:r>
            <a:r>
              <a:rPr sz="18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para</a:t>
            </a:r>
            <a:r>
              <a:rPr sz="18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generar</a:t>
            </a:r>
            <a:r>
              <a:rPr sz="18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conocimiento</a:t>
            </a:r>
            <a:r>
              <a:rPr sz="18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valor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para</a:t>
            </a:r>
            <a:r>
              <a:rPr sz="18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8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toma</a:t>
            </a:r>
            <a:r>
              <a:rPr sz="18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decisiones.</a:t>
            </a:r>
            <a:endParaRPr sz="1800" dirty="0">
              <a:latin typeface="Verdana"/>
              <a:cs typeface="Verdana"/>
            </a:endParaRPr>
          </a:p>
          <a:p>
            <a:pPr marL="12700" marR="26670" indent="326390">
              <a:lnSpc>
                <a:spcPct val="100000"/>
              </a:lnSpc>
              <a:spcBef>
                <a:spcPts val="2160"/>
              </a:spcBef>
              <a:buAutoNum type="alphaLcPeriod"/>
              <a:tabLst>
                <a:tab pos="339090" algn="l"/>
              </a:tabLst>
            </a:pP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Algoritmos</a:t>
            </a:r>
            <a:r>
              <a:rPr sz="18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8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técnicas</a:t>
            </a:r>
            <a:r>
              <a:rPr sz="18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Aprendizaje</a:t>
            </a:r>
            <a:r>
              <a:rPr sz="18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0030B8"/>
                </a:solidFill>
                <a:latin typeface="Verdana"/>
                <a:cs typeface="Verdana"/>
              </a:rPr>
              <a:t>Máquina</a:t>
            </a:r>
            <a:r>
              <a:rPr sz="18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enfocados</a:t>
            </a:r>
            <a:r>
              <a:rPr sz="18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18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el</a:t>
            </a:r>
            <a:r>
              <a:rPr sz="18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análisis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patrones</a:t>
            </a:r>
            <a:r>
              <a:rPr sz="1800" spc="-1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8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predicción.</a:t>
            </a:r>
            <a:endParaRPr sz="18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8200" y="609600"/>
            <a:ext cx="1003363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927100" algn="l"/>
              </a:tabLst>
            </a:pPr>
            <a:r>
              <a:rPr spc="-635" dirty="0"/>
              <a:t>1.</a:t>
            </a:r>
            <a:r>
              <a:rPr dirty="0"/>
              <a:t>	</a:t>
            </a:r>
            <a:r>
              <a:rPr spc="185" dirty="0"/>
              <a:t>De</a:t>
            </a:r>
            <a:r>
              <a:rPr spc="-5" dirty="0"/>
              <a:t> </a:t>
            </a:r>
            <a:r>
              <a:rPr dirty="0"/>
              <a:t>las</a:t>
            </a:r>
            <a:r>
              <a:rPr spc="-5" dirty="0"/>
              <a:t> </a:t>
            </a:r>
            <a:r>
              <a:rPr spc="95" dirty="0"/>
              <a:t>siguientes</a:t>
            </a:r>
            <a:r>
              <a:rPr spc="25" dirty="0"/>
              <a:t> </a:t>
            </a:r>
            <a:r>
              <a:rPr spc="130" dirty="0"/>
              <a:t>opciones</a:t>
            </a:r>
            <a:r>
              <a:rPr spc="30" dirty="0"/>
              <a:t> </a:t>
            </a:r>
            <a:r>
              <a:rPr spc="180" dirty="0"/>
              <a:t>¿Cómo </a:t>
            </a:r>
            <a:r>
              <a:rPr spc="85" dirty="0"/>
              <a:t>se</a:t>
            </a:r>
            <a:r>
              <a:rPr spc="-30" dirty="0"/>
              <a:t> </a:t>
            </a:r>
            <a:r>
              <a:rPr spc="125" dirty="0"/>
              <a:t>define</a:t>
            </a:r>
            <a:r>
              <a:rPr spc="-10" dirty="0"/>
              <a:t> </a:t>
            </a:r>
            <a:r>
              <a:rPr dirty="0"/>
              <a:t>la</a:t>
            </a:r>
            <a:r>
              <a:rPr spc="-30" dirty="0"/>
              <a:t> </a:t>
            </a:r>
            <a:r>
              <a:rPr spc="50" dirty="0"/>
              <a:t>analítica?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66849" y="2362200"/>
            <a:ext cx="8776335" cy="2769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41605" indent="-343535">
              <a:lnSpc>
                <a:spcPct val="100000"/>
              </a:lnSpc>
              <a:spcBef>
                <a:spcPts val="100"/>
              </a:spcBef>
              <a:buAutoNum type="alphaLcPeriod"/>
              <a:tabLst>
                <a:tab pos="355600" algn="l"/>
              </a:tabLst>
            </a:pP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Técnicas</a:t>
            </a:r>
            <a:r>
              <a:rPr sz="18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computacionales</a:t>
            </a:r>
            <a:r>
              <a:rPr sz="18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usadas</a:t>
            </a:r>
            <a:r>
              <a:rPr sz="18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forma</a:t>
            </a:r>
            <a:r>
              <a:rPr sz="18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eficiente</a:t>
            </a:r>
            <a:r>
              <a:rPr sz="18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18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datos</a:t>
            </a:r>
            <a:r>
              <a:rPr sz="18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0030B8"/>
                </a:solidFill>
                <a:latin typeface="Verdana"/>
                <a:cs typeface="Verdana"/>
              </a:rPr>
              <a:t>masivos</a:t>
            </a:r>
            <a:r>
              <a:rPr sz="1800" spc="-50" dirty="0">
                <a:solidFill>
                  <a:srgbClr val="0030B8"/>
                </a:solidFill>
                <a:latin typeface="Verdana"/>
                <a:cs typeface="Verdana"/>
              </a:rPr>
              <a:t> y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distintos</a:t>
            </a:r>
            <a:r>
              <a:rPr sz="1800" spc="-1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(estructurados</a:t>
            </a:r>
            <a:r>
              <a:rPr sz="1800" spc="-1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800" spc="-11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0030B8"/>
                </a:solidFill>
                <a:latin typeface="Verdana"/>
                <a:cs typeface="Verdana"/>
              </a:rPr>
              <a:t>no</a:t>
            </a:r>
            <a:r>
              <a:rPr sz="1800" spc="-1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estructurados)</a:t>
            </a:r>
            <a:r>
              <a:rPr sz="1800" spc="-1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para</a:t>
            </a:r>
            <a:r>
              <a:rPr sz="1800" spc="-11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8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toma</a:t>
            </a:r>
            <a:r>
              <a:rPr sz="1800" spc="-1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decisiones.</a:t>
            </a:r>
            <a:endParaRPr sz="1800" dirty="0">
              <a:latin typeface="Verdana"/>
              <a:cs typeface="Verdana"/>
            </a:endParaRPr>
          </a:p>
          <a:p>
            <a:pPr marL="339090" indent="-326390">
              <a:lnSpc>
                <a:spcPct val="100000"/>
              </a:lnSpc>
              <a:spcBef>
                <a:spcPts val="2160"/>
              </a:spcBef>
              <a:buAutoNum type="alphaLcPeriod"/>
              <a:tabLst>
                <a:tab pos="339090" algn="l"/>
              </a:tabLst>
            </a:pP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Conjunto</a:t>
            </a:r>
            <a:r>
              <a:rPr sz="1800" spc="-1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0030B8"/>
                </a:solidFill>
                <a:latin typeface="Verdana"/>
                <a:cs typeface="Verdana"/>
              </a:rPr>
              <a:t>servicios</a:t>
            </a:r>
            <a:r>
              <a:rPr sz="18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integración</a:t>
            </a:r>
            <a:r>
              <a:rPr sz="18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sistemas</a:t>
            </a:r>
            <a:r>
              <a:rPr sz="18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información.</a:t>
            </a:r>
            <a:endParaRPr sz="1800" dirty="0">
              <a:latin typeface="Verdana"/>
              <a:cs typeface="Verdana"/>
            </a:endParaRPr>
          </a:p>
          <a:p>
            <a:pPr marL="12700" marR="180340" indent="324485">
              <a:lnSpc>
                <a:spcPct val="100000"/>
              </a:lnSpc>
              <a:spcBef>
                <a:spcPts val="2160"/>
              </a:spcBef>
              <a:buAutoNum type="alphaLcPeriod"/>
              <a:tabLst>
                <a:tab pos="337185" algn="l"/>
              </a:tabLst>
            </a:pPr>
            <a:r>
              <a:rPr sz="1800" b="1" dirty="0">
                <a:solidFill>
                  <a:srgbClr val="00ADEE"/>
                </a:solidFill>
                <a:latin typeface="Tahoma"/>
                <a:cs typeface="Tahoma"/>
              </a:rPr>
              <a:t>Analizar</a:t>
            </a:r>
            <a:r>
              <a:rPr sz="1800" b="1" spc="60" dirty="0">
                <a:solidFill>
                  <a:srgbClr val="00ADEE"/>
                </a:solidFill>
                <a:latin typeface="Tahoma"/>
                <a:cs typeface="Tahoma"/>
              </a:rPr>
              <a:t> </a:t>
            </a:r>
            <a:r>
              <a:rPr sz="1800" b="1" spc="50" dirty="0">
                <a:solidFill>
                  <a:srgbClr val="00ADEE"/>
                </a:solidFill>
                <a:latin typeface="Tahoma"/>
                <a:cs typeface="Tahoma"/>
              </a:rPr>
              <a:t>patrones</a:t>
            </a:r>
            <a:r>
              <a:rPr sz="1800" b="1" spc="65" dirty="0">
                <a:solidFill>
                  <a:srgbClr val="00ADEE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ADEE"/>
                </a:solidFill>
                <a:latin typeface="Tahoma"/>
                <a:cs typeface="Tahoma"/>
              </a:rPr>
              <a:t>a</a:t>
            </a:r>
            <a:r>
              <a:rPr sz="1800" b="1" spc="90" dirty="0">
                <a:solidFill>
                  <a:srgbClr val="00ADEE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ADEE"/>
                </a:solidFill>
                <a:latin typeface="Tahoma"/>
                <a:cs typeface="Tahoma"/>
              </a:rPr>
              <a:t>partir</a:t>
            </a:r>
            <a:r>
              <a:rPr sz="1800" b="1" spc="65" dirty="0">
                <a:solidFill>
                  <a:srgbClr val="00ADEE"/>
                </a:solidFill>
                <a:latin typeface="Tahoma"/>
                <a:cs typeface="Tahoma"/>
              </a:rPr>
              <a:t> </a:t>
            </a:r>
            <a:r>
              <a:rPr sz="1800" b="1" spc="75" dirty="0">
                <a:solidFill>
                  <a:srgbClr val="00ADEE"/>
                </a:solidFill>
                <a:latin typeface="Tahoma"/>
                <a:cs typeface="Tahoma"/>
              </a:rPr>
              <a:t>de</a:t>
            </a:r>
            <a:r>
              <a:rPr sz="1800" b="1" spc="95" dirty="0">
                <a:solidFill>
                  <a:srgbClr val="00ADEE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ADEE"/>
                </a:solidFill>
                <a:latin typeface="Tahoma"/>
                <a:cs typeface="Tahoma"/>
              </a:rPr>
              <a:t>los</a:t>
            </a:r>
            <a:r>
              <a:rPr sz="1800" b="1" spc="55" dirty="0">
                <a:solidFill>
                  <a:srgbClr val="00ADEE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ADEE"/>
                </a:solidFill>
                <a:latin typeface="Tahoma"/>
                <a:cs typeface="Tahoma"/>
              </a:rPr>
              <a:t>datos</a:t>
            </a:r>
            <a:r>
              <a:rPr sz="1800" b="1" spc="95" dirty="0">
                <a:solidFill>
                  <a:srgbClr val="00ADEE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ADEE"/>
                </a:solidFill>
                <a:latin typeface="Tahoma"/>
                <a:cs typeface="Tahoma"/>
              </a:rPr>
              <a:t>para</a:t>
            </a:r>
            <a:r>
              <a:rPr sz="1800" b="1" spc="70" dirty="0">
                <a:solidFill>
                  <a:srgbClr val="00ADEE"/>
                </a:solidFill>
                <a:latin typeface="Tahoma"/>
                <a:cs typeface="Tahoma"/>
              </a:rPr>
              <a:t> </a:t>
            </a:r>
            <a:r>
              <a:rPr sz="1800" b="1" spc="50" dirty="0">
                <a:solidFill>
                  <a:srgbClr val="00ADEE"/>
                </a:solidFill>
                <a:latin typeface="Tahoma"/>
                <a:cs typeface="Tahoma"/>
              </a:rPr>
              <a:t>generar</a:t>
            </a:r>
            <a:r>
              <a:rPr sz="1800" b="1" spc="65" dirty="0">
                <a:solidFill>
                  <a:srgbClr val="00ADEE"/>
                </a:solidFill>
                <a:latin typeface="Tahoma"/>
                <a:cs typeface="Tahoma"/>
              </a:rPr>
              <a:t> conocimiento</a:t>
            </a:r>
            <a:r>
              <a:rPr sz="1800" b="1" spc="70" dirty="0">
                <a:solidFill>
                  <a:srgbClr val="00ADEE"/>
                </a:solidFill>
                <a:latin typeface="Tahoma"/>
                <a:cs typeface="Tahoma"/>
              </a:rPr>
              <a:t> </a:t>
            </a:r>
            <a:r>
              <a:rPr sz="1800" b="1" spc="50" dirty="0">
                <a:solidFill>
                  <a:srgbClr val="00ADEE"/>
                </a:solidFill>
                <a:latin typeface="Tahoma"/>
                <a:cs typeface="Tahoma"/>
              </a:rPr>
              <a:t>de </a:t>
            </a:r>
            <a:r>
              <a:rPr sz="1800" b="1" dirty="0">
                <a:solidFill>
                  <a:srgbClr val="00ADEE"/>
                </a:solidFill>
                <a:latin typeface="Tahoma"/>
                <a:cs typeface="Tahoma"/>
              </a:rPr>
              <a:t>valor</a:t>
            </a:r>
            <a:r>
              <a:rPr sz="1800" b="1" spc="20" dirty="0">
                <a:solidFill>
                  <a:srgbClr val="00ADEE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ADEE"/>
                </a:solidFill>
                <a:latin typeface="Tahoma"/>
                <a:cs typeface="Tahoma"/>
              </a:rPr>
              <a:t>para</a:t>
            </a:r>
            <a:r>
              <a:rPr sz="1800" b="1" spc="35" dirty="0">
                <a:solidFill>
                  <a:srgbClr val="00ADEE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ADEE"/>
                </a:solidFill>
                <a:latin typeface="Tahoma"/>
                <a:cs typeface="Tahoma"/>
              </a:rPr>
              <a:t>la</a:t>
            </a:r>
            <a:r>
              <a:rPr sz="1800" b="1" spc="45" dirty="0">
                <a:solidFill>
                  <a:srgbClr val="00ADEE"/>
                </a:solidFill>
                <a:latin typeface="Tahoma"/>
                <a:cs typeface="Tahoma"/>
              </a:rPr>
              <a:t> </a:t>
            </a:r>
            <a:r>
              <a:rPr sz="1800" b="1" spc="65" dirty="0">
                <a:solidFill>
                  <a:srgbClr val="00ADEE"/>
                </a:solidFill>
                <a:latin typeface="Tahoma"/>
                <a:cs typeface="Tahoma"/>
              </a:rPr>
              <a:t>toma </a:t>
            </a:r>
            <a:r>
              <a:rPr sz="1800" b="1" spc="75" dirty="0">
                <a:solidFill>
                  <a:srgbClr val="00ADEE"/>
                </a:solidFill>
                <a:latin typeface="Tahoma"/>
                <a:cs typeface="Tahoma"/>
              </a:rPr>
              <a:t>de</a:t>
            </a:r>
            <a:r>
              <a:rPr sz="1800" b="1" spc="55" dirty="0">
                <a:solidFill>
                  <a:srgbClr val="00ADEE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00ADEE"/>
                </a:solidFill>
                <a:latin typeface="Tahoma"/>
                <a:cs typeface="Tahoma"/>
              </a:rPr>
              <a:t>decisiones.</a:t>
            </a:r>
            <a:endParaRPr sz="1800" dirty="0">
              <a:latin typeface="Tahoma"/>
              <a:cs typeface="Tahoma"/>
            </a:endParaRPr>
          </a:p>
          <a:p>
            <a:pPr marL="12700" marR="5080" indent="326390">
              <a:lnSpc>
                <a:spcPct val="100000"/>
              </a:lnSpc>
              <a:spcBef>
                <a:spcPts val="2160"/>
              </a:spcBef>
              <a:buAutoNum type="alphaLcPeriod"/>
              <a:tabLst>
                <a:tab pos="339090" algn="l"/>
              </a:tabLst>
            </a:pP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Algoritmos</a:t>
            </a:r>
            <a:r>
              <a:rPr sz="18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8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técnicas</a:t>
            </a:r>
            <a:r>
              <a:rPr sz="18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Aprendizaje</a:t>
            </a:r>
            <a:r>
              <a:rPr sz="18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0030B8"/>
                </a:solidFill>
                <a:latin typeface="Verdana"/>
                <a:cs typeface="Verdana"/>
              </a:rPr>
              <a:t>Máquina</a:t>
            </a:r>
            <a:r>
              <a:rPr sz="18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enfocados</a:t>
            </a:r>
            <a:r>
              <a:rPr sz="18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18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el</a:t>
            </a:r>
            <a:r>
              <a:rPr sz="18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análisis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patrones</a:t>
            </a:r>
            <a:r>
              <a:rPr sz="1800" spc="-1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8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predicción.</a:t>
            </a:r>
            <a:endParaRPr sz="18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33400" y="762000"/>
            <a:ext cx="105543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27100" algn="l"/>
              </a:tabLst>
            </a:pPr>
            <a:r>
              <a:rPr spc="-25" dirty="0"/>
              <a:t>2.</a:t>
            </a:r>
            <a:r>
              <a:rPr dirty="0"/>
              <a:t>	</a:t>
            </a:r>
            <a:r>
              <a:rPr spc="190" dirty="0"/>
              <a:t>¿Cómo</a:t>
            </a:r>
            <a:r>
              <a:rPr spc="5" dirty="0"/>
              <a:t> </a:t>
            </a:r>
            <a:r>
              <a:rPr spc="85" dirty="0"/>
              <a:t>se</a:t>
            </a:r>
            <a:r>
              <a:rPr spc="-30" dirty="0"/>
              <a:t> </a:t>
            </a:r>
            <a:r>
              <a:rPr spc="105" dirty="0"/>
              <a:t>podría</a:t>
            </a:r>
            <a:r>
              <a:rPr spc="-25" dirty="0"/>
              <a:t> </a:t>
            </a:r>
            <a:r>
              <a:rPr spc="70" dirty="0"/>
              <a:t>dividir</a:t>
            </a:r>
            <a:r>
              <a:rPr spc="-30" dirty="0"/>
              <a:t> </a:t>
            </a:r>
            <a:r>
              <a:rPr dirty="0"/>
              <a:t>la</a:t>
            </a:r>
            <a:r>
              <a:rPr spc="-25" dirty="0"/>
              <a:t> </a:t>
            </a:r>
            <a:r>
              <a:rPr spc="65" dirty="0"/>
              <a:t>analítica?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90800" y="2133600"/>
            <a:ext cx="5694045" cy="194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5904" indent="-243204">
              <a:lnSpc>
                <a:spcPct val="100000"/>
              </a:lnSpc>
              <a:spcBef>
                <a:spcPts val="100"/>
              </a:spcBef>
              <a:buAutoNum type="alphaLcPeriod"/>
              <a:tabLst>
                <a:tab pos="255904" algn="l"/>
              </a:tabLst>
            </a:pPr>
            <a:r>
              <a:rPr sz="1800" spc="-30" dirty="0">
                <a:solidFill>
                  <a:srgbClr val="0030B8"/>
                </a:solidFill>
                <a:latin typeface="Verdana"/>
                <a:cs typeface="Verdana"/>
              </a:rPr>
              <a:t>Descriptiva,</a:t>
            </a:r>
            <a:r>
              <a:rPr sz="18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Diagnóstica,</a:t>
            </a:r>
            <a:r>
              <a:rPr sz="18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Predictiva,</a:t>
            </a:r>
            <a:r>
              <a:rPr sz="18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Descriptiva</a:t>
            </a:r>
            <a:endParaRPr sz="1800" dirty="0">
              <a:latin typeface="Verdana"/>
              <a:cs typeface="Verdana"/>
            </a:endParaRPr>
          </a:p>
          <a:p>
            <a:pPr marL="276860" indent="-264160">
              <a:lnSpc>
                <a:spcPct val="100000"/>
              </a:lnSpc>
              <a:spcBef>
                <a:spcPts val="2160"/>
              </a:spcBef>
              <a:buAutoNum type="alphaLcPeriod"/>
              <a:tabLst>
                <a:tab pos="276860" algn="l"/>
              </a:tabLst>
            </a:pPr>
            <a:r>
              <a:rPr sz="1800" spc="-45" dirty="0">
                <a:solidFill>
                  <a:srgbClr val="0030B8"/>
                </a:solidFill>
                <a:latin typeface="Verdana"/>
                <a:cs typeface="Verdana"/>
              </a:rPr>
              <a:t>Revisión,</a:t>
            </a:r>
            <a:r>
              <a:rPr sz="18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0030B8"/>
                </a:solidFill>
                <a:latin typeface="Verdana"/>
                <a:cs typeface="Verdana"/>
              </a:rPr>
              <a:t>Gestión,</a:t>
            </a:r>
            <a:r>
              <a:rPr sz="1800" spc="-11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Validación</a:t>
            </a:r>
            <a:endParaRPr sz="1800" dirty="0">
              <a:latin typeface="Verdana"/>
              <a:cs typeface="Verdana"/>
            </a:endParaRPr>
          </a:p>
          <a:p>
            <a:pPr marL="249554" indent="-236854">
              <a:lnSpc>
                <a:spcPct val="100000"/>
              </a:lnSpc>
              <a:spcBef>
                <a:spcPts val="2160"/>
              </a:spcBef>
              <a:buAutoNum type="alphaLcPeriod"/>
              <a:tabLst>
                <a:tab pos="249554" algn="l"/>
              </a:tabLst>
            </a:pP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Descriptiva</a:t>
            </a:r>
            <a:r>
              <a:rPr sz="1800" spc="-105" dirty="0">
                <a:solidFill>
                  <a:srgbClr val="0030B8"/>
                </a:solidFill>
                <a:latin typeface="Verdana"/>
                <a:cs typeface="Verdana"/>
              </a:rPr>
              <a:t> y</a:t>
            </a:r>
            <a:r>
              <a:rPr sz="1800" spc="-1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Propositiva</a:t>
            </a:r>
            <a:endParaRPr sz="1800" dirty="0">
              <a:latin typeface="Verdana"/>
              <a:cs typeface="Verdana"/>
            </a:endParaRPr>
          </a:p>
          <a:p>
            <a:pPr marL="276860" indent="-264160">
              <a:lnSpc>
                <a:spcPct val="100000"/>
              </a:lnSpc>
              <a:spcBef>
                <a:spcPts val="2160"/>
              </a:spcBef>
              <a:buAutoNum type="alphaLcPeriod"/>
              <a:tabLst>
                <a:tab pos="276860" algn="l"/>
              </a:tabLst>
            </a:pPr>
            <a:r>
              <a:rPr sz="1800" spc="55" dirty="0">
                <a:solidFill>
                  <a:srgbClr val="0030B8"/>
                </a:solidFill>
                <a:latin typeface="Verdana"/>
                <a:cs typeface="Verdana"/>
              </a:rPr>
              <a:t>Big</a:t>
            </a:r>
            <a:r>
              <a:rPr sz="18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0030B8"/>
                </a:solidFill>
                <a:latin typeface="Verdana"/>
                <a:cs typeface="Verdana"/>
              </a:rPr>
              <a:t>Data,</a:t>
            </a:r>
            <a:r>
              <a:rPr sz="18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Minería</a:t>
            </a:r>
            <a:r>
              <a:rPr sz="18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0030B8"/>
                </a:solidFill>
                <a:latin typeface="Verdana"/>
                <a:cs typeface="Verdana"/>
              </a:rPr>
              <a:t>Datos,</a:t>
            </a:r>
            <a:r>
              <a:rPr sz="18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Analítica</a:t>
            </a:r>
            <a:r>
              <a:rPr sz="18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Avanzada</a:t>
            </a:r>
            <a:endParaRPr sz="18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85800" y="914400"/>
            <a:ext cx="105543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27100" algn="l"/>
              </a:tabLst>
            </a:pPr>
            <a:r>
              <a:rPr spc="-25" dirty="0"/>
              <a:t>2.</a:t>
            </a:r>
            <a:r>
              <a:rPr dirty="0"/>
              <a:t>	</a:t>
            </a:r>
            <a:r>
              <a:rPr spc="190" dirty="0"/>
              <a:t>¿Cómo</a:t>
            </a:r>
            <a:r>
              <a:rPr spc="5" dirty="0"/>
              <a:t> </a:t>
            </a:r>
            <a:r>
              <a:rPr spc="85" dirty="0"/>
              <a:t>se</a:t>
            </a:r>
            <a:r>
              <a:rPr spc="-30" dirty="0"/>
              <a:t> </a:t>
            </a:r>
            <a:r>
              <a:rPr spc="105" dirty="0"/>
              <a:t>podría</a:t>
            </a:r>
            <a:r>
              <a:rPr spc="-25" dirty="0"/>
              <a:t> </a:t>
            </a:r>
            <a:r>
              <a:rPr spc="70" dirty="0"/>
              <a:t>dividir</a:t>
            </a:r>
            <a:r>
              <a:rPr spc="-30" dirty="0"/>
              <a:t> </a:t>
            </a:r>
            <a:r>
              <a:rPr dirty="0"/>
              <a:t>la</a:t>
            </a:r>
            <a:r>
              <a:rPr spc="-25" dirty="0"/>
              <a:t> </a:t>
            </a:r>
            <a:r>
              <a:rPr spc="65" dirty="0"/>
              <a:t>analítica?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14600" y="2286000"/>
            <a:ext cx="6038215" cy="194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7495" indent="-264795">
              <a:lnSpc>
                <a:spcPct val="100000"/>
              </a:lnSpc>
              <a:spcBef>
                <a:spcPts val="100"/>
              </a:spcBef>
              <a:buAutoNum type="alphaLcPeriod"/>
              <a:tabLst>
                <a:tab pos="277495" algn="l"/>
              </a:tabLst>
            </a:pPr>
            <a:r>
              <a:rPr sz="1800" b="1" spc="10" dirty="0">
                <a:solidFill>
                  <a:srgbClr val="00ADEE"/>
                </a:solidFill>
                <a:latin typeface="Tahoma"/>
                <a:cs typeface="Tahoma"/>
              </a:rPr>
              <a:t>Descriptiva,</a:t>
            </a:r>
            <a:r>
              <a:rPr sz="1800" b="1" spc="275" dirty="0">
                <a:solidFill>
                  <a:srgbClr val="00ADEE"/>
                </a:solidFill>
                <a:latin typeface="Tahoma"/>
                <a:cs typeface="Tahoma"/>
              </a:rPr>
              <a:t> </a:t>
            </a:r>
            <a:r>
              <a:rPr sz="1800" b="1" spc="10" dirty="0">
                <a:solidFill>
                  <a:srgbClr val="00ADEE"/>
                </a:solidFill>
                <a:latin typeface="Tahoma"/>
                <a:cs typeface="Tahoma"/>
              </a:rPr>
              <a:t>Diagnóstica,</a:t>
            </a:r>
            <a:r>
              <a:rPr sz="1800" b="1" spc="310" dirty="0">
                <a:solidFill>
                  <a:srgbClr val="00ADEE"/>
                </a:solidFill>
                <a:latin typeface="Tahoma"/>
                <a:cs typeface="Tahoma"/>
              </a:rPr>
              <a:t> </a:t>
            </a:r>
            <a:r>
              <a:rPr sz="1800" b="1" spc="10" dirty="0">
                <a:solidFill>
                  <a:srgbClr val="00ADEE"/>
                </a:solidFill>
                <a:latin typeface="Tahoma"/>
                <a:cs typeface="Tahoma"/>
              </a:rPr>
              <a:t>Predictiva,</a:t>
            </a:r>
            <a:r>
              <a:rPr sz="1800" b="1" spc="290" dirty="0">
                <a:solidFill>
                  <a:srgbClr val="00ADEE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00ADEE"/>
                </a:solidFill>
                <a:latin typeface="Tahoma"/>
                <a:cs typeface="Tahoma"/>
              </a:rPr>
              <a:t>Descriptiva</a:t>
            </a:r>
            <a:endParaRPr sz="1800" dirty="0">
              <a:latin typeface="Tahoma"/>
              <a:cs typeface="Tahoma"/>
            </a:endParaRPr>
          </a:p>
          <a:p>
            <a:pPr marL="276860" indent="-264160">
              <a:lnSpc>
                <a:spcPct val="100000"/>
              </a:lnSpc>
              <a:spcBef>
                <a:spcPts val="2160"/>
              </a:spcBef>
              <a:buAutoNum type="alphaLcPeriod"/>
              <a:tabLst>
                <a:tab pos="276860" algn="l"/>
              </a:tabLst>
            </a:pPr>
            <a:r>
              <a:rPr sz="1800" spc="-45" dirty="0">
                <a:solidFill>
                  <a:srgbClr val="0030B8"/>
                </a:solidFill>
                <a:latin typeface="Verdana"/>
                <a:cs typeface="Verdana"/>
              </a:rPr>
              <a:t>Revisión,</a:t>
            </a:r>
            <a:r>
              <a:rPr sz="18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0030B8"/>
                </a:solidFill>
                <a:latin typeface="Verdana"/>
                <a:cs typeface="Verdana"/>
              </a:rPr>
              <a:t>Gestión,</a:t>
            </a:r>
            <a:r>
              <a:rPr sz="1800" spc="-11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Validación</a:t>
            </a:r>
            <a:endParaRPr sz="1800" dirty="0">
              <a:latin typeface="Verdana"/>
              <a:cs typeface="Verdana"/>
            </a:endParaRPr>
          </a:p>
          <a:p>
            <a:pPr marL="249554" indent="-236854">
              <a:lnSpc>
                <a:spcPct val="100000"/>
              </a:lnSpc>
              <a:spcBef>
                <a:spcPts val="2160"/>
              </a:spcBef>
              <a:buAutoNum type="alphaLcPeriod"/>
              <a:tabLst>
                <a:tab pos="249554" algn="l"/>
              </a:tabLst>
            </a:pP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Descriptiva</a:t>
            </a:r>
            <a:r>
              <a:rPr sz="1800" spc="-105" dirty="0">
                <a:solidFill>
                  <a:srgbClr val="0030B8"/>
                </a:solidFill>
                <a:latin typeface="Verdana"/>
                <a:cs typeface="Verdana"/>
              </a:rPr>
              <a:t> y</a:t>
            </a:r>
            <a:r>
              <a:rPr sz="1800" spc="-1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Propositiva</a:t>
            </a:r>
            <a:endParaRPr sz="1800" dirty="0">
              <a:latin typeface="Verdana"/>
              <a:cs typeface="Verdana"/>
            </a:endParaRPr>
          </a:p>
          <a:p>
            <a:pPr marL="276860" indent="-264160">
              <a:lnSpc>
                <a:spcPct val="100000"/>
              </a:lnSpc>
              <a:spcBef>
                <a:spcPts val="2160"/>
              </a:spcBef>
              <a:buAutoNum type="alphaLcPeriod"/>
              <a:tabLst>
                <a:tab pos="276860" algn="l"/>
              </a:tabLst>
            </a:pPr>
            <a:r>
              <a:rPr sz="1800" spc="55" dirty="0">
                <a:solidFill>
                  <a:srgbClr val="0030B8"/>
                </a:solidFill>
                <a:latin typeface="Verdana"/>
                <a:cs typeface="Verdana"/>
              </a:rPr>
              <a:t>Big</a:t>
            </a:r>
            <a:r>
              <a:rPr sz="18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0030B8"/>
                </a:solidFill>
                <a:latin typeface="Verdana"/>
                <a:cs typeface="Verdana"/>
              </a:rPr>
              <a:t>Data,</a:t>
            </a:r>
            <a:r>
              <a:rPr sz="18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Minería</a:t>
            </a:r>
            <a:r>
              <a:rPr sz="18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0030B8"/>
                </a:solidFill>
                <a:latin typeface="Verdana"/>
                <a:cs typeface="Verdana"/>
              </a:rPr>
              <a:t>Datos,</a:t>
            </a:r>
            <a:r>
              <a:rPr sz="18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Analítica</a:t>
            </a:r>
            <a:r>
              <a:rPr sz="18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Avanzada</a:t>
            </a:r>
            <a:endParaRPr sz="18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63860" y="1066800"/>
            <a:ext cx="991933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927100" algn="l"/>
              </a:tabLst>
            </a:pPr>
            <a:r>
              <a:rPr spc="-25" dirty="0"/>
              <a:t>3.</a:t>
            </a:r>
            <a:r>
              <a:rPr dirty="0"/>
              <a:t>	</a:t>
            </a:r>
            <a:r>
              <a:rPr spc="110" dirty="0"/>
              <a:t>¿Cuál</a:t>
            </a:r>
            <a:r>
              <a:rPr dirty="0"/>
              <a:t> </a:t>
            </a:r>
            <a:r>
              <a:rPr spc="195" dirty="0"/>
              <a:t>de</a:t>
            </a:r>
            <a:r>
              <a:rPr spc="-10" dirty="0"/>
              <a:t> </a:t>
            </a:r>
            <a:r>
              <a:rPr dirty="0"/>
              <a:t>las</a:t>
            </a:r>
            <a:r>
              <a:rPr spc="-5" dirty="0"/>
              <a:t> </a:t>
            </a:r>
            <a:r>
              <a:rPr spc="100" dirty="0"/>
              <a:t>siguientes</a:t>
            </a:r>
            <a:r>
              <a:rPr spc="30" dirty="0"/>
              <a:t> </a:t>
            </a:r>
            <a:r>
              <a:rPr spc="125" dirty="0"/>
              <a:t>preguntas </a:t>
            </a:r>
            <a:r>
              <a:rPr spc="135" dirty="0"/>
              <a:t>corresponden</a:t>
            </a:r>
            <a:r>
              <a:rPr spc="1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spc="60" dirty="0"/>
              <a:t>analítica</a:t>
            </a:r>
            <a:r>
              <a:rPr spc="-10" dirty="0"/>
              <a:t> </a:t>
            </a:r>
            <a:r>
              <a:rPr spc="80" dirty="0"/>
              <a:t>predictiva?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00200" y="2667000"/>
            <a:ext cx="8691245" cy="249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4925" indent="-343535">
              <a:lnSpc>
                <a:spcPct val="100000"/>
              </a:lnSpc>
              <a:spcBef>
                <a:spcPts val="100"/>
              </a:spcBef>
              <a:buAutoNum type="alphaLcPeriod"/>
              <a:tabLst>
                <a:tab pos="355600" algn="l"/>
              </a:tabLst>
            </a:pP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¿Cuál</a:t>
            </a:r>
            <a:r>
              <a:rPr sz="18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0030B8"/>
                </a:solidFill>
                <a:latin typeface="Verdana"/>
                <a:cs typeface="Verdana"/>
              </a:rPr>
              <a:t>es</a:t>
            </a:r>
            <a:r>
              <a:rPr sz="18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8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probabilidad</a:t>
            </a:r>
            <a:r>
              <a:rPr sz="18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0030B8"/>
                </a:solidFill>
                <a:latin typeface="Verdana"/>
                <a:cs typeface="Verdana"/>
              </a:rPr>
              <a:t>que</a:t>
            </a:r>
            <a:r>
              <a:rPr sz="18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65" dirty="0">
                <a:solidFill>
                  <a:srgbClr val="0030B8"/>
                </a:solidFill>
                <a:latin typeface="Verdana"/>
                <a:cs typeface="Verdana"/>
              </a:rPr>
              <a:t>un</a:t>
            </a:r>
            <a:r>
              <a:rPr sz="18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niño</a:t>
            </a:r>
            <a:r>
              <a:rPr sz="18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mejore</a:t>
            </a:r>
            <a:r>
              <a:rPr sz="18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su</a:t>
            </a:r>
            <a:r>
              <a:rPr sz="18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estado</a:t>
            </a:r>
            <a:r>
              <a:rPr sz="18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nutrición</a:t>
            </a:r>
            <a:r>
              <a:rPr sz="18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0030B8"/>
                </a:solidFill>
                <a:latin typeface="Verdana"/>
                <a:cs typeface="Verdana"/>
              </a:rPr>
              <a:t>al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incluirlo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18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65" dirty="0">
                <a:solidFill>
                  <a:srgbClr val="0030B8"/>
                </a:solidFill>
                <a:latin typeface="Verdana"/>
                <a:cs typeface="Verdana"/>
              </a:rPr>
              <a:t>un</a:t>
            </a:r>
            <a:r>
              <a:rPr sz="18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programa</a:t>
            </a:r>
            <a:r>
              <a:rPr sz="18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específico?</a:t>
            </a:r>
            <a:endParaRPr sz="1800" dirty="0">
              <a:latin typeface="Verdana"/>
              <a:cs typeface="Verdana"/>
            </a:endParaRPr>
          </a:p>
          <a:p>
            <a:pPr marL="356235" indent="-343535">
              <a:lnSpc>
                <a:spcPct val="100000"/>
              </a:lnSpc>
              <a:spcBef>
                <a:spcPts val="2160"/>
              </a:spcBef>
              <a:buAutoNum type="alphaLcPeriod"/>
              <a:tabLst>
                <a:tab pos="356235" algn="l"/>
              </a:tabLst>
            </a:pP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¿Cuál</a:t>
            </a:r>
            <a:r>
              <a:rPr sz="18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0030B8"/>
                </a:solidFill>
                <a:latin typeface="Verdana"/>
                <a:cs typeface="Verdana"/>
              </a:rPr>
              <a:t>es</a:t>
            </a:r>
            <a:r>
              <a:rPr sz="18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8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probabilidad</a:t>
            </a:r>
            <a:r>
              <a:rPr sz="18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0030B8"/>
                </a:solidFill>
                <a:latin typeface="Verdana"/>
                <a:cs typeface="Verdana"/>
              </a:rPr>
              <a:t>que</a:t>
            </a:r>
            <a:r>
              <a:rPr sz="18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65" dirty="0">
                <a:solidFill>
                  <a:srgbClr val="0030B8"/>
                </a:solidFill>
                <a:latin typeface="Verdana"/>
                <a:cs typeface="Verdana"/>
              </a:rPr>
              <a:t>un</a:t>
            </a:r>
            <a:r>
              <a:rPr sz="18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estudiante</a:t>
            </a:r>
            <a:r>
              <a:rPr sz="1800" spc="-1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deserte</a:t>
            </a:r>
            <a:r>
              <a:rPr sz="18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18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8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próximos</a:t>
            </a:r>
            <a:r>
              <a:rPr sz="18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350" dirty="0">
                <a:solidFill>
                  <a:srgbClr val="0030B8"/>
                </a:solidFill>
                <a:latin typeface="Verdana"/>
                <a:cs typeface="Verdana"/>
              </a:rPr>
              <a:t>12</a:t>
            </a:r>
            <a:endParaRPr sz="1800" dirty="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</a:pP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meses?</a:t>
            </a:r>
            <a:endParaRPr sz="1800" dirty="0">
              <a:latin typeface="Verdana"/>
              <a:cs typeface="Verdana"/>
            </a:endParaRPr>
          </a:p>
          <a:p>
            <a:pPr marL="356235" indent="-343535">
              <a:lnSpc>
                <a:spcPct val="100000"/>
              </a:lnSpc>
              <a:spcBef>
                <a:spcPts val="2160"/>
              </a:spcBef>
              <a:buAutoNum type="alphaLcPeriod" startAt="3"/>
              <a:tabLst>
                <a:tab pos="356235" algn="l"/>
              </a:tabLst>
            </a:pPr>
            <a:r>
              <a:rPr sz="1800" spc="-30" dirty="0">
                <a:solidFill>
                  <a:srgbClr val="0030B8"/>
                </a:solidFill>
                <a:latin typeface="Verdana"/>
                <a:cs typeface="Verdana"/>
              </a:rPr>
              <a:t>a</a:t>
            </a:r>
            <a:r>
              <a:rPr sz="1800" spc="-1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800" spc="-1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40" dirty="0">
                <a:solidFill>
                  <a:srgbClr val="0030B8"/>
                </a:solidFill>
                <a:latin typeface="Verdana"/>
                <a:cs typeface="Verdana"/>
              </a:rPr>
              <a:t>b</a:t>
            </a:r>
            <a:endParaRPr sz="1800" dirty="0">
              <a:latin typeface="Verdana"/>
              <a:cs typeface="Verdana"/>
            </a:endParaRPr>
          </a:p>
          <a:p>
            <a:pPr marL="356235" indent="-343535">
              <a:lnSpc>
                <a:spcPct val="100000"/>
              </a:lnSpc>
              <a:spcBef>
                <a:spcPts val="2160"/>
              </a:spcBef>
              <a:buAutoNum type="alphaLcPeriod" startAt="3"/>
              <a:tabLst>
                <a:tab pos="356235" algn="l"/>
              </a:tabLst>
            </a:pPr>
            <a:r>
              <a:rPr sz="1800" spc="50" dirty="0">
                <a:solidFill>
                  <a:srgbClr val="0030B8"/>
                </a:solidFill>
                <a:latin typeface="Verdana"/>
                <a:cs typeface="Verdana"/>
              </a:rPr>
              <a:t>Ninguna</a:t>
            </a:r>
            <a:r>
              <a:rPr sz="1800" spc="-1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11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0030B8"/>
                </a:solidFill>
                <a:latin typeface="Verdana"/>
                <a:cs typeface="Verdana"/>
              </a:rPr>
              <a:t>las</a:t>
            </a:r>
            <a:r>
              <a:rPr sz="1800" spc="-1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anteriores</a:t>
            </a:r>
            <a:endParaRPr sz="18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8200" y="685800"/>
            <a:ext cx="991933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927100" algn="l"/>
              </a:tabLst>
            </a:pPr>
            <a:r>
              <a:rPr spc="-25" dirty="0"/>
              <a:t>3.</a:t>
            </a:r>
            <a:r>
              <a:rPr dirty="0"/>
              <a:t>	</a:t>
            </a:r>
            <a:r>
              <a:rPr spc="110" dirty="0"/>
              <a:t>¿Cuál</a:t>
            </a:r>
            <a:r>
              <a:rPr dirty="0"/>
              <a:t> </a:t>
            </a:r>
            <a:r>
              <a:rPr spc="195" dirty="0"/>
              <a:t>de</a:t>
            </a:r>
            <a:r>
              <a:rPr spc="-10" dirty="0"/>
              <a:t> </a:t>
            </a:r>
            <a:r>
              <a:rPr dirty="0"/>
              <a:t>las</a:t>
            </a:r>
            <a:r>
              <a:rPr spc="-5" dirty="0"/>
              <a:t> </a:t>
            </a:r>
            <a:r>
              <a:rPr spc="100" dirty="0"/>
              <a:t>siguientes</a:t>
            </a:r>
            <a:r>
              <a:rPr spc="30" dirty="0"/>
              <a:t> </a:t>
            </a:r>
            <a:r>
              <a:rPr spc="125" dirty="0"/>
              <a:t>preguntas </a:t>
            </a:r>
            <a:r>
              <a:rPr spc="135" dirty="0"/>
              <a:t>corresponden</a:t>
            </a:r>
            <a:r>
              <a:rPr spc="1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spc="60" dirty="0"/>
              <a:t>analítica</a:t>
            </a:r>
            <a:r>
              <a:rPr spc="-10" dirty="0"/>
              <a:t> </a:t>
            </a:r>
            <a:r>
              <a:rPr spc="80" dirty="0"/>
              <a:t>predictiva?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52244" y="2590800"/>
            <a:ext cx="8691245" cy="249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4925" indent="-343535">
              <a:lnSpc>
                <a:spcPct val="100000"/>
              </a:lnSpc>
              <a:spcBef>
                <a:spcPts val="100"/>
              </a:spcBef>
              <a:buAutoNum type="alphaLcPeriod"/>
              <a:tabLst>
                <a:tab pos="355600" algn="l"/>
              </a:tabLst>
            </a:pP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¿Cuál</a:t>
            </a:r>
            <a:r>
              <a:rPr sz="18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0030B8"/>
                </a:solidFill>
                <a:latin typeface="Verdana"/>
                <a:cs typeface="Verdana"/>
              </a:rPr>
              <a:t>es</a:t>
            </a:r>
            <a:r>
              <a:rPr sz="18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8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probabilidad</a:t>
            </a:r>
            <a:r>
              <a:rPr sz="18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0030B8"/>
                </a:solidFill>
                <a:latin typeface="Verdana"/>
                <a:cs typeface="Verdana"/>
              </a:rPr>
              <a:t>que</a:t>
            </a:r>
            <a:r>
              <a:rPr sz="18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65" dirty="0">
                <a:solidFill>
                  <a:srgbClr val="0030B8"/>
                </a:solidFill>
                <a:latin typeface="Verdana"/>
                <a:cs typeface="Verdana"/>
              </a:rPr>
              <a:t>un</a:t>
            </a:r>
            <a:r>
              <a:rPr sz="18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niño</a:t>
            </a:r>
            <a:r>
              <a:rPr sz="18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mejore</a:t>
            </a:r>
            <a:r>
              <a:rPr sz="18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su</a:t>
            </a:r>
            <a:r>
              <a:rPr sz="18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estado</a:t>
            </a:r>
            <a:r>
              <a:rPr sz="18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nutrición</a:t>
            </a:r>
            <a:r>
              <a:rPr sz="18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0030B8"/>
                </a:solidFill>
                <a:latin typeface="Verdana"/>
                <a:cs typeface="Verdana"/>
              </a:rPr>
              <a:t>al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incluirlo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18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65" dirty="0">
                <a:solidFill>
                  <a:srgbClr val="0030B8"/>
                </a:solidFill>
                <a:latin typeface="Verdana"/>
                <a:cs typeface="Verdana"/>
              </a:rPr>
              <a:t>un</a:t>
            </a:r>
            <a:r>
              <a:rPr sz="18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programa</a:t>
            </a:r>
            <a:r>
              <a:rPr sz="18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específico?</a:t>
            </a:r>
            <a:endParaRPr sz="1800" dirty="0">
              <a:latin typeface="Verdana"/>
              <a:cs typeface="Verdana"/>
            </a:endParaRPr>
          </a:p>
          <a:p>
            <a:pPr marL="356235" indent="-343535">
              <a:lnSpc>
                <a:spcPct val="100000"/>
              </a:lnSpc>
              <a:spcBef>
                <a:spcPts val="2160"/>
              </a:spcBef>
              <a:buAutoNum type="alphaLcPeriod"/>
              <a:tabLst>
                <a:tab pos="356235" algn="l"/>
              </a:tabLst>
            </a:pP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¿Cuál</a:t>
            </a:r>
            <a:r>
              <a:rPr sz="18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0030B8"/>
                </a:solidFill>
                <a:latin typeface="Verdana"/>
                <a:cs typeface="Verdana"/>
              </a:rPr>
              <a:t>es</a:t>
            </a:r>
            <a:r>
              <a:rPr sz="18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8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probabilidad</a:t>
            </a:r>
            <a:r>
              <a:rPr sz="18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0030B8"/>
                </a:solidFill>
                <a:latin typeface="Verdana"/>
                <a:cs typeface="Verdana"/>
              </a:rPr>
              <a:t>que</a:t>
            </a:r>
            <a:r>
              <a:rPr sz="18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65" dirty="0">
                <a:solidFill>
                  <a:srgbClr val="0030B8"/>
                </a:solidFill>
                <a:latin typeface="Verdana"/>
                <a:cs typeface="Verdana"/>
              </a:rPr>
              <a:t>un</a:t>
            </a:r>
            <a:r>
              <a:rPr sz="18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estudiante</a:t>
            </a:r>
            <a:r>
              <a:rPr sz="1800" spc="-1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deserte</a:t>
            </a:r>
            <a:r>
              <a:rPr sz="18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18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8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próximos</a:t>
            </a:r>
            <a:r>
              <a:rPr sz="18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350" dirty="0">
                <a:solidFill>
                  <a:srgbClr val="0030B8"/>
                </a:solidFill>
                <a:latin typeface="Verdana"/>
                <a:cs typeface="Verdana"/>
              </a:rPr>
              <a:t>12</a:t>
            </a:r>
            <a:endParaRPr sz="1800" dirty="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</a:pP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meses?</a:t>
            </a:r>
            <a:endParaRPr sz="1800" dirty="0">
              <a:latin typeface="Verdana"/>
              <a:cs typeface="Verdana"/>
            </a:endParaRPr>
          </a:p>
          <a:p>
            <a:pPr marL="354330" indent="-341630">
              <a:lnSpc>
                <a:spcPct val="100000"/>
              </a:lnSpc>
              <a:spcBef>
                <a:spcPts val="2160"/>
              </a:spcBef>
              <a:buAutoNum type="alphaLcPeriod" startAt="3"/>
              <a:tabLst>
                <a:tab pos="354330" algn="l"/>
              </a:tabLst>
            </a:pPr>
            <a:r>
              <a:rPr sz="1800" b="1" dirty="0">
                <a:solidFill>
                  <a:srgbClr val="00ADEE"/>
                </a:solidFill>
                <a:latin typeface="Tahoma"/>
                <a:cs typeface="Tahoma"/>
              </a:rPr>
              <a:t>a</a:t>
            </a:r>
            <a:r>
              <a:rPr sz="1800" b="1" spc="15" dirty="0">
                <a:solidFill>
                  <a:srgbClr val="00ADEE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ADEE"/>
                </a:solidFill>
                <a:latin typeface="Tahoma"/>
                <a:cs typeface="Tahoma"/>
              </a:rPr>
              <a:t>y</a:t>
            </a:r>
            <a:r>
              <a:rPr sz="1800" b="1" spc="10" dirty="0">
                <a:solidFill>
                  <a:srgbClr val="00ADEE"/>
                </a:solidFill>
                <a:latin typeface="Tahoma"/>
                <a:cs typeface="Tahoma"/>
              </a:rPr>
              <a:t> </a:t>
            </a:r>
            <a:r>
              <a:rPr sz="1800" b="1" spc="50" dirty="0">
                <a:solidFill>
                  <a:srgbClr val="00ADEE"/>
                </a:solidFill>
                <a:latin typeface="Tahoma"/>
                <a:cs typeface="Tahoma"/>
              </a:rPr>
              <a:t>b</a:t>
            </a:r>
            <a:endParaRPr sz="1800" dirty="0">
              <a:latin typeface="Tahoma"/>
              <a:cs typeface="Tahoma"/>
            </a:endParaRPr>
          </a:p>
          <a:p>
            <a:pPr marL="356235" indent="-343535">
              <a:lnSpc>
                <a:spcPct val="100000"/>
              </a:lnSpc>
              <a:spcBef>
                <a:spcPts val="2160"/>
              </a:spcBef>
              <a:buAutoNum type="alphaLcPeriod" startAt="3"/>
              <a:tabLst>
                <a:tab pos="356235" algn="l"/>
              </a:tabLst>
            </a:pPr>
            <a:r>
              <a:rPr sz="1800" spc="50" dirty="0">
                <a:solidFill>
                  <a:srgbClr val="0030B8"/>
                </a:solidFill>
                <a:latin typeface="Verdana"/>
                <a:cs typeface="Verdana"/>
              </a:rPr>
              <a:t>Ninguna</a:t>
            </a:r>
            <a:r>
              <a:rPr sz="1800" spc="-1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11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0030B8"/>
                </a:solidFill>
                <a:latin typeface="Verdana"/>
                <a:cs typeface="Verdana"/>
              </a:rPr>
              <a:t>las</a:t>
            </a:r>
            <a:r>
              <a:rPr sz="1800" spc="-1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anteriores</a:t>
            </a:r>
            <a:endParaRPr sz="18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81710" y="762000"/>
            <a:ext cx="1022858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927100" algn="l"/>
              </a:tabLst>
            </a:pPr>
            <a:r>
              <a:rPr spc="-25" dirty="0"/>
              <a:t>4.</a:t>
            </a:r>
            <a:r>
              <a:rPr dirty="0"/>
              <a:t>	</a:t>
            </a:r>
            <a:r>
              <a:rPr spc="110" dirty="0"/>
              <a:t>¿Cuál</a:t>
            </a:r>
            <a:r>
              <a:rPr dirty="0"/>
              <a:t> </a:t>
            </a:r>
            <a:r>
              <a:rPr spc="195" dirty="0"/>
              <a:t>de</a:t>
            </a:r>
            <a:r>
              <a:rPr spc="-10" dirty="0"/>
              <a:t> </a:t>
            </a:r>
            <a:r>
              <a:rPr dirty="0"/>
              <a:t>las</a:t>
            </a:r>
            <a:r>
              <a:rPr spc="-5" dirty="0"/>
              <a:t> </a:t>
            </a:r>
            <a:r>
              <a:rPr spc="100" dirty="0"/>
              <a:t>siguientes</a:t>
            </a:r>
            <a:r>
              <a:rPr spc="30" dirty="0"/>
              <a:t> </a:t>
            </a:r>
            <a:r>
              <a:rPr spc="125" dirty="0"/>
              <a:t>preguntas </a:t>
            </a:r>
            <a:r>
              <a:rPr spc="135" dirty="0"/>
              <a:t>corresponden</a:t>
            </a:r>
            <a:r>
              <a:rPr spc="1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spc="60" dirty="0"/>
              <a:t>analítica</a:t>
            </a:r>
            <a:r>
              <a:rPr spc="-10" dirty="0"/>
              <a:t> </a:t>
            </a:r>
            <a:r>
              <a:rPr spc="70" dirty="0"/>
              <a:t>prescriptiva?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76400" y="2438400"/>
            <a:ext cx="8427085" cy="249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34035" indent="-343535">
              <a:lnSpc>
                <a:spcPct val="100000"/>
              </a:lnSpc>
              <a:spcBef>
                <a:spcPts val="100"/>
              </a:spcBef>
              <a:buAutoNum type="alphaLcPeriod"/>
              <a:tabLst>
                <a:tab pos="355600" algn="l"/>
              </a:tabLst>
            </a:pP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¿Cuáles</a:t>
            </a:r>
            <a:r>
              <a:rPr sz="18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serían</a:t>
            </a:r>
            <a:r>
              <a:rPr sz="18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0030B8"/>
                </a:solidFill>
                <a:latin typeface="Verdana"/>
                <a:cs typeface="Verdana"/>
              </a:rPr>
              <a:t>las</a:t>
            </a:r>
            <a:r>
              <a:rPr sz="18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estrategias</a:t>
            </a:r>
            <a:r>
              <a:rPr sz="1800" spc="-1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0030B8"/>
                </a:solidFill>
                <a:latin typeface="Verdana"/>
                <a:cs typeface="Verdana"/>
              </a:rPr>
              <a:t>que</a:t>
            </a:r>
            <a:r>
              <a:rPr sz="18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generarían</a:t>
            </a:r>
            <a:r>
              <a:rPr sz="1800" spc="-1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mejor</a:t>
            </a:r>
            <a:r>
              <a:rPr sz="18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impacto</a:t>
            </a:r>
            <a:r>
              <a:rPr sz="18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18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0030B8"/>
                </a:solidFill>
                <a:latin typeface="Verdana"/>
                <a:cs typeface="Verdana"/>
              </a:rPr>
              <a:t>la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disminución</a:t>
            </a:r>
            <a:r>
              <a:rPr sz="1800" spc="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800" spc="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deserción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escolar?</a:t>
            </a:r>
            <a:endParaRPr sz="1800" dirty="0">
              <a:latin typeface="Verdana"/>
              <a:cs typeface="Verdana"/>
            </a:endParaRPr>
          </a:p>
          <a:p>
            <a:pPr marL="356235" indent="-343535">
              <a:lnSpc>
                <a:spcPct val="100000"/>
              </a:lnSpc>
              <a:spcBef>
                <a:spcPts val="2160"/>
              </a:spcBef>
              <a:buAutoNum type="alphaLcPeriod"/>
              <a:tabLst>
                <a:tab pos="356235" algn="l"/>
              </a:tabLst>
            </a:pP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¿Cuántos</a:t>
            </a:r>
            <a:r>
              <a:rPr sz="18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ciudadanos</a:t>
            </a:r>
            <a:r>
              <a:rPr sz="1800" spc="-40" dirty="0">
                <a:solidFill>
                  <a:srgbClr val="0030B8"/>
                </a:solidFill>
                <a:latin typeface="Verdana"/>
                <a:cs typeface="Verdana"/>
              </a:rPr>
              <a:t> se</a:t>
            </a:r>
            <a:r>
              <a:rPr sz="18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0030B8"/>
                </a:solidFill>
                <a:latin typeface="Verdana"/>
                <a:cs typeface="Verdana"/>
              </a:rPr>
              <a:t>han</a:t>
            </a:r>
            <a:r>
              <a:rPr sz="18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graduado</a:t>
            </a:r>
            <a:r>
              <a:rPr sz="18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8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últimos</a:t>
            </a:r>
            <a:r>
              <a:rPr sz="18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45" dirty="0">
                <a:solidFill>
                  <a:srgbClr val="0030B8"/>
                </a:solidFill>
                <a:latin typeface="Verdana"/>
                <a:cs typeface="Verdana"/>
              </a:rPr>
              <a:t>5</a:t>
            </a:r>
            <a:r>
              <a:rPr sz="1800" spc="-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años?</a:t>
            </a:r>
            <a:endParaRPr sz="1800" dirty="0">
              <a:latin typeface="Verdana"/>
              <a:cs typeface="Verdana"/>
            </a:endParaRPr>
          </a:p>
          <a:p>
            <a:pPr marL="355600" marR="5080" indent="-343535">
              <a:lnSpc>
                <a:spcPct val="100000"/>
              </a:lnSpc>
              <a:spcBef>
                <a:spcPts val="2160"/>
              </a:spcBef>
              <a:buAutoNum type="alphaLcPeriod"/>
              <a:tabLst>
                <a:tab pos="355600" algn="l"/>
              </a:tabLst>
            </a:pP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¿Cuántos</a:t>
            </a:r>
            <a:r>
              <a:rPr sz="18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niños</a:t>
            </a:r>
            <a:r>
              <a:rPr sz="18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han</a:t>
            </a:r>
            <a:r>
              <a:rPr sz="18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0030B8"/>
                </a:solidFill>
                <a:latin typeface="Verdana"/>
                <a:cs typeface="Verdana"/>
              </a:rPr>
              <a:t>cambiado</a:t>
            </a:r>
            <a:r>
              <a:rPr sz="18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estado</a:t>
            </a:r>
            <a:r>
              <a:rPr sz="18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nutrición</a:t>
            </a:r>
            <a:r>
              <a:rPr sz="18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18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8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últimos</a:t>
            </a:r>
            <a:r>
              <a:rPr sz="18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350" dirty="0">
                <a:solidFill>
                  <a:srgbClr val="0030B8"/>
                </a:solidFill>
                <a:latin typeface="Verdana"/>
                <a:cs typeface="Verdana"/>
              </a:rPr>
              <a:t>12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meses?</a:t>
            </a:r>
            <a:endParaRPr sz="1800" dirty="0">
              <a:latin typeface="Verdana"/>
              <a:cs typeface="Verdana"/>
            </a:endParaRPr>
          </a:p>
          <a:p>
            <a:pPr marL="356235" indent="-343535">
              <a:lnSpc>
                <a:spcPct val="100000"/>
              </a:lnSpc>
              <a:spcBef>
                <a:spcPts val="2160"/>
              </a:spcBef>
              <a:buAutoNum type="alphaLcPeriod"/>
              <a:tabLst>
                <a:tab pos="356235" algn="l"/>
              </a:tabLst>
            </a:pPr>
            <a:r>
              <a:rPr sz="1800" spc="50" dirty="0">
                <a:solidFill>
                  <a:srgbClr val="0030B8"/>
                </a:solidFill>
                <a:latin typeface="Verdana"/>
                <a:cs typeface="Verdana"/>
              </a:rPr>
              <a:t>Ninguna</a:t>
            </a:r>
            <a:r>
              <a:rPr sz="1800" spc="-1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11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0030B8"/>
                </a:solidFill>
                <a:latin typeface="Verdana"/>
                <a:cs typeface="Verdana"/>
              </a:rPr>
              <a:t>las</a:t>
            </a:r>
            <a:r>
              <a:rPr sz="1800" spc="-1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anteriores</a:t>
            </a:r>
            <a:endParaRPr sz="18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81710" y="914400"/>
            <a:ext cx="1022858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927100" algn="l"/>
              </a:tabLst>
            </a:pPr>
            <a:r>
              <a:rPr spc="-25" dirty="0"/>
              <a:t>4.</a:t>
            </a:r>
            <a:r>
              <a:rPr dirty="0"/>
              <a:t>	</a:t>
            </a:r>
            <a:r>
              <a:rPr spc="110" dirty="0"/>
              <a:t>¿Cuál</a:t>
            </a:r>
            <a:r>
              <a:rPr dirty="0"/>
              <a:t> </a:t>
            </a:r>
            <a:r>
              <a:rPr spc="195" dirty="0"/>
              <a:t>de</a:t>
            </a:r>
            <a:r>
              <a:rPr spc="-10" dirty="0"/>
              <a:t> </a:t>
            </a:r>
            <a:r>
              <a:rPr dirty="0"/>
              <a:t>las</a:t>
            </a:r>
            <a:r>
              <a:rPr spc="-5" dirty="0"/>
              <a:t> </a:t>
            </a:r>
            <a:r>
              <a:rPr spc="100" dirty="0"/>
              <a:t>siguientes</a:t>
            </a:r>
            <a:r>
              <a:rPr spc="30" dirty="0"/>
              <a:t> </a:t>
            </a:r>
            <a:r>
              <a:rPr spc="125" dirty="0"/>
              <a:t>preguntas </a:t>
            </a:r>
            <a:r>
              <a:rPr spc="135" dirty="0"/>
              <a:t>corresponden</a:t>
            </a:r>
            <a:r>
              <a:rPr spc="1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spc="60" dirty="0"/>
              <a:t>analítica</a:t>
            </a:r>
            <a:r>
              <a:rPr spc="-10" dirty="0"/>
              <a:t> </a:t>
            </a:r>
            <a:r>
              <a:rPr spc="70" dirty="0"/>
              <a:t>prescriptiva?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24000" y="2590800"/>
            <a:ext cx="8427085" cy="249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330" marR="165735" indent="-342265">
              <a:lnSpc>
                <a:spcPct val="100000"/>
              </a:lnSpc>
              <a:spcBef>
                <a:spcPts val="100"/>
              </a:spcBef>
              <a:buAutoNum type="alphaLcPeriod"/>
              <a:tabLst>
                <a:tab pos="355600" algn="l"/>
              </a:tabLst>
            </a:pPr>
            <a:r>
              <a:rPr sz="1800" b="1" dirty="0">
                <a:solidFill>
                  <a:srgbClr val="00ADEE"/>
                </a:solidFill>
                <a:latin typeface="Tahoma"/>
                <a:cs typeface="Tahoma"/>
              </a:rPr>
              <a:t>¿Cuáles</a:t>
            </a:r>
            <a:r>
              <a:rPr sz="1800" b="1" spc="175" dirty="0">
                <a:solidFill>
                  <a:srgbClr val="00ADEE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ADEE"/>
                </a:solidFill>
                <a:latin typeface="Tahoma"/>
                <a:cs typeface="Tahoma"/>
              </a:rPr>
              <a:t>serían</a:t>
            </a:r>
            <a:r>
              <a:rPr sz="1800" b="1" spc="150" dirty="0">
                <a:solidFill>
                  <a:srgbClr val="00ADEE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ADEE"/>
                </a:solidFill>
                <a:latin typeface="Tahoma"/>
                <a:cs typeface="Tahoma"/>
              </a:rPr>
              <a:t>las</a:t>
            </a:r>
            <a:r>
              <a:rPr sz="1800" b="1" spc="175" dirty="0">
                <a:solidFill>
                  <a:srgbClr val="00ADEE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ADEE"/>
                </a:solidFill>
                <a:latin typeface="Tahoma"/>
                <a:cs typeface="Tahoma"/>
              </a:rPr>
              <a:t>estrategias</a:t>
            </a:r>
            <a:r>
              <a:rPr sz="1800" b="1" spc="140" dirty="0">
                <a:solidFill>
                  <a:srgbClr val="00ADEE"/>
                </a:solidFill>
                <a:latin typeface="Tahoma"/>
                <a:cs typeface="Tahoma"/>
              </a:rPr>
              <a:t> </a:t>
            </a:r>
            <a:r>
              <a:rPr sz="1800" b="1" spc="75" dirty="0">
                <a:solidFill>
                  <a:srgbClr val="00ADEE"/>
                </a:solidFill>
                <a:latin typeface="Tahoma"/>
                <a:cs typeface="Tahoma"/>
              </a:rPr>
              <a:t>que</a:t>
            </a:r>
            <a:r>
              <a:rPr sz="1800" b="1" spc="170" dirty="0">
                <a:solidFill>
                  <a:srgbClr val="00ADEE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ADEE"/>
                </a:solidFill>
                <a:latin typeface="Tahoma"/>
                <a:cs typeface="Tahoma"/>
              </a:rPr>
              <a:t>generarían</a:t>
            </a:r>
            <a:r>
              <a:rPr sz="1800" b="1" spc="150" dirty="0">
                <a:solidFill>
                  <a:srgbClr val="00ADEE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ADEE"/>
                </a:solidFill>
                <a:latin typeface="Tahoma"/>
                <a:cs typeface="Tahoma"/>
              </a:rPr>
              <a:t>mejor</a:t>
            </a:r>
            <a:r>
              <a:rPr sz="1800" b="1" spc="175" dirty="0">
                <a:solidFill>
                  <a:srgbClr val="00ADEE"/>
                </a:solidFill>
                <a:latin typeface="Tahoma"/>
                <a:cs typeface="Tahoma"/>
              </a:rPr>
              <a:t> </a:t>
            </a:r>
            <a:r>
              <a:rPr sz="1800" b="1" spc="70" dirty="0">
                <a:solidFill>
                  <a:srgbClr val="00ADEE"/>
                </a:solidFill>
                <a:latin typeface="Tahoma"/>
                <a:cs typeface="Tahoma"/>
              </a:rPr>
              <a:t>impacto</a:t>
            </a:r>
            <a:r>
              <a:rPr sz="1800" b="1" spc="145" dirty="0">
                <a:solidFill>
                  <a:srgbClr val="00ADEE"/>
                </a:solidFill>
                <a:latin typeface="Tahoma"/>
                <a:cs typeface="Tahoma"/>
              </a:rPr>
              <a:t> </a:t>
            </a:r>
            <a:r>
              <a:rPr sz="1800" b="1" spc="65" dirty="0">
                <a:solidFill>
                  <a:srgbClr val="00ADEE"/>
                </a:solidFill>
                <a:latin typeface="Tahoma"/>
                <a:cs typeface="Tahoma"/>
              </a:rPr>
              <a:t>en</a:t>
            </a:r>
            <a:r>
              <a:rPr sz="1800" b="1" spc="185" dirty="0">
                <a:solidFill>
                  <a:srgbClr val="00ADEE"/>
                </a:solidFill>
                <a:latin typeface="Tahoma"/>
                <a:cs typeface="Tahoma"/>
              </a:rPr>
              <a:t> </a:t>
            </a:r>
            <a:r>
              <a:rPr sz="1800" b="1" spc="-25" dirty="0">
                <a:solidFill>
                  <a:srgbClr val="00ADEE"/>
                </a:solidFill>
                <a:latin typeface="Tahoma"/>
                <a:cs typeface="Tahoma"/>
              </a:rPr>
              <a:t>la 	</a:t>
            </a:r>
            <a:r>
              <a:rPr sz="1800" b="1" spc="60" dirty="0">
                <a:solidFill>
                  <a:srgbClr val="00ADEE"/>
                </a:solidFill>
                <a:latin typeface="Tahoma"/>
                <a:cs typeface="Tahoma"/>
              </a:rPr>
              <a:t>disminución</a:t>
            </a:r>
            <a:r>
              <a:rPr sz="1800" b="1" spc="5" dirty="0">
                <a:solidFill>
                  <a:srgbClr val="00ADEE"/>
                </a:solidFill>
                <a:latin typeface="Tahoma"/>
                <a:cs typeface="Tahoma"/>
              </a:rPr>
              <a:t> </a:t>
            </a:r>
            <a:r>
              <a:rPr sz="1800" b="1" spc="75" dirty="0">
                <a:solidFill>
                  <a:srgbClr val="00ADEE"/>
                </a:solidFill>
                <a:latin typeface="Tahoma"/>
                <a:cs typeface="Tahoma"/>
              </a:rPr>
              <a:t>de</a:t>
            </a:r>
            <a:r>
              <a:rPr sz="1800" b="1" spc="15" dirty="0">
                <a:solidFill>
                  <a:srgbClr val="00ADEE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ADEE"/>
                </a:solidFill>
                <a:latin typeface="Tahoma"/>
                <a:cs typeface="Tahoma"/>
              </a:rPr>
              <a:t>la</a:t>
            </a:r>
            <a:r>
              <a:rPr sz="1800" b="1" spc="20" dirty="0">
                <a:solidFill>
                  <a:srgbClr val="00ADEE"/>
                </a:solidFill>
                <a:latin typeface="Tahoma"/>
                <a:cs typeface="Tahoma"/>
              </a:rPr>
              <a:t> </a:t>
            </a:r>
            <a:r>
              <a:rPr sz="1800" b="1" spc="50" dirty="0">
                <a:solidFill>
                  <a:srgbClr val="00ADEE"/>
                </a:solidFill>
                <a:latin typeface="Tahoma"/>
                <a:cs typeface="Tahoma"/>
              </a:rPr>
              <a:t>deserción</a:t>
            </a:r>
            <a:r>
              <a:rPr sz="1800" b="1" spc="-20" dirty="0">
                <a:solidFill>
                  <a:srgbClr val="00ADEE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00ADEE"/>
                </a:solidFill>
                <a:latin typeface="Tahoma"/>
                <a:cs typeface="Tahoma"/>
              </a:rPr>
              <a:t>escolar?</a:t>
            </a:r>
            <a:endParaRPr sz="1800" dirty="0">
              <a:latin typeface="Tahoma"/>
              <a:cs typeface="Tahoma"/>
            </a:endParaRPr>
          </a:p>
          <a:p>
            <a:pPr marL="356235" indent="-343535">
              <a:lnSpc>
                <a:spcPct val="100000"/>
              </a:lnSpc>
              <a:spcBef>
                <a:spcPts val="2160"/>
              </a:spcBef>
              <a:buAutoNum type="alphaLcPeriod"/>
              <a:tabLst>
                <a:tab pos="356235" algn="l"/>
              </a:tabLst>
            </a:pP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¿Cuántos</a:t>
            </a:r>
            <a:r>
              <a:rPr sz="18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ciudadanos</a:t>
            </a:r>
            <a:r>
              <a:rPr sz="1800" spc="-40" dirty="0">
                <a:solidFill>
                  <a:srgbClr val="0030B8"/>
                </a:solidFill>
                <a:latin typeface="Verdana"/>
                <a:cs typeface="Verdana"/>
              </a:rPr>
              <a:t> se</a:t>
            </a:r>
            <a:r>
              <a:rPr sz="18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0030B8"/>
                </a:solidFill>
                <a:latin typeface="Verdana"/>
                <a:cs typeface="Verdana"/>
              </a:rPr>
              <a:t>han</a:t>
            </a:r>
            <a:r>
              <a:rPr sz="18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graduado</a:t>
            </a:r>
            <a:r>
              <a:rPr sz="18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8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últimos</a:t>
            </a:r>
            <a:r>
              <a:rPr sz="18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45" dirty="0">
                <a:solidFill>
                  <a:srgbClr val="0030B8"/>
                </a:solidFill>
                <a:latin typeface="Verdana"/>
                <a:cs typeface="Verdana"/>
              </a:rPr>
              <a:t>5</a:t>
            </a:r>
            <a:r>
              <a:rPr sz="1800" spc="-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años?</a:t>
            </a:r>
            <a:endParaRPr sz="1800" dirty="0">
              <a:latin typeface="Verdana"/>
              <a:cs typeface="Verdana"/>
            </a:endParaRPr>
          </a:p>
          <a:p>
            <a:pPr marL="355600" marR="5080" indent="-343535">
              <a:lnSpc>
                <a:spcPct val="100000"/>
              </a:lnSpc>
              <a:spcBef>
                <a:spcPts val="2160"/>
              </a:spcBef>
              <a:buAutoNum type="alphaLcPeriod"/>
              <a:tabLst>
                <a:tab pos="355600" algn="l"/>
              </a:tabLst>
            </a:pP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¿Cuántos</a:t>
            </a:r>
            <a:r>
              <a:rPr sz="18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niños</a:t>
            </a:r>
            <a:r>
              <a:rPr sz="18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han</a:t>
            </a:r>
            <a:r>
              <a:rPr sz="18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0030B8"/>
                </a:solidFill>
                <a:latin typeface="Verdana"/>
                <a:cs typeface="Verdana"/>
              </a:rPr>
              <a:t>cambiado</a:t>
            </a:r>
            <a:r>
              <a:rPr sz="18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estado</a:t>
            </a:r>
            <a:r>
              <a:rPr sz="18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nutrición</a:t>
            </a:r>
            <a:r>
              <a:rPr sz="18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18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8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últimos</a:t>
            </a:r>
            <a:r>
              <a:rPr sz="18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350" dirty="0">
                <a:solidFill>
                  <a:srgbClr val="0030B8"/>
                </a:solidFill>
                <a:latin typeface="Verdana"/>
                <a:cs typeface="Verdana"/>
              </a:rPr>
              <a:t>12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meses?</a:t>
            </a:r>
            <a:endParaRPr sz="1800" dirty="0">
              <a:latin typeface="Verdana"/>
              <a:cs typeface="Verdana"/>
            </a:endParaRPr>
          </a:p>
          <a:p>
            <a:pPr marL="356235" indent="-343535">
              <a:lnSpc>
                <a:spcPct val="100000"/>
              </a:lnSpc>
              <a:spcBef>
                <a:spcPts val="2160"/>
              </a:spcBef>
              <a:buAutoNum type="alphaLcPeriod"/>
              <a:tabLst>
                <a:tab pos="356235" algn="l"/>
              </a:tabLst>
            </a:pPr>
            <a:r>
              <a:rPr sz="1800" spc="50" dirty="0">
                <a:solidFill>
                  <a:srgbClr val="0030B8"/>
                </a:solidFill>
                <a:latin typeface="Verdana"/>
                <a:cs typeface="Verdana"/>
              </a:rPr>
              <a:t>Ninguna</a:t>
            </a:r>
            <a:r>
              <a:rPr sz="1800" spc="-1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11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0030B8"/>
                </a:solidFill>
                <a:latin typeface="Verdana"/>
                <a:cs typeface="Verdana"/>
              </a:rPr>
              <a:t>las</a:t>
            </a:r>
            <a:r>
              <a:rPr sz="1800" spc="-1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anteriores</a:t>
            </a:r>
            <a:endParaRPr sz="18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4400" y="1066800"/>
            <a:ext cx="100469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27100" algn="l"/>
              </a:tabLst>
            </a:pPr>
            <a:r>
              <a:rPr spc="-25" dirty="0"/>
              <a:t>5.</a:t>
            </a:r>
            <a:r>
              <a:rPr dirty="0"/>
              <a:t>	</a:t>
            </a:r>
            <a:r>
              <a:rPr spc="190" dirty="0"/>
              <a:t>¿Cómo</a:t>
            </a:r>
            <a:r>
              <a:rPr spc="-5" dirty="0"/>
              <a:t> </a:t>
            </a:r>
            <a:r>
              <a:rPr spc="85" dirty="0"/>
              <a:t>se</a:t>
            </a:r>
            <a:r>
              <a:rPr spc="-35" dirty="0"/>
              <a:t> </a:t>
            </a:r>
            <a:r>
              <a:rPr spc="105" dirty="0"/>
              <a:t>podría</a:t>
            </a:r>
            <a:r>
              <a:rPr spc="-40" dirty="0"/>
              <a:t> </a:t>
            </a:r>
            <a:r>
              <a:rPr spc="75" dirty="0"/>
              <a:t>definir</a:t>
            </a:r>
            <a:r>
              <a:rPr spc="-10" dirty="0"/>
              <a:t> </a:t>
            </a:r>
            <a:r>
              <a:rPr spc="170" dirty="0"/>
              <a:t>Big</a:t>
            </a:r>
            <a:r>
              <a:rPr spc="-40" dirty="0"/>
              <a:t> </a:t>
            </a:r>
            <a:r>
              <a:rPr spc="80" dirty="0"/>
              <a:t>Data?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74495" y="2209800"/>
            <a:ext cx="8843010" cy="2769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3340" indent="-343535">
              <a:lnSpc>
                <a:spcPct val="100000"/>
              </a:lnSpc>
              <a:spcBef>
                <a:spcPts val="100"/>
              </a:spcBef>
              <a:buAutoNum type="alphaLcPeriod"/>
              <a:tabLst>
                <a:tab pos="355600" algn="l"/>
              </a:tabLst>
            </a:pP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Algoritmos</a:t>
            </a:r>
            <a:r>
              <a:rPr sz="18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8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técnicas</a:t>
            </a:r>
            <a:r>
              <a:rPr sz="18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Aprendizaje</a:t>
            </a:r>
            <a:r>
              <a:rPr sz="18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0030B8"/>
                </a:solidFill>
                <a:latin typeface="Verdana"/>
                <a:cs typeface="Verdana"/>
              </a:rPr>
              <a:t>Máquina</a:t>
            </a:r>
            <a:r>
              <a:rPr sz="18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enfocados</a:t>
            </a:r>
            <a:r>
              <a:rPr sz="18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18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el</a:t>
            </a:r>
            <a:r>
              <a:rPr sz="18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análisis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patrones</a:t>
            </a:r>
            <a:r>
              <a:rPr sz="1800" spc="-1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8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predicción.</a:t>
            </a:r>
            <a:endParaRPr sz="1800" dirty="0">
              <a:latin typeface="Verdana"/>
              <a:cs typeface="Verdana"/>
            </a:endParaRPr>
          </a:p>
          <a:p>
            <a:pPr marL="356235" indent="-343535">
              <a:lnSpc>
                <a:spcPct val="100000"/>
              </a:lnSpc>
              <a:spcBef>
                <a:spcPts val="2160"/>
              </a:spcBef>
              <a:buAutoNum type="alphaLcPeriod"/>
              <a:tabLst>
                <a:tab pos="356235" algn="l"/>
              </a:tabLst>
            </a:pP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Base</a:t>
            </a:r>
            <a:r>
              <a:rPr sz="1800" spc="-1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1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datos</a:t>
            </a:r>
            <a:r>
              <a:rPr sz="1800" spc="-1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0030B8"/>
                </a:solidFill>
                <a:latin typeface="Verdana"/>
                <a:cs typeface="Verdana"/>
              </a:rPr>
              <a:t>con</a:t>
            </a:r>
            <a:r>
              <a:rPr sz="1800" spc="-1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más</a:t>
            </a:r>
            <a:r>
              <a:rPr sz="1800" spc="-1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1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509" dirty="0">
                <a:solidFill>
                  <a:srgbClr val="0030B8"/>
                </a:solidFill>
                <a:latin typeface="Verdana"/>
                <a:cs typeface="Verdana"/>
              </a:rPr>
              <a:t>1</a:t>
            </a:r>
            <a:r>
              <a:rPr sz="1800" spc="-1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TB</a:t>
            </a:r>
            <a:r>
              <a:rPr sz="1800" spc="-1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1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datos.</a:t>
            </a:r>
            <a:endParaRPr sz="1800" dirty="0">
              <a:latin typeface="Verdana"/>
              <a:cs typeface="Verdana"/>
            </a:endParaRPr>
          </a:p>
          <a:p>
            <a:pPr marL="355600" marR="5080" indent="-343535">
              <a:lnSpc>
                <a:spcPct val="100000"/>
              </a:lnSpc>
              <a:spcBef>
                <a:spcPts val="2160"/>
              </a:spcBef>
              <a:buAutoNum type="alphaLcPeriod"/>
              <a:tabLst>
                <a:tab pos="355600" algn="l"/>
              </a:tabLst>
            </a:pP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Analizar</a:t>
            </a:r>
            <a:r>
              <a:rPr sz="18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patrones</a:t>
            </a:r>
            <a:r>
              <a:rPr sz="18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0030B8"/>
                </a:solidFill>
                <a:latin typeface="Verdana"/>
                <a:cs typeface="Verdana"/>
              </a:rPr>
              <a:t>a</a:t>
            </a:r>
            <a:r>
              <a:rPr sz="18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partir</a:t>
            </a:r>
            <a:r>
              <a:rPr sz="18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8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datos</a:t>
            </a:r>
            <a:r>
              <a:rPr sz="18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para</a:t>
            </a:r>
            <a:r>
              <a:rPr sz="18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generar</a:t>
            </a:r>
            <a:r>
              <a:rPr sz="18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conocimiento</a:t>
            </a:r>
            <a:r>
              <a:rPr sz="18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valor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para</a:t>
            </a:r>
            <a:r>
              <a:rPr sz="18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8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toma</a:t>
            </a:r>
            <a:r>
              <a:rPr sz="18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decisiones.</a:t>
            </a:r>
            <a:endParaRPr sz="1800" dirty="0">
              <a:latin typeface="Verdana"/>
              <a:cs typeface="Verdana"/>
            </a:endParaRPr>
          </a:p>
          <a:p>
            <a:pPr marL="355600" marR="208279" indent="-343535">
              <a:lnSpc>
                <a:spcPct val="100000"/>
              </a:lnSpc>
              <a:spcBef>
                <a:spcPts val="2160"/>
              </a:spcBef>
              <a:buAutoNum type="alphaLcPeriod"/>
              <a:tabLst>
                <a:tab pos="355600" algn="l"/>
              </a:tabLst>
            </a:pP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Técnicas</a:t>
            </a:r>
            <a:r>
              <a:rPr sz="18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computacionales</a:t>
            </a:r>
            <a:r>
              <a:rPr sz="18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usadas</a:t>
            </a:r>
            <a:r>
              <a:rPr sz="18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forma</a:t>
            </a:r>
            <a:r>
              <a:rPr sz="18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eficiente</a:t>
            </a:r>
            <a:r>
              <a:rPr sz="18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18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datos</a:t>
            </a:r>
            <a:r>
              <a:rPr sz="18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0030B8"/>
                </a:solidFill>
                <a:latin typeface="Verdana"/>
                <a:cs typeface="Verdana"/>
              </a:rPr>
              <a:t>masivos</a:t>
            </a:r>
            <a:r>
              <a:rPr sz="1800" spc="-50" dirty="0">
                <a:solidFill>
                  <a:srgbClr val="0030B8"/>
                </a:solidFill>
                <a:latin typeface="Verdana"/>
                <a:cs typeface="Verdana"/>
              </a:rPr>
              <a:t> y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distintos</a:t>
            </a:r>
            <a:r>
              <a:rPr sz="1800" spc="-1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(estructurados</a:t>
            </a:r>
            <a:r>
              <a:rPr sz="1800" spc="-1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800" spc="-11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0030B8"/>
                </a:solidFill>
                <a:latin typeface="Verdana"/>
                <a:cs typeface="Verdana"/>
              </a:rPr>
              <a:t>no</a:t>
            </a:r>
            <a:r>
              <a:rPr sz="1800" spc="-1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estructurados)</a:t>
            </a:r>
            <a:r>
              <a:rPr sz="1800" spc="-1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para</a:t>
            </a:r>
            <a:r>
              <a:rPr sz="1800" spc="-11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8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toma</a:t>
            </a:r>
            <a:r>
              <a:rPr sz="1800" spc="-1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decisiones</a:t>
            </a:r>
            <a:endParaRPr sz="18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43622" y="990600"/>
            <a:ext cx="100469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27100" algn="l"/>
              </a:tabLst>
            </a:pPr>
            <a:r>
              <a:rPr spc="-25" dirty="0"/>
              <a:t>5.</a:t>
            </a:r>
            <a:r>
              <a:rPr dirty="0"/>
              <a:t>	</a:t>
            </a:r>
            <a:r>
              <a:rPr spc="190" dirty="0"/>
              <a:t>¿Cómo</a:t>
            </a:r>
            <a:r>
              <a:rPr spc="-5" dirty="0"/>
              <a:t> </a:t>
            </a:r>
            <a:r>
              <a:rPr spc="85" dirty="0"/>
              <a:t>se</a:t>
            </a:r>
            <a:r>
              <a:rPr spc="-35" dirty="0"/>
              <a:t> </a:t>
            </a:r>
            <a:r>
              <a:rPr spc="105" dirty="0"/>
              <a:t>podría</a:t>
            </a:r>
            <a:r>
              <a:rPr spc="-40" dirty="0"/>
              <a:t> </a:t>
            </a:r>
            <a:r>
              <a:rPr spc="75" dirty="0"/>
              <a:t>definir</a:t>
            </a:r>
            <a:r>
              <a:rPr spc="-10" dirty="0"/>
              <a:t> </a:t>
            </a:r>
            <a:r>
              <a:rPr spc="170" dirty="0"/>
              <a:t>Big</a:t>
            </a:r>
            <a:r>
              <a:rPr spc="-40" dirty="0"/>
              <a:t> </a:t>
            </a:r>
            <a:r>
              <a:rPr spc="80" dirty="0"/>
              <a:t>Data?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65592" y="2286000"/>
            <a:ext cx="9060815" cy="2769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271780" indent="-343535">
              <a:lnSpc>
                <a:spcPct val="100000"/>
              </a:lnSpc>
              <a:spcBef>
                <a:spcPts val="100"/>
              </a:spcBef>
              <a:buAutoNum type="alphaLcPeriod"/>
              <a:tabLst>
                <a:tab pos="355600" algn="l"/>
              </a:tabLst>
            </a:pP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Algoritmos</a:t>
            </a:r>
            <a:r>
              <a:rPr sz="18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8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técnicas</a:t>
            </a:r>
            <a:r>
              <a:rPr sz="18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Aprendizaje</a:t>
            </a:r>
            <a:r>
              <a:rPr sz="18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0030B8"/>
                </a:solidFill>
                <a:latin typeface="Verdana"/>
                <a:cs typeface="Verdana"/>
              </a:rPr>
              <a:t>Máquina</a:t>
            </a:r>
            <a:r>
              <a:rPr sz="18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enfocados</a:t>
            </a:r>
            <a:r>
              <a:rPr sz="18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18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el</a:t>
            </a:r>
            <a:r>
              <a:rPr sz="18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análisis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patrones</a:t>
            </a:r>
            <a:r>
              <a:rPr sz="1800" spc="-1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8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predicción.</a:t>
            </a:r>
            <a:endParaRPr sz="1800" dirty="0">
              <a:latin typeface="Verdana"/>
              <a:cs typeface="Verdana"/>
            </a:endParaRPr>
          </a:p>
          <a:p>
            <a:pPr marL="356235" indent="-343535">
              <a:lnSpc>
                <a:spcPct val="100000"/>
              </a:lnSpc>
              <a:spcBef>
                <a:spcPts val="2160"/>
              </a:spcBef>
              <a:buAutoNum type="alphaLcPeriod"/>
              <a:tabLst>
                <a:tab pos="356235" algn="l"/>
              </a:tabLst>
            </a:pP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Base</a:t>
            </a:r>
            <a:r>
              <a:rPr sz="1800" spc="-1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1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datos</a:t>
            </a:r>
            <a:r>
              <a:rPr sz="1800" spc="-1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0030B8"/>
                </a:solidFill>
                <a:latin typeface="Verdana"/>
                <a:cs typeface="Verdana"/>
              </a:rPr>
              <a:t>con</a:t>
            </a:r>
            <a:r>
              <a:rPr sz="1800" spc="-1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más</a:t>
            </a:r>
            <a:r>
              <a:rPr sz="1800" spc="-1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1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509" dirty="0">
                <a:solidFill>
                  <a:srgbClr val="0030B8"/>
                </a:solidFill>
                <a:latin typeface="Verdana"/>
                <a:cs typeface="Verdana"/>
              </a:rPr>
              <a:t>1</a:t>
            </a:r>
            <a:r>
              <a:rPr sz="1800" spc="-1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TB</a:t>
            </a:r>
            <a:r>
              <a:rPr sz="1800" spc="-1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1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datos.</a:t>
            </a:r>
            <a:endParaRPr sz="1800" dirty="0">
              <a:latin typeface="Verdana"/>
              <a:cs typeface="Verdana"/>
            </a:endParaRPr>
          </a:p>
          <a:p>
            <a:pPr marL="355600" marR="222885" indent="-343535">
              <a:lnSpc>
                <a:spcPct val="100000"/>
              </a:lnSpc>
              <a:spcBef>
                <a:spcPts val="2160"/>
              </a:spcBef>
              <a:buAutoNum type="alphaLcPeriod"/>
              <a:tabLst>
                <a:tab pos="355600" algn="l"/>
              </a:tabLst>
            </a:pP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Analizar</a:t>
            </a:r>
            <a:r>
              <a:rPr sz="18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patrones</a:t>
            </a:r>
            <a:r>
              <a:rPr sz="18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0030B8"/>
                </a:solidFill>
                <a:latin typeface="Verdana"/>
                <a:cs typeface="Verdana"/>
              </a:rPr>
              <a:t>a</a:t>
            </a:r>
            <a:r>
              <a:rPr sz="18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partir</a:t>
            </a:r>
            <a:r>
              <a:rPr sz="18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8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datos</a:t>
            </a:r>
            <a:r>
              <a:rPr sz="18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para</a:t>
            </a:r>
            <a:r>
              <a:rPr sz="18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generar</a:t>
            </a:r>
            <a:r>
              <a:rPr sz="18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conocimiento</a:t>
            </a:r>
            <a:r>
              <a:rPr sz="18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valor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para</a:t>
            </a:r>
            <a:r>
              <a:rPr sz="18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8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toma</a:t>
            </a:r>
            <a:r>
              <a:rPr sz="18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decisiones.</a:t>
            </a:r>
            <a:endParaRPr sz="1800" dirty="0">
              <a:latin typeface="Verdana"/>
              <a:cs typeface="Verdana"/>
            </a:endParaRPr>
          </a:p>
          <a:p>
            <a:pPr marL="353695" marR="5080" indent="-341630">
              <a:lnSpc>
                <a:spcPct val="100000"/>
              </a:lnSpc>
              <a:spcBef>
                <a:spcPts val="2160"/>
              </a:spcBef>
              <a:buAutoNum type="alphaLcPeriod"/>
              <a:tabLst>
                <a:tab pos="355600" algn="l"/>
              </a:tabLst>
            </a:pPr>
            <a:r>
              <a:rPr sz="1800" b="1" spc="50" dirty="0">
                <a:solidFill>
                  <a:srgbClr val="00ADEE"/>
                </a:solidFill>
                <a:latin typeface="Tahoma"/>
                <a:cs typeface="Tahoma"/>
              </a:rPr>
              <a:t>Técnicas</a:t>
            </a:r>
            <a:r>
              <a:rPr sz="1800" b="1" spc="125" dirty="0">
                <a:solidFill>
                  <a:srgbClr val="00ADEE"/>
                </a:solidFill>
                <a:latin typeface="Tahoma"/>
                <a:cs typeface="Tahoma"/>
              </a:rPr>
              <a:t> </a:t>
            </a:r>
            <a:r>
              <a:rPr sz="1800" b="1" spc="60" dirty="0">
                <a:solidFill>
                  <a:srgbClr val="00ADEE"/>
                </a:solidFill>
                <a:latin typeface="Tahoma"/>
                <a:cs typeface="Tahoma"/>
              </a:rPr>
              <a:t>computacionales</a:t>
            </a:r>
            <a:r>
              <a:rPr sz="1800" b="1" spc="125" dirty="0">
                <a:solidFill>
                  <a:srgbClr val="00ADEE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ADEE"/>
                </a:solidFill>
                <a:latin typeface="Tahoma"/>
                <a:cs typeface="Tahoma"/>
              </a:rPr>
              <a:t>usadas</a:t>
            </a:r>
            <a:r>
              <a:rPr sz="1800" b="1" spc="140" dirty="0">
                <a:solidFill>
                  <a:srgbClr val="00ADEE"/>
                </a:solidFill>
                <a:latin typeface="Tahoma"/>
                <a:cs typeface="Tahoma"/>
              </a:rPr>
              <a:t> </a:t>
            </a:r>
            <a:r>
              <a:rPr sz="1800" b="1" spc="75" dirty="0">
                <a:solidFill>
                  <a:srgbClr val="00ADEE"/>
                </a:solidFill>
                <a:latin typeface="Tahoma"/>
                <a:cs typeface="Tahoma"/>
              </a:rPr>
              <a:t>de</a:t>
            </a:r>
            <a:r>
              <a:rPr sz="1800" b="1" spc="165" dirty="0">
                <a:solidFill>
                  <a:srgbClr val="00ADEE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ADEE"/>
                </a:solidFill>
                <a:latin typeface="Tahoma"/>
                <a:cs typeface="Tahoma"/>
              </a:rPr>
              <a:t>forma</a:t>
            </a:r>
            <a:r>
              <a:rPr sz="1800" b="1" spc="165" dirty="0">
                <a:solidFill>
                  <a:srgbClr val="00ADEE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ADEE"/>
                </a:solidFill>
                <a:latin typeface="Tahoma"/>
                <a:cs typeface="Tahoma"/>
              </a:rPr>
              <a:t>eficiente</a:t>
            </a:r>
            <a:r>
              <a:rPr sz="1800" b="1" spc="160" dirty="0">
                <a:solidFill>
                  <a:srgbClr val="00ADEE"/>
                </a:solidFill>
                <a:latin typeface="Tahoma"/>
                <a:cs typeface="Tahoma"/>
              </a:rPr>
              <a:t> </a:t>
            </a:r>
            <a:r>
              <a:rPr sz="1800" b="1" spc="65" dirty="0">
                <a:solidFill>
                  <a:srgbClr val="00ADEE"/>
                </a:solidFill>
                <a:latin typeface="Tahoma"/>
                <a:cs typeface="Tahoma"/>
              </a:rPr>
              <a:t>en</a:t>
            </a:r>
            <a:r>
              <a:rPr sz="1800" b="1" spc="175" dirty="0">
                <a:solidFill>
                  <a:srgbClr val="00ADEE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ADEE"/>
                </a:solidFill>
                <a:latin typeface="Tahoma"/>
                <a:cs typeface="Tahoma"/>
              </a:rPr>
              <a:t>datos</a:t>
            </a:r>
            <a:r>
              <a:rPr sz="1800" b="1" spc="160" dirty="0">
                <a:solidFill>
                  <a:srgbClr val="00ADEE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00ADEE"/>
                </a:solidFill>
                <a:latin typeface="Tahoma"/>
                <a:cs typeface="Tahoma"/>
              </a:rPr>
              <a:t>masivos</a:t>
            </a:r>
            <a:r>
              <a:rPr sz="1800" b="1" spc="140" dirty="0">
                <a:solidFill>
                  <a:srgbClr val="00ADEE"/>
                </a:solidFill>
                <a:latin typeface="Tahoma"/>
                <a:cs typeface="Tahoma"/>
              </a:rPr>
              <a:t> </a:t>
            </a:r>
            <a:r>
              <a:rPr sz="1800" b="1" spc="-50" dirty="0">
                <a:solidFill>
                  <a:srgbClr val="00ADEE"/>
                </a:solidFill>
                <a:latin typeface="Tahoma"/>
                <a:cs typeface="Tahoma"/>
              </a:rPr>
              <a:t>y 	</a:t>
            </a:r>
            <a:r>
              <a:rPr sz="1800" b="1" spc="10" dirty="0">
                <a:solidFill>
                  <a:srgbClr val="00ADEE"/>
                </a:solidFill>
                <a:latin typeface="Tahoma"/>
                <a:cs typeface="Tahoma"/>
              </a:rPr>
              <a:t>distintos</a:t>
            </a:r>
            <a:r>
              <a:rPr sz="1800" b="1" spc="105" dirty="0">
                <a:solidFill>
                  <a:srgbClr val="00ADEE"/>
                </a:solidFill>
                <a:latin typeface="Tahoma"/>
                <a:cs typeface="Tahoma"/>
              </a:rPr>
              <a:t> </a:t>
            </a:r>
            <a:r>
              <a:rPr sz="1800" b="1" spc="10" dirty="0">
                <a:solidFill>
                  <a:srgbClr val="00ADEE"/>
                </a:solidFill>
                <a:latin typeface="Tahoma"/>
                <a:cs typeface="Tahoma"/>
              </a:rPr>
              <a:t>(estructurados</a:t>
            </a:r>
            <a:r>
              <a:rPr sz="1800" b="1" spc="70" dirty="0">
                <a:solidFill>
                  <a:srgbClr val="00ADEE"/>
                </a:solidFill>
                <a:latin typeface="Tahoma"/>
                <a:cs typeface="Tahoma"/>
              </a:rPr>
              <a:t> </a:t>
            </a:r>
            <a:r>
              <a:rPr sz="1800" b="1" spc="10" dirty="0">
                <a:solidFill>
                  <a:srgbClr val="00ADEE"/>
                </a:solidFill>
                <a:latin typeface="Tahoma"/>
                <a:cs typeface="Tahoma"/>
              </a:rPr>
              <a:t>y</a:t>
            </a:r>
            <a:r>
              <a:rPr sz="1800" b="1" spc="105" dirty="0">
                <a:solidFill>
                  <a:srgbClr val="00ADEE"/>
                </a:solidFill>
                <a:latin typeface="Tahoma"/>
                <a:cs typeface="Tahoma"/>
              </a:rPr>
              <a:t> </a:t>
            </a:r>
            <a:r>
              <a:rPr sz="1800" b="1" spc="75" dirty="0">
                <a:solidFill>
                  <a:srgbClr val="00ADEE"/>
                </a:solidFill>
                <a:latin typeface="Tahoma"/>
                <a:cs typeface="Tahoma"/>
              </a:rPr>
              <a:t>no</a:t>
            </a:r>
            <a:r>
              <a:rPr sz="1800" b="1" spc="114" dirty="0">
                <a:solidFill>
                  <a:srgbClr val="00ADEE"/>
                </a:solidFill>
                <a:latin typeface="Tahoma"/>
                <a:cs typeface="Tahoma"/>
              </a:rPr>
              <a:t> </a:t>
            </a:r>
            <a:r>
              <a:rPr sz="1800" b="1" spc="10" dirty="0">
                <a:solidFill>
                  <a:srgbClr val="00ADEE"/>
                </a:solidFill>
                <a:latin typeface="Tahoma"/>
                <a:cs typeface="Tahoma"/>
              </a:rPr>
              <a:t>estructurados)</a:t>
            </a:r>
            <a:r>
              <a:rPr sz="1800" b="1" spc="85" dirty="0">
                <a:solidFill>
                  <a:srgbClr val="00ADEE"/>
                </a:solidFill>
                <a:latin typeface="Tahoma"/>
                <a:cs typeface="Tahoma"/>
              </a:rPr>
              <a:t> </a:t>
            </a:r>
            <a:r>
              <a:rPr sz="1800" b="1" spc="10" dirty="0">
                <a:solidFill>
                  <a:srgbClr val="00ADEE"/>
                </a:solidFill>
                <a:latin typeface="Tahoma"/>
                <a:cs typeface="Tahoma"/>
              </a:rPr>
              <a:t>para</a:t>
            </a:r>
            <a:r>
              <a:rPr sz="1800" b="1" spc="90" dirty="0">
                <a:solidFill>
                  <a:srgbClr val="00ADEE"/>
                </a:solidFill>
                <a:latin typeface="Tahoma"/>
                <a:cs typeface="Tahoma"/>
              </a:rPr>
              <a:t> </a:t>
            </a:r>
            <a:r>
              <a:rPr sz="1800" b="1" spc="10" dirty="0">
                <a:solidFill>
                  <a:srgbClr val="00ADEE"/>
                </a:solidFill>
                <a:latin typeface="Tahoma"/>
                <a:cs typeface="Tahoma"/>
              </a:rPr>
              <a:t>la</a:t>
            </a:r>
            <a:r>
              <a:rPr sz="1800" b="1" spc="105" dirty="0">
                <a:solidFill>
                  <a:srgbClr val="00ADEE"/>
                </a:solidFill>
                <a:latin typeface="Tahoma"/>
                <a:cs typeface="Tahoma"/>
              </a:rPr>
              <a:t> </a:t>
            </a:r>
            <a:r>
              <a:rPr sz="1800" b="1" spc="65" dirty="0">
                <a:solidFill>
                  <a:srgbClr val="00ADEE"/>
                </a:solidFill>
                <a:latin typeface="Tahoma"/>
                <a:cs typeface="Tahoma"/>
              </a:rPr>
              <a:t>toma</a:t>
            </a:r>
            <a:r>
              <a:rPr sz="1800" b="1" spc="114" dirty="0">
                <a:solidFill>
                  <a:srgbClr val="00ADEE"/>
                </a:solidFill>
                <a:latin typeface="Tahoma"/>
                <a:cs typeface="Tahoma"/>
              </a:rPr>
              <a:t> </a:t>
            </a:r>
            <a:r>
              <a:rPr sz="1800" b="1" spc="75" dirty="0">
                <a:solidFill>
                  <a:srgbClr val="00ADEE"/>
                </a:solidFill>
                <a:latin typeface="Tahoma"/>
                <a:cs typeface="Tahoma"/>
              </a:rPr>
              <a:t>de</a:t>
            </a:r>
            <a:r>
              <a:rPr sz="1800" b="1" spc="114" dirty="0">
                <a:solidFill>
                  <a:srgbClr val="00ADEE"/>
                </a:solidFill>
                <a:latin typeface="Tahoma"/>
                <a:cs typeface="Tahoma"/>
              </a:rPr>
              <a:t> </a:t>
            </a:r>
            <a:r>
              <a:rPr sz="1800" b="1" spc="45" dirty="0">
                <a:solidFill>
                  <a:srgbClr val="00ADEE"/>
                </a:solidFill>
                <a:latin typeface="Tahoma"/>
                <a:cs typeface="Tahoma"/>
              </a:rPr>
              <a:t>decisiones</a:t>
            </a:r>
            <a:endParaRPr sz="18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014716" y="2398776"/>
            <a:ext cx="2194560" cy="69850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217804" rIns="0" bIns="0" rtlCol="0">
            <a:spAutoFit/>
          </a:bodyPr>
          <a:lstStyle/>
          <a:p>
            <a:pPr marL="535940">
              <a:lnSpc>
                <a:spcPct val="100000"/>
              </a:lnSpc>
              <a:spcBef>
                <a:spcPts val="1714"/>
              </a:spcBef>
            </a:pPr>
            <a:r>
              <a:rPr sz="1600" spc="-10" dirty="0">
                <a:solidFill>
                  <a:srgbClr val="FFFFFF"/>
                </a:solidFill>
                <a:latin typeface="Verdana"/>
                <a:cs typeface="Verdana"/>
              </a:rPr>
              <a:t>Innovación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617723" y="1263853"/>
            <a:ext cx="65500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0" spc="-10" dirty="0">
                <a:latin typeface="Verdana"/>
                <a:cs typeface="Verdana"/>
              </a:rPr>
              <a:t>“Bienestar</a:t>
            </a:r>
            <a:r>
              <a:rPr sz="2400" b="0" spc="-75" dirty="0">
                <a:latin typeface="Verdana"/>
                <a:cs typeface="Verdana"/>
              </a:rPr>
              <a:t> </a:t>
            </a:r>
            <a:r>
              <a:rPr sz="2400" b="0" spc="-135" dirty="0">
                <a:latin typeface="Verdana"/>
                <a:cs typeface="Verdana"/>
              </a:rPr>
              <a:t>y</a:t>
            </a:r>
            <a:r>
              <a:rPr sz="2400" b="0" spc="-95" dirty="0">
                <a:latin typeface="Verdana"/>
                <a:cs typeface="Verdana"/>
              </a:rPr>
              <a:t> </a:t>
            </a:r>
            <a:r>
              <a:rPr sz="2400" b="0" spc="-30" dirty="0">
                <a:latin typeface="Verdana"/>
                <a:cs typeface="Verdana"/>
              </a:rPr>
              <a:t>la</a:t>
            </a:r>
            <a:r>
              <a:rPr sz="2400" b="0" spc="-75" dirty="0">
                <a:latin typeface="Verdana"/>
                <a:cs typeface="Verdana"/>
              </a:rPr>
              <a:t> </a:t>
            </a:r>
            <a:r>
              <a:rPr sz="2400" b="0" dirty="0">
                <a:latin typeface="Verdana"/>
                <a:cs typeface="Verdana"/>
              </a:rPr>
              <a:t>Competitividad</a:t>
            </a:r>
            <a:r>
              <a:rPr sz="2400" b="0" spc="-95" dirty="0">
                <a:latin typeface="Verdana"/>
                <a:cs typeface="Verdana"/>
              </a:rPr>
              <a:t> </a:t>
            </a:r>
            <a:r>
              <a:rPr sz="2400" b="0" spc="-10" dirty="0">
                <a:latin typeface="Verdana"/>
                <a:cs typeface="Verdana"/>
              </a:rPr>
              <a:t>sostenibles”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22501" y="3239262"/>
            <a:ext cx="175006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2095" marR="5080" indent="-240029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0030B8"/>
                </a:solidFill>
                <a:latin typeface="Verdana"/>
                <a:cs typeface="Verdana"/>
              </a:rPr>
              <a:t>Hacerlo</a:t>
            </a:r>
            <a:r>
              <a:rPr sz="14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0030B8"/>
                </a:solidFill>
                <a:latin typeface="Verdana"/>
                <a:cs typeface="Verdana"/>
              </a:rPr>
              <a:t>muy</a:t>
            </a:r>
            <a:r>
              <a:rPr sz="1400" spc="-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0030B8"/>
                </a:solidFill>
                <a:latin typeface="Verdana"/>
                <a:cs typeface="Verdana"/>
              </a:rPr>
              <a:t>bien</a:t>
            </a:r>
            <a:r>
              <a:rPr sz="1400" spc="-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400" spc="-50" dirty="0">
                <a:solidFill>
                  <a:srgbClr val="0030B8"/>
                </a:solidFill>
                <a:latin typeface="Verdana"/>
                <a:cs typeface="Verdana"/>
              </a:rPr>
              <a:t>y </a:t>
            </a:r>
            <a:r>
              <a:rPr sz="1400" spc="-10" dirty="0">
                <a:solidFill>
                  <a:srgbClr val="0030B8"/>
                </a:solidFill>
                <a:latin typeface="Verdana"/>
                <a:cs typeface="Verdana"/>
              </a:rPr>
              <a:t>óptimamente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96459" y="3226054"/>
            <a:ext cx="231902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0030B8"/>
                </a:solidFill>
                <a:latin typeface="Verdana"/>
                <a:cs typeface="Verdana"/>
              </a:rPr>
              <a:t>Lo</a:t>
            </a:r>
            <a:r>
              <a:rPr sz="1400" spc="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0030B8"/>
                </a:solidFill>
                <a:latin typeface="Verdana"/>
                <a:cs typeface="Verdana"/>
              </a:rPr>
              <a:t>que</a:t>
            </a:r>
            <a:r>
              <a:rPr sz="1400" spc="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0030B8"/>
                </a:solidFill>
                <a:latin typeface="Verdana"/>
                <a:cs typeface="Verdana"/>
              </a:rPr>
              <a:t>tengo</a:t>
            </a:r>
            <a:r>
              <a:rPr sz="1400" spc="-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0030B8"/>
                </a:solidFill>
                <a:latin typeface="Verdana"/>
                <a:cs typeface="Verdana"/>
              </a:rPr>
              <a:t>adaptado</a:t>
            </a:r>
            <a:r>
              <a:rPr sz="1400" spc="-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0030B8"/>
                </a:solidFill>
                <a:latin typeface="Verdana"/>
                <a:cs typeface="Verdana"/>
              </a:rPr>
              <a:t>al</a:t>
            </a:r>
            <a:endParaRPr sz="14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sz="1400" spc="-10" dirty="0">
                <a:solidFill>
                  <a:srgbClr val="0030B8"/>
                </a:solidFill>
                <a:latin typeface="Verdana"/>
                <a:cs typeface="Verdana"/>
              </a:rPr>
              <a:t>territorio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228203" y="3226054"/>
            <a:ext cx="176974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0030B8"/>
                </a:solidFill>
                <a:latin typeface="Verdana"/>
                <a:cs typeface="Verdana"/>
              </a:rPr>
              <a:t>Nuevas</a:t>
            </a:r>
            <a:r>
              <a:rPr sz="1400" spc="-1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0030B8"/>
                </a:solidFill>
                <a:latin typeface="Verdana"/>
                <a:cs typeface="Verdana"/>
              </a:rPr>
              <a:t>soluciones,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spc="-25" dirty="0">
                <a:solidFill>
                  <a:srgbClr val="0030B8"/>
                </a:solidFill>
                <a:latin typeface="Verdana"/>
                <a:cs typeface="Verdana"/>
              </a:rPr>
              <a:t>servicios</a:t>
            </a:r>
            <a:r>
              <a:rPr sz="14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400" spc="-7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4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0030B8"/>
                </a:solidFill>
                <a:latin typeface="Verdana"/>
                <a:cs typeface="Verdana"/>
              </a:rPr>
              <a:t>procesos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27047" y="4382515"/>
            <a:ext cx="7741920" cy="1002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75410" marR="5080" indent="-1362710">
              <a:lnSpc>
                <a:spcPct val="100000"/>
              </a:lnSpc>
              <a:spcBef>
                <a:spcPts val="100"/>
              </a:spcBef>
            </a:pPr>
            <a:r>
              <a:rPr sz="3200" spc="80" dirty="0">
                <a:solidFill>
                  <a:srgbClr val="0096A7"/>
                </a:solidFill>
                <a:latin typeface="Verdana"/>
                <a:cs typeface="Verdana"/>
              </a:rPr>
              <a:t>Conocimiento</a:t>
            </a:r>
            <a:r>
              <a:rPr sz="3200" spc="-270" dirty="0">
                <a:solidFill>
                  <a:srgbClr val="0096A7"/>
                </a:solidFill>
                <a:latin typeface="Verdana"/>
                <a:cs typeface="Verdana"/>
              </a:rPr>
              <a:t> </a:t>
            </a:r>
            <a:r>
              <a:rPr sz="3200" spc="75" dirty="0">
                <a:solidFill>
                  <a:srgbClr val="0096A7"/>
                </a:solidFill>
                <a:latin typeface="Verdana"/>
                <a:cs typeface="Verdana"/>
              </a:rPr>
              <a:t>profundo</a:t>
            </a:r>
            <a:r>
              <a:rPr sz="3200" spc="-275" dirty="0">
                <a:solidFill>
                  <a:srgbClr val="0096A7"/>
                </a:solidFill>
                <a:latin typeface="Verdana"/>
                <a:cs typeface="Verdana"/>
              </a:rPr>
              <a:t> </a:t>
            </a:r>
            <a:r>
              <a:rPr sz="3200" spc="55" dirty="0">
                <a:solidFill>
                  <a:srgbClr val="0096A7"/>
                </a:solidFill>
                <a:latin typeface="Verdana"/>
                <a:cs typeface="Verdana"/>
              </a:rPr>
              <a:t>del</a:t>
            </a:r>
            <a:r>
              <a:rPr sz="3200" spc="-275" dirty="0">
                <a:solidFill>
                  <a:srgbClr val="0096A7"/>
                </a:solidFill>
                <a:latin typeface="Verdana"/>
                <a:cs typeface="Verdana"/>
              </a:rPr>
              <a:t> </a:t>
            </a:r>
            <a:r>
              <a:rPr sz="3200" spc="-40" dirty="0">
                <a:solidFill>
                  <a:srgbClr val="0096A7"/>
                </a:solidFill>
                <a:latin typeface="Verdana"/>
                <a:cs typeface="Verdana"/>
              </a:rPr>
              <a:t>Estado,</a:t>
            </a:r>
            <a:r>
              <a:rPr sz="3200" spc="-320" dirty="0">
                <a:solidFill>
                  <a:srgbClr val="0096A7"/>
                </a:solidFill>
                <a:latin typeface="Verdana"/>
                <a:cs typeface="Verdana"/>
              </a:rPr>
              <a:t> </a:t>
            </a:r>
            <a:r>
              <a:rPr sz="3200" spc="-25" dirty="0">
                <a:solidFill>
                  <a:srgbClr val="0096A7"/>
                </a:solidFill>
                <a:latin typeface="Verdana"/>
                <a:cs typeface="Verdana"/>
              </a:rPr>
              <a:t>el </a:t>
            </a:r>
            <a:r>
              <a:rPr sz="3200" spc="65" dirty="0">
                <a:solidFill>
                  <a:srgbClr val="0096A7"/>
                </a:solidFill>
                <a:latin typeface="Verdana"/>
                <a:cs typeface="Verdana"/>
              </a:rPr>
              <a:t>Ciudadano</a:t>
            </a:r>
            <a:r>
              <a:rPr sz="3200" spc="-295" dirty="0">
                <a:solidFill>
                  <a:srgbClr val="0096A7"/>
                </a:solidFill>
                <a:latin typeface="Verdana"/>
                <a:cs typeface="Verdana"/>
              </a:rPr>
              <a:t> </a:t>
            </a:r>
            <a:r>
              <a:rPr sz="3200" spc="-180" dirty="0">
                <a:solidFill>
                  <a:srgbClr val="0096A7"/>
                </a:solidFill>
                <a:latin typeface="Verdana"/>
                <a:cs typeface="Verdana"/>
              </a:rPr>
              <a:t>y</a:t>
            </a:r>
            <a:r>
              <a:rPr sz="3200" spc="-285" dirty="0">
                <a:solidFill>
                  <a:srgbClr val="0096A7"/>
                </a:solidFill>
                <a:latin typeface="Verdana"/>
                <a:cs typeface="Verdana"/>
              </a:rPr>
              <a:t> </a:t>
            </a:r>
            <a:r>
              <a:rPr sz="3200" spc="-10" dirty="0">
                <a:solidFill>
                  <a:srgbClr val="0096A7"/>
                </a:solidFill>
                <a:latin typeface="Verdana"/>
                <a:cs typeface="Verdana"/>
              </a:rPr>
              <a:t>el</a:t>
            </a:r>
            <a:r>
              <a:rPr sz="3200" spc="-275" dirty="0">
                <a:solidFill>
                  <a:srgbClr val="0096A7"/>
                </a:solidFill>
                <a:latin typeface="Verdana"/>
                <a:cs typeface="Verdana"/>
              </a:rPr>
              <a:t> </a:t>
            </a:r>
            <a:r>
              <a:rPr sz="3200" spc="-10" dirty="0">
                <a:solidFill>
                  <a:srgbClr val="0096A7"/>
                </a:solidFill>
                <a:latin typeface="Verdana"/>
                <a:cs typeface="Verdana"/>
              </a:rPr>
              <a:t>Territorio</a:t>
            </a:r>
            <a:endParaRPr sz="32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358074" y="1970722"/>
            <a:ext cx="9075420" cy="2374265"/>
            <a:chOff x="1358074" y="1970722"/>
            <a:chExt cx="9075420" cy="2374265"/>
          </a:xfrm>
        </p:grpSpPr>
        <p:sp>
          <p:nvSpPr>
            <p:cNvPr id="10" name="object 10"/>
            <p:cNvSpPr/>
            <p:nvPr/>
          </p:nvSpPr>
          <p:spPr>
            <a:xfrm>
              <a:off x="1372361" y="1985010"/>
              <a:ext cx="9046845" cy="2345690"/>
            </a:xfrm>
            <a:custGeom>
              <a:avLst/>
              <a:gdLst/>
              <a:ahLst/>
              <a:cxnLst/>
              <a:rect l="l" t="t" r="r" b="b"/>
              <a:pathLst>
                <a:path w="9046845" h="2345690">
                  <a:moveTo>
                    <a:pt x="7619" y="309372"/>
                  </a:moveTo>
                  <a:lnTo>
                    <a:pt x="9648" y="249144"/>
                  </a:lnTo>
                  <a:lnTo>
                    <a:pt x="15176" y="199977"/>
                  </a:lnTo>
                  <a:lnTo>
                    <a:pt x="23371" y="166836"/>
                  </a:lnTo>
                  <a:lnTo>
                    <a:pt x="33400" y="154686"/>
                  </a:lnTo>
                  <a:lnTo>
                    <a:pt x="4501261" y="154686"/>
                  </a:lnTo>
                  <a:lnTo>
                    <a:pt x="4511290" y="142535"/>
                  </a:lnTo>
                  <a:lnTo>
                    <a:pt x="4519485" y="109394"/>
                  </a:lnTo>
                  <a:lnTo>
                    <a:pt x="4525013" y="60227"/>
                  </a:lnTo>
                  <a:lnTo>
                    <a:pt x="4527042" y="0"/>
                  </a:lnTo>
                  <a:lnTo>
                    <a:pt x="4529070" y="60227"/>
                  </a:lnTo>
                  <a:lnTo>
                    <a:pt x="4534598" y="109394"/>
                  </a:lnTo>
                  <a:lnTo>
                    <a:pt x="4542793" y="142535"/>
                  </a:lnTo>
                  <a:lnTo>
                    <a:pt x="4552823" y="154686"/>
                  </a:lnTo>
                  <a:lnTo>
                    <a:pt x="9020683" y="154686"/>
                  </a:lnTo>
                  <a:lnTo>
                    <a:pt x="9030712" y="166836"/>
                  </a:lnTo>
                  <a:lnTo>
                    <a:pt x="9038907" y="199977"/>
                  </a:lnTo>
                  <a:lnTo>
                    <a:pt x="9044435" y="249144"/>
                  </a:lnTo>
                  <a:lnTo>
                    <a:pt x="9046464" y="309372"/>
                  </a:lnTo>
                </a:path>
                <a:path w="9046845" h="2345690">
                  <a:moveTo>
                    <a:pt x="9038844" y="2036064"/>
                  </a:moveTo>
                  <a:lnTo>
                    <a:pt x="9036815" y="2096291"/>
                  </a:lnTo>
                  <a:lnTo>
                    <a:pt x="9031287" y="2145458"/>
                  </a:lnTo>
                  <a:lnTo>
                    <a:pt x="9023092" y="2178599"/>
                  </a:lnTo>
                  <a:lnTo>
                    <a:pt x="9013063" y="2190750"/>
                  </a:lnTo>
                  <a:lnTo>
                    <a:pt x="4545203" y="2190750"/>
                  </a:lnTo>
                  <a:lnTo>
                    <a:pt x="4535173" y="2202900"/>
                  </a:lnTo>
                  <a:lnTo>
                    <a:pt x="4526978" y="2236041"/>
                  </a:lnTo>
                  <a:lnTo>
                    <a:pt x="4521450" y="2285208"/>
                  </a:lnTo>
                  <a:lnTo>
                    <a:pt x="4519422" y="2345435"/>
                  </a:lnTo>
                  <a:lnTo>
                    <a:pt x="4517393" y="2285208"/>
                  </a:lnTo>
                  <a:lnTo>
                    <a:pt x="4511865" y="2236041"/>
                  </a:lnTo>
                  <a:lnTo>
                    <a:pt x="4503670" y="2202900"/>
                  </a:lnTo>
                  <a:lnTo>
                    <a:pt x="4493641" y="2190750"/>
                  </a:lnTo>
                  <a:lnTo>
                    <a:pt x="25781" y="2190750"/>
                  </a:lnTo>
                  <a:lnTo>
                    <a:pt x="15751" y="2178599"/>
                  </a:lnTo>
                  <a:lnTo>
                    <a:pt x="7556" y="2145458"/>
                  </a:lnTo>
                  <a:lnTo>
                    <a:pt x="2028" y="2096291"/>
                  </a:lnTo>
                  <a:lnTo>
                    <a:pt x="0" y="2036064"/>
                  </a:lnTo>
                </a:path>
              </a:pathLst>
            </a:custGeom>
            <a:ln w="28575">
              <a:solidFill>
                <a:srgbClr val="FCA7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907536" y="2709671"/>
              <a:ext cx="3921760" cy="140335"/>
            </a:xfrm>
            <a:custGeom>
              <a:avLst/>
              <a:gdLst/>
              <a:ahLst/>
              <a:cxnLst/>
              <a:rect l="l" t="t" r="r" b="b"/>
              <a:pathLst>
                <a:path w="3921759" h="140335">
                  <a:moveTo>
                    <a:pt x="656844" y="68580"/>
                  </a:moveTo>
                  <a:lnTo>
                    <a:pt x="588264" y="0"/>
                  </a:lnTo>
                  <a:lnTo>
                    <a:pt x="588264" y="34290"/>
                  </a:lnTo>
                  <a:lnTo>
                    <a:pt x="0" y="34290"/>
                  </a:lnTo>
                  <a:lnTo>
                    <a:pt x="0" y="102870"/>
                  </a:lnTo>
                  <a:lnTo>
                    <a:pt x="588264" y="102870"/>
                  </a:lnTo>
                  <a:lnTo>
                    <a:pt x="588264" y="137160"/>
                  </a:lnTo>
                  <a:lnTo>
                    <a:pt x="656844" y="68580"/>
                  </a:lnTo>
                  <a:close/>
                </a:path>
                <a:path w="3921759" h="140335">
                  <a:moveTo>
                    <a:pt x="3921252" y="71628"/>
                  </a:moveTo>
                  <a:lnTo>
                    <a:pt x="3852672" y="3048"/>
                  </a:lnTo>
                  <a:lnTo>
                    <a:pt x="3852672" y="37338"/>
                  </a:lnTo>
                  <a:lnTo>
                    <a:pt x="3311652" y="37338"/>
                  </a:lnTo>
                  <a:lnTo>
                    <a:pt x="3311652" y="3048"/>
                  </a:lnTo>
                  <a:lnTo>
                    <a:pt x="3243072" y="71628"/>
                  </a:lnTo>
                  <a:lnTo>
                    <a:pt x="3311652" y="140208"/>
                  </a:lnTo>
                  <a:lnTo>
                    <a:pt x="3311652" y="105918"/>
                  </a:lnTo>
                  <a:lnTo>
                    <a:pt x="3852672" y="105918"/>
                  </a:lnTo>
                  <a:lnTo>
                    <a:pt x="3852672" y="140208"/>
                  </a:lnTo>
                  <a:lnTo>
                    <a:pt x="3921252" y="71628"/>
                  </a:lnTo>
                  <a:close/>
                </a:path>
              </a:pathLst>
            </a:custGeom>
            <a:solidFill>
              <a:srgbClr val="006F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508760" y="2398776"/>
            <a:ext cx="2194560" cy="698500"/>
          </a:xfrm>
          <a:prstGeom prst="rect">
            <a:avLst/>
          </a:prstGeom>
          <a:solidFill>
            <a:srgbClr val="00AFEF"/>
          </a:solidFill>
        </p:spPr>
        <p:txBody>
          <a:bodyPr vert="horz" wrap="square" lIns="0" tIns="217804" rIns="0" bIns="0" rtlCol="0">
            <a:spAutoFit/>
          </a:bodyPr>
          <a:lstStyle/>
          <a:p>
            <a:pPr marL="288925">
              <a:lnSpc>
                <a:spcPct val="100000"/>
              </a:lnSpc>
              <a:spcBef>
                <a:spcPts val="1714"/>
              </a:spcBef>
            </a:pPr>
            <a:r>
              <a:rPr sz="1600" spc="-10" dirty="0">
                <a:solidFill>
                  <a:srgbClr val="FFFFFF"/>
                </a:solidFill>
                <a:latin typeface="Verdana"/>
                <a:cs typeface="Verdana"/>
              </a:rPr>
              <a:t>Automatización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94503" y="2406395"/>
            <a:ext cx="2194560" cy="698500"/>
          </a:xfrm>
          <a:prstGeom prst="rect">
            <a:avLst/>
          </a:prstGeom>
          <a:solidFill>
            <a:srgbClr val="006FC0"/>
          </a:solidFill>
        </p:spPr>
        <p:txBody>
          <a:bodyPr vert="horz" wrap="square" lIns="0" tIns="217804" rIns="0" bIns="0" rtlCol="0">
            <a:spAutoFit/>
          </a:bodyPr>
          <a:lstStyle/>
          <a:p>
            <a:pPr marL="300355">
              <a:lnSpc>
                <a:spcPct val="100000"/>
              </a:lnSpc>
              <a:spcBef>
                <a:spcPts val="1714"/>
              </a:spcBef>
            </a:pPr>
            <a:r>
              <a:rPr sz="1600" spc="-10" dirty="0">
                <a:solidFill>
                  <a:srgbClr val="FFFFFF"/>
                </a:solidFill>
                <a:latin typeface="Verdana"/>
                <a:cs typeface="Verdana"/>
              </a:rPr>
              <a:t>Transformación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79219" y="5573267"/>
            <a:ext cx="9103360" cy="487680"/>
          </a:xfrm>
          <a:prstGeom prst="rect">
            <a:avLst/>
          </a:prstGeom>
          <a:solidFill>
            <a:srgbClr val="585858"/>
          </a:solidFill>
        </p:spPr>
        <p:txBody>
          <a:bodyPr vert="horz" wrap="square" lIns="0" tIns="812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40"/>
              </a:spcBef>
            </a:pPr>
            <a:r>
              <a:rPr sz="2000" dirty="0">
                <a:solidFill>
                  <a:srgbClr val="FFFFFF"/>
                </a:solidFill>
                <a:latin typeface="Verdana"/>
                <a:cs typeface="Verdana"/>
              </a:rPr>
              <a:t>Analítica</a:t>
            </a:r>
            <a:r>
              <a:rPr sz="2000" spc="-1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114" dirty="0">
                <a:solidFill>
                  <a:srgbClr val="FFFFFF"/>
                </a:solidFill>
                <a:latin typeface="Verdana"/>
                <a:cs typeface="Verdana"/>
              </a:rPr>
              <a:t>y </a:t>
            </a:r>
            <a:r>
              <a:rPr sz="2000" spc="70" dirty="0">
                <a:solidFill>
                  <a:srgbClr val="FFFFFF"/>
                </a:solidFill>
                <a:latin typeface="Verdana"/>
                <a:cs typeface="Verdana"/>
              </a:rPr>
              <a:t>Big</a:t>
            </a:r>
            <a:r>
              <a:rPr sz="2000" spc="-1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Verdana"/>
                <a:cs typeface="Verdana"/>
              </a:rPr>
              <a:t>Data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99178" y="3126994"/>
            <a:ext cx="51860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b="1" i="1" spc="-35" dirty="0">
                <a:solidFill>
                  <a:srgbClr val="6E92DB"/>
                </a:solidFill>
                <a:latin typeface="Verdana"/>
                <a:cs typeface="Verdana"/>
              </a:rPr>
              <a:t>Un </a:t>
            </a:r>
            <a:r>
              <a:rPr sz="1500" b="1" i="1" spc="-20" dirty="0">
                <a:solidFill>
                  <a:srgbClr val="6E92DB"/>
                </a:solidFill>
                <a:latin typeface="Verdana"/>
                <a:cs typeface="Verdana"/>
              </a:rPr>
              <a:t>dato</a:t>
            </a:r>
            <a:r>
              <a:rPr sz="1500" b="1" i="1" spc="-35" dirty="0">
                <a:solidFill>
                  <a:srgbClr val="6E92DB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es</a:t>
            </a:r>
            <a:r>
              <a:rPr sz="15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55" dirty="0">
                <a:solidFill>
                  <a:srgbClr val="0030B8"/>
                </a:solidFill>
                <a:latin typeface="Verdana"/>
                <a:cs typeface="Verdana"/>
              </a:rPr>
              <a:t>un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conjunto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30" dirty="0">
                <a:solidFill>
                  <a:srgbClr val="0030B8"/>
                </a:solidFill>
                <a:latin typeface="Verdana"/>
                <a:cs typeface="Verdana"/>
              </a:rPr>
              <a:t>discreto,</a:t>
            </a:r>
            <a:r>
              <a:rPr sz="15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factores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objetivos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sobre</a:t>
            </a:r>
            <a:r>
              <a:rPr sz="15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55" dirty="0">
                <a:solidFill>
                  <a:srgbClr val="0030B8"/>
                </a:solidFill>
                <a:latin typeface="Verdana"/>
                <a:cs typeface="Verdana"/>
              </a:rPr>
              <a:t>un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hecho</a:t>
            </a:r>
            <a:r>
              <a:rPr sz="15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real</a:t>
            </a:r>
            <a:r>
              <a:rPr sz="15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(Davenport</a:t>
            </a:r>
            <a:r>
              <a:rPr sz="1500" spc="-1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et</a:t>
            </a:r>
            <a:r>
              <a:rPr sz="15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30" dirty="0">
                <a:solidFill>
                  <a:srgbClr val="0030B8"/>
                </a:solidFill>
                <a:latin typeface="Verdana"/>
                <a:cs typeface="Verdana"/>
              </a:rPr>
              <a:t>al.,</a:t>
            </a:r>
            <a:r>
              <a:rPr sz="1500" spc="-11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1999)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99178" y="3812794"/>
            <a:ext cx="1299845" cy="1169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2CDAFF"/>
              </a:buClr>
              <a:buFont typeface="Courier New"/>
              <a:buChar char="o"/>
              <a:tabLst>
                <a:tab pos="299085" algn="l"/>
              </a:tabLst>
            </a:pP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54</a:t>
            </a:r>
            <a:endParaRPr sz="15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buClr>
                <a:srgbClr val="2CDAFF"/>
              </a:buClr>
              <a:buFont typeface="Courier New"/>
              <a:buChar char="o"/>
              <a:tabLst>
                <a:tab pos="299085" algn="l"/>
              </a:tabLst>
            </a:pP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Masculino</a:t>
            </a:r>
            <a:endParaRPr sz="15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buClr>
                <a:srgbClr val="2CDAFF"/>
              </a:buClr>
              <a:buFont typeface="Courier New"/>
              <a:buChar char="o"/>
              <a:tabLst>
                <a:tab pos="299085" algn="l"/>
              </a:tabLst>
            </a:pP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2022</a:t>
            </a:r>
            <a:endParaRPr sz="15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buClr>
                <a:srgbClr val="2CDAFF"/>
              </a:buClr>
              <a:buFont typeface="Courier New"/>
              <a:buChar char="o"/>
              <a:tabLst>
                <a:tab pos="299085" algn="l"/>
              </a:tabLst>
            </a:pPr>
            <a:r>
              <a:rPr sz="1500" spc="-145" dirty="0">
                <a:solidFill>
                  <a:srgbClr val="0030B8"/>
                </a:solidFill>
                <a:latin typeface="Verdana"/>
                <a:cs typeface="Verdana"/>
              </a:rPr>
              <a:t>2021-</a:t>
            </a:r>
            <a:r>
              <a:rPr sz="1500" spc="-170" dirty="0">
                <a:solidFill>
                  <a:srgbClr val="0030B8"/>
                </a:solidFill>
                <a:latin typeface="Verdana"/>
                <a:cs typeface="Verdana"/>
              </a:rPr>
              <a:t>01-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05</a:t>
            </a:r>
            <a:endParaRPr sz="15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buClr>
                <a:srgbClr val="2CDAFF"/>
              </a:buClr>
              <a:buFont typeface="Courier New"/>
              <a:buChar char="o"/>
              <a:tabLst>
                <a:tab pos="299085" algn="l"/>
              </a:tabLst>
            </a:pP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MIPG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99178" y="5184775"/>
            <a:ext cx="54864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Es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el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cruce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entre</a:t>
            </a:r>
            <a:r>
              <a:rPr sz="15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Filas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 y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Columnas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una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hoja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cálculo,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es</a:t>
            </a:r>
            <a:r>
              <a:rPr sz="15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5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base</a:t>
            </a:r>
            <a:r>
              <a:rPr sz="15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análisis</a:t>
            </a:r>
            <a:r>
              <a:rPr sz="1500" spc="-11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1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datos.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599178" y="2335783"/>
            <a:ext cx="705040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90" dirty="0"/>
              <a:t>Datos</a:t>
            </a:r>
            <a:r>
              <a:rPr sz="3200" spc="-50" dirty="0"/>
              <a:t> </a:t>
            </a:r>
            <a:r>
              <a:rPr sz="3200" spc="-450" dirty="0"/>
              <a:t>–</a:t>
            </a:r>
            <a:r>
              <a:rPr sz="3200" spc="-35" dirty="0"/>
              <a:t> </a:t>
            </a:r>
            <a:r>
              <a:rPr sz="3200" spc="55" dirty="0"/>
              <a:t>Información</a:t>
            </a:r>
            <a:r>
              <a:rPr sz="3200" spc="-60" dirty="0"/>
              <a:t> </a:t>
            </a:r>
            <a:r>
              <a:rPr sz="3200" spc="-450" dirty="0"/>
              <a:t>–</a:t>
            </a:r>
            <a:r>
              <a:rPr sz="3200" spc="-20" dirty="0"/>
              <a:t> </a:t>
            </a:r>
            <a:r>
              <a:rPr sz="3200" spc="90" dirty="0"/>
              <a:t>Decisiones</a:t>
            </a:r>
            <a:endParaRPr sz="3200"/>
          </a:p>
        </p:txBody>
      </p:sp>
      <p:sp>
        <p:nvSpPr>
          <p:cNvPr id="6" name="object 6"/>
          <p:cNvSpPr txBox="1"/>
          <p:nvPr/>
        </p:nvSpPr>
        <p:spPr>
          <a:xfrm>
            <a:off x="1530096" y="3729228"/>
            <a:ext cx="2432685" cy="1286510"/>
          </a:xfrm>
          <a:prstGeom prst="rect">
            <a:avLst/>
          </a:prstGeom>
          <a:solidFill>
            <a:srgbClr val="6E92DB"/>
          </a:solidFill>
        </p:spPr>
        <p:txBody>
          <a:bodyPr vert="horz" wrap="square" lIns="0" tIns="273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15"/>
              </a:spcBef>
            </a:pPr>
            <a:endParaRPr sz="2800">
              <a:latin typeface="Times New Roman"/>
              <a:cs typeface="Times New Roman"/>
            </a:endParaRPr>
          </a:p>
          <a:p>
            <a:pPr marL="694690">
              <a:lnSpc>
                <a:spcPct val="100000"/>
              </a:lnSpc>
            </a:pPr>
            <a:r>
              <a:rPr sz="2800" spc="-10" dirty="0">
                <a:solidFill>
                  <a:srgbClr val="FDFFFF"/>
                </a:solidFill>
                <a:latin typeface="Verdana"/>
                <a:cs typeface="Verdana"/>
              </a:rPr>
              <a:t>Datos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2355" y="3973067"/>
            <a:ext cx="821436" cy="79705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10073" y="3126993"/>
            <a:ext cx="5902325" cy="497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79600" marR="5080" indent="-1866900">
              <a:lnSpc>
                <a:spcPct val="100000"/>
              </a:lnSpc>
              <a:spcBef>
                <a:spcPts val="95"/>
              </a:spcBef>
            </a:pPr>
            <a:r>
              <a:rPr sz="1600" b="1" i="1" spc="-10" dirty="0">
                <a:solidFill>
                  <a:srgbClr val="00AFEF"/>
                </a:solidFill>
                <a:latin typeface="Verdana"/>
                <a:cs typeface="Verdana"/>
              </a:rPr>
              <a:t>La</a:t>
            </a:r>
            <a:r>
              <a:rPr sz="1600" b="1" i="1" spc="-40" dirty="0">
                <a:solidFill>
                  <a:srgbClr val="00AFEF"/>
                </a:solidFill>
                <a:latin typeface="Verdana"/>
                <a:cs typeface="Verdana"/>
              </a:rPr>
              <a:t> </a:t>
            </a:r>
            <a:r>
              <a:rPr sz="1600" b="1" i="1" spc="-80" dirty="0">
                <a:solidFill>
                  <a:srgbClr val="00AFEF"/>
                </a:solidFill>
                <a:latin typeface="Verdana"/>
                <a:cs typeface="Verdana"/>
              </a:rPr>
              <a:t>Información</a:t>
            </a:r>
            <a:r>
              <a:rPr sz="1600" b="1" i="1" spc="-20" dirty="0">
                <a:solidFill>
                  <a:srgbClr val="00AFEF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Corresponde</a:t>
            </a:r>
            <a:r>
              <a:rPr sz="1500" spc="-1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a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datos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con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contexto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15" dirty="0">
                <a:solidFill>
                  <a:srgbClr val="0030B8"/>
                </a:solidFill>
                <a:latin typeface="Verdana"/>
                <a:cs typeface="Verdana"/>
              </a:rPr>
              <a:t>–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sentido (Davenport</a:t>
            </a:r>
            <a:r>
              <a:rPr sz="1500" spc="-1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et</a:t>
            </a:r>
            <a:r>
              <a:rPr sz="1500" spc="-1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30" dirty="0">
                <a:solidFill>
                  <a:srgbClr val="0030B8"/>
                </a:solidFill>
                <a:latin typeface="Verdana"/>
                <a:cs typeface="Verdana"/>
              </a:rPr>
              <a:t>al.,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1999)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56378" y="3828033"/>
            <a:ext cx="3572510" cy="1169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2CDAFF"/>
              </a:buClr>
              <a:buFont typeface="Courier New"/>
              <a:buChar char="o"/>
              <a:tabLst>
                <a:tab pos="299085" algn="l"/>
              </a:tabLst>
            </a:pPr>
            <a:r>
              <a:rPr sz="1500" spc="-40" dirty="0">
                <a:solidFill>
                  <a:srgbClr val="0030B8"/>
                </a:solidFill>
                <a:latin typeface="Verdana"/>
                <a:cs typeface="Verdana"/>
              </a:rPr>
              <a:t>Edad:</a:t>
            </a:r>
            <a:r>
              <a:rPr sz="1500" spc="-1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54</a:t>
            </a:r>
            <a:endParaRPr sz="15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buClr>
                <a:srgbClr val="2CDAFF"/>
              </a:buClr>
              <a:buFont typeface="Courier New"/>
              <a:buChar char="o"/>
              <a:tabLst>
                <a:tab pos="299085" algn="l"/>
              </a:tabLst>
            </a:pPr>
            <a:r>
              <a:rPr sz="1500" spc="-110" dirty="0">
                <a:solidFill>
                  <a:srgbClr val="0030B8"/>
                </a:solidFill>
                <a:latin typeface="Verdana"/>
                <a:cs typeface="Verdana"/>
              </a:rPr>
              <a:t>Sexo:</a:t>
            </a:r>
            <a:r>
              <a:rPr sz="1500" spc="-1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Masculino</a:t>
            </a:r>
            <a:endParaRPr sz="15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buClr>
                <a:srgbClr val="2CDAFF"/>
              </a:buClr>
              <a:buFont typeface="Courier New"/>
              <a:buChar char="o"/>
              <a:tabLst>
                <a:tab pos="299085" algn="l"/>
              </a:tabLst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Año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45" dirty="0">
                <a:solidFill>
                  <a:srgbClr val="0030B8"/>
                </a:solidFill>
                <a:latin typeface="Verdana"/>
                <a:cs typeface="Verdana"/>
              </a:rPr>
              <a:t>actual:</a:t>
            </a:r>
            <a:r>
              <a:rPr sz="15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2022</a:t>
            </a:r>
            <a:endParaRPr sz="15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buClr>
                <a:srgbClr val="2CDAFF"/>
              </a:buClr>
              <a:buFont typeface="Courier New"/>
              <a:buChar char="o"/>
              <a:tabLst>
                <a:tab pos="299085" algn="l"/>
              </a:tabLst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Fecha</a:t>
            </a:r>
            <a:r>
              <a:rPr sz="1500" spc="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 actualización: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40" dirty="0">
                <a:solidFill>
                  <a:srgbClr val="0030B8"/>
                </a:solidFill>
                <a:latin typeface="Verdana"/>
                <a:cs typeface="Verdana"/>
              </a:rPr>
              <a:t>2021-</a:t>
            </a:r>
            <a:r>
              <a:rPr sz="1500" spc="-170" dirty="0">
                <a:solidFill>
                  <a:srgbClr val="0030B8"/>
                </a:solidFill>
                <a:latin typeface="Verdana"/>
                <a:cs typeface="Verdana"/>
              </a:rPr>
              <a:t>01-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05</a:t>
            </a:r>
            <a:endParaRPr sz="15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buClr>
                <a:srgbClr val="2CDAFF"/>
              </a:buClr>
              <a:buFont typeface="Courier New"/>
              <a:buChar char="o"/>
              <a:tabLst>
                <a:tab pos="299085" algn="l"/>
              </a:tabLst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Fuente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información: MIPG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99178" y="5428589"/>
            <a:ext cx="58464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Permite</a:t>
            </a:r>
            <a:r>
              <a:rPr sz="1500" spc="-11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darle</a:t>
            </a:r>
            <a:r>
              <a:rPr sz="15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sentido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a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datos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 y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analizarlos</a:t>
            </a:r>
            <a:r>
              <a:rPr sz="15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55" dirty="0">
                <a:solidFill>
                  <a:srgbClr val="0030B8"/>
                </a:solidFill>
                <a:latin typeface="Verdana"/>
                <a:cs typeface="Verdana"/>
              </a:rPr>
              <a:t>un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contexto especifico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599178" y="2335783"/>
            <a:ext cx="705040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90" dirty="0"/>
              <a:t>Datos</a:t>
            </a:r>
            <a:r>
              <a:rPr sz="3200" spc="-50" dirty="0"/>
              <a:t> </a:t>
            </a:r>
            <a:r>
              <a:rPr sz="3200" spc="-450" dirty="0"/>
              <a:t>–</a:t>
            </a:r>
            <a:r>
              <a:rPr sz="3200" spc="-35" dirty="0"/>
              <a:t> </a:t>
            </a:r>
            <a:r>
              <a:rPr sz="3200" spc="55" dirty="0"/>
              <a:t>Información</a:t>
            </a:r>
            <a:r>
              <a:rPr sz="3200" spc="-60" dirty="0"/>
              <a:t> </a:t>
            </a:r>
            <a:r>
              <a:rPr sz="3200" spc="-450" dirty="0"/>
              <a:t>–</a:t>
            </a:r>
            <a:r>
              <a:rPr sz="3200" spc="-20" dirty="0"/>
              <a:t> </a:t>
            </a:r>
            <a:r>
              <a:rPr sz="3200" spc="90" dirty="0"/>
              <a:t>Decisiones</a:t>
            </a:r>
            <a:endParaRPr sz="3200"/>
          </a:p>
        </p:txBody>
      </p:sp>
      <p:sp>
        <p:nvSpPr>
          <p:cNvPr id="6" name="object 6"/>
          <p:cNvSpPr txBox="1"/>
          <p:nvPr/>
        </p:nvSpPr>
        <p:spPr>
          <a:xfrm>
            <a:off x="1623060" y="3102864"/>
            <a:ext cx="2010410" cy="993775"/>
          </a:xfrm>
          <a:prstGeom prst="rect">
            <a:avLst/>
          </a:prstGeom>
          <a:solidFill>
            <a:srgbClr val="6E92DB"/>
          </a:solidFill>
        </p:spPr>
        <p:txBody>
          <a:bodyPr vert="horz" wrap="square" lIns="0" tIns="1009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95"/>
              </a:spcBef>
            </a:pPr>
            <a:endParaRPr sz="1800">
              <a:latin typeface="Times New Roman"/>
              <a:cs typeface="Times New Roman"/>
            </a:endParaRPr>
          </a:p>
          <a:p>
            <a:pPr marL="668655">
              <a:lnSpc>
                <a:spcPct val="100000"/>
              </a:lnSpc>
            </a:pPr>
            <a:r>
              <a:rPr sz="1800" spc="-10" dirty="0">
                <a:solidFill>
                  <a:srgbClr val="FDFFFF"/>
                </a:solidFill>
                <a:latin typeface="Verdana"/>
                <a:cs typeface="Verdana"/>
              </a:rPr>
              <a:t>Datos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23060" y="4715255"/>
            <a:ext cx="2010410" cy="993775"/>
          </a:xfrm>
          <a:prstGeom prst="rect">
            <a:avLst/>
          </a:prstGeom>
          <a:solidFill>
            <a:srgbClr val="00AFEF"/>
          </a:solidFill>
        </p:spPr>
        <p:txBody>
          <a:bodyPr vert="horz" wrap="square" lIns="0" tIns="22733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790"/>
              </a:spcBef>
            </a:pPr>
            <a:r>
              <a:rPr sz="1800" spc="-10" dirty="0">
                <a:solidFill>
                  <a:srgbClr val="FDFFFF"/>
                </a:solidFill>
                <a:latin typeface="Verdana"/>
                <a:cs typeface="Verdana"/>
              </a:rPr>
              <a:t>Informació</a:t>
            </a:r>
            <a:endParaRPr sz="1800">
              <a:latin typeface="Verdana"/>
              <a:cs typeface="Verdana"/>
            </a:endParaRPr>
          </a:p>
          <a:p>
            <a:pPr marL="635" algn="ctr">
              <a:lnSpc>
                <a:spcPct val="100000"/>
              </a:lnSpc>
              <a:spcBef>
                <a:spcPts val="434"/>
              </a:spcBef>
            </a:pPr>
            <a:r>
              <a:rPr sz="1800" spc="25" dirty="0">
                <a:solidFill>
                  <a:srgbClr val="FDFFFF"/>
                </a:solidFill>
                <a:latin typeface="Verdana"/>
                <a:cs typeface="Verdana"/>
              </a:rPr>
              <a:t>n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72329" y="3291840"/>
            <a:ext cx="1957070" cy="2306320"/>
            <a:chOff x="772329" y="3291840"/>
            <a:chExt cx="1957070" cy="2306320"/>
          </a:xfrm>
        </p:grpSpPr>
        <p:sp>
          <p:nvSpPr>
            <p:cNvPr id="9" name="object 9"/>
            <p:cNvSpPr/>
            <p:nvPr/>
          </p:nvSpPr>
          <p:spPr>
            <a:xfrm>
              <a:off x="772325" y="4810810"/>
              <a:ext cx="804545" cy="787400"/>
            </a:xfrm>
            <a:custGeom>
              <a:avLst/>
              <a:gdLst/>
              <a:ahLst/>
              <a:cxnLst/>
              <a:rect l="l" t="t" r="r" b="b"/>
              <a:pathLst>
                <a:path w="804544" h="787400">
                  <a:moveTo>
                    <a:pt x="319925" y="135864"/>
                  </a:moveTo>
                  <a:lnTo>
                    <a:pt x="0" y="135864"/>
                  </a:lnTo>
                  <a:lnTo>
                    <a:pt x="0" y="455549"/>
                  </a:lnTo>
                  <a:lnTo>
                    <a:pt x="125679" y="455549"/>
                  </a:lnTo>
                  <a:lnTo>
                    <a:pt x="116039" y="464705"/>
                  </a:lnTo>
                  <a:lnTo>
                    <a:pt x="108864" y="475678"/>
                  </a:lnTo>
                  <a:lnTo>
                    <a:pt x="104381" y="488010"/>
                  </a:lnTo>
                  <a:lnTo>
                    <a:pt x="102831" y="501218"/>
                  </a:lnTo>
                  <a:lnTo>
                    <a:pt x="107327" y="523443"/>
                  </a:lnTo>
                  <a:lnTo>
                    <a:pt x="119570" y="541578"/>
                  </a:lnTo>
                  <a:lnTo>
                    <a:pt x="137718" y="553821"/>
                  </a:lnTo>
                  <a:lnTo>
                    <a:pt x="159969" y="558304"/>
                  </a:lnTo>
                  <a:lnTo>
                    <a:pt x="182206" y="553821"/>
                  </a:lnTo>
                  <a:lnTo>
                    <a:pt x="200367" y="541578"/>
                  </a:lnTo>
                  <a:lnTo>
                    <a:pt x="212610" y="523443"/>
                  </a:lnTo>
                  <a:lnTo>
                    <a:pt x="217093" y="501218"/>
                  </a:lnTo>
                  <a:lnTo>
                    <a:pt x="215544" y="488010"/>
                  </a:lnTo>
                  <a:lnTo>
                    <a:pt x="211061" y="475678"/>
                  </a:lnTo>
                  <a:lnTo>
                    <a:pt x="203885" y="464705"/>
                  </a:lnTo>
                  <a:lnTo>
                    <a:pt x="194246" y="455549"/>
                  </a:lnTo>
                  <a:lnTo>
                    <a:pt x="319925" y="455549"/>
                  </a:lnTo>
                  <a:lnTo>
                    <a:pt x="319925" y="338175"/>
                  </a:lnTo>
                  <a:lnTo>
                    <a:pt x="299364" y="351142"/>
                  </a:lnTo>
                  <a:lnTo>
                    <a:pt x="276225" y="355460"/>
                  </a:lnTo>
                  <a:lnTo>
                    <a:pt x="253085" y="351142"/>
                  </a:lnTo>
                  <a:lnTo>
                    <a:pt x="232524" y="338175"/>
                  </a:lnTo>
                  <a:lnTo>
                    <a:pt x="219417" y="318960"/>
                  </a:lnTo>
                  <a:lnTo>
                    <a:pt x="214871" y="296964"/>
                  </a:lnTo>
                  <a:lnTo>
                    <a:pt x="218897" y="274878"/>
                  </a:lnTo>
                  <a:lnTo>
                    <a:pt x="232524" y="254368"/>
                  </a:lnTo>
                  <a:lnTo>
                    <a:pt x="253085" y="241414"/>
                  </a:lnTo>
                  <a:lnTo>
                    <a:pt x="276225" y="237083"/>
                  </a:lnTo>
                  <a:lnTo>
                    <a:pt x="299364" y="241414"/>
                  </a:lnTo>
                  <a:lnTo>
                    <a:pt x="319925" y="254368"/>
                  </a:lnTo>
                  <a:lnTo>
                    <a:pt x="319925" y="135864"/>
                  </a:lnTo>
                  <a:close/>
                </a:path>
                <a:path w="804544" h="787400">
                  <a:moveTo>
                    <a:pt x="423151" y="630847"/>
                  </a:moveTo>
                  <a:lnTo>
                    <a:pt x="420433" y="608342"/>
                  </a:lnTo>
                  <a:lnTo>
                    <a:pt x="409181" y="588657"/>
                  </a:lnTo>
                  <a:lnTo>
                    <a:pt x="391858" y="575271"/>
                  </a:lnTo>
                  <a:lnTo>
                    <a:pt x="370763" y="569353"/>
                  </a:lnTo>
                  <a:lnTo>
                    <a:pt x="348246" y="572071"/>
                  </a:lnTo>
                  <a:lnTo>
                    <a:pt x="340004" y="575525"/>
                  </a:lnTo>
                  <a:lnTo>
                    <a:pt x="332460" y="580199"/>
                  </a:lnTo>
                  <a:lnTo>
                    <a:pt x="325716" y="585978"/>
                  </a:lnTo>
                  <a:lnTo>
                    <a:pt x="319925" y="592785"/>
                  </a:lnTo>
                  <a:lnTo>
                    <a:pt x="319925" y="490029"/>
                  </a:lnTo>
                  <a:lnTo>
                    <a:pt x="250571" y="490029"/>
                  </a:lnTo>
                  <a:lnTo>
                    <a:pt x="251371" y="501446"/>
                  </a:lnTo>
                  <a:lnTo>
                    <a:pt x="244195" y="536994"/>
                  </a:lnTo>
                  <a:lnTo>
                    <a:pt x="224599" y="566026"/>
                  </a:lnTo>
                  <a:lnTo>
                    <a:pt x="195541" y="585609"/>
                  </a:lnTo>
                  <a:lnTo>
                    <a:pt x="159969" y="592785"/>
                  </a:lnTo>
                  <a:lnTo>
                    <a:pt x="124383" y="585609"/>
                  </a:lnTo>
                  <a:lnTo>
                    <a:pt x="95326" y="566026"/>
                  </a:lnTo>
                  <a:lnTo>
                    <a:pt x="75742" y="536994"/>
                  </a:lnTo>
                  <a:lnTo>
                    <a:pt x="68554" y="501446"/>
                  </a:lnTo>
                  <a:lnTo>
                    <a:pt x="69354" y="490029"/>
                  </a:lnTo>
                  <a:lnTo>
                    <a:pt x="0" y="490029"/>
                  </a:lnTo>
                  <a:lnTo>
                    <a:pt x="0" y="786879"/>
                  </a:lnTo>
                  <a:lnTo>
                    <a:pt x="319925" y="786879"/>
                  </a:lnTo>
                  <a:lnTo>
                    <a:pt x="319925" y="661289"/>
                  </a:lnTo>
                  <a:lnTo>
                    <a:pt x="326212" y="669620"/>
                  </a:lnTo>
                  <a:lnTo>
                    <a:pt x="337312" y="677799"/>
                  </a:lnTo>
                  <a:lnTo>
                    <a:pt x="349923" y="682815"/>
                  </a:lnTo>
                  <a:lnTo>
                    <a:pt x="363385" y="684530"/>
                  </a:lnTo>
                  <a:lnTo>
                    <a:pt x="379006" y="682752"/>
                  </a:lnTo>
                  <a:lnTo>
                    <a:pt x="384149" y="680466"/>
                  </a:lnTo>
                  <a:lnTo>
                    <a:pt x="403847" y="669226"/>
                  </a:lnTo>
                  <a:lnTo>
                    <a:pt x="417233" y="651916"/>
                  </a:lnTo>
                  <a:lnTo>
                    <a:pt x="423151" y="630847"/>
                  </a:lnTo>
                  <a:close/>
                </a:path>
                <a:path w="804544" h="787400">
                  <a:moveTo>
                    <a:pt x="651281" y="489800"/>
                  </a:moveTo>
                  <a:lnTo>
                    <a:pt x="525602" y="489800"/>
                  </a:lnTo>
                  <a:lnTo>
                    <a:pt x="533946" y="483400"/>
                  </a:lnTo>
                  <a:lnTo>
                    <a:pt x="542683" y="471043"/>
                  </a:lnTo>
                  <a:lnTo>
                    <a:pt x="547725" y="457047"/>
                  </a:lnTo>
                  <a:lnTo>
                    <a:pt x="548906" y="442214"/>
                  </a:lnTo>
                  <a:lnTo>
                    <a:pt x="546049" y="425627"/>
                  </a:lnTo>
                  <a:lnTo>
                    <a:pt x="534339" y="406222"/>
                  </a:lnTo>
                  <a:lnTo>
                    <a:pt x="516699" y="393242"/>
                  </a:lnTo>
                  <a:lnTo>
                    <a:pt x="495477" y="387832"/>
                  </a:lnTo>
                  <a:lnTo>
                    <a:pt x="473024" y="391083"/>
                  </a:lnTo>
                  <a:lnTo>
                    <a:pt x="453593" y="402793"/>
                  </a:lnTo>
                  <a:lnTo>
                    <a:pt x="440613" y="420420"/>
                  </a:lnTo>
                  <a:lnTo>
                    <a:pt x="435203" y="441617"/>
                  </a:lnTo>
                  <a:lnTo>
                    <a:pt x="438454" y="464058"/>
                  </a:lnTo>
                  <a:lnTo>
                    <a:pt x="441693" y="471436"/>
                  </a:lnTo>
                  <a:lnTo>
                    <a:pt x="445922" y="478243"/>
                  </a:lnTo>
                  <a:lnTo>
                    <a:pt x="451053" y="484403"/>
                  </a:lnTo>
                  <a:lnTo>
                    <a:pt x="457047" y="489800"/>
                  </a:lnTo>
                  <a:lnTo>
                    <a:pt x="354203" y="489800"/>
                  </a:lnTo>
                  <a:lnTo>
                    <a:pt x="354203" y="536613"/>
                  </a:lnTo>
                  <a:lnTo>
                    <a:pt x="365633" y="535927"/>
                  </a:lnTo>
                  <a:lnTo>
                    <a:pt x="401218" y="543102"/>
                  </a:lnTo>
                  <a:lnTo>
                    <a:pt x="430276" y="562673"/>
                  </a:lnTo>
                  <a:lnTo>
                    <a:pt x="449859" y="591705"/>
                  </a:lnTo>
                  <a:lnTo>
                    <a:pt x="457047" y="627265"/>
                  </a:lnTo>
                  <a:lnTo>
                    <a:pt x="449859" y="662813"/>
                  </a:lnTo>
                  <a:lnTo>
                    <a:pt x="430276" y="691845"/>
                  </a:lnTo>
                  <a:lnTo>
                    <a:pt x="401218" y="711428"/>
                  </a:lnTo>
                  <a:lnTo>
                    <a:pt x="365633" y="718604"/>
                  </a:lnTo>
                  <a:lnTo>
                    <a:pt x="354203" y="717804"/>
                  </a:lnTo>
                  <a:lnTo>
                    <a:pt x="354203" y="786650"/>
                  </a:lnTo>
                  <a:lnTo>
                    <a:pt x="651281" y="786650"/>
                  </a:lnTo>
                  <a:lnTo>
                    <a:pt x="651281" y="489800"/>
                  </a:lnTo>
                  <a:close/>
                </a:path>
                <a:path w="804544" h="787400">
                  <a:moveTo>
                    <a:pt x="804202" y="114173"/>
                  </a:moveTo>
                  <a:lnTo>
                    <a:pt x="803097" y="113715"/>
                  </a:lnTo>
                  <a:lnTo>
                    <a:pt x="527202" y="0"/>
                  </a:lnTo>
                  <a:lnTo>
                    <a:pt x="484124" y="105829"/>
                  </a:lnTo>
                  <a:lnTo>
                    <a:pt x="480809" y="113715"/>
                  </a:lnTo>
                  <a:lnTo>
                    <a:pt x="479894" y="110058"/>
                  </a:lnTo>
                  <a:lnTo>
                    <a:pt x="466737" y="90563"/>
                  </a:lnTo>
                  <a:lnTo>
                    <a:pt x="447789" y="78028"/>
                  </a:lnTo>
                  <a:lnTo>
                    <a:pt x="425526" y="73494"/>
                  </a:lnTo>
                  <a:lnTo>
                    <a:pt x="402145" y="78028"/>
                  </a:lnTo>
                  <a:lnTo>
                    <a:pt x="402323" y="78028"/>
                  </a:lnTo>
                  <a:lnTo>
                    <a:pt x="392963" y="83083"/>
                  </a:lnTo>
                  <a:lnTo>
                    <a:pt x="384606" y="89712"/>
                  </a:lnTo>
                  <a:lnTo>
                    <a:pt x="377532" y="97701"/>
                  </a:lnTo>
                  <a:lnTo>
                    <a:pt x="371919" y="106857"/>
                  </a:lnTo>
                  <a:lnTo>
                    <a:pt x="368769" y="130136"/>
                  </a:lnTo>
                  <a:lnTo>
                    <a:pt x="374599" y="152044"/>
                  </a:lnTo>
                  <a:lnTo>
                    <a:pt x="388226" y="170180"/>
                  </a:lnTo>
                  <a:lnTo>
                    <a:pt x="408470" y="182105"/>
                  </a:lnTo>
                  <a:lnTo>
                    <a:pt x="418934" y="184683"/>
                  </a:lnTo>
                  <a:lnTo>
                    <a:pt x="429615" y="185331"/>
                  </a:lnTo>
                  <a:lnTo>
                    <a:pt x="440232" y="184048"/>
                  </a:lnTo>
                  <a:lnTo>
                    <a:pt x="450532" y="180848"/>
                  </a:lnTo>
                  <a:lnTo>
                    <a:pt x="454190" y="179362"/>
                  </a:lnTo>
                  <a:lnTo>
                    <a:pt x="451980" y="184683"/>
                  </a:lnTo>
                  <a:lnTo>
                    <a:pt x="413054" y="275488"/>
                  </a:lnTo>
                  <a:lnTo>
                    <a:pt x="477380" y="302094"/>
                  </a:lnTo>
                  <a:lnTo>
                    <a:pt x="485013" y="272694"/>
                  </a:lnTo>
                  <a:lnTo>
                    <a:pt x="502716" y="249301"/>
                  </a:lnTo>
                  <a:lnTo>
                    <a:pt x="527900" y="234251"/>
                  </a:lnTo>
                  <a:lnTo>
                    <a:pt x="557987" y="229870"/>
                  </a:lnTo>
                  <a:lnTo>
                    <a:pt x="579208" y="234086"/>
                  </a:lnTo>
                  <a:lnTo>
                    <a:pt x="598068" y="243827"/>
                  </a:lnTo>
                  <a:lnTo>
                    <a:pt x="613524" y="258368"/>
                  </a:lnTo>
                  <a:lnTo>
                    <a:pt x="624547" y="276974"/>
                  </a:lnTo>
                  <a:lnTo>
                    <a:pt x="629754" y="297916"/>
                  </a:lnTo>
                  <a:lnTo>
                    <a:pt x="629119" y="319087"/>
                  </a:lnTo>
                  <a:lnTo>
                    <a:pt x="622871" y="339331"/>
                  </a:lnTo>
                  <a:lnTo>
                    <a:pt x="611187" y="357466"/>
                  </a:lnTo>
                  <a:lnTo>
                    <a:pt x="690016" y="390118"/>
                  </a:lnTo>
                  <a:lnTo>
                    <a:pt x="756335" y="229870"/>
                  </a:lnTo>
                  <a:lnTo>
                    <a:pt x="777227" y="179362"/>
                  </a:lnTo>
                  <a:lnTo>
                    <a:pt x="804202" y="114173"/>
                  </a:lnTo>
                  <a:close/>
                </a:path>
              </a:pathLst>
            </a:custGeom>
            <a:solidFill>
              <a:srgbClr val="3366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6299" y="3291840"/>
              <a:ext cx="633984" cy="61569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528950" y="4096512"/>
              <a:ext cx="200025" cy="618490"/>
            </a:xfrm>
            <a:custGeom>
              <a:avLst/>
              <a:gdLst/>
              <a:ahLst/>
              <a:cxnLst/>
              <a:rect l="l" t="t" r="r" b="b"/>
              <a:pathLst>
                <a:path w="200025" h="618489">
                  <a:moveTo>
                    <a:pt x="66665" y="417956"/>
                  </a:moveTo>
                  <a:lnTo>
                    <a:pt x="0" y="417956"/>
                  </a:lnTo>
                  <a:lnTo>
                    <a:pt x="99949" y="617982"/>
                  </a:lnTo>
                  <a:lnTo>
                    <a:pt x="183377" y="451231"/>
                  </a:lnTo>
                  <a:lnTo>
                    <a:pt x="66675" y="451231"/>
                  </a:lnTo>
                  <a:lnTo>
                    <a:pt x="66665" y="417956"/>
                  </a:lnTo>
                  <a:close/>
                </a:path>
                <a:path w="200025" h="618489">
                  <a:moveTo>
                    <a:pt x="133223" y="0"/>
                  </a:moveTo>
                  <a:lnTo>
                    <a:pt x="66548" y="0"/>
                  </a:lnTo>
                  <a:lnTo>
                    <a:pt x="66675" y="451231"/>
                  </a:lnTo>
                  <a:lnTo>
                    <a:pt x="133350" y="451231"/>
                  </a:lnTo>
                  <a:lnTo>
                    <a:pt x="133223" y="0"/>
                  </a:lnTo>
                  <a:close/>
                </a:path>
                <a:path w="200025" h="618489">
                  <a:moveTo>
                    <a:pt x="200025" y="417956"/>
                  </a:moveTo>
                  <a:lnTo>
                    <a:pt x="133340" y="417956"/>
                  </a:lnTo>
                  <a:lnTo>
                    <a:pt x="133350" y="451231"/>
                  </a:lnTo>
                  <a:lnTo>
                    <a:pt x="183377" y="451231"/>
                  </a:lnTo>
                  <a:lnTo>
                    <a:pt x="200025" y="417956"/>
                  </a:lnTo>
                  <a:close/>
                </a:path>
              </a:pathLst>
            </a:custGeom>
            <a:solidFill>
              <a:srgbClr val="DEE7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80719" y="1451228"/>
            <a:ext cx="705040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90" dirty="0"/>
              <a:t>Datos</a:t>
            </a:r>
            <a:r>
              <a:rPr sz="3200" spc="-45" dirty="0"/>
              <a:t> </a:t>
            </a:r>
            <a:r>
              <a:rPr sz="3200" spc="-450" dirty="0"/>
              <a:t>–</a:t>
            </a:r>
            <a:r>
              <a:rPr sz="3200" spc="-35" dirty="0"/>
              <a:t> </a:t>
            </a:r>
            <a:r>
              <a:rPr sz="3200" spc="55" dirty="0"/>
              <a:t>Información</a:t>
            </a:r>
            <a:r>
              <a:rPr sz="3200" spc="-60" dirty="0"/>
              <a:t> </a:t>
            </a:r>
            <a:r>
              <a:rPr sz="3200" spc="-450" dirty="0"/>
              <a:t>–</a:t>
            </a:r>
            <a:r>
              <a:rPr sz="3200" spc="-25" dirty="0"/>
              <a:t> </a:t>
            </a:r>
            <a:r>
              <a:rPr sz="3200" spc="90" dirty="0"/>
              <a:t>Decisiones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2554223" y="2546604"/>
            <a:ext cx="2010410" cy="993775"/>
          </a:xfrm>
          <a:prstGeom prst="rect">
            <a:avLst/>
          </a:prstGeom>
          <a:solidFill>
            <a:srgbClr val="6E92DB"/>
          </a:solidFill>
        </p:spPr>
        <p:txBody>
          <a:bodyPr vert="horz" wrap="square" lIns="0" tIns="1447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" algn="ctr">
              <a:lnSpc>
                <a:spcPct val="100000"/>
              </a:lnSpc>
              <a:spcBef>
                <a:spcPts val="5"/>
              </a:spcBef>
            </a:pPr>
            <a:r>
              <a:rPr sz="1600" spc="-10" dirty="0">
                <a:solidFill>
                  <a:srgbClr val="FDFFFF"/>
                </a:solidFill>
                <a:latin typeface="Verdana"/>
                <a:cs typeface="Verdana"/>
              </a:rPr>
              <a:t>Datos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54223" y="4158996"/>
            <a:ext cx="2010410" cy="993775"/>
          </a:xfrm>
          <a:prstGeom prst="rect">
            <a:avLst/>
          </a:prstGeom>
          <a:solidFill>
            <a:srgbClr val="00AFEF"/>
          </a:solidFill>
        </p:spPr>
        <p:txBody>
          <a:bodyPr vert="horz" wrap="square" lIns="0" tIns="1714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0"/>
              </a:spcBef>
            </a:pPr>
            <a:endParaRPr sz="1600">
              <a:latin typeface="Times New Roman"/>
              <a:cs typeface="Times New Roman"/>
            </a:endParaRPr>
          </a:p>
          <a:p>
            <a:pPr marL="385445">
              <a:lnSpc>
                <a:spcPct val="100000"/>
              </a:lnSpc>
            </a:pPr>
            <a:r>
              <a:rPr sz="1600" spc="-10" dirty="0">
                <a:solidFill>
                  <a:srgbClr val="FDFFFF"/>
                </a:solidFill>
                <a:latin typeface="Verdana"/>
                <a:cs typeface="Verdana"/>
              </a:rPr>
              <a:t>Información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80403" y="2287523"/>
            <a:ext cx="4194175" cy="1252855"/>
          </a:xfrm>
          <a:prstGeom prst="rect">
            <a:avLst/>
          </a:prstGeom>
          <a:solidFill>
            <a:srgbClr val="FF5353"/>
          </a:solidFill>
        </p:spPr>
        <p:txBody>
          <a:bodyPr vert="horz" wrap="square" lIns="0" tIns="129539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019"/>
              </a:spcBef>
            </a:pPr>
            <a:r>
              <a:rPr sz="1600" spc="-10" dirty="0">
                <a:solidFill>
                  <a:srgbClr val="FDFFFF"/>
                </a:solidFill>
                <a:latin typeface="Verdana"/>
                <a:cs typeface="Verdana"/>
              </a:rPr>
              <a:t>¿Pasivo?</a:t>
            </a:r>
            <a:endParaRPr sz="1600">
              <a:latin typeface="Verdana"/>
              <a:cs typeface="Verdana"/>
            </a:endParaRPr>
          </a:p>
          <a:p>
            <a:pPr marL="160020" marR="153670" algn="ctr">
              <a:lnSpc>
                <a:spcPct val="100000"/>
              </a:lnSpc>
              <a:spcBef>
                <a:spcPts val="1925"/>
              </a:spcBef>
            </a:pPr>
            <a:r>
              <a:rPr sz="1600" spc="-35" dirty="0">
                <a:solidFill>
                  <a:srgbClr val="FDFFFF"/>
                </a:solidFill>
                <a:latin typeface="Verdana"/>
                <a:cs typeface="Verdana"/>
              </a:rPr>
              <a:t>Solo</a:t>
            </a:r>
            <a:r>
              <a:rPr sz="1600" spc="-65" dirty="0">
                <a:solidFill>
                  <a:srgbClr val="FDFFF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DFFFF"/>
                </a:solidFill>
                <a:latin typeface="Verdana"/>
                <a:cs typeface="Verdana"/>
              </a:rPr>
              <a:t>almaceno</a:t>
            </a:r>
            <a:r>
              <a:rPr sz="1600" spc="-20" dirty="0">
                <a:solidFill>
                  <a:srgbClr val="FDFFFF"/>
                </a:solidFill>
                <a:latin typeface="Verdana"/>
                <a:cs typeface="Verdana"/>
              </a:rPr>
              <a:t> </a:t>
            </a:r>
            <a:r>
              <a:rPr sz="1600" spc="-204" dirty="0">
                <a:solidFill>
                  <a:srgbClr val="FDFFFF"/>
                </a:solidFill>
                <a:latin typeface="Verdana"/>
                <a:cs typeface="Verdana"/>
              </a:rPr>
              <a:t>/</a:t>
            </a:r>
            <a:r>
              <a:rPr sz="1600" spc="-70" dirty="0">
                <a:solidFill>
                  <a:srgbClr val="FDFFF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DFFFF"/>
                </a:solidFill>
                <a:latin typeface="Verdana"/>
                <a:cs typeface="Verdana"/>
              </a:rPr>
              <a:t>muestro</a:t>
            </a:r>
            <a:r>
              <a:rPr sz="1600" spc="-55" dirty="0">
                <a:solidFill>
                  <a:srgbClr val="FDFFFF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FDFFFF"/>
                </a:solidFill>
                <a:latin typeface="Verdana"/>
                <a:cs typeface="Verdana"/>
              </a:rPr>
              <a:t>información: </a:t>
            </a:r>
            <a:r>
              <a:rPr sz="1600" spc="-45" dirty="0">
                <a:solidFill>
                  <a:srgbClr val="FDFFFF"/>
                </a:solidFill>
                <a:latin typeface="Verdana"/>
                <a:cs typeface="Verdana"/>
              </a:rPr>
              <a:t>Tableros,</a:t>
            </a:r>
            <a:r>
              <a:rPr sz="1600" spc="-65" dirty="0">
                <a:solidFill>
                  <a:srgbClr val="FDFFFF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FDFFFF"/>
                </a:solidFill>
                <a:latin typeface="Verdana"/>
                <a:cs typeface="Verdana"/>
              </a:rPr>
              <a:t>Presentaciones,</a:t>
            </a:r>
            <a:r>
              <a:rPr sz="1600" spc="-40" dirty="0">
                <a:solidFill>
                  <a:srgbClr val="FDFFFF"/>
                </a:solidFill>
                <a:latin typeface="Verdana"/>
                <a:cs typeface="Verdana"/>
              </a:rPr>
              <a:t> </a:t>
            </a:r>
            <a:r>
              <a:rPr sz="1600" spc="-50" dirty="0">
                <a:solidFill>
                  <a:srgbClr val="FDFFFF"/>
                </a:solidFill>
                <a:latin typeface="Verdana"/>
                <a:cs typeface="Verdana"/>
              </a:rPr>
              <a:t>Informes,</a:t>
            </a:r>
            <a:r>
              <a:rPr sz="1600" spc="-60" dirty="0">
                <a:solidFill>
                  <a:srgbClr val="FDFFFF"/>
                </a:solidFill>
                <a:latin typeface="Verdana"/>
                <a:cs typeface="Verdana"/>
              </a:rPr>
              <a:t> </a:t>
            </a:r>
            <a:r>
              <a:rPr sz="1600" spc="-340" dirty="0">
                <a:solidFill>
                  <a:srgbClr val="FDFFFF"/>
                </a:solidFill>
                <a:latin typeface="Verdana"/>
                <a:cs typeface="Verdana"/>
              </a:rPr>
              <a:t>…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704810" y="2576694"/>
            <a:ext cx="4574540" cy="2465070"/>
            <a:chOff x="1704810" y="2576694"/>
            <a:chExt cx="4574540" cy="2465070"/>
          </a:xfrm>
        </p:grpSpPr>
        <p:sp>
          <p:nvSpPr>
            <p:cNvPr id="8" name="object 8"/>
            <p:cNvSpPr/>
            <p:nvPr/>
          </p:nvSpPr>
          <p:spPr>
            <a:xfrm>
              <a:off x="1704810" y="4254550"/>
              <a:ext cx="803275" cy="787400"/>
            </a:xfrm>
            <a:custGeom>
              <a:avLst/>
              <a:gdLst/>
              <a:ahLst/>
              <a:cxnLst/>
              <a:rect l="l" t="t" r="r" b="b"/>
              <a:pathLst>
                <a:path w="803275" h="787400">
                  <a:moveTo>
                    <a:pt x="319506" y="135864"/>
                  </a:moveTo>
                  <a:lnTo>
                    <a:pt x="0" y="135864"/>
                  </a:lnTo>
                  <a:lnTo>
                    <a:pt x="0" y="455549"/>
                  </a:lnTo>
                  <a:lnTo>
                    <a:pt x="125514" y="455549"/>
                  </a:lnTo>
                  <a:lnTo>
                    <a:pt x="115887" y="464705"/>
                  </a:lnTo>
                  <a:lnTo>
                    <a:pt x="108712" y="475678"/>
                  </a:lnTo>
                  <a:lnTo>
                    <a:pt x="104241" y="488010"/>
                  </a:lnTo>
                  <a:lnTo>
                    <a:pt x="102692" y="501218"/>
                  </a:lnTo>
                  <a:lnTo>
                    <a:pt x="107175" y="523443"/>
                  </a:lnTo>
                  <a:lnTo>
                    <a:pt x="119405" y="541578"/>
                  </a:lnTo>
                  <a:lnTo>
                    <a:pt x="137541" y="553821"/>
                  </a:lnTo>
                  <a:lnTo>
                    <a:pt x="159753" y="558304"/>
                  </a:lnTo>
                  <a:lnTo>
                    <a:pt x="181952" y="553821"/>
                  </a:lnTo>
                  <a:lnTo>
                    <a:pt x="200088" y="541578"/>
                  </a:lnTo>
                  <a:lnTo>
                    <a:pt x="212318" y="523443"/>
                  </a:lnTo>
                  <a:lnTo>
                    <a:pt x="216801" y="501218"/>
                  </a:lnTo>
                  <a:lnTo>
                    <a:pt x="215265" y="488010"/>
                  </a:lnTo>
                  <a:lnTo>
                    <a:pt x="210781" y="475678"/>
                  </a:lnTo>
                  <a:lnTo>
                    <a:pt x="203606" y="464705"/>
                  </a:lnTo>
                  <a:lnTo>
                    <a:pt x="193979" y="455549"/>
                  </a:lnTo>
                  <a:lnTo>
                    <a:pt x="319506" y="455549"/>
                  </a:lnTo>
                  <a:lnTo>
                    <a:pt x="319506" y="338175"/>
                  </a:lnTo>
                  <a:lnTo>
                    <a:pt x="298958" y="351142"/>
                  </a:lnTo>
                  <a:lnTo>
                    <a:pt x="275856" y="355460"/>
                  </a:lnTo>
                  <a:lnTo>
                    <a:pt x="252755" y="351142"/>
                  </a:lnTo>
                  <a:lnTo>
                    <a:pt x="232206" y="338175"/>
                  </a:lnTo>
                  <a:lnTo>
                    <a:pt x="219125" y="318960"/>
                  </a:lnTo>
                  <a:lnTo>
                    <a:pt x="214579" y="296964"/>
                  </a:lnTo>
                  <a:lnTo>
                    <a:pt x="218605" y="274878"/>
                  </a:lnTo>
                  <a:lnTo>
                    <a:pt x="232206" y="254368"/>
                  </a:lnTo>
                  <a:lnTo>
                    <a:pt x="252755" y="241414"/>
                  </a:lnTo>
                  <a:lnTo>
                    <a:pt x="275856" y="237083"/>
                  </a:lnTo>
                  <a:lnTo>
                    <a:pt x="298958" y="241414"/>
                  </a:lnTo>
                  <a:lnTo>
                    <a:pt x="319506" y="254368"/>
                  </a:lnTo>
                  <a:lnTo>
                    <a:pt x="319506" y="135864"/>
                  </a:lnTo>
                  <a:close/>
                </a:path>
                <a:path w="803275" h="787400">
                  <a:moveTo>
                    <a:pt x="422592" y="630847"/>
                  </a:moveTo>
                  <a:lnTo>
                    <a:pt x="419874" y="608342"/>
                  </a:lnTo>
                  <a:lnTo>
                    <a:pt x="408635" y="588657"/>
                  </a:lnTo>
                  <a:lnTo>
                    <a:pt x="391337" y="575271"/>
                  </a:lnTo>
                  <a:lnTo>
                    <a:pt x="370281" y="569353"/>
                  </a:lnTo>
                  <a:lnTo>
                    <a:pt x="347789" y="572071"/>
                  </a:lnTo>
                  <a:lnTo>
                    <a:pt x="339559" y="575525"/>
                  </a:lnTo>
                  <a:lnTo>
                    <a:pt x="332016" y="580199"/>
                  </a:lnTo>
                  <a:lnTo>
                    <a:pt x="325285" y="585978"/>
                  </a:lnTo>
                  <a:lnTo>
                    <a:pt x="319506" y="592785"/>
                  </a:lnTo>
                  <a:lnTo>
                    <a:pt x="319506" y="490029"/>
                  </a:lnTo>
                  <a:lnTo>
                    <a:pt x="250240" y="490029"/>
                  </a:lnTo>
                  <a:lnTo>
                    <a:pt x="251040" y="501446"/>
                  </a:lnTo>
                  <a:lnTo>
                    <a:pt x="243865" y="536994"/>
                  </a:lnTo>
                  <a:lnTo>
                    <a:pt x="224294" y="566026"/>
                  </a:lnTo>
                  <a:lnTo>
                    <a:pt x="195287" y="585609"/>
                  </a:lnTo>
                  <a:lnTo>
                    <a:pt x="159753" y="592785"/>
                  </a:lnTo>
                  <a:lnTo>
                    <a:pt x="124218" y="585609"/>
                  </a:lnTo>
                  <a:lnTo>
                    <a:pt x="95199" y="566026"/>
                  </a:lnTo>
                  <a:lnTo>
                    <a:pt x="75628" y="536994"/>
                  </a:lnTo>
                  <a:lnTo>
                    <a:pt x="68465" y="501446"/>
                  </a:lnTo>
                  <a:lnTo>
                    <a:pt x="69265" y="490029"/>
                  </a:lnTo>
                  <a:lnTo>
                    <a:pt x="0" y="490029"/>
                  </a:lnTo>
                  <a:lnTo>
                    <a:pt x="0" y="786879"/>
                  </a:lnTo>
                  <a:lnTo>
                    <a:pt x="319506" y="786879"/>
                  </a:lnTo>
                  <a:lnTo>
                    <a:pt x="319506" y="661289"/>
                  </a:lnTo>
                  <a:lnTo>
                    <a:pt x="325780" y="669620"/>
                  </a:lnTo>
                  <a:lnTo>
                    <a:pt x="336867" y="677799"/>
                  </a:lnTo>
                  <a:lnTo>
                    <a:pt x="349453" y="682815"/>
                  </a:lnTo>
                  <a:lnTo>
                    <a:pt x="362902" y="684530"/>
                  </a:lnTo>
                  <a:lnTo>
                    <a:pt x="378498" y="682752"/>
                  </a:lnTo>
                  <a:lnTo>
                    <a:pt x="383628" y="680466"/>
                  </a:lnTo>
                  <a:lnTo>
                    <a:pt x="403313" y="669226"/>
                  </a:lnTo>
                  <a:lnTo>
                    <a:pt x="416687" y="651916"/>
                  </a:lnTo>
                  <a:lnTo>
                    <a:pt x="422592" y="630847"/>
                  </a:lnTo>
                  <a:close/>
                </a:path>
                <a:path w="803275" h="787400">
                  <a:moveTo>
                    <a:pt x="650430" y="489800"/>
                  </a:moveTo>
                  <a:lnTo>
                    <a:pt x="524903" y="489800"/>
                  </a:lnTo>
                  <a:lnTo>
                    <a:pt x="533234" y="483400"/>
                  </a:lnTo>
                  <a:lnTo>
                    <a:pt x="541959" y="471043"/>
                  </a:lnTo>
                  <a:lnTo>
                    <a:pt x="547001" y="457047"/>
                  </a:lnTo>
                  <a:lnTo>
                    <a:pt x="548182" y="442214"/>
                  </a:lnTo>
                  <a:lnTo>
                    <a:pt x="545325" y="425627"/>
                  </a:lnTo>
                  <a:lnTo>
                    <a:pt x="533628" y="406222"/>
                  </a:lnTo>
                  <a:lnTo>
                    <a:pt x="516013" y="393242"/>
                  </a:lnTo>
                  <a:lnTo>
                    <a:pt x="494817" y="387832"/>
                  </a:lnTo>
                  <a:lnTo>
                    <a:pt x="472401" y="391083"/>
                  </a:lnTo>
                  <a:lnTo>
                    <a:pt x="452996" y="402793"/>
                  </a:lnTo>
                  <a:lnTo>
                    <a:pt x="440029" y="420420"/>
                  </a:lnTo>
                  <a:lnTo>
                    <a:pt x="434619" y="441617"/>
                  </a:lnTo>
                  <a:lnTo>
                    <a:pt x="437870" y="464058"/>
                  </a:lnTo>
                  <a:lnTo>
                    <a:pt x="441109" y="471436"/>
                  </a:lnTo>
                  <a:lnTo>
                    <a:pt x="445325" y="478243"/>
                  </a:lnTo>
                  <a:lnTo>
                    <a:pt x="450456" y="484403"/>
                  </a:lnTo>
                  <a:lnTo>
                    <a:pt x="456438" y="489800"/>
                  </a:lnTo>
                  <a:lnTo>
                    <a:pt x="353733" y="489800"/>
                  </a:lnTo>
                  <a:lnTo>
                    <a:pt x="353733" y="536613"/>
                  </a:lnTo>
                  <a:lnTo>
                    <a:pt x="365150" y="535927"/>
                  </a:lnTo>
                  <a:lnTo>
                    <a:pt x="400685" y="543102"/>
                  </a:lnTo>
                  <a:lnTo>
                    <a:pt x="429704" y="562673"/>
                  </a:lnTo>
                  <a:lnTo>
                    <a:pt x="449262" y="591705"/>
                  </a:lnTo>
                  <a:lnTo>
                    <a:pt x="456438" y="627265"/>
                  </a:lnTo>
                  <a:lnTo>
                    <a:pt x="449262" y="662813"/>
                  </a:lnTo>
                  <a:lnTo>
                    <a:pt x="429704" y="691845"/>
                  </a:lnTo>
                  <a:lnTo>
                    <a:pt x="400685" y="711428"/>
                  </a:lnTo>
                  <a:lnTo>
                    <a:pt x="365150" y="718604"/>
                  </a:lnTo>
                  <a:lnTo>
                    <a:pt x="353733" y="717804"/>
                  </a:lnTo>
                  <a:lnTo>
                    <a:pt x="353733" y="786650"/>
                  </a:lnTo>
                  <a:lnTo>
                    <a:pt x="650430" y="786650"/>
                  </a:lnTo>
                  <a:lnTo>
                    <a:pt x="650430" y="489800"/>
                  </a:lnTo>
                  <a:close/>
                </a:path>
                <a:path w="803275" h="787400">
                  <a:moveTo>
                    <a:pt x="803148" y="114173"/>
                  </a:moveTo>
                  <a:lnTo>
                    <a:pt x="802043" y="113715"/>
                  </a:lnTo>
                  <a:lnTo>
                    <a:pt x="526503" y="0"/>
                  </a:lnTo>
                  <a:lnTo>
                    <a:pt x="483476" y="105829"/>
                  </a:lnTo>
                  <a:lnTo>
                    <a:pt x="480174" y="113715"/>
                  </a:lnTo>
                  <a:lnTo>
                    <a:pt x="479259" y="110058"/>
                  </a:lnTo>
                  <a:lnTo>
                    <a:pt x="466115" y="90563"/>
                  </a:lnTo>
                  <a:lnTo>
                    <a:pt x="447192" y="78028"/>
                  </a:lnTo>
                  <a:lnTo>
                    <a:pt x="424967" y="73494"/>
                  </a:lnTo>
                  <a:lnTo>
                    <a:pt x="401612" y="78028"/>
                  </a:lnTo>
                  <a:lnTo>
                    <a:pt x="401789" y="78028"/>
                  </a:lnTo>
                  <a:lnTo>
                    <a:pt x="392442" y="83083"/>
                  </a:lnTo>
                  <a:lnTo>
                    <a:pt x="384098" y="89712"/>
                  </a:lnTo>
                  <a:lnTo>
                    <a:pt x="377037" y="97701"/>
                  </a:lnTo>
                  <a:lnTo>
                    <a:pt x="371424" y="106857"/>
                  </a:lnTo>
                  <a:lnTo>
                    <a:pt x="368287" y="130136"/>
                  </a:lnTo>
                  <a:lnTo>
                    <a:pt x="374103" y="152044"/>
                  </a:lnTo>
                  <a:lnTo>
                    <a:pt x="387705" y="170180"/>
                  </a:lnTo>
                  <a:lnTo>
                    <a:pt x="407936" y="182105"/>
                  </a:lnTo>
                  <a:lnTo>
                    <a:pt x="418388" y="184683"/>
                  </a:lnTo>
                  <a:lnTo>
                    <a:pt x="429044" y="185331"/>
                  </a:lnTo>
                  <a:lnTo>
                    <a:pt x="439648" y="184048"/>
                  </a:lnTo>
                  <a:lnTo>
                    <a:pt x="449935" y="180848"/>
                  </a:lnTo>
                  <a:lnTo>
                    <a:pt x="453580" y="179362"/>
                  </a:lnTo>
                  <a:lnTo>
                    <a:pt x="451383" y="184683"/>
                  </a:lnTo>
                  <a:lnTo>
                    <a:pt x="412508" y="275488"/>
                  </a:lnTo>
                  <a:lnTo>
                    <a:pt x="476745" y="302094"/>
                  </a:lnTo>
                  <a:lnTo>
                    <a:pt x="484365" y="272694"/>
                  </a:lnTo>
                  <a:lnTo>
                    <a:pt x="502043" y="249301"/>
                  </a:lnTo>
                  <a:lnTo>
                    <a:pt x="527202" y="234251"/>
                  </a:lnTo>
                  <a:lnTo>
                    <a:pt x="557250" y="229870"/>
                  </a:lnTo>
                  <a:lnTo>
                    <a:pt x="578446" y="234086"/>
                  </a:lnTo>
                  <a:lnTo>
                    <a:pt x="597281" y="243827"/>
                  </a:lnTo>
                  <a:lnTo>
                    <a:pt x="612711" y="258368"/>
                  </a:lnTo>
                  <a:lnTo>
                    <a:pt x="623722" y="276974"/>
                  </a:lnTo>
                  <a:lnTo>
                    <a:pt x="628916" y="297916"/>
                  </a:lnTo>
                  <a:lnTo>
                    <a:pt x="628294" y="319087"/>
                  </a:lnTo>
                  <a:lnTo>
                    <a:pt x="622046" y="339331"/>
                  </a:lnTo>
                  <a:lnTo>
                    <a:pt x="610374" y="357466"/>
                  </a:lnTo>
                  <a:lnTo>
                    <a:pt x="689114" y="390118"/>
                  </a:lnTo>
                  <a:lnTo>
                    <a:pt x="755332" y="229870"/>
                  </a:lnTo>
                  <a:lnTo>
                    <a:pt x="776198" y="179362"/>
                  </a:lnTo>
                  <a:lnTo>
                    <a:pt x="803148" y="114173"/>
                  </a:lnTo>
                  <a:close/>
                </a:path>
              </a:pathLst>
            </a:custGeom>
            <a:solidFill>
              <a:srgbClr val="3366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07464" y="2735579"/>
              <a:ext cx="633984" cy="61569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419192" y="2576702"/>
              <a:ext cx="788670" cy="779145"/>
            </a:xfrm>
            <a:custGeom>
              <a:avLst/>
              <a:gdLst/>
              <a:ahLst/>
              <a:cxnLst/>
              <a:rect l="l" t="t" r="r" b="b"/>
              <a:pathLst>
                <a:path w="788670" h="779145">
                  <a:moveTo>
                    <a:pt x="529132" y="299999"/>
                  </a:moveTo>
                  <a:lnTo>
                    <a:pt x="321627" y="166090"/>
                  </a:lnTo>
                  <a:lnTo>
                    <a:pt x="321627" y="434022"/>
                  </a:lnTo>
                  <a:lnTo>
                    <a:pt x="529132" y="299999"/>
                  </a:lnTo>
                  <a:close/>
                </a:path>
                <a:path w="788670" h="779145">
                  <a:moveTo>
                    <a:pt x="788504" y="62280"/>
                  </a:moveTo>
                  <a:lnTo>
                    <a:pt x="786879" y="54203"/>
                  </a:lnTo>
                  <a:lnTo>
                    <a:pt x="782447" y="47599"/>
                  </a:lnTo>
                  <a:lnTo>
                    <a:pt x="775843" y="43154"/>
                  </a:lnTo>
                  <a:lnTo>
                    <a:pt x="767753" y="41516"/>
                  </a:lnTo>
                  <a:lnTo>
                    <a:pt x="684758" y="41516"/>
                  </a:lnTo>
                  <a:lnTo>
                    <a:pt x="684758" y="114185"/>
                  </a:lnTo>
                  <a:lnTo>
                    <a:pt x="684758" y="487895"/>
                  </a:lnTo>
                  <a:lnTo>
                    <a:pt x="103746" y="487895"/>
                  </a:lnTo>
                  <a:lnTo>
                    <a:pt x="103746" y="114185"/>
                  </a:lnTo>
                  <a:lnTo>
                    <a:pt x="684758" y="114185"/>
                  </a:lnTo>
                  <a:lnTo>
                    <a:pt x="684758" y="41516"/>
                  </a:lnTo>
                  <a:lnTo>
                    <a:pt x="414997" y="41516"/>
                  </a:lnTo>
                  <a:lnTo>
                    <a:pt x="414997" y="20764"/>
                  </a:lnTo>
                  <a:lnTo>
                    <a:pt x="413372" y="12661"/>
                  </a:lnTo>
                  <a:lnTo>
                    <a:pt x="408927" y="6057"/>
                  </a:lnTo>
                  <a:lnTo>
                    <a:pt x="402323" y="1625"/>
                  </a:lnTo>
                  <a:lnTo>
                    <a:pt x="394246" y="0"/>
                  </a:lnTo>
                  <a:lnTo>
                    <a:pt x="386168" y="1625"/>
                  </a:lnTo>
                  <a:lnTo>
                    <a:pt x="379577" y="6057"/>
                  </a:lnTo>
                  <a:lnTo>
                    <a:pt x="375132" y="12661"/>
                  </a:lnTo>
                  <a:lnTo>
                    <a:pt x="373494" y="20764"/>
                  </a:lnTo>
                  <a:lnTo>
                    <a:pt x="373494" y="41516"/>
                  </a:lnTo>
                  <a:lnTo>
                    <a:pt x="20739" y="41516"/>
                  </a:lnTo>
                  <a:lnTo>
                    <a:pt x="12661" y="43154"/>
                  </a:lnTo>
                  <a:lnTo>
                    <a:pt x="6070" y="47599"/>
                  </a:lnTo>
                  <a:lnTo>
                    <a:pt x="1625" y="54203"/>
                  </a:lnTo>
                  <a:lnTo>
                    <a:pt x="0" y="62280"/>
                  </a:lnTo>
                  <a:lnTo>
                    <a:pt x="1625" y="70370"/>
                  </a:lnTo>
                  <a:lnTo>
                    <a:pt x="6070" y="76962"/>
                  </a:lnTo>
                  <a:lnTo>
                    <a:pt x="12661" y="81419"/>
                  </a:lnTo>
                  <a:lnTo>
                    <a:pt x="20739" y="83045"/>
                  </a:lnTo>
                  <a:lnTo>
                    <a:pt x="41490" y="83045"/>
                  </a:lnTo>
                  <a:lnTo>
                    <a:pt x="41490" y="508660"/>
                  </a:lnTo>
                  <a:lnTo>
                    <a:pt x="20739" y="508660"/>
                  </a:lnTo>
                  <a:lnTo>
                    <a:pt x="12661" y="510286"/>
                  </a:lnTo>
                  <a:lnTo>
                    <a:pt x="6070" y="514743"/>
                  </a:lnTo>
                  <a:lnTo>
                    <a:pt x="1625" y="521347"/>
                  </a:lnTo>
                  <a:lnTo>
                    <a:pt x="0" y="529424"/>
                  </a:lnTo>
                  <a:lnTo>
                    <a:pt x="1625" y="537502"/>
                  </a:lnTo>
                  <a:lnTo>
                    <a:pt x="6070" y="544106"/>
                  </a:lnTo>
                  <a:lnTo>
                    <a:pt x="12661" y="548551"/>
                  </a:lnTo>
                  <a:lnTo>
                    <a:pt x="20739" y="550189"/>
                  </a:lnTo>
                  <a:lnTo>
                    <a:pt x="337604" y="550189"/>
                  </a:lnTo>
                  <a:lnTo>
                    <a:pt x="177825" y="710044"/>
                  </a:lnTo>
                  <a:lnTo>
                    <a:pt x="173278" y="716978"/>
                  </a:lnTo>
                  <a:lnTo>
                    <a:pt x="171869" y="724420"/>
                  </a:lnTo>
                  <a:lnTo>
                    <a:pt x="171792" y="724852"/>
                  </a:lnTo>
                  <a:lnTo>
                    <a:pt x="173266" y="732243"/>
                  </a:lnTo>
                  <a:lnTo>
                    <a:pt x="173355" y="732701"/>
                  </a:lnTo>
                  <a:lnTo>
                    <a:pt x="177876" y="739432"/>
                  </a:lnTo>
                  <a:lnTo>
                    <a:pt x="177977" y="739584"/>
                  </a:lnTo>
                  <a:lnTo>
                    <a:pt x="184912" y="744131"/>
                  </a:lnTo>
                  <a:lnTo>
                    <a:pt x="192773" y="745617"/>
                  </a:lnTo>
                  <a:lnTo>
                    <a:pt x="200202" y="744131"/>
                  </a:lnTo>
                  <a:lnTo>
                    <a:pt x="200494" y="744131"/>
                  </a:lnTo>
                  <a:lnTo>
                    <a:pt x="207492" y="739432"/>
                  </a:lnTo>
                  <a:lnTo>
                    <a:pt x="373494" y="573328"/>
                  </a:lnTo>
                  <a:lnTo>
                    <a:pt x="373494" y="757796"/>
                  </a:lnTo>
                  <a:lnTo>
                    <a:pt x="375132" y="765886"/>
                  </a:lnTo>
                  <a:lnTo>
                    <a:pt x="379577" y="772477"/>
                  </a:lnTo>
                  <a:lnTo>
                    <a:pt x="386168" y="776935"/>
                  </a:lnTo>
                  <a:lnTo>
                    <a:pt x="394246" y="778560"/>
                  </a:lnTo>
                  <a:lnTo>
                    <a:pt x="402323" y="776935"/>
                  </a:lnTo>
                  <a:lnTo>
                    <a:pt x="408927" y="772477"/>
                  </a:lnTo>
                  <a:lnTo>
                    <a:pt x="413372" y="765886"/>
                  </a:lnTo>
                  <a:lnTo>
                    <a:pt x="414997" y="757796"/>
                  </a:lnTo>
                  <a:lnTo>
                    <a:pt x="414997" y="573328"/>
                  </a:lnTo>
                  <a:lnTo>
                    <a:pt x="414997" y="573024"/>
                  </a:lnTo>
                  <a:lnTo>
                    <a:pt x="580999" y="739114"/>
                  </a:lnTo>
                  <a:lnTo>
                    <a:pt x="587870" y="743673"/>
                  </a:lnTo>
                  <a:lnTo>
                    <a:pt x="595680" y="745197"/>
                  </a:lnTo>
                  <a:lnTo>
                    <a:pt x="603491" y="743673"/>
                  </a:lnTo>
                  <a:lnTo>
                    <a:pt x="610362" y="739114"/>
                  </a:lnTo>
                  <a:lnTo>
                    <a:pt x="614921" y="732243"/>
                  </a:lnTo>
                  <a:lnTo>
                    <a:pt x="616369" y="724852"/>
                  </a:lnTo>
                  <a:lnTo>
                    <a:pt x="616445" y="724420"/>
                  </a:lnTo>
                  <a:lnTo>
                    <a:pt x="614997" y="716978"/>
                  </a:lnTo>
                  <a:lnTo>
                    <a:pt x="614921" y="716610"/>
                  </a:lnTo>
                  <a:lnTo>
                    <a:pt x="610362" y="709739"/>
                  </a:lnTo>
                  <a:lnTo>
                    <a:pt x="473722" y="573024"/>
                  </a:lnTo>
                  <a:lnTo>
                    <a:pt x="450900" y="550189"/>
                  </a:lnTo>
                  <a:lnTo>
                    <a:pt x="767753" y="550189"/>
                  </a:lnTo>
                  <a:lnTo>
                    <a:pt x="775855" y="548551"/>
                  </a:lnTo>
                  <a:lnTo>
                    <a:pt x="782447" y="544106"/>
                  </a:lnTo>
                  <a:lnTo>
                    <a:pt x="786879" y="537502"/>
                  </a:lnTo>
                  <a:lnTo>
                    <a:pt x="788504" y="529424"/>
                  </a:lnTo>
                  <a:lnTo>
                    <a:pt x="786879" y="521347"/>
                  </a:lnTo>
                  <a:lnTo>
                    <a:pt x="782447" y="514743"/>
                  </a:lnTo>
                  <a:lnTo>
                    <a:pt x="775855" y="510298"/>
                  </a:lnTo>
                  <a:lnTo>
                    <a:pt x="767753" y="508660"/>
                  </a:lnTo>
                  <a:lnTo>
                    <a:pt x="747001" y="508660"/>
                  </a:lnTo>
                  <a:lnTo>
                    <a:pt x="747001" y="487895"/>
                  </a:lnTo>
                  <a:lnTo>
                    <a:pt x="747001" y="114185"/>
                  </a:lnTo>
                  <a:lnTo>
                    <a:pt x="747001" y="83045"/>
                  </a:lnTo>
                  <a:lnTo>
                    <a:pt x="767753" y="83045"/>
                  </a:lnTo>
                  <a:lnTo>
                    <a:pt x="775843" y="81419"/>
                  </a:lnTo>
                  <a:lnTo>
                    <a:pt x="782447" y="76962"/>
                  </a:lnTo>
                  <a:lnTo>
                    <a:pt x="786879" y="70370"/>
                  </a:lnTo>
                  <a:lnTo>
                    <a:pt x="788504" y="62280"/>
                  </a:lnTo>
                  <a:close/>
                </a:path>
              </a:pathLst>
            </a:custGeom>
            <a:solidFill>
              <a:srgbClr val="3366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459988" y="3462527"/>
              <a:ext cx="2819400" cy="1289050"/>
            </a:xfrm>
            <a:custGeom>
              <a:avLst/>
              <a:gdLst/>
              <a:ahLst/>
              <a:cxnLst/>
              <a:rect l="l" t="t" r="r" b="b"/>
              <a:pathLst>
                <a:path w="2819400" h="1289050">
                  <a:moveTo>
                    <a:pt x="200025" y="495681"/>
                  </a:moveTo>
                  <a:lnTo>
                    <a:pt x="133350" y="495681"/>
                  </a:lnTo>
                  <a:lnTo>
                    <a:pt x="133350" y="77724"/>
                  </a:lnTo>
                  <a:lnTo>
                    <a:pt x="66675" y="77724"/>
                  </a:lnTo>
                  <a:lnTo>
                    <a:pt x="66675" y="495681"/>
                  </a:lnTo>
                  <a:lnTo>
                    <a:pt x="0" y="495681"/>
                  </a:lnTo>
                  <a:lnTo>
                    <a:pt x="100076" y="695706"/>
                  </a:lnTo>
                  <a:lnTo>
                    <a:pt x="183388" y="528955"/>
                  </a:lnTo>
                  <a:lnTo>
                    <a:pt x="200025" y="495681"/>
                  </a:lnTo>
                  <a:close/>
                </a:path>
                <a:path w="2819400" h="1289050">
                  <a:moveTo>
                    <a:pt x="2819273" y="0"/>
                  </a:moveTo>
                  <a:lnTo>
                    <a:pt x="2598928" y="37973"/>
                  </a:lnTo>
                  <a:lnTo>
                    <a:pt x="2638412" y="91694"/>
                  </a:lnTo>
                  <a:lnTo>
                    <a:pt x="1084580" y="1234821"/>
                  </a:lnTo>
                  <a:lnTo>
                    <a:pt x="1124204" y="1288542"/>
                  </a:lnTo>
                  <a:lnTo>
                    <a:pt x="2677909" y="145415"/>
                  </a:lnTo>
                  <a:lnTo>
                    <a:pt x="2717419" y="199136"/>
                  </a:lnTo>
                  <a:lnTo>
                    <a:pt x="2782506" y="71882"/>
                  </a:lnTo>
                  <a:lnTo>
                    <a:pt x="2819273" y="0"/>
                  </a:lnTo>
                  <a:close/>
                </a:path>
              </a:pathLst>
            </a:custGeom>
            <a:solidFill>
              <a:srgbClr val="DEE7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648957" y="3763771"/>
            <a:ext cx="70485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 dirty="0">
                <a:solidFill>
                  <a:srgbClr val="0030B8"/>
                </a:solidFill>
                <a:latin typeface="Verdana"/>
                <a:cs typeface="Verdana"/>
              </a:rPr>
              <a:t>Costos: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648957" y="4205732"/>
            <a:ext cx="3035935" cy="1169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Clr>
                <a:srgbClr val="2CDAFF"/>
              </a:buClr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Infraestructura</a:t>
            </a:r>
            <a:endParaRPr sz="1500" dirty="0">
              <a:latin typeface="Verdana"/>
              <a:cs typeface="Verdana"/>
            </a:endParaRPr>
          </a:p>
          <a:p>
            <a:pPr marL="298450" indent="-285750">
              <a:lnSpc>
                <a:spcPct val="100000"/>
              </a:lnSpc>
              <a:buClr>
                <a:srgbClr val="2CDAFF"/>
              </a:buClr>
              <a:buFont typeface="Arial" panose="020B0604020202020204" pitchFamily="34" charset="0"/>
              <a:buChar char="•"/>
              <a:tabLst>
                <a:tab pos="298450" algn="l"/>
              </a:tabLst>
            </a:pP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Desarrollo</a:t>
            </a:r>
            <a:r>
              <a:rPr sz="1500" spc="-1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85" dirty="0">
                <a:solidFill>
                  <a:srgbClr val="0030B8"/>
                </a:solidFill>
                <a:latin typeface="Verdana"/>
                <a:cs typeface="Verdana"/>
              </a:rPr>
              <a:t>/</a:t>
            </a:r>
            <a:r>
              <a:rPr sz="15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implementación</a:t>
            </a:r>
            <a:endParaRPr sz="1500" dirty="0">
              <a:latin typeface="Verdana"/>
              <a:cs typeface="Verdana"/>
            </a:endParaRPr>
          </a:p>
          <a:p>
            <a:pPr marL="298450" indent="-285750">
              <a:lnSpc>
                <a:spcPct val="100000"/>
              </a:lnSpc>
              <a:buClr>
                <a:srgbClr val="2CDAFF"/>
              </a:buClr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Almacenamiento</a:t>
            </a:r>
            <a:endParaRPr sz="1500" dirty="0">
              <a:latin typeface="Verdana"/>
              <a:cs typeface="Verdana"/>
            </a:endParaRPr>
          </a:p>
          <a:p>
            <a:pPr marL="298450" indent="-285750">
              <a:lnSpc>
                <a:spcPct val="100000"/>
              </a:lnSpc>
              <a:buClr>
                <a:srgbClr val="2CDAFF"/>
              </a:buClr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Procesos</a:t>
            </a:r>
            <a:endParaRPr sz="1500" dirty="0">
              <a:latin typeface="Verdana"/>
              <a:cs typeface="Verdana"/>
            </a:endParaRPr>
          </a:p>
          <a:p>
            <a:pPr marL="298450" indent="-285750">
              <a:lnSpc>
                <a:spcPct val="100000"/>
              </a:lnSpc>
              <a:buClr>
                <a:srgbClr val="2CDAFF"/>
              </a:buClr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Soporte</a:t>
            </a:r>
            <a:r>
              <a:rPr sz="1500" spc="-1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500" spc="-1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mantenimiento</a:t>
            </a:r>
            <a:endParaRPr sz="15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80719" y="1451228"/>
            <a:ext cx="705040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90" dirty="0"/>
              <a:t>Datos</a:t>
            </a:r>
            <a:r>
              <a:rPr sz="3200" spc="-45" dirty="0"/>
              <a:t> </a:t>
            </a:r>
            <a:r>
              <a:rPr sz="3200" spc="-450" dirty="0"/>
              <a:t>–</a:t>
            </a:r>
            <a:r>
              <a:rPr sz="3200" spc="-35" dirty="0"/>
              <a:t> </a:t>
            </a:r>
            <a:r>
              <a:rPr sz="3200" spc="55" dirty="0"/>
              <a:t>Información</a:t>
            </a:r>
            <a:r>
              <a:rPr sz="3200" spc="-60" dirty="0"/>
              <a:t> </a:t>
            </a:r>
            <a:r>
              <a:rPr sz="3200" spc="-450" dirty="0"/>
              <a:t>–</a:t>
            </a:r>
            <a:r>
              <a:rPr sz="3200" spc="-25" dirty="0"/>
              <a:t> </a:t>
            </a:r>
            <a:r>
              <a:rPr sz="3200" spc="90" dirty="0"/>
              <a:t>Decisiones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2340864" y="2485644"/>
            <a:ext cx="2011680" cy="995680"/>
          </a:xfrm>
          <a:prstGeom prst="rect">
            <a:avLst/>
          </a:prstGeom>
          <a:solidFill>
            <a:srgbClr val="6E92DB"/>
          </a:solidFill>
        </p:spPr>
        <p:txBody>
          <a:bodyPr vert="horz" wrap="square" lIns="0" tIns="1460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5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" algn="ctr">
              <a:lnSpc>
                <a:spcPct val="100000"/>
              </a:lnSpc>
            </a:pPr>
            <a:r>
              <a:rPr sz="1600" spc="-10" dirty="0">
                <a:solidFill>
                  <a:srgbClr val="FDFFFF"/>
                </a:solidFill>
                <a:latin typeface="Verdana"/>
                <a:cs typeface="Verdana"/>
              </a:rPr>
              <a:t>Datos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40864" y="4098035"/>
            <a:ext cx="2011680" cy="995680"/>
          </a:xfrm>
          <a:prstGeom prst="rect">
            <a:avLst/>
          </a:prstGeom>
          <a:solidFill>
            <a:srgbClr val="00AFEF"/>
          </a:solidFill>
        </p:spPr>
        <p:txBody>
          <a:bodyPr vert="horz" wrap="square" lIns="0" tIns="1727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60"/>
              </a:spcBef>
            </a:pPr>
            <a:endParaRPr sz="1600">
              <a:latin typeface="Times New Roman"/>
              <a:cs typeface="Times New Roman"/>
            </a:endParaRPr>
          </a:p>
          <a:p>
            <a:pPr marL="385445">
              <a:lnSpc>
                <a:spcPct val="100000"/>
              </a:lnSpc>
            </a:pPr>
            <a:r>
              <a:rPr sz="1600" spc="-10" dirty="0">
                <a:solidFill>
                  <a:srgbClr val="FDFFFF"/>
                </a:solidFill>
                <a:latin typeface="Verdana"/>
                <a:cs typeface="Verdana"/>
              </a:rPr>
              <a:t>Información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67044" y="2228088"/>
            <a:ext cx="4196080" cy="1252855"/>
          </a:xfrm>
          <a:prstGeom prst="rect">
            <a:avLst/>
          </a:prstGeom>
          <a:solidFill>
            <a:srgbClr val="FF5353"/>
          </a:solidFill>
        </p:spPr>
        <p:txBody>
          <a:bodyPr vert="horz" wrap="square" lIns="0" tIns="1587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0"/>
              </a:spcBef>
            </a:pPr>
            <a:r>
              <a:rPr sz="1800" spc="-10" dirty="0">
                <a:solidFill>
                  <a:srgbClr val="FDFFFF"/>
                </a:solidFill>
                <a:latin typeface="Verdana"/>
                <a:cs typeface="Verdana"/>
              </a:rPr>
              <a:t>¿Pasivo?</a:t>
            </a:r>
            <a:endParaRPr sz="1800">
              <a:latin typeface="Verdana"/>
              <a:cs typeface="Verdana"/>
            </a:endParaRPr>
          </a:p>
          <a:p>
            <a:pPr marL="401320" marR="395605" algn="ctr">
              <a:lnSpc>
                <a:spcPct val="100000"/>
              </a:lnSpc>
              <a:spcBef>
                <a:spcPts val="1695"/>
              </a:spcBef>
            </a:pPr>
            <a:r>
              <a:rPr sz="1400" spc="-25" dirty="0">
                <a:solidFill>
                  <a:srgbClr val="FDFFFF"/>
                </a:solidFill>
                <a:latin typeface="Verdana"/>
                <a:cs typeface="Verdana"/>
              </a:rPr>
              <a:t>Solo</a:t>
            </a:r>
            <a:r>
              <a:rPr sz="1400" spc="-35" dirty="0">
                <a:solidFill>
                  <a:srgbClr val="FDFFFF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FDFFFF"/>
                </a:solidFill>
                <a:latin typeface="Verdana"/>
                <a:cs typeface="Verdana"/>
              </a:rPr>
              <a:t>almaceno</a:t>
            </a:r>
            <a:r>
              <a:rPr sz="1400" spc="-30" dirty="0">
                <a:solidFill>
                  <a:srgbClr val="FDFFFF"/>
                </a:solidFill>
                <a:latin typeface="Verdana"/>
                <a:cs typeface="Verdana"/>
              </a:rPr>
              <a:t> </a:t>
            </a:r>
            <a:r>
              <a:rPr sz="1400" spc="-180" dirty="0">
                <a:solidFill>
                  <a:srgbClr val="FDFFFF"/>
                </a:solidFill>
                <a:latin typeface="Verdana"/>
                <a:cs typeface="Verdana"/>
              </a:rPr>
              <a:t>/</a:t>
            </a:r>
            <a:r>
              <a:rPr sz="1400" spc="-25" dirty="0">
                <a:solidFill>
                  <a:srgbClr val="FDFFFF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FDFFFF"/>
                </a:solidFill>
                <a:latin typeface="Verdana"/>
                <a:cs typeface="Verdana"/>
              </a:rPr>
              <a:t>muestro</a:t>
            </a:r>
            <a:r>
              <a:rPr sz="1400" spc="-45" dirty="0">
                <a:solidFill>
                  <a:srgbClr val="FDFFFF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FDFFFF"/>
                </a:solidFill>
                <a:latin typeface="Verdana"/>
                <a:cs typeface="Verdana"/>
              </a:rPr>
              <a:t>información: </a:t>
            </a:r>
            <a:r>
              <a:rPr sz="1400" spc="-40" dirty="0">
                <a:solidFill>
                  <a:srgbClr val="FDFFFF"/>
                </a:solidFill>
                <a:latin typeface="Verdana"/>
                <a:cs typeface="Verdana"/>
              </a:rPr>
              <a:t>Tableros, </a:t>
            </a:r>
            <a:r>
              <a:rPr sz="1400" spc="-10" dirty="0">
                <a:solidFill>
                  <a:srgbClr val="FDFFFF"/>
                </a:solidFill>
                <a:latin typeface="Verdana"/>
                <a:cs typeface="Verdana"/>
              </a:rPr>
              <a:t>Presentaciones,</a:t>
            </a:r>
            <a:r>
              <a:rPr sz="1400" spc="-70" dirty="0">
                <a:solidFill>
                  <a:srgbClr val="FDFFFF"/>
                </a:solidFill>
                <a:latin typeface="Verdana"/>
                <a:cs typeface="Verdana"/>
              </a:rPr>
              <a:t> </a:t>
            </a:r>
            <a:r>
              <a:rPr sz="1400" spc="-40" dirty="0">
                <a:solidFill>
                  <a:srgbClr val="FDFFFF"/>
                </a:solidFill>
                <a:latin typeface="Verdana"/>
                <a:cs typeface="Verdana"/>
              </a:rPr>
              <a:t>Informes,</a:t>
            </a:r>
            <a:r>
              <a:rPr sz="1400" spc="-30" dirty="0">
                <a:solidFill>
                  <a:srgbClr val="FDFFFF"/>
                </a:solidFill>
                <a:latin typeface="Verdana"/>
                <a:cs typeface="Verdana"/>
              </a:rPr>
              <a:t> </a:t>
            </a:r>
            <a:r>
              <a:rPr sz="1400" spc="-305" dirty="0">
                <a:solidFill>
                  <a:srgbClr val="FDFFFF"/>
                </a:solidFill>
                <a:latin typeface="Verdana"/>
                <a:cs typeface="Verdana"/>
              </a:rPr>
              <a:t>…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99047" y="4037076"/>
            <a:ext cx="4163695" cy="1292860"/>
          </a:xfrm>
          <a:prstGeom prst="rect">
            <a:avLst/>
          </a:prstGeom>
          <a:solidFill>
            <a:srgbClr val="3CBBA3"/>
          </a:solidFill>
        </p:spPr>
        <p:txBody>
          <a:bodyPr vert="horz" wrap="square" lIns="0" tIns="16383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290"/>
              </a:spcBef>
            </a:pPr>
            <a:r>
              <a:rPr sz="1800" spc="-10" dirty="0">
                <a:solidFill>
                  <a:srgbClr val="FDFFFF"/>
                </a:solidFill>
                <a:latin typeface="Verdana"/>
                <a:cs typeface="Verdana"/>
              </a:rPr>
              <a:t>¿Activo?</a:t>
            </a:r>
            <a:endParaRPr sz="1800">
              <a:latin typeface="Verdana"/>
              <a:cs typeface="Verdana"/>
            </a:endParaRPr>
          </a:p>
          <a:p>
            <a:pPr marL="199390" marR="183515" algn="ctr">
              <a:lnSpc>
                <a:spcPct val="100000"/>
              </a:lnSpc>
              <a:spcBef>
                <a:spcPts val="1700"/>
              </a:spcBef>
            </a:pPr>
            <a:r>
              <a:rPr sz="1400" dirty="0">
                <a:solidFill>
                  <a:srgbClr val="FDFFFF"/>
                </a:solidFill>
                <a:latin typeface="Verdana"/>
                <a:cs typeface="Verdana"/>
              </a:rPr>
              <a:t>Transformo</a:t>
            </a:r>
            <a:r>
              <a:rPr sz="1400" spc="-110" dirty="0">
                <a:solidFill>
                  <a:srgbClr val="FDFFFF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FDFFFF"/>
                </a:solidFill>
                <a:latin typeface="Verdana"/>
                <a:cs typeface="Verdana"/>
              </a:rPr>
              <a:t>la</a:t>
            </a:r>
            <a:r>
              <a:rPr sz="1400" spc="-85" dirty="0">
                <a:solidFill>
                  <a:srgbClr val="FDFFFF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FDFFFF"/>
                </a:solidFill>
                <a:latin typeface="Verdana"/>
                <a:cs typeface="Verdana"/>
              </a:rPr>
              <a:t>organización</a:t>
            </a:r>
            <a:r>
              <a:rPr sz="1400" spc="-90" dirty="0">
                <a:solidFill>
                  <a:srgbClr val="FDFFFF"/>
                </a:solidFill>
                <a:latin typeface="Verdana"/>
                <a:cs typeface="Verdana"/>
              </a:rPr>
              <a:t> </a:t>
            </a:r>
            <a:r>
              <a:rPr sz="1400" spc="-75" dirty="0">
                <a:solidFill>
                  <a:srgbClr val="FDFFFF"/>
                </a:solidFill>
                <a:latin typeface="Verdana"/>
                <a:cs typeface="Verdana"/>
              </a:rPr>
              <a:t>y</a:t>
            </a:r>
            <a:r>
              <a:rPr sz="1400" spc="-80" dirty="0">
                <a:solidFill>
                  <a:srgbClr val="FDFFFF"/>
                </a:solidFill>
                <a:latin typeface="Verdana"/>
                <a:cs typeface="Verdana"/>
              </a:rPr>
              <a:t> </a:t>
            </a:r>
            <a:r>
              <a:rPr sz="1400" spc="-20" dirty="0">
                <a:solidFill>
                  <a:srgbClr val="FDFFFF"/>
                </a:solidFill>
                <a:latin typeface="Verdana"/>
                <a:cs typeface="Verdana"/>
              </a:rPr>
              <a:t>al</a:t>
            </a:r>
            <a:r>
              <a:rPr sz="1400" spc="-90" dirty="0">
                <a:solidFill>
                  <a:srgbClr val="FDFFFF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FDFFFF"/>
                </a:solidFill>
                <a:latin typeface="Verdana"/>
                <a:cs typeface="Verdana"/>
              </a:rPr>
              <a:t>ciudadano </a:t>
            </a:r>
            <a:r>
              <a:rPr sz="1400" dirty="0">
                <a:solidFill>
                  <a:srgbClr val="FDFFFF"/>
                </a:solidFill>
                <a:latin typeface="Verdana"/>
                <a:cs typeface="Verdana"/>
              </a:rPr>
              <a:t>desde </a:t>
            </a:r>
            <a:r>
              <a:rPr sz="1400" spc="-35" dirty="0">
                <a:solidFill>
                  <a:srgbClr val="FDFFFF"/>
                </a:solidFill>
                <a:latin typeface="Verdana"/>
                <a:cs typeface="Verdana"/>
              </a:rPr>
              <a:t>las</a:t>
            </a:r>
            <a:r>
              <a:rPr sz="1400" spc="5" dirty="0">
                <a:solidFill>
                  <a:srgbClr val="FDFFFF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FDFFFF"/>
                </a:solidFill>
                <a:latin typeface="Tahoma"/>
                <a:cs typeface="Tahoma"/>
              </a:rPr>
              <a:t>Decisiones</a:t>
            </a:r>
            <a:r>
              <a:rPr sz="1600" b="1" spc="200" dirty="0">
                <a:solidFill>
                  <a:srgbClr val="FDFFFF"/>
                </a:solidFill>
                <a:latin typeface="Tahoma"/>
                <a:cs typeface="Tahoma"/>
              </a:rPr>
              <a:t> </a:t>
            </a:r>
            <a:r>
              <a:rPr sz="1600" b="1" spc="-90" dirty="0">
                <a:solidFill>
                  <a:srgbClr val="FDFFFF"/>
                </a:solidFill>
                <a:latin typeface="Tahoma"/>
                <a:cs typeface="Tahoma"/>
              </a:rPr>
              <a:t>-</a:t>
            </a:r>
            <a:r>
              <a:rPr sz="1600" b="1" spc="-370" dirty="0">
                <a:solidFill>
                  <a:srgbClr val="FDFFFF"/>
                </a:solidFill>
                <a:latin typeface="Tahoma"/>
                <a:cs typeface="Tahoma"/>
              </a:rPr>
              <a:t>&gt;</a:t>
            </a:r>
            <a:r>
              <a:rPr sz="1600" b="1" spc="150" dirty="0">
                <a:solidFill>
                  <a:srgbClr val="FDFFFF"/>
                </a:solidFill>
                <a:latin typeface="Tahoma"/>
                <a:cs typeface="Tahoma"/>
              </a:rPr>
              <a:t> </a:t>
            </a:r>
            <a:r>
              <a:rPr sz="1600" b="1" spc="50" dirty="0">
                <a:solidFill>
                  <a:srgbClr val="FDFFFF"/>
                </a:solidFill>
                <a:latin typeface="Tahoma"/>
                <a:cs typeface="Tahoma"/>
              </a:rPr>
              <a:t>Acciones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491450" y="2515734"/>
            <a:ext cx="4506595" cy="2511425"/>
            <a:chOff x="1491450" y="2515734"/>
            <a:chExt cx="4506595" cy="2511425"/>
          </a:xfrm>
        </p:grpSpPr>
        <p:sp>
          <p:nvSpPr>
            <p:cNvPr id="9" name="object 9"/>
            <p:cNvSpPr/>
            <p:nvPr/>
          </p:nvSpPr>
          <p:spPr>
            <a:xfrm>
              <a:off x="1491450" y="4193857"/>
              <a:ext cx="803275" cy="788035"/>
            </a:xfrm>
            <a:custGeom>
              <a:avLst/>
              <a:gdLst/>
              <a:ahLst/>
              <a:cxnLst/>
              <a:rect l="l" t="t" r="r" b="b"/>
              <a:pathLst>
                <a:path w="803275" h="788035">
                  <a:moveTo>
                    <a:pt x="319506" y="136042"/>
                  </a:moveTo>
                  <a:lnTo>
                    <a:pt x="0" y="136042"/>
                  </a:lnTo>
                  <a:lnTo>
                    <a:pt x="0" y="456145"/>
                  </a:lnTo>
                  <a:lnTo>
                    <a:pt x="125514" y="456145"/>
                  </a:lnTo>
                  <a:lnTo>
                    <a:pt x="115887" y="465315"/>
                  </a:lnTo>
                  <a:lnTo>
                    <a:pt x="108712" y="476313"/>
                  </a:lnTo>
                  <a:lnTo>
                    <a:pt x="104241" y="488657"/>
                  </a:lnTo>
                  <a:lnTo>
                    <a:pt x="102692" y="501878"/>
                  </a:lnTo>
                  <a:lnTo>
                    <a:pt x="107175" y="524129"/>
                  </a:lnTo>
                  <a:lnTo>
                    <a:pt x="119405" y="542302"/>
                  </a:lnTo>
                  <a:lnTo>
                    <a:pt x="137541" y="554545"/>
                  </a:lnTo>
                  <a:lnTo>
                    <a:pt x="159753" y="559041"/>
                  </a:lnTo>
                  <a:lnTo>
                    <a:pt x="181952" y="554545"/>
                  </a:lnTo>
                  <a:lnTo>
                    <a:pt x="200088" y="542302"/>
                  </a:lnTo>
                  <a:lnTo>
                    <a:pt x="212318" y="524129"/>
                  </a:lnTo>
                  <a:lnTo>
                    <a:pt x="216801" y="501878"/>
                  </a:lnTo>
                  <a:lnTo>
                    <a:pt x="215265" y="488657"/>
                  </a:lnTo>
                  <a:lnTo>
                    <a:pt x="210781" y="476313"/>
                  </a:lnTo>
                  <a:lnTo>
                    <a:pt x="203606" y="465315"/>
                  </a:lnTo>
                  <a:lnTo>
                    <a:pt x="193979" y="456145"/>
                  </a:lnTo>
                  <a:lnTo>
                    <a:pt x="319506" y="456145"/>
                  </a:lnTo>
                  <a:lnTo>
                    <a:pt x="319506" y="338620"/>
                  </a:lnTo>
                  <a:lnTo>
                    <a:pt x="298958" y="351599"/>
                  </a:lnTo>
                  <a:lnTo>
                    <a:pt x="275856" y="355930"/>
                  </a:lnTo>
                  <a:lnTo>
                    <a:pt x="252755" y="351599"/>
                  </a:lnTo>
                  <a:lnTo>
                    <a:pt x="232206" y="338620"/>
                  </a:lnTo>
                  <a:lnTo>
                    <a:pt x="219125" y="319379"/>
                  </a:lnTo>
                  <a:lnTo>
                    <a:pt x="214579" y="297357"/>
                  </a:lnTo>
                  <a:lnTo>
                    <a:pt x="218605" y="275247"/>
                  </a:lnTo>
                  <a:lnTo>
                    <a:pt x="232206" y="254711"/>
                  </a:lnTo>
                  <a:lnTo>
                    <a:pt x="252755" y="241731"/>
                  </a:lnTo>
                  <a:lnTo>
                    <a:pt x="275856" y="237401"/>
                  </a:lnTo>
                  <a:lnTo>
                    <a:pt x="298958" y="241731"/>
                  </a:lnTo>
                  <a:lnTo>
                    <a:pt x="319506" y="254711"/>
                  </a:lnTo>
                  <a:lnTo>
                    <a:pt x="319506" y="136042"/>
                  </a:lnTo>
                  <a:close/>
                </a:path>
                <a:path w="803275" h="788035">
                  <a:moveTo>
                    <a:pt x="422592" y="631672"/>
                  </a:moveTo>
                  <a:lnTo>
                    <a:pt x="419874" y="609142"/>
                  </a:lnTo>
                  <a:lnTo>
                    <a:pt x="408635" y="589432"/>
                  </a:lnTo>
                  <a:lnTo>
                    <a:pt x="391337" y="576033"/>
                  </a:lnTo>
                  <a:lnTo>
                    <a:pt x="370281" y="570103"/>
                  </a:lnTo>
                  <a:lnTo>
                    <a:pt x="347789" y="572820"/>
                  </a:lnTo>
                  <a:lnTo>
                    <a:pt x="339559" y="576287"/>
                  </a:lnTo>
                  <a:lnTo>
                    <a:pt x="332016" y="580961"/>
                  </a:lnTo>
                  <a:lnTo>
                    <a:pt x="325285" y="586752"/>
                  </a:lnTo>
                  <a:lnTo>
                    <a:pt x="319506" y="593572"/>
                  </a:lnTo>
                  <a:lnTo>
                    <a:pt x="319506" y="490677"/>
                  </a:lnTo>
                  <a:lnTo>
                    <a:pt x="250240" y="490677"/>
                  </a:lnTo>
                  <a:lnTo>
                    <a:pt x="251040" y="502107"/>
                  </a:lnTo>
                  <a:lnTo>
                    <a:pt x="243865" y="537705"/>
                  </a:lnTo>
                  <a:lnTo>
                    <a:pt x="224294" y="566775"/>
                  </a:lnTo>
                  <a:lnTo>
                    <a:pt x="195287" y="586384"/>
                  </a:lnTo>
                  <a:lnTo>
                    <a:pt x="159753" y="593572"/>
                  </a:lnTo>
                  <a:lnTo>
                    <a:pt x="124218" y="586384"/>
                  </a:lnTo>
                  <a:lnTo>
                    <a:pt x="95199" y="566775"/>
                  </a:lnTo>
                  <a:lnTo>
                    <a:pt x="75628" y="537705"/>
                  </a:lnTo>
                  <a:lnTo>
                    <a:pt x="68465" y="502107"/>
                  </a:lnTo>
                  <a:lnTo>
                    <a:pt x="69265" y="490677"/>
                  </a:lnTo>
                  <a:lnTo>
                    <a:pt x="0" y="490677"/>
                  </a:lnTo>
                  <a:lnTo>
                    <a:pt x="0" y="787920"/>
                  </a:lnTo>
                  <a:lnTo>
                    <a:pt x="319506" y="787920"/>
                  </a:lnTo>
                  <a:lnTo>
                    <a:pt x="319506" y="662165"/>
                  </a:lnTo>
                  <a:lnTo>
                    <a:pt x="325780" y="670509"/>
                  </a:lnTo>
                  <a:lnTo>
                    <a:pt x="336867" y="678688"/>
                  </a:lnTo>
                  <a:lnTo>
                    <a:pt x="349453" y="683717"/>
                  </a:lnTo>
                  <a:lnTo>
                    <a:pt x="362902" y="685431"/>
                  </a:lnTo>
                  <a:lnTo>
                    <a:pt x="378498" y="683653"/>
                  </a:lnTo>
                  <a:lnTo>
                    <a:pt x="383628" y="681367"/>
                  </a:lnTo>
                  <a:lnTo>
                    <a:pt x="403313" y="670115"/>
                  </a:lnTo>
                  <a:lnTo>
                    <a:pt x="416687" y="652780"/>
                  </a:lnTo>
                  <a:lnTo>
                    <a:pt x="422592" y="631672"/>
                  </a:lnTo>
                  <a:close/>
                </a:path>
                <a:path w="803275" h="788035">
                  <a:moveTo>
                    <a:pt x="650430" y="490448"/>
                  </a:moveTo>
                  <a:lnTo>
                    <a:pt x="524903" y="490448"/>
                  </a:lnTo>
                  <a:lnTo>
                    <a:pt x="533234" y="484047"/>
                  </a:lnTo>
                  <a:lnTo>
                    <a:pt x="541959" y="471665"/>
                  </a:lnTo>
                  <a:lnTo>
                    <a:pt x="547001" y="457644"/>
                  </a:lnTo>
                  <a:lnTo>
                    <a:pt x="548182" y="442798"/>
                  </a:lnTo>
                  <a:lnTo>
                    <a:pt x="545325" y="426199"/>
                  </a:lnTo>
                  <a:lnTo>
                    <a:pt x="533628" y="406755"/>
                  </a:lnTo>
                  <a:lnTo>
                    <a:pt x="516013" y="393763"/>
                  </a:lnTo>
                  <a:lnTo>
                    <a:pt x="494817" y="388340"/>
                  </a:lnTo>
                  <a:lnTo>
                    <a:pt x="472401" y="391604"/>
                  </a:lnTo>
                  <a:lnTo>
                    <a:pt x="452996" y="403326"/>
                  </a:lnTo>
                  <a:lnTo>
                    <a:pt x="440029" y="420966"/>
                  </a:lnTo>
                  <a:lnTo>
                    <a:pt x="434619" y="442201"/>
                  </a:lnTo>
                  <a:lnTo>
                    <a:pt x="437870" y="464667"/>
                  </a:lnTo>
                  <a:lnTo>
                    <a:pt x="441109" y="472059"/>
                  </a:lnTo>
                  <a:lnTo>
                    <a:pt x="445325" y="478878"/>
                  </a:lnTo>
                  <a:lnTo>
                    <a:pt x="450456" y="485038"/>
                  </a:lnTo>
                  <a:lnTo>
                    <a:pt x="456438" y="490448"/>
                  </a:lnTo>
                  <a:lnTo>
                    <a:pt x="353733" y="490448"/>
                  </a:lnTo>
                  <a:lnTo>
                    <a:pt x="353733" y="537324"/>
                  </a:lnTo>
                  <a:lnTo>
                    <a:pt x="365150" y="536638"/>
                  </a:lnTo>
                  <a:lnTo>
                    <a:pt x="400685" y="543814"/>
                  </a:lnTo>
                  <a:lnTo>
                    <a:pt x="429704" y="563422"/>
                  </a:lnTo>
                  <a:lnTo>
                    <a:pt x="449262" y="592493"/>
                  </a:lnTo>
                  <a:lnTo>
                    <a:pt x="456438" y="628091"/>
                  </a:lnTo>
                  <a:lnTo>
                    <a:pt x="449262" y="663689"/>
                  </a:lnTo>
                  <a:lnTo>
                    <a:pt x="429704" y="692759"/>
                  </a:lnTo>
                  <a:lnTo>
                    <a:pt x="400685" y="712368"/>
                  </a:lnTo>
                  <a:lnTo>
                    <a:pt x="365150" y="719556"/>
                  </a:lnTo>
                  <a:lnTo>
                    <a:pt x="353733" y="718756"/>
                  </a:lnTo>
                  <a:lnTo>
                    <a:pt x="353733" y="787692"/>
                  </a:lnTo>
                  <a:lnTo>
                    <a:pt x="650430" y="787692"/>
                  </a:lnTo>
                  <a:lnTo>
                    <a:pt x="650430" y="490448"/>
                  </a:lnTo>
                  <a:close/>
                </a:path>
                <a:path w="803275" h="788035">
                  <a:moveTo>
                    <a:pt x="803148" y="114325"/>
                  </a:moveTo>
                  <a:lnTo>
                    <a:pt x="802043" y="113868"/>
                  </a:lnTo>
                  <a:lnTo>
                    <a:pt x="526503" y="0"/>
                  </a:lnTo>
                  <a:lnTo>
                    <a:pt x="483476" y="105968"/>
                  </a:lnTo>
                  <a:lnTo>
                    <a:pt x="480174" y="113855"/>
                  </a:lnTo>
                  <a:lnTo>
                    <a:pt x="479259" y="110197"/>
                  </a:lnTo>
                  <a:lnTo>
                    <a:pt x="466115" y="90678"/>
                  </a:lnTo>
                  <a:lnTo>
                    <a:pt x="447192" y="78130"/>
                  </a:lnTo>
                  <a:lnTo>
                    <a:pt x="424967" y="73583"/>
                  </a:lnTo>
                  <a:lnTo>
                    <a:pt x="401612" y="78130"/>
                  </a:lnTo>
                  <a:lnTo>
                    <a:pt x="401789" y="78130"/>
                  </a:lnTo>
                  <a:lnTo>
                    <a:pt x="392442" y="83197"/>
                  </a:lnTo>
                  <a:lnTo>
                    <a:pt x="384098" y="89839"/>
                  </a:lnTo>
                  <a:lnTo>
                    <a:pt x="377037" y="97828"/>
                  </a:lnTo>
                  <a:lnTo>
                    <a:pt x="371424" y="106997"/>
                  </a:lnTo>
                  <a:lnTo>
                    <a:pt x="368287" y="130302"/>
                  </a:lnTo>
                  <a:lnTo>
                    <a:pt x="374103" y="152247"/>
                  </a:lnTo>
                  <a:lnTo>
                    <a:pt x="387705" y="170408"/>
                  </a:lnTo>
                  <a:lnTo>
                    <a:pt x="407936" y="182346"/>
                  </a:lnTo>
                  <a:lnTo>
                    <a:pt x="418388" y="184937"/>
                  </a:lnTo>
                  <a:lnTo>
                    <a:pt x="429044" y="185585"/>
                  </a:lnTo>
                  <a:lnTo>
                    <a:pt x="439648" y="184302"/>
                  </a:lnTo>
                  <a:lnTo>
                    <a:pt x="449935" y="181089"/>
                  </a:lnTo>
                  <a:lnTo>
                    <a:pt x="453580" y="179603"/>
                  </a:lnTo>
                  <a:lnTo>
                    <a:pt x="451383" y="184937"/>
                  </a:lnTo>
                  <a:lnTo>
                    <a:pt x="412508" y="275856"/>
                  </a:lnTo>
                  <a:lnTo>
                    <a:pt x="476745" y="302501"/>
                  </a:lnTo>
                  <a:lnTo>
                    <a:pt x="484365" y="273050"/>
                  </a:lnTo>
                  <a:lnTo>
                    <a:pt x="502043" y="249631"/>
                  </a:lnTo>
                  <a:lnTo>
                    <a:pt x="527202" y="234569"/>
                  </a:lnTo>
                  <a:lnTo>
                    <a:pt x="557250" y="230174"/>
                  </a:lnTo>
                  <a:lnTo>
                    <a:pt x="578446" y="234391"/>
                  </a:lnTo>
                  <a:lnTo>
                    <a:pt x="597281" y="244144"/>
                  </a:lnTo>
                  <a:lnTo>
                    <a:pt x="612711" y="258711"/>
                  </a:lnTo>
                  <a:lnTo>
                    <a:pt x="623722" y="277342"/>
                  </a:lnTo>
                  <a:lnTo>
                    <a:pt x="628916" y="298310"/>
                  </a:lnTo>
                  <a:lnTo>
                    <a:pt x="628294" y="319519"/>
                  </a:lnTo>
                  <a:lnTo>
                    <a:pt x="622046" y="339788"/>
                  </a:lnTo>
                  <a:lnTo>
                    <a:pt x="610374" y="357949"/>
                  </a:lnTo>
                  <a:lnTo>
                    <a:pt x="689114" y="390639"/>
                  </a:lnTo>
                  <a:lnTo>
                    <a:pt x="755332" y="230174"/>
                  </a:lnTo>
                  <a:lnTo>
                    <a:pt x="776198" y="179603"/>
                  </a:lnTo>
                  <a:lnTo>
                    <a:pt x="803148" y="114325"/>
                  </a:lnTo>
                  <a:close/>
                </a:path>
              </a:pathLst>
            </a:custGeom>
            <a:solidFill>
              <a:srgbClr val="3366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94104" y="2676143"/>
              <a:ext cx="635508" cy="61569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189309" y="2515742"/>
              <a:ext cx="808355" cy="2511425"/>
            </a:xfrm>
            <a:custGeom>
              <a:avLst/>
              <a:gdLst/>
              <a:ahLst/>
              <a:cxnLst/>
              <a:rect l="l" t="t" r="r" b="b"/>
              <a:pathLst>
                <a:path w="808354" h="2511425">
                  <a:moveTo>
                    <a:pt x="547179" y="299999"/>
                  </a:moveTo>
                  <a:lnTo>
                    <a:pt x="339674" y="166090"/>
                  </a:lnTo>
                  <a:lnTo>
                    <a:pt x="339674" y="434022"/>
                  </a:lnTo>
                  <a:lnTo>
                    <a:pt x="547179" y="299999"/>
                  </a:lnTo>
                  <a:close/>
                </a:path>
                <a:path w="808354" h="2511425">
                  <a:moveTo>
                    <a:pt x="806551" y="62280"/>
                  </a:moveTo>
                  <a:lnTo>
                    <a:pt x="804926" y="54203"/>
                  </a:lnTo>
                  <a:lnTo>
                    <a:pt x="800493" y="47599"/>
                  </a:lnTo>
                  <a:lnTo>
                    <a:pt x="793889" y="43154"/>
                  </a:lnTo>
                  <a:lnTo>
                    <a:pt x="785799" y="41516"/>
                  </a:lnTo>
                  <a:lnTo>
                    <a:pt x="702805" y="41516"/>
                  </a:lnTo>
                  <a:lnTo>
                    <a:pt x="702805" y="114185"/>
                  </a:lnTo>
                  <a:lnTo>
                    <a:pt x="702805" y="487895"/>
                  </a:lnTo>
                  <a:lnTo>
                    <a:pt x="121793" y="487895"/>
                  </a:lnTo>
                  <a:lnTo>
                    <a:pt x="121793" y="114185"/>
                  </a:lnTo>
                  <a:lnTo>
                    <a:pt x="702805" y="114185"/>
                  </a:lnTo>
                  <a:lnTo>
                    <a:pt x="702805" y="41516"/>
                  </a:lnTo>
                  <a:lnTo>
                    <a:pt x="433044" y="41516"/>
                  </a:lnTo>
                  <a:lnTo>
                    <a:pt x="433044" y="20764"/>
                  </a:lnTo>
                  <a:lnTo>
                    <a:pt x="431419" y="12661"/>
                  </a:lnTo>
                  <a:lnTo>
                    <a:pt x="426974" y="6057"/>
                  </a:lnTo>
                  <a:lnTo>
                    <a:pt x="420370" y="1625"/>
                  </a:lnTo>
                  <a:lnTo>
                    <a:pt x="412292" y="0"/>
                  </a:lnTo>
                  <a:lnTo>
                    <a:pt x="404215" y="1625"/>
                  </a:lnTo>
                  <a:lnTo>
                    <a:pt x="397624" y="6057"/>
                  </a:lnTo>
                  <a:lnTo>
                    <a:pt x="393179" y="12661"/>
                  </a:lnTo>
                  <a:lnTo>
                    <a:pt x="391541" y="20764"/>
                  </a:lnTo>
                  <a:lnTo>
                    <a:pt x="391541" y="41516"/>
                  </a:lnTo>
                  <a:lnTo>
                    <a:pt x="38785" y="41516"/>
                  </a:lnTo>
                  <a:lnTo>
                    <a:pt x="30708" y="43154"/>
                  </a:lnTo>
                  <a:lnTo>
                    <a:pt x="24117" y="47599"/>
                  </a:lnTo>
                  <a:lnTo>
                    <a:pt x="19672" y="54203"/>
                  </a:lnTo>
                  <a:lnTo>
                    <a:pt x="18046" y="62280"/>
                  </a:lnTo>
                  <a:lnTo>
                    <a:pt x="19672" y="70370"/>
                  </a:lnTo>
                  <a:lnTo>
                    <a:pt x="24117" y="76962"/>
                  </a:lnTo>
                  <a:lnTo>
                    <a:pt x="30708" y="81419"/>
                  </a:lnTo>
                  <a:lnTo>
                    <a:pt x="38785" y="83045"/>
                  </a:lnTo>
                  <a:lnTo>
                    <a:pt x="59537" y="83045"/>
                  </a:lnTo>
                  <a:lnTo>
                    <a:pt x="59537" y="508660"/>
                  </a:lnTo>
                  <a:lnTo>
                    <a:pt x="38785" y="508660"/>
                  </a:lnTo>
                  <a:lnTo>
                    <a:pt x="30708" y="510286"/>
                  </a:lnTo>
                  <a:lnTo>
                    <a:pt x="24117" y="514743"/>
                  </a:lnTo>
                  <a:lnTo>
                    <a:pt x="19672" y="521347"/>
                  </a:lnTo>
                  <a:lnTo>
                    <a:pt x="18046" y="529424"/>
                  </a:lnTo>
                  <a:lnTo>
                    <a:pt x="19672" y="537502"/>
                  </a:lnTo>
                  <a:lnTo>
                    <a:pt x="24117" y="544106"/>
                  </a:lnTo>
                  <a:lnTo>
                    <a:pt x="30708" y="548551"/>
                  </a:lnTo>
                  <a:lnTo>
                    <a:pt x="38785" y="550189"/>
                  </a:lnTo>
                  <a:lnTo>
                    <a:pt x="355650" y="550189"/>
                  </a:lnTo>
                  <a:lnTo>
                    <a:pt x="195872" y="710044"/>
                  </a:lnTo>
                  <a:lnTo>
                    <a:pt x="191325" y="716978"/>
                  </a:lnTo>
                  <a:lnTo>
                    <a:pt x="189915" y="724420"/>
                  </a:lnTo>
                  <a:lnTo>
                    <a:pt x="189839" y="724852"/>
                  </a:lnTo>
                  <a:lnTo>
                    <a:pt x="191312" y="732243"/>
                  </a:lnTo>
                  <a:lnTo>
                    <a:pt x="191401" y="732701"/>
                  </a:lnTo>
                  <a:lnTo>
                    <a:pt x="195922" y="739432"/>
                  </a:lnTo>
                  <a:lnTo>
                    <a:pt x="196024" y="739584"/>
                  </a:lnTo>
                  <a:lnTo>
                    <a:pt x="202958" y="744131"/>
                  </a:lnTo>
                  <a:lnTo>
                    <a:pt x="210820" y="745617"/>
                  </a:lnTo>
                  <a:lnTo>
                    <a:pt x="218249" y="744131"/>
                  </a:lnTo>
                  <a:lnTo>
                    <a:pt x="218541" y="744131"/>
                  </a:lnTo>
                  <a:lnTo>
                    <a:pt x="225539" y="739432"/>
                  </a:lnTo>
                  <a:lnTo>
                    <a:pt x="391541" y="573328"/>
                  </a:lnTo>
                  <a:lnTo>
                    <a:pt x="391541" y="757796"/>
                  </a:lnTo>
                  <a:lnTo>
                    <a:pt x="393179" y="765886"/>
                  </a:lnTo>
                  <a:lnTo>
                    <a:pt x="397624" y="772477"/>
                  </a:lnTo>
                  <a:lnTo>
                    <a:pt x="404215" y="776935"/>
                  </a:lnTo>
                  <a:lnTo>
                    <a:pt x="412292" y="778560"/>
                  </a:lnTo>
                  <a:lnTo>
                    <a:pt x="420370" y="776935"/>
                  </a:lnTo>
                  <a:lnTo>
                    <a:pt x="426974" y="772477"/>
                  </a:lnTo>
                  <a:lnTo>
                    <a:pt x="431419" y="765886"/>
                  </a:lnTo>
                  <a:lnTo>
                    <a:pt x="433044" y="757796"/>
                  </a:lnTo>
                  <a:lnTo>
                    <a:pt x="433044" y="573328"/>
                  </a:lnTo>
                  <a:lnTo>
                    <a:pt x="433044" y="573024"/>
                  </a:lnTo>
                  <a:lnTo>
                    <a:pt x="599046" y="739114"/>
                  </a:lnTo>
                  <a:lnTo>
                    <a:pt x="605917" y="743673"/>
                  </a:lnTo>
                  <a:lnTo>
                    <a:pt x="613727" y="745197"/>
                  </a:lnTo>
                  <a:lnTo>
                    <a:pt x="621538" y="743673"/>
                  </a:lnTo>
                  <a:lnTo>
                    <a:pt x="628408" y="739114"/>
                  </a:lnTo>
                  <a:lnTo>
                    <a:pt x="632968" y="732243"/>
                  </a:lnTo>
                  <a:lnTo>
                    <a:pt x="634415" y="724852"/>
                  </a:lnTo>
                  <a:lnTo>
                    <a:pt x="634492" y="724420"/>
                  </a:lnTo>
                  <a:lnTo>
                    <a:pt x="633044" y="716978"/>
                  </a:lnTo>
                  <a:lnTo>
                    <a:pt x="632968" y="716610"/>
                  </a:lnTo>
                  <a:lnTo>
                    <a:pt x="628408" y="709739"/>
                  </a:lnTo>
                  <a:lnTo>
                    <a:pt x="491769" y="573024"/>
                  </a:lnTo>
                  <a:lnTo>
                    <a:pt x="468947" y="550189"/>
                  </a:lnTo>
                  <a:lnTo>
                    <a:pt x="785799" y="550189"/>
                  </a:lnTo>
                  <a:lnTo>
                    <a:pt x="793902" y="548551"/>
                  </a:lnTo>
                  <a:lnTo>
                    <a:pt x="800493" y="544106"/>
                  </a:lnTo>
                  <a:lnTo>
                    <a:pt x="804926" y="537502"/>
                  </a:lnTo>
                  <a:lnTo>
                    <a:pt x="806551" y="529424"/>
                  </a:lnTo>
                  <a:lnTo>
                    <a:pt x="804926" y="521347"/>
                  </a:lnTo>
                  <a:lnTo>
                    <a:pt x="800493" y="514743"/>
                  </a:lnTo>
                  <a:lnTo>
                    <a:pt x="793902" y="510298"/>
                  </a:lnTo>
                  <a:lnTo>
                    <a:pt x="785799" y="508660"/>
                  </a:lnTo>
                  <a:lnTo>
                    <a:pt x="765048" y="508660"/>
                  </a:lnTo>
                  <a:lnTo>
                    <a:pt x="765048" y="487895"/>
                  </a:lnTo>
                  <a:lnTo>
                    <a:pt x="765048" y="114185"/>
                  </a:lnTo>
                  <a:lnTo>
                    <a:pt x="765048" y="83045"/>
                  </a:lnTo>
                  <a:lnTo>
                    <a:pt x="785799" y="83045"/>
                  </a:lnTo>
                  <a:lnTo>
                    <a:pt x="793889" y="81419"/>
                  </a:lnTo>
                  <a:lnTo>
                    <a:pt x="800493" y="76962"/>
                  </a:lnTo>
                  <a:lnTo>
                    <a:pt x="804926" y="70370"/>
                  </a:lnTo>
                  <a:lnTo>
                    <a:pt x="806551" y="62280"/>
                  </a:lnTo>
                  <a:close/>
                </a:path>
                <a:path w="808354" h="2511425">
                  <a:moveTo>
                    <a:pt x="808278" y="2052332"/>
                  </a:moveTo>
                  <a:lnTo>
                    <a:pt x="807275" y="2047252"/>
                  </a:lnTo>
                  <a:lnTo>
                    <a:pt x="800950" y="2015502"/>
                  </a:lnTo>
                  <a:lnTo>
                    <a:pt x="787031" y="1995182"/>
                  </a:lnTo>
                  <a:lnTo>
                    <a:pt x="780948" y="1986292"/>
                  </a:lnTo>
                  <a:lnTo>
                    <a:pt x="767753" y="1977263"/>
                  </a:lnTo>
                  <a:lnTo>
                    <a:pt x="767753" y="2100592"/>
                  </a:lnTo>
                  <a:lnTo>
                    <a:pt x="662546" y="2100592"/>
                  </a:lnTo>
                  <a:lnTo>
                    <a:pt x="680593" y="2062492"/>
                  </a:lnTo>
                  <a:lnTo>
                    <a:pt x="708152" y="2053602"/>
                  </a:lnTo>
                  <a:lnTo>
                    <a:pt x="722769" y="2053602"/>
                  </a:lnTo>
                  <a:lnTo>
                    <a:pt x="762558" y="2070112"/>
                  </a:lnTo>
                  <a:lnTo>
                    <a:pt x="767753" y="2100592"/>
                  </a:lnTo>
                  <a:lnTo>
                    <a:pt x="767753" y="1977263"/>
                  </a:lnTo>
                  <a:lnTo>
                    <a:pt x="751281" y="1965972"/>
                  </a:lnTo>
                  <a:lnTo>
                    <a:pt x="741184" y="1963864"/>
                  </a:lnTo>
                  <a:lnTo>
                    <a:pt x="741184" y="2021852"/>
                  </a:lnTo>
                  <a:lnTo>
                    <a:pt x="739127" y="2032012"/>
                  </a:lnTo>
                  <a:lnTo>
                    <a:pt x="733501" y="2039632"/>
                  </a:lnTo>
                  <a:lnTo>
                    <a:pt x="725157" y="2045982"/>
                  </a:lnTo>
                  <a:lnTo>
                    <a:pt x="714946" y="2047252"/>
                  </a:lnTo>
                  <a:lnTo>
                    <a:pt x="704723" y="2045982"/>
                  </a:lnTo>
                  <a:lnTo>
                    <a:pt x="696379" y="2039632"/>
                  </a:lnTo>
                  <a:lnTo>
                    <a:pt x="690753" y="2032012"/>
                  </a:lnTo>
                  <a:lnTo>
                    <a:pt x="688695" y="2021852"/>
                  </a:lnTo>
                  <a:lnTo>
                    <a:pt x="690816" y="2010422"/>
                  </a:lnTo>
                  <a:lnTo>
                    <a:pt x="696442" y="2002802"/>
                  </a:lnTo>
                  <a:lnTo>
                    <a:pt x="704761" y="1997722"/>
                  </a:lnTo>
                  <a:lnTo>
                    <a:pt x="714946" y="1995182"/>
                  </a:lnTo>
                  <a:lnTo>
                    <a:pt x="725157" y="1997722"/>
                  </a:lnTo>
                  <a:lnTo>
                    <a:pt x="733501" y="2002802"/>
                  </a:lnTo>
                  <a:lnTo>
                    <a:pt x="739127" y="2011692"/>
                  </a:lnTo>
                  <a:lnTo>
                    <a:pt x="741184" y="2021852"/>
                  </a:lnTo>
                  <a:lnTo>
                    <a:pt x="741184" y="1963864"/>
                  </a:lnTo>
                  <a:lnTo>
                    <a:pt x="678599" y="1965972"/>
                  </a:lnTo>
                  <a:lnTo>
                    <a:pt x="628904" y="2015502"/>
                  </a:lnTo>
                  <a:lnTo>
                    <a:pt x="621563" y="2052332"/>
                  </a:lnTo>
                  <a:lnTo>
                    <a:pt x="621576" y="2057412"/>
                  </a:lnTo>
                  <a:lnTo>
                    <a:pt x="621830" y="2059952"/>
                  </a:lnTo>
                  <a:lnTo>
                    <a:pt x="621957" y="2061222"/>
                  </a:lnTo>
                  <a:lnTo>
                    <a:pt x="622706" y="2066302"/>
                  </a:lnTo>
                  <a:lnTo>
                    <a:pt x="514705" y="2112022"/>
                  </a:lnTo>
                  <a:lnTo>
                    <a:pt x="503008" y="2095512"/>
                  </a:lnTo>
                  <a:lnTo>
                    <a:pt x="497611" y="2087892"/>
                  </a:lnTo>
                  <a:lnTo>
                    <a:pt x="475970" y="2068842"/>
                  </a:lnTo>
                  <a:lnTo>
                    <a:pt x="474548" y="2068068"/>
                  </a:lnTo>
                  <a:lnTo>
                    <a:pt x="474548" y="2241562"/>
                  </a:lnTo>
                  <a:lnTo>
                    <a:pt x="329298" y="2241562"/>
                  </a:lnTo>
                  <a:lnTo>
                    <a:pt x="329298" y="2214892"/>
                  </a:lnTo>
                  <a:lnTo>
                    <a:pt x="329438" y="2208542"/>
                  </a:lnTo>
                  <a:lnTo>
                    <a:pt x="362648" y="2185682"/>
                  </a:lnTo>
                  <a:lnTo>
                    <a:pt x="394347" y="2178062"/>
                  </a:lnTo>
                  <a:lnTo>
                    <a:pt x="409524" y="2178062"/>
                  </a:lnTo>
                  <a:lnTo>
                    <a:pt x="450519" y="2189492"/>
                  </a:lnTo>
                  <a:lnTo>
                    <a:pt x="474548" y="2241562"/>
                  </a:lnTo>
                  <a:lnTo>
                    <a:pt x="474548" y="2068068"/>
                  </a:lnTo>
                  <a:lnTo>
                    <a:pt x="450697" y="2054872"/>
                  </a:lnTo>
                  <a:lnTo>
                    <a:pt x="438442" y="2051545"/>
                  </a:lnTo>
                  <a:lnTo>
                    <a:pt x="438442" y="2132342"/>
                  </a:lnTo>
                  <a:lnTo>
                    <a:pt x="435622" y="2146312"/>
                  </a:lnTo>
                  <a:lnTo>
                    <a:pt x="427850" y="2157742"/>
                  </a:lnTo>
                  <a:lnTo>
                    <a:pt x="416293" y="2165362"/>
                  </a:lnTo>
                  <a:lnTo>
                    <a:pt x="402132" y="2169172"/>
                  </a:lnTo>
                  <a:lnTo>
                    <a:pt x="387946" y="2165362"/>
                  </a:lnTo>
                  <a:lnTo>
                    <a:pt x="376351" y="2157742"/>
                  </a:lnTo>
                  <a:lnTo>
                    <a:pt x="368515" y="2146312"/>
                  </a:lnTo>
                  <a:lnTo>
                    <a:pt x="365607" y="2132342"/>
                  </a:lnTo>
                  <a:lnTo>
                    <a:pt x="368465" y="2118372"/>
                  </a:lnTo>
                  <a:lnTo>
                    <a:pt x="373646" y="2110752"/>
                  </a:lnTo>
                  <a:lnTo>
                    <a:pt x="376237" y="2106942"/>
                  </a:lnTo>
                  <a:lnTo>
                    <a:pt x="387781" y="2099322"/>
                  </a:lnTo>
                  <a:lnTo>
                    <a:pt x="401916" y="2095512"/>
                  </a:lnTo>
                  <a:lnTo>
                    <a:pt x="416102" y="2098052"/>
                  </a:lnTo>
                  <a:lnTo>
                    <a:pt x="427697" y="2106942"/>
                  </a:lnTo>
                  <a:lnTo>
                    <a:pt x="435533" y="2118372"/>
                  </a:lnTo>
                  <a:lnTo>
                    <a:pt x="438442" y="2132342"/>
                  </a:lnTo>
                  <a:lnTo>
                    <a:pt x="438442" y="2051545"/>
                  </a:lnTo>
                  <a:lnTo>
                    <a:pt x="422668" y="2047252"/>
                  </a:lnTo>
                  <a:lnTo>
                    <a:pt x="422668" y="1931682"/>
                  </a:lnTo>
                  <a:lnTo>
                    <a:pt x="456476" y="1916442"/>
                  </a:lnTo>
                  <a:lnTo>
                    <a:pt x="480974" y="1889772"/>
                  </a:lnTo>
                  <a:lnTo>
                    <a:pt x="481469" y="1888502"/>
                  </a:lnTo>
                  <a:lnTo>
                    <a:pt x="493890" y="1856752"/>
                  </a:lnTo>
                  <a:lnTo>
                    <a:pt x="493826" y="1854212"/>
                  </a:lnTo>
                  <a:lnTo>
                    <a:pt x="493725" y="1850402"/>
                  </a:lnTo>
                  <a:lnTo>
                    <a:pt x="493661" y="1847862"/>
                  </a:lnTo>
                  <a:lnTo>
                    <a:pt x="493598" y="1845322"/>
                  </a:lnTo>
                  <a:lnTo>
                    <a:pt x="493509" y="1841512"/>
                  </a:lnTo>
                  <a:lnTo>
                    <a:pt x="493344" y="1835162"/>
                  </a:lnTo>
                  <a:lnTo>
                    <a:pt x="493153" y="1827542"/>
                  </a:lnTo>
                  <a:lnTo>
                    <a:pt x="493064" y="1823732"/>
                  </a:lnTo>
                  <a:lnTo>
                    <a:pt x="492963" y="1819922"/>
                  </a:lnTo>
                  <a:lnTo>
                    <a:pt x="477735" y="1785632"/>
                  </a:lnTo>
                  <a:lnTo>
                    <a:pt x="474980" y="1783092"/>
                  </a:lnTo>
                  <a:lnTo>
                    <a:pt x="454215" y="1763903"/>
                  </a:lnTo>
                  <a:lnTo>
                    <a:pt x="454215" y="1888502"/>
                  </a:lnTo>
                  <a:lnTo>
                    <a:pt x="350050" y="1888502"/>
                  </a:lnTo>
                  <a:lnTo>
                    <a:pt x="367474" y="1850402"/>
                  </a:lnTo>
                  <a:lnTo>
                    <a:pt x="394741" y="1842782"/>
                  </a:lnTo>
                  <a:lnTo>
                    <a:pt x="401916" y="1841512"/>
                  </a:lnTo>
                  <a:lnTo>
                    <a:pt x="409232" y="1841512"/>
                  </a:lnTo>
                  <a:lnTo>
                    <a:pt x="416521" y="1842782"/>
                  </a:lnTo>
                  <a:lnTo>
                    <a:pt x="452221" y="1860562"/>
                  </a:lnTo>
                  <a:lnTo>
                    <a:pt x="454215" y="1888502"/>
                  </a:lnTo>
                  <a:lnTo>
                    <a:pt x="454215" y="1763903"/>
                  </a:lnTo>
                  <a:lnTo>
                    <a:pt x="451624" y="1761502"/>
                  </a:lnTo>
                  <a:lnTo>
                    <a:pt x="428066" y="1752549"/>
                  </a:lnTo>
                  <a:lnTo>
                    <a:pt x="428066" y="1809762"/>
                  </a:lnTo>
                  <a:lnTo>
                    <a:pt x="426008" y="1819922"/>
                  </a:lnTo>
                  <a:lnTo>
                    <a:pt x="420408" y="1827542"/>
                  </a:lnTo>
                  <a:lnTo>
                    <a:pt x="412102" y="1833892"/>
                  </a:lnTo>
                  <a:lnTo>
                    <a:pt x="401916" y="1835162"/>
                  </a:lnTo>
                  <a:lnTo>
                    <a:pt x="391769" y="1833892"/>
                  </a:lnTo>
                  <a:lnTo>
                    <a:pt x="383476" y="1827542"/>
                  </a:lnTo>
                  <a:lnTo>
                    <a:pt x="377863" y="1819922"/>
                  </a:lnTo>
                  <a:lnTo>
                    <a:pt x="375780" y="1809762"/>
                  </a:lnTo>
                  <a:lnTo>
                    <a:pt x="377786" y="1799602"/>
                  </a:lnTo>
                  <a:lnTo>
                    <a:pt x="383362" y="1790712"/>
                  </a:lnTo>
                  <a:lnTo>
                    <a:pt x="391655" y="1785632"/>
                  </a:lnTo>
                  <a:lnTo>
                    <a:pt x="401815" y="1783092"/>
                  </a:lnTo>
                  <a:lnTo>
                    <a:pt x="412102" y="1785632"/>
                  </a:lnTo>
                  <a:lnTo>
                    <a:pt x="420408" y="1790712"/>
                  </a:lnTo>
                  <a:lnTo>
                    <a:pt x="426008" y="1799602"/>
                  </a:lnTo>
                  <a:lnTo>
                    <a:pt x="428066" y="1809762"/>
                  </a:lnTo>
                  <a:lnTo>
                    <a:pt x="428066" y="1752549"/>
                  </a:lnTo>
                  <a:lnTo>
                    <a:pt x="418236" y="1748802"/>
                  </a:lnTo>
                  <a:lnTo>
                    <a:pt x="381177" y="1748802"/>
                  </a:lnTo>
                  <a:lnTo>
                    <a:pt x="347357" y="1764042"/>
                  </a:lnTo>
                  <a:lnTo>
                    <a:pt x="322872" y="1790712"/>
                  </a:lnTo>
                  <a:lnTo>
                    <a:pt x="309956" y="1823732"/>
                  </a:lnTo>
                  <a:lnTo>
                    <a:pt x="310400" y="1841512"/>
                  </a:lnTo>
                  <a:lnTo>
                    <a:pt x="310502" y="1845322"/>
                  </a:lnTo>
                  <a:lnTo>
                    <a:pt x="310565" y="1847862"/>
                  </a:lnTo>
                  <a:lnTo>
                    <a:pt x="310629" y="1850402"/>
                  </a:lnTo>
                  <a:lnTo>
                    <a:pt x="310718" y="1854212"/>
                  </a:lnTo>
                  <a:lnTo>
                    <a:pt x="310781" y="1856752"/>
                  </a:lnTo>
                  <a:lnTo>
                    <a:pt x="335889" y="1906282"/>
                  </a:lnTo>
                  <a:lnTo>
                    <a:pt x="381177" y="1931682"/>
                  </a:lnTo>
                  <a:lnTo>
                    <a:pt x="381177" y="2047252"/>
                  </a:lnTo>
                  <a:lnTo>
                    <a:pt x="353402" y="2054872"/>
                  </a:lnTo>
                  <a:lnTo>
                    <a:pt x="328307" y="2068842"/>
                  </a:lnTo>
                  <a:lnTo>
                    <a:pt x="306768" y="2086622"/>
                  </a:lnTo>
                  <a:lnTo>
                    <a:pt x="289661" y="2110752"/>
                  </a:lnTo>
                  <a:lnTo>
                    <a:pt x="277647" y="2105672"/>
                  </a:lnTo>
                  <a:lnTo>
                    <a:pt x="265645" y="2100592"/>
                  </a:lnTo>
                  <a:lnTo>
                    <a:pt x="184556" y="2066302"/>
                  </a:lnTo>
                  <a:lnTo>
                    <a:pt x="184391" y="2062492"/>
                  </a:lnTo>
                  <a:lnTo>
                    <a:pt x="184264" y="2059952"/>
                  </a:lnTo>
                  <a:lnTo>
                    <a:pt x="184150" y="2057412"/>
                  </a:lnTo>
                  <a:lnTo>
                    <a:pt x="184035" y="2054872"/>
                  </a:lnTo>
                  <a:lnTo>
                    <a:pt x="183972" y="2053602"/>
                  </a:lnTo>
                  <a:lnTo>
                    <a:pt x="183680" y="2047252"/>
                  </a:lnTo>
                  <a:lnTo>
                    <a:pt x="182981" y="2032012"/>
                  </a:lnTo>
                  <a:lnTo>
                    <a:pt x="182867" y="2029472"/>
                  </a:lnTo>
                  <a:lnTo>
                    <a:pt x="167614" y="1996452"/>
                  </a:lnTo>
                  <a:lnTo>
                    <a:pt x="166243" y="1995182"/>
                  </a:lnTo>
                  <a:lnTo>
                    <a:pt x="144830" y="1975523"/>
                  </a:lnTo>
                  <a:lnTo>
                    <a:pt x="144830" y="2100592"/>
                  </a:lnTo>
                  <a:lnTo>
                    <a:pt x="40030" y="2100592"/>
                  </a:lnTo>
                  <a:lnTo>
                    <a:pt x="57569" y="2062492"/>
                  </a:lnTo>
                  <a:lnTo>
                    <a:pt x="85128" y="2053602"/>
                  </a:lnTo>
                  <a:lnTo>
                    <a:pt x="99745" y="2053602"/>
                  </a:lnTo>
                  <a:lnTo>
                    <a:pt x="139534" y="2070112"/>
                  </a:lnTo>
                  <a:lnTo>
                    <a:pt x="144830" y="2100592"/>
                  </a:lnTo>
                  <a:lnTo>
                    <a:pt x="144830" y="1975523"/>
                  </a:lnTo>
                  <a:lnTo>
                    <a:pt x="141351" y="1972322"/>
                  </a:lnTo>
                  <a:lnTo>
                    <a:pt x="119202" y="1964245"/>
                  </a:lnTo>
                  <a:lnTo>
                    <a:pt x="119202" y="2021852"/>
                  </a:lnTo>
                  <a:lnTo>
                    <a:pt x="117132" y="2032012"/>
                  </a:lnTo>
                  <a:lnTo>
                    <a:pt x="111506" y="2039632"/>
                  </a:lnTo>
                  <a:lnTo>
                    <a:pt x="103162" y="2045982"/>
                  </a:lnTo>
                  <a:lnTo>
                    <a:pt x="92951" y="2047252"/>
                  </a:lnTo>
                  <a:lnTo>
                    <a:pt x="82727" y="2045982"/>
                  </a:lnTo>
                  <a:lnTo>
                    <a:pt x="74383" y="2039632"/>
                  </a:lnTo>
                  <a:lnTo>
                    <a:pt x="68757" y="2032012"/>
                  </a:lnTo>
                  <a:lnTo>
                    <a:pt x="66700" y="2021852"/>
                  </a:lnTo>
                  <a:lnTo>
                    <a:pt x="68757" y="2011692"/>
                  </a:lnTo>
                  <a:lnTo>
                    <a:pt x="74269" y="2002802"/>
                  </a:lnTo>
                  <a:lnTo>
                    <a:pt x="82423" y="1997722"/>
                  </a:lnTo>
                  <a:lnTo>
                    <a:pt x="92430" y="1995182"/>
                  </a:lnTo>
                  <a:lnTo>
                    <a:pt x="92951" y="1995182"/>
                  </a:lnTo>
                  <a:lnTo>
                    <a:pt x="103162" y="1997722"/>
                  </a:lnTo>
                  <a:lnTo>
                    <a:pt x="111506" y="2002802"/>
                  </a:lnTo>
                  <a:lnTo>
                    <a:pt x="117132" y="2011692"/>
                  </a:lnTo>
                  <a:lnTo>
                    <a:pt x="119202" y="2021852"/>
                  </a:lnTo>
                  <a:lnTo>
                    <a:pt x="119202" y="1964245"/>
                  </a:lnTo>
                  <a:lnTo>
                    <a:pt x="106553" y="1959622"/>
                  </a:lnTo>
                  <a:lnTo>
                    <a:pt x="69507" y="1962162"/>
                  </a:lnTo>
                  <a:lnTo>
                    <a:pt x="37122" y="1977402"/>
                  </a:lnTo>
                  <a:lnTo>
                    <a:pt x="12814" y="2002802"/>
                  </a:lnTo>
                  <a:lnTo>
                    <a:pt x="0" y="2038362"/>
                  </a:lnTo>
                  <a:lnTo>
                    <a:pt x="1295" y="2066302"/>
                  </a:lnTo>
                  <a:lnTo>
                    <a:pt x="1409" y="2068842"/>
                  </a:lnTo>
                  <a:lnTo>
                    <a:pt x="1473" y="2070112"/>
                  </a:lnTo>
                  <a:lnTo>
                    <a:pt x="1587" y="2072652"/>
                  </a:lnTo>
                  <a:lnTo>
                    <a:pt x="1701" y="2075192"/>
                  </a:lnTo>
                  <a:lnTo>
                    <a:pt x="16941" y="2106942"/>
                  </a:lnTo>
                  <a:lnTo>
                    <a:pt x="43218" y="2132342"/>
                  </a:lnTo>
                  <a:lnTo>
                    <a:pt x="78016" y="2145042"/>
                  </a:lnTo>
                  <a:lnTo>
                    <a:pt x="104216" y="2145042"/>
                  </a:lnTo>
                  <a:lnTo>
                    <a:pt x="129032" y="2138692"/>
                  </a:lnTo>
                  <a:lnTo>
                    <a:pt x="151053" y="2124722"/>
                  </a:lnTo>
                  <a:lnTo>
                    <a:pt x="168897" y="2105672"/>
                  </a:lnTo>
                  <a:lnTo>
                    <a:pt x="274929" y="2148852"/>
                  </a:lnTo>
                  <a:lnTo>
                    <a:pt x="272376" y="2175522"/>
                  </a:lnTo>
                  <a:lnTo>
                    <a:pt x="272249" y="2176792"/>
                  </a:lnTo>
                  <a:lnTo>
                    <a:pt x="275374" y="2203462"/>
                  </a:lnTo>
                  <a:lnTo>
                    <a:pt x="284073" y="2228862"/>
                  </a:lnTo>
                  <a:lnTo>
                    <a:pt x="298170" y="2252992"/>
                  </a:lnTo>
                  <a:lnTo>
                    <a:pt x="215582" y="2336127"/>
                  </a:lnTo>
                  <a:lnTo>
                    <a:pt x="215582" y="2447302"/>
                  </a:lnTo>
                  <a:lnTo>
                    <a:pt x="215163" y="2466352"/>
                  </a:lnTo>
                  <a:lnTo>
                    <a:pt x="111417" y="2466352"/>
                  </a:lnTo>
                  <a:lnTo>
                    <a:pt x="111518" y="2442222"/>
                  </a:lnTo>
                  <a:lnTo>
                    <a:pt x="113411" y="2438412"/>
                  </a:lnTo>
                  <a:lnTo>
                    <a:pt x="116611" y="2437142"/>
                  </a:lnTo>
                  <a:lnTo>
                    <a:pt x="122580" y="2432062"/>
                  </a:lnTo>
                  <a:lnTo>
                    <a:pt x="128854" y="2429522"/>
                  </a:lnTo>
                  <a:lnTo>
                    <a:pt x="135369" y="2426982"/>
                  </a:lnTo>
                  <a:lnTo>
                    <a:pt x="148996" y="2421902"/>
                  </a:lnTo>
                  <a:lnTo>
                    <a:pt x="156121" y="2420632"/>
                  </a:lnTo>
                  <a:lnTo>
                    <a:pt x="170611" y="2420632"/>
                  </a:lnTo>
                  <a:lnTo>
                    <a:pt x="177888" y="2421902"/>
                  </a:lnTo>
                  <a:lnTo>
                    <a:pt x="191681" y="2425712"/>
                  </a:lnTo>
                  <a:lnTo>
                    <a:pt x="198247" y="2429522"/>
                  </a:lnTo>
                  <a:lnTo>
                    <a:pt x="204495" y="2432062"/>
                  </a:lnTo>
                  <a:lnTo>
                    <a:pt x="210400" y="2435872"/>
                  </a:lnTo>
                  <a:lnTo>
                    <a:pt x="213588" y="2438412"/>
                  </a:lnTo>
                  <a:lnTo>
                    <a:pt x="215493" y="2442222"/>
                  </a:lnTo>
                  <a:lnTo>
                    <a:pt x="215582" y="2447302"/>
                  </a:lnTo>
                  <a:lnTo>
                    <a:pt x="215582" y="2336127"/>
                  </a:lnTo>
                  <a:lnTo>
                    <a:pt x="212369" y="2339352"/>
                  </a:lnTo>
                  <a:lnTo>
                    <a:pt x="189433" y="2330983"/>
                  </a:lnTo>
                  <a:lnTo>
                    <a:pt x="189433" y="2387612"/>
                  </a:lnTo>
                  <a:lnTo>
                    <a:pt x="187388" y="2397772"/>
                  </a:lnTo>
                  <a:lnTo>
                    <a:pt x="181775" y="2406662"/>
                  </a:lnTo>
                  <a:lnTo>
                    <a:pt x="173469" y="2411742"/>
                  </a:lnTo>
                  <a:lnTo>
                    <a:pt x="163296" y="2414282"/>
                  </a:lnTo>
                  <a:lnTo>
                    <a:pt x="153111" y="2411742"/>
                  </a:lnTo>
                  <a:lnTo>
                    <a:pt x="144805" y="2406662"/>
                  </a:lnTo>
                  <a:lnTo>
                    <a:pt x="139204" y="2397772"/>
                  </a:lnTo>
                  <a:lnTo>
                    <a:pt x="137147" y="2387612"/>
                  </a:lnTo>
                  <a:lnTo>
                    <a:pt x="139204" y="2377452"/>
                  </a:lnTo>
                  <a:lnTo>
                    <a:pt x="144805" y="2369832"/>
                  </a:lnTo>
                  <a:lnTo>
                    <a:pt x="153111" y="2363482"/>
                  </a:lnTo>
                  <a:lnTo>
                    <a:pt x="163296" y="2362212"/>
                  </a:lnTo>
                  <a:lnTo>
                    <a:pt x="173469" y="2363482"/>
                  </a:lnTo>
                  <a:lnTo>
                    <a:pt x="181775" y="2369832"/>
                  </a:lnTo>
                  <a:lnTo>
                    <a:pt x="187388" y="2377452"/>
                  </a:lnTo>
                  <a:lnTo>
                    <a:pt x="189433" y="2387612"/>
                  </a:lnTo>
                  <a:lnTo>
                    <a:pt x="189433" y="2330983"/>
                  </a:lnTo>
                  <a:lnTo>
                    <a:pt x="177584" y="2326652"/>
                  </a:lnTo>
                  <a:lnTo>
                    <a:pt x="141820" y="2327922"/>
                  </a:lnTo>
                  <a:lnTo>
                    <a:pt x="109207" y="2343162"/>
                  </a:lnTo>
                  <a:lnTo>
                    <a:pt x="83870" y="2369832"/>
                  </a:lnTo>
                  <a:lnTo>
                    <a:pt x="71031" y="2405392"/>
                  </a:lnTo>
                  <a:lnTo>
                    <a:pt x="72263" y="2435872"/>
                  </a:lnTo>
                  <a:lnTo>
                    <a:pt x="72364" y="2438412"/>
                  </a:lnTo>
                  <a:lnTo>
                    <a:pt x="72466" y="2440952"/>
                  </a:lnTo>
                  <a:lnTo>
                    <a:pt x="87223" y="2472702"/>
                  </a:lnTo>
                  <a:lnTo>
                    <a:pt x="114300" y="2498102"/>
                  </a:lnTo>
                  <a:lnTo>
                    <a:pt x="149085" y="2510802"/>
                  </a:lnTo>
                  <a:lnTo>
                    <a:pt x="184848" y="2509532"/>
                  </a:lnTo>
                  <a:lnTo>
                    <a:pt x="242798" y="2467622"/>
                  </a:lnTo>
                  <a:lnTo>
                    <a:pt x="256374" y="2420632"/>
                  </a:lnTo>
                  <a:lnTo>
                    <a:pt x="256705" y="2418092"/>
                  </a:lnTo>
                  <a:lnTo>
                    <a:pt x="256120" y="2414282"/>
                  </a:lnTo>
                  <a:lnTo>
                    <a:pt x="252818" y="2392692"/>
                  </a:lnTo>
                  <a:lnTo>
                    <a:pt x="241731" y="2368562"/>
                  </a:lnTo>
                  <a:lnTo>
                    <a:pt x="248081" y="2362212"/>
                  </a:lnTo>
                  <a:lnTo>
                    <a:pt x="270967" y="2339352"/>
                  </a:lnTo>
                  <a:lnTo>
                    <a:pt x="328155" y="2282202"/>
                  </a:lnTo>
                  <a:lnTo>
                    <a:pt x="363702" y="2298712"/>
                  </a:lnTo>
                  <a:lnTo>
                    <a:pt x="401967" y="2305062"/>
                  </a:lnTo>
                  <a:lnTo>
                    <a:pt x="440245" y="2298712"/>
                  </a:lnTo>
                  <a:lnTo>
                    <a:pt x="475792" y="2282202"/>
                  </a:lnTo>
                  <a:lnTo>
                    <a:pt x="562216" y="2368562"/>
                  </a:lnTo>
                  <a:lnTo>
                    <a:pt x="548614" y="2402852"/>
                  </a:lnTo>
                  <a:lnTo>
                    <a:pt x="548665" y="2405392"/>
                  </a:lnTo>
                  <a:lnTo>
                    <a:pt x="548779" y="2411742"/>
                  </a:lnTo>
                  <a:lnTo>
                    <a:pt x="548830" y="2414282"/>
                  </a:lnTo>
                  <a:lnTo>
                    <a:pt x="548944" y="2420632"/>
                  </a:lnTo>
                  <a:lnTo>
                    <a:pt x="549033" y="2425712"/>
                  </a:lnTo>
                  <a:lnTo>
                    <a:pt x="549160" y="2432062"/>
                  </a:lnTo>
                  <a:lnTo>
                    <a:pt x="549275" y="2438412"/>
                  </a:lnTo>
                  <a:lnTo>
                    <a:pt x="563295" y="2471432"/>
                  </a:lnTo>
                  <a:lnTo>
                    <a:pt x="589813" y="2496832"/>
                  </a:lnTo>
                  <a:lnTo>
                    <a:pt x="624306" y="2510802"/>
                  </a:lnTo>
                  <a:lnTo>
                    <a:pt x="660095" y="2510802"/>
                  </a:lnTo>
                  <a:lnTo>
                    <a:pt x="693026" y="2496832"/>
                  </a:lnTo>
                  <a:lnTo>
                    <a:pt x="718947" y="2470162"/>
                  </a:lnTo>
                  <a:lnTo>
                    <a:pt x="720458" y="2466352"/>
                  </a:lnTo>
                  <a:lnTo>
                    <a:pt x="732561" y="2435872"/>
                  </a:lnTo>
                  <a:lnTo>
                    <a:pt x="732447" y="2429522"/>
                  </a:lnTo>
                  <a:lnTo>
                    <a:pt x="732345" y="2424442"/>
                  </a:lnTo>
                  <a:lnTo>
                    <a:pt x="732282" y="2420632"/>
                  </a:lnTo>
                  <a:lnTo>
                    <a:pt x="732167" y="2414282"/>
                  </a:lnTo>
                  <a:lnTo>
                    <a:pt x="732129" y="2411742"/>
                  </a:lnTo>
                  <a:lnTo>
                    <a:pt x="732015" y="2405392"/>
                  </a:lnTo>
                  <a:lnTo>
                    <a:pt x="731901" y="2399042"/>
                  </a:lnTo>
                  <a:lnTo>
                    <a:pt x="717867" y="2366022"/>
                  </a:lnTo>
                  <a:lnTo>
                    <a:pt x="713892" y="2362212"/>
                  </a:lnTo>
                  <a:lnTo>
                    <a:pt x="692835" y="2342057"/>
                  </a:lnTo>
                  <a:lnTo>
                    <a:pt x="692835" y="2466352"/>
                  </a:lnTo>
                  <a:lnTo>
                    <a:pt x="588670" y="2466352"/>
                  </a:lnTo>
                  <a:lnTo>
                    <a:pt x="588772" y="2442222"/>
                  </a:lnTo>
                  <a:lnTo>
                    <a:pt x="590677" y="2438412"/>
                  </a:lnTo>
                  <a:lnTo>
                    <a:pt x="593864" y="2437142"/>
                  </a:lnTo>
                  <a:lnTo>
                    <a:pt x="599833" y="2432062"/>
                  </a:lnTo>
                  <a:lnTo>
                    <a:pt x="606107" y="2429522"/>
                  </a:lnTo>
                  <a:lnTo>
                    <a:pt x="612635" y="2426982"/>
                  </a:lnTo>
                  <a:lnTo>
                    <a:pt x="626262" y="2421902"/>
                  </a:lnTo>
                  <a:lnTo>
                    <a:pt x="633374" y="2420632"/>
                  </a:lnTo>
                  <a:lnTo>
                    <a:pt x="647865" y="2420632"/>
                  </a:lnTo>
                  <a:lnTo>
                    <a:pt x="655142" y="2421902"/>
                  </a:lnTo>
                  <a:lnTo>
                    <a:pt x="668947" y="2425712"/>
                  </a:lnTo>
                  <a:lnTo>
                    <a:pt x="675500" y="2429522"/>
                  </a:lnTo>
                  <a:lnTo>
                    <a:pt x="681748" y="2432062"/>
                  </a:lnTo>
                  <a:lnTo>
                    <a:pt x="687654" y="2435872"/>
                  </a:lnTo>
                  <a:lnTo>
                    <a:pt x="690841" y="2438412"/>
                  </a:lnTo>
                  <a:lnTo>
                    <a:pt x="692746" y="2442222"/>
                  </a:lnTo>
                  <a:lnTo>
                    <a:pt x="692835" y="2466352"/>
                  </a:lnTo>
                  <a:lnTo>
                    <a:pt x="692835" y="2342057"/>
                  </a:lnTo>
                  <a:lnTo>
                    <a:pt x="691349" y="2340622"/>
                  </a:lnTo>
                  <a:lnTo>
                    <a:pt x="688657" y="2339352"/>
                  </a:lnTo>
                  <a:lnTo>
                    <a:pt x="667131" y="2329192"/>
                  </a:lnTo>
                  <a:lnTo>
                    <a:pt x="666699" y="2329129"/>
                  </a:lnTo>
                  <a:lnTo>
                    <a:pt x="666699" y="2387612"/>
                  </a:lnTo>
                  <a:lnTo>
                    <a:pt x="664641" y="2397772"/>
                  </a:lnTo>
                  <a:lnTo>
                    <a:pt x="659041" y="2406662"/>
                  </a:lnTo>
                  <a:lnTo>
                    <a:pt x="650722" y="2411742"/>
                  </a:lnTo>
                  <a:lnTo>
                    <a:pt x="640549" y="2414282"/>
                  </a:lnTo>
                  <a:lnTo>
                    <a:pt x="630377" y="2411742"/>
                  </a:lnTo>
                  <a:lnTo>
                    <a:pt x="622058" y="2406662"/>
                  </a:lnTo>
                  <a:lnTo>
                    <a:pt x="616458" y="2397772"/>
                  </a:lnTo>
                  <a:lnTo>
                    <a:pt x="614400" y="2387612"/>
                  </a:lnTo>
                  <a:lnTo>
                    <a:pt x="616458" y="2377452"/>
                  </a:lnTo>
                  <a:lnTo>
                    <a:pt x="622058" y="2369832"/>
                  </a:lnTo>
                  <a:lnTo>
                    <a:pt x="630377" y="2363482"/>
                  </a:lnTo>
                  <a:lnTo>
                    <a:pt x="640549" y="2362212"/>
                  </a:lnTo>
                  <a:lnTo>
                    <a:pt x="650722" y="2363482"/>
                  </a:lnTo>
                  <a:lnTo>
                    <a:pt x="659041" y="2369832"/>
                  </a:lnTo>
                  <a:lnTo>
                    <a:pt x="664641" y="2377452"/>
                  </a:lnTo>
                  <a:lnTo>
                    <a:pt x="666699" y="2387612"/>
                  </a:lnTo>
                  <a:lnTo>
                    <a:pt x="666699" y="2329129"/>
                  </a:lnTo>
                  <a:lnTo>
                    <a:pt x="641261" y="2325382"/>
                  </a:lnTo>
                  <a:lnTo>
                    <a:pt x="615340" y="2329192"/>
                  </a:lnTo>
                  <a:lnTo>
                    <a:pt x="590956" y="2339352"/>
                  </a:lnTo>
                  <a:lnTo>
                    <a:pt x="534517" y="2282202"/>
                  </a:lnTo>
                  <a:lnTo>
                    <a:pt x="505675" y="2252992"/>
                  </a:lnTo>
                  <a:lnTo>
                    <a:pt x="512965" y="2241562"/>
                  </a:lnTo>
                  <a:lnTo>
                    <a:pt x="517017" y="2235212"/>
                  </a:lnTo>
                  <a:lnTo>
                    <a:pt x="525284" y="2216162"/>
                  </a:lnTo>
                  <a:lnTo>
                    <a:pt x="530326" y="2195842"/>
                  </a:lnTo>
                  <a:lnTo>
                    <a:pt x="531495" y="2181872"/>
                  </a:lnTo>
                  <a:lnTo>
                    <a:pt x="531596" y="2180602"/>
                  </a:lnTo>
                  <a:lnTo>
                    <a:pt x="531710" y="2179332"/>
                  </a:lnTo>
                  <a:lnTo>
                    <a:pt x="531812" y="2178062"/>
                  </a:lnTo>
                  <a:lnTo>
                    <a:pt x="531914" y="2176792"/>
                  </a:lnTo>
                  <a:lnTo>
                    <a:pt x="532003" y="2169172"/>
                  </a:lnTo>
                  <a:lnTo>
                    <a:pt x="531990" y="2166632"/>
                  </a:lnTo>
                  <a:lnTo>
                    <a:pt x="531152" y="2159012"/>
                  </a:lnTo>
                  <a:lnTo>
                    <a:pt x="529539" y="2150122"/>
                  </a:lnTo>
                  <a:lnTo>
                    <a:pt x="622998" y="2112022"/>
                  </a:lnTo>
                  <a:lnTo>
                    <a:pt x="638581" y="2105672"/>
                  </a:lnTo>
                  <a:lnTo>
                    <a:pt x="653554" y="2122182"/>
                  </a:lnTo>
                  <a:lnTo>
                    <a:pt x="671842" y="2134882"/>
                  </a:lnTo>
                  <a:lnTo>
                    <a:pt x="692594" y="2142502"/>
                  </a:lnTo>
                  <a:lnTo>
                    <a:pt x="714946" y="2145042"/>
                  </a:lnTo>
                  <a:lnTo>
                    <a:pt x="751281" y="2138692"/>
                  </a:lnTo>
                  <a:lnTo>
                    <a:pt x="780948" y="2118372"/>
                  </a:lnTo>
                  <a:lnTo>
                    <a:pt x="789647" y="2105672"/>
                  </a:lnTo>
                  <a:lnTo>
                    <a:pt x="793127" y="2100592"/>
                  </a:lnTo>
                  <a:lnTo>
                    <a:pt x="800950" y="2089162"/>
                  </a:lnTo>
                  <a:lnTo>
                    <a:pt x="808024" y="2053602"/>
                  </a:lnTo>
                  <a:lnTo>
                    <a:pt x="808278" y="2052332"/>
                  </a:lnTo>
                  <a:close/>
                </a:path>
              </a:pathLst>
            </a:custGeom>
            <a:solidFill>
              <a:srgbClr val="3366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46628" y="3480815"/>
              <a:ext cx="2459355" cy="618490"/>
            </a:xfrm>
            <a:custGeom>
              <a:avLst/>
              <a:gdLst/>
              <a:ahLst/>
              <a:cxnLst/>
              <a:rect l="l" t="t" r="r" b="b"/>
              <a:pathLst>
                <a:path w="2459354" h="618489">
                  <a:moveTo>
                    <a:pt x="200025" y="417957"/>
                  </a:moveTo>
                  <a:lnTo>
                    <a:pt x="133350" y="417957"/>
                  </a:lnTo>
                  <a:lnTo>
                    <a:pt x="133350" y="0"/>
                  </a:lnTo>
                  <a:lnTo>
                    <a:pt x="66675" y="0"/>
                  </a:lnTo>
                  <a:lnTo>
                    <a:pt x="66675" y="417957"/>
                  </a:lnTo>
                  <a:lnTo>
                    <a:pt x="0" y="417957"/>
                  </a:lnTo>
                  <a:lnTo>
                    <a:pt x="100076" y="617982"/>
                  </a:lnTo>
                  <a:lnTo>
                    <a:pt x="183388" y="451231"/>
                  </a:lnTo>
                  <a:lnTo>
                    <a:pt x="200025" y="417957"/>
                  </a:lnTo>
                  <a:close/>
                </a:path>
                <a:path w="2459354" h="618489">
                  <a:moveTo>
                    <a:pt x="2458974" y="309372"/>
                  </a:moveTo>
                  <a:lnTo>
                    <a:pt x="2392210" y="275971"/>
                  </a:lnTo>
                  <a:lnTo>
                    <a:pt x="2258949" y="209296"/>
                  </a:lnTo>
                  <a:lnTo>
                    <a:pt x="2258949" y="275971"/>
                  </a:lnTo>
                  <a:lnTo>
                    <a:pt x="1279652" y="275971"/>
                  </a:lnTo>
                  <a:lnTo>
                    <a:pt x="1279652" y="342646"/>
                  </a:lnTo>
                  <a:lnTo>
                    <a:pt x="2258949" y="342646"/>
                  </a:lnTo>
                  <a:lnTo>
                    <a:pt x="2258949" y="409321"/>
                  </a:lnTo>
                  <a:lnTo>
                    <a:pt x="2392375" y="342646"/>
                  </a:lnTo>
                  <a:lnTo>
                    <a:pt x="2458974" y="309372"/>
                  </a:lnTo>
                  <a:close/>
                </a:path>
              </a:pathLst>
            </a:custGeom>
            <a:solidFill>
              <a:srgbClr val="DEE7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434073" y="5634024"/>
            <a:ext cx="349567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Decisiones</a:t>
            </a:r>
            <a:r>
              <a:rPr sz="1500" spc="-1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que</a:t>
            </a:r>
            <a:r>
              <a:rPr sz="1500" spc="1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generen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acciones</a:t>
            </a:r>
            <a:endParaRPr sz="15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logrando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bienestar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competitividad</a:t>
            </a:r>
            <a:endParaRPr sz="15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99178" y="2869438"/>
            <a:ext cx="5858510" cy="3684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Clr>
                <a:srgbClr val="2CDAFF"/>
              </a:buClr>
              <a:buFont typeface="Courier New"/>
              <a:buChar char="o"/>
              <a:tabLst>
                <a:tab pos="299085" algn="l"/>
              </a:tabLst>
            </a:pPr>
            <a:r>
              <a:rPr sz="1500" b="1" dirty="0">
                <a:solidFill>
                  <a:srgbClr val="0030B8"/>
                </a:solidFill>
                <a:latin typeface="Tahoma"/>
                <a:cs typeface="Tahoma"/>
              </a:rPr>
              <a:t>Datos</a:t>
            </a:r>
            <a:r>
              <a:rPr sz="1500" b="1" spc="95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0030B8"/>
                </a:solidFill>
                <a:latin typeface="Tahoma"/>
                <a:cs typeface="Tahoma"/>
              </a:rPr>
              <a:t>sensibles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:</a:t>
            </a:r>
            <a:r>
              <a:rPr sz="15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se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entiende</a:t>
            </a:r>
            <a:r>
              <a:rPr sz="15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por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datos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sensibles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aquellos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que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afectan</a:t>
            </a:r>
            <a:r>
              <a:rPr sz="15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intimidad</a:t>
            </a:r>
            <a:r>
              <a:rPr sz="15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del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Titular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o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cuyo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uso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indebido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puede</a:t>
            </a:r>
            <a:r>
              <a:rPr sz="15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generar</a:t>
            </a:r>
            <a:r>
              <a:rPr sz="15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su</a:t>
            </a:r>
            <a:r>
              <a:rPr sz="15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discriminación,</a:t>
            </a:r>
            <a:r>
              <a:rPr sz="15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tales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50" dirty="0">
                <a:solidFill>
                  <a:srgbClr val="0030B8"/>
                </a:solidFill>
                <a:latin typeface="Verdana"/>
                <a:cs typeface="Verdana"/>
              </a:rPr>
              <a:t>como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aquellos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que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revelen</a:t>
            </a:r>
            <a:r>
              <a:rPr sz="1500" spc="-1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el</a:t>
            </a:r>
            <a:r>
              <a:rPr sz="15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origen</a:t>
            </a:r>
            <a:r>
              <a:rPr sz="15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racial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o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étnico,</a:t>
            </a:r>
            <a:r>
              <a:rPr sz="15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orientación</a:t>
            </a:r>
            <a:r>
              <a:rPr sz="1500" spc="-1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política,</a:t>
            </a:r>
            <a:r>
              <a:rPr sz="15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las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convicciones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religiosas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o</a:t>
            </a:r>
            <a:r>
              <a:rPr sz="15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filosóficas,</a:t>
            </a:r>
            <a:r>
              <a:rPr sz="15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5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pertenencia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50" dirty="0">
                <a:solidFill>
                  <a:srgbClr val="0030B8"/>
                </a:solidFill>
                <a:latin typeface="Verdana"/>
                <a:cs typeface="Verdana"/>
              </a:rPr>
              <a:t>a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sindicatos,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organizaciones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40" dirty="0">
                <a:solidFill>
                  <a:srgbClr val="0030B8"/>
                </a:solidFill>
                <a:latin typeface="Verdana"/>
                <a:cs typeface="Verdana"/>
              </a:rPr>
              <a:t>sociales,</a:t>
            </a:r>
            <a:r>
              <a:rPr sz="15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derechos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humanos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o</a:t>
            </a:r>
            <a:r>
              <a:rPr sz="15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que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promueva</a:t>
            </a:r>
            <a:r>
              <a:rPr sz="15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intereses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cualquier</a:t>
            </a:r>
            <a:r>
              <a:rPr sz="15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partido</a:t>
            </a:r>
            <a:r>
              <a:rPr sz="15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político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50" dirty="0">
                <a:solidFill>
                  <a:srgbClr val="0030B8"/>
                </a:solidFill>
                <a:latin typeface="Verdana"/>
                <a:cs typeface="Verdana"/>
              </a:rPr>
              <a:t>o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que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garanticen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derechos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5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garantías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partidos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políticos</a:t>
            </a:r>
            <a:r>
              <a:rPr sz="15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oposición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así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50" dirty="0">
                <a:solidFill>
                  <a:srgbClr val="0030B8"/>
                </a:solidFill>
                <a:latin typeface="Verdana"/>
                <a:cs typeface="Verdana"/>
              </a:rPr>
              <a:t>como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datos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relativos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a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la </a:t>
            </a:r>
            <a:r>
              <a:rPr sz="1500" spc="-40" dirty="0">
                <a:solidFill>
                  <a:srgbClr val="0030B8"/>
                </a:solidFill>
                <a:latin typeface="Verdana"/>
                <a:cs typeface="Verdana"/>
              </a:rPr>
              <a:t>salud,</a:t>
            </a:r>
            <a:r>
              <a:rPr sz="1500" spc="-1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a</a:t>
            </a:r>
            <a:r>
              <a:rPr sz="1500" spc="-1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500" spc="-11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vida</a:t>
            </a:r>
            <a:r>
              <a:rPr sz="1500" spc="-1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sexual</a:t>
            </a:r>
            <a:r>
              <a:rPr sz="1500" spc="-1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500" spc="-1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5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datos</a:t>
            </a:r>
            <a:r>
              <a:rPr sz="1500" spc="-1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biométricos.</a:t>
            </a:r>
            <a:endParaRPr sz="1500">
              <a:latin typeface="Verdana"/>
              <a:cs typeface="Verdana"/>
            </a:endParaRPr>
          </a:p>
          <a:p>
            <a:pPr marL="299085" marR="203200" indent="-287020">
              <a:lnSpc>
                <a:spcPct val="100000"/>
              </a:lnSpc>
              <a:spcBef>
                <a:spcPts val="1805"/>
              </a:spcBef>
              <a:buClr>
                <a:srgbClr val="2CDAFF"/>
              </a:buClr>
              <a:buFont typeface="Courier New"/>
              <a:buChar char="o"/>
              <a:tabLst>
                <a:tab pos="299085" algn="l"/>
              </a:tabLst>
            </a:pPr>
            <a:r>
              <a:rPr sz="1500" b="1" dirty="0">
                <a:solidFill>
                  <a:srgbClr val="0030B8"/>
                </a:solidFill>
                <a:latin typeface="Tahoma"/>
                <a:cs typeface="Tahoma"/>
              </a:rPr>
              <a:t>Datos</a:t>
            </a:r>
            <a:r>
              <a:rPr sz="1500" b="1" spc="125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0030B8"/>
                </a:solidFill>
                <a:latin typeface="Tahoma"/>
                <a:cs typeface="Tahoma"/>
              </a:rPr>
              <a:t>personales:</a:t>
            </a:r>
            <a:r>
              <a:rPr sz="1500" b="1" spc="130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Es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cualquier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pieza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información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vinculada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a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una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o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50" dirty="0">
                <a:solidFill>
                  <a:srgbClr val="0030B8"/>
                </a:solidFill>
                <a:latin typeface="Verdana"/>
                <a:cs typeface="Verdana"/>
              </a:rPr>
              <a:t>varias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personas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determinadas</a:t>
            </a:r>
            <a:r>
              <a:rPr sz="15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50" dirty="0">
                <a:solidFill>
                  <a:srgbClr val="0030B8"/>
                </a:solidFill>
                <a:latin typeface="Verdana"/>
                <a:cs typeface="Verdana"/>
              </a:rPr>
              <a:t>o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determinables</a:t>
            </a:r>
            <a:r>
              <a:rPr sz="15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o</a:t>
            </a:r>
            <a:r>
              <a:rPr sz="1500" spc="-1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que</a:t>
            </a:r>
            <a:r>
              <a:rPr sz="1500" spc="-1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puedan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asociarse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con</a:t>
            </a:r>
            <a:r>
              <a:rPr sz="1500" spc="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una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 persona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natural</a:t>
            </a:r>
            <a:r>
              <a:rPr sz="1500" spc="-1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o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jurídica.</a:t>
            </a:r>
            <a:r>
              <a:rPr sz="1500" spc="-1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datos</a:t>
            </a:r>
            <a:r>
              <a:rPr sz="15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personales</a:t>
            </a:r>
            <a:r>
              <a:rPr sz="1500" spc="-1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50" dirty="0">
                <a:solidFill>
                  <a:srgbClr val="0030B8"/>
                </a:solidFill>
                <a:latin typeface="Verdana"/>
                <a:cs typeface="Verdana"/>
              </a:rPr>
              <a:t>pueden</a:t>
            </a:r>
            <a:r>
              <a:rPr sz="1500" spc="-1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ser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públicos,</a:t>
            </a:r>
            <a:r>
              <a:rPr sz="1500" spc="-1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semiprivados</a:t>
            </a:r>
            <a:r>
              <a:rPr sz="1500" spc="-1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o</a:t>
            </a:r>
            <a:r>
              <a:rPr sz="15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privados.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599178" y="2077923"/>
            <a:ext cx="559054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65" dirty="0"/>
              <a:t>Tipos</a:t>
            </a:r>
            <a:r>
              <a:rPr sz="3200" dirty="0"/>
              <a:t> </a:t>
            </a:r>
            <a:r>
              <a:rPr sz="3200" spc="155" dirty="0"/>
              <a:t>de</a:t>
            </a:r>
            <a:r>
              <a:rPr sz="3200" spc="-10" dirty="0"/>
              <a:t> </a:t>
            </a:r>
            <a:r>
              <a:rPr sz="3200" dirty="0"/>
              <a:t>datos:</a:t>
            </a:r>
            <a:r>
              <a:rPr sz="3200" spc="-30" dirty="0"/>
              <a:t> </a:t>
            </a:r>
            <a:r>
              <a:rPr sz="3200" spc="80" dirty="0"/>
              <a:t>privacidad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1530096" y="3729228"/>
            <a:ext cx="2432685" cy="1286510"/>
          </a:xfrm>
          <a:prstGeom prst="rect">
            <a:avLst/>
          </a:prstGeom>
          <a:solidFill>
            <a:srgbClr val="6E92DB"/>
          </a:solidFill>
        </p:spPr>
        <p:txBody>
          <a:bodyPr vert="horz" wrap="square" lIns="0" tIns="273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15"/>
              </a:spcBef>
            </a:pPr>
            <a:endParaRPr sz="2800">
              <a:latin typeface="Times New Roman"/>
              <a:cs typeface="Times New Roman"/>
            </a:endParaRPr>
          </a:p>
          <a:p>
            <a:pPr marL="694690">
              <a:lnSpc>
                <a:spcPct val="100000"/>
              </a:lnSpc>
            </a:pPr>
            <a:r>
              <a:rPr sz="2800" spc="-10" dirty="0">
                <a:solidFill>
                  <a:srgbClr val="FDFFFF"/>
                </a:solidFill>
                <a:latin typeface="Verdana"/>
                <a:cs typeface="Verdana"/>
              </a:rPr>
              <a:t>Datos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2355" y="3973067"/>
            <a:ext cx="821436" cy="79705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8739" y="6623101"/>
            <a:ext cx="315658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0030B8"/>
                </a:solidFill>
                <a:latin typeface="Verdana"/>
                <a:cs typeface="Verdana"/>
              </a:rPr>
              <a:t>Según</a:t>
            </a:r>
            <a:r>
              <a:rPr sz="1050" spc="-10" dirty="0">
                <a:solidFill>
                  <a:srgbClr val="0030B8"/>
                </a:solidFill>
                <a:latin typeface="Verdana"/>
                <a:cs typeface="Verdana"/>
              </a:rPr>
              <a:t> Ley</a:t>
            </a:r>
            <a:r>
              <a:rPr sz="1050" spc="-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spc="-165" dirty="0">
                <a:solidFill>
                  <a:srgbClr val="0030B8"/>
                </a:solidFill>
                <a:latin typeface="Verdana"/>
                <a:cs typeface="Verdana"/>
              </a:rPr>
              <a:t>1581</a:t>
            </a:r>
            <a:r>
              <a:rPr sz="1050" spc="-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0030B8"/>
                </a:solidFill>
                <a:latin typeface="Verdana"/>
                <a:cs typeface="Verdana"/>
              </a:rPr>
              <a:t>protección</a:t>
            </a:r>
            <a:r>
              <a:rPr sz="105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050" spc="-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0030B8"/>
                </a:solidFill>
                <a:latin typeface="Verdana"/>
                <a:cs typeface="Verdana"/>
              </a:rPr>
              <a:t>datos</a:t>
            </a:r>
            <a:r>
              <a:rPr sz="1050" spc="-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0030B8"/>
                </a:solidFill>
                <a:latin typeface="Verdana"/>
                <a:cs typeface="Verdana"/>
              </a:rPr>
              <a:t>personales</a:t>
            </a:r>
            <a:endParaRPr sz="10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99178" y="2792984"/>
            <a:ext cx="5954395" cy="3912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2CDAFF"/>
              </a:buClr>
              <a:buFont typeface="Courier New"/>
              <a:buChar char="o"/>
              <a:tabLst>
                <a:tab pos="299085" algn="l"/>
              </a:tabLst>
            </a:pPr>
            <a:r>
              <a:rPr sz="1500" b="1" dirty="0">
                <a:solidFill>
                  <a:srgbClr val="0030B8"/>
                </a:solidFill>
                <a:latin typeface="Tahoma"/>
                <a:cs typeface="Tahoma"/>
              </a:rPr>
              <a:t>Dato</a:t>
            </a:r>
            <a:r>
              <a:rPr sz="1500" b="1" spc="75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0030B8"/>
                </a:solidFill>
                <a:latin typeface="Tahoma"/>
                <a:cs typeface="Tahoma"/>
              </a:rPr>
              <a:t>privado:</a:t>
            </a:r>
            <a:r>
              <a:rPr sz="1500" b="1" spc="70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Es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el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dato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que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por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su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naturaleza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íntima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50" dirty="0">
                <a:solidFill>
                  <a:srgbClr val="0030B8"/>
                </a:solidFill>
                <a:latin typeface="Verdana"/>
                <a:cs typeface="Verdana"/>
              </a:rPr>
              <a:t>o</a:t>
            </a:r>
            <a:endParaRPr sz="1500">
              <a:latin typeface="Verdana"/>
              <a:cs typeface="Verdana"/>
            </a:endParaRPr>
          </a:p>
          <a:p>
            <a:pPr marL="299085">
              <a:lnSpc>
                <a:spcPct val="100000"/>
              </a:lnSpc>
            </a:pP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reservada</a:t>
            </a:r>
            <a:r>
              <a:rPr sz="1500" spc="-1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sólo</a:t>
            </a:r>
            <a:r>
              <a:rPr sz="1500" spc="-1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es</a:t>
            </a:r>
            <a:r>
              <a:rPr sz="1500" spc="-1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relevante</a:t>
            </a:r>
            <a:r>
              <a:rPr sz="1500" spc="-1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para</a:t>
            </a:r>
            <a:r>
              <a:rPr sz="1500" spc="-1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el</a:t>
            </a:r>
            <a:r>
              <a:rPr sz="1500" spc="-1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titular</a:t>
            </a:r>
            <a:endParaRPr sz="1500">
              <a:latin typeface="Verdana"/>
              <a:cs typeface="Verdana"/>
            </a:endParaRPr>
          </a:p>
          <a:p>
            <a:pPr marL="299085" marR="5080" indent="-287020">
              <a:lnSpc>
                <a:spcPct val="100000"/>
              </a:lnSpc>
              <a:spcBef>
                <a:spcPts val="1800"/>
              </a:spcBef>
              <a:buClr>
                <a:srgbClr val="2CDAFF"/>
              </a:buClr>
              <a:buFont typeface="Courier New"/>
              <a:buChar char="o"/>
              <a:tabLst>
                <a:tab pos="299085" algn="l"/>
              </a:tabLst>
            </a:pPr>
            <a:r>
              <a:rPr sz="1500" b="1" dirty="0">
                <a:solidFill>
                  <a:srgbClr val="0030B8"/>
                </a:solidFill>
                <a:latin typeface="Tahoma"/>
                <a:cs typeface="Tahoma"/>
              </a:rPr>
              <a:t>Dato</a:t>
            </a:r>
            <a:r>
              <a:rPr sz="1500" b="1" spc="125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0030B8"/>
                </a:solidFill>
                <a:latin typeface="Tahoma"/>
                <a:cs typeface="Tahoma"/>
              </a:rPr>
              <a:t>semiprivado:</a:t>
            </a:r>
            <a:r>
              <a:rPr sz="1500" b="1" spc="120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Es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semiprivado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el</a:t>
            </a:r>
            <a:r>
              <a:rPr sz="15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dato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que</a:t>
            </a:r>
            <a:r>
              <a:rPr sz="1500" spc="-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no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tiene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naturaleza</a:t>
            </a:r>
            <a:r>
              <a:rPr sz="15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íntima,</a:t>
            </a:r>
            <a:r>
              <a:rPr sz="1500" spc="-1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50" dirty="0">
                <a:solidFill>
                  <a:srgbClr val="0030B8"/>
                </a:solidFill>
                <a:latin typeface="Verdana"/>
                <a:cs typeface="Verdana"/>
              </a:rPr>
              <a:t>reservada,</a:t>
            </a:r>
            <a:r>
              <a:rPr sz="1500" spc="-1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ni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pública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y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cuyo</a:t>
            </a:r>
            <a:r>
              <a:rPr sz="1500" spc="5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conocimiento</a:t>
            </a:r>
            <a:r>
              <a:rPr sz="15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o</a:t>
            </a:r>
            <a:r>
              <a:rPr sz="1500" spc="-1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divulgación</a:t>
            </a:r>
            <a:r>
              <a:rPr sz="15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puede</a:t>
            </a:r>
            <a:r>
              <a:rPr sz="15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interesar</a:t>
            </a:r>
            <a:r>
              <a:rPr sz="15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no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sólo</a:t>
            </a:r>
            <a:r>
              <a:rPr sz="1500" spc="-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a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su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titular</a:t>
            </a:r>
            <a:r>
              <a:rPr sz="15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sino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a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cierto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sector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o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grupo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personas</a:t>
            </a:r>
            <a:r>
              <a:rPr sz="15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o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a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la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sociedad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general,</a:t>
            </a:r>
            <a:r>
              <a:rPr sz="1500" spc="-11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50" dirty="0">
                <a:solidFill>
                  <a:srgbClr val="0030B8"/>
                </a:solidFill>
                <a:latin typeface="Verdana"/>
                <a:cs typeface="Verdana"/>
              </a:rPr>
              <a:t>como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el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dato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financiero</a:t>
            </a:r>
            <a:r>
              <a:rPr sz="15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crediticio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de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actividad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comercial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o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servicios.</a:t>
            </a:r>
            <a:endParaRPr sz="1500">
              <a:latin typeface="Verdana"/>
              <a:cs typeface="Verdana"/>
            </a:endParaRPr>
          </a:p>
          <a:p>
            <a:pPr marL="299085" marR="95885" indent="-287020">
              <a:lnSpc>
                <a:spcPct val="100000"/>
              </a:lnSpc>
              <a:spcBef>
                <a:spcPts val="1805"/>
              </a:spcBef>
              <a:buClr>
                <a:srgbClr val="2CDAFF"/>
              </a:buClr>
              <a:buFont typeface="Courier New"/>
              <a:buChar char="o"/>
              <a:tabLst>
                <a:tab pos="299085" algn="l"/>
              </a:tabLst>
            </a:pPr>
            <a:r>
              <a:rPr sz="1500" b="1" dirty="0">
                <a:solidFill>
                  <a:srgbClr val="0030B8"/>
                </a:solidFill>
                <a:latin typeface="Tahoma"/>
                <a:cs typeface="Tahoma"/>
              </a:rPr>
              <a:t>Dato</a:t>
            </a:r>
            <a:r>
              <a:rPr sz="1500" b="1" spc="85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0030B8"/>
                </a:solidFill>
                <a:latin typeface="Tahoma"/>
                <a:cs typeface="Tahoma"/>
              </a:rPr>
              <a:t>público:</a:t>
            </a:r>
            <a:r>
              <a:rPr sz="1500" b="1" spc="70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Es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el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dato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calificado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50" dirty="0">
                <a:solidFill>
                  <a:srgbClr val="0030B8"/>
                </a:solidFill>
                <a:latin typeface="Verdana"/>
                <a:cs typeface="Verdana"/>
              </a:rPr>
              <a:t>como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tal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según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los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mandatos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ley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o</a:t>
            </a:r>
            <a:r>
              <a:rPr sz="15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Constitución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Política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todos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aquellos</a:t>
            </a:r>
            <a:r>
              <a:rPr sz="15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que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no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sean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semiprivados</a:t>
            </a:r>
            <a:r>
              <a:rPr sz="15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o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40" dirty="0">
                <a:solidFill>
                  <a:srgbClr val="0030B8"/>
                </a:solidFill>
                <a:latin typeface="Verdana"/>
                <a:cs typeface="Verdana"/>
              </a:rPr>
              <a:t>privados,</a:t>
            </a:r>
            <a:r>
              <a:rPr sz="15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de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conformidad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con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ley.</a:t>
            </a:r>
            <a:r>
              <a:rPr sz="15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Son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públicos,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entre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otros,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datos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contenidos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1500" spc="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documentos</a:t>
            </a:r>
            <a:r>
              <a:rPr sz="1500" spc="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públicos,</a:t>
            </a:r>
            <a:r>
              <a:rPr sz="1500" spc="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sentencias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 judiciales </a:t>
            </a:r>
            <a:r>
              <a:rPr sz="1500" spc="10" dirty="0">
                <a:solidFill>
                  <a:srgbClr val="0030B8"/>
                </a:solidFill>
                <a:latin typeface="Verdana"/>
                <a:cs typeface="Verdana"/>
              </a:rPr>
              <a:t>debidamente</a:t>
            </a:r>
            <a:r>
              <a:rPr sz="15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ejecutoriadas</a:t>
            </a:r>
            <a:r>
              <a:rPr sz="15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10" dirty="0">
                <a:solidFill>
                  <a:srgbClr val="0030B8"/>
                </a:solidFill>
                <a:latin typeface="Verdana"/>
                <a:cs typeface="Verdana"/>
              </a:rPr>
              <a:t>que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10" dirty="0">
                <a:solidFill>
                  <a:srgbClr val="0030B8"/>
                </a:solidFill>
                <a:latin typeface="Verdana"/>
                <a:cs typeface="Verdana"/>
              </a:rPr>
              <a:t>no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estén</a:t>
            </a:r>
            <a:r>
              <a:rPr sz="15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10" dirty="0">
                <a:solidFill>
                  <a:srgbClr val="0030B8"/>
                </a:solidFill>
                <a:latin typeface="Verdana"/>
                <a:cs typeface="Verdana"/>
              </a:rPr>
              <a:t>sometidos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50" dirty="0">
                <a:solidFill>
                  <a:srgbClr val="0030B8"/>
                </a:solidFill>
                <a:latin typeface="Verdana"/>
                <a:cs typeface="Verdana"/>
              </a:rPr>
              <a:t>a </a:t>
            </a:r>
            <a:r>
              <a:rPr sz="1500" spc="-40" dirty="0">
                <a:solidFill>
                  <a:srgbClr val="0030B8"/>
                </a:solidFill>
                <a:latin typeface="Verdana"/>
                <a:cs typeface="Verdana"/>
              </a:rPr>
              <a:t>reserva</a:t>
            </a:r>
            <a:r>
              <a:rPr sz="1500" spc="-1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5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relativos</a:t>
            </a:r>
            <a:r>
              <a:rPr sz="1500" spc="-1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al</a:t>
            </a:r>
            <a:r>
              <a:rPr sz="15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estado</a:t>
            </a:r>
            <a:r>
              <a:rPr sz="15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civil</a:t>
            </a:r>
            <a:r>
              <a:rPr sz="15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1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las</a:t>
            </a:r>
            <a:r>
              <a:rPr sz="15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personas.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599178" y="2034667"/>
            <a:ext cx="559054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65" dirty="0"/>
              <a:t>Tipos</a:t>
            </a:r>
            <a:r>
              <a:rPr sz="3200" spc="-5" dirty="0"/>
              <a:t> </a:t>
            </a:r>
            <a:r>
              <a:rPr sz="3200" spc="155" dirty="0"/>
              <a:t>de</a:t>
            </a:r>
            <a:r>
              <a:rPr sz="3200" spc="-5" dirty="0"/>
              <a:t> </a:t>
            </a:r>
            <a:r>
              <a:rPr sz="3200" dirty="0"/>
              <a:t>datos:</a:t>
            </a:r>
            <a:r>
              <a:rPr sz="3200" spc="-15" dirty="0"/>
              <a:t> </a:t>
            </a:r>
            <a:r>
              <a:rPr sz="3200" spc="90" dirty="0"/>
              <a:t>privacidad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1530096" y="3729228"/>
            <a:ext cx="2432685" cy="1286510"/>
          </a:xfrm>
          <a:prstGeom prst="rect">
            <a:avLst/>
          </a:prstGeom>
          <a:solidFill>
            <a:srgbClr val="6E92DB"/>
          </a:solidFill>
        </p:spPr>
        <p:txBody>
          <a:bodyPr vert="horz" wrap="square" lIns="0" tIns="273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15"/>
              </a:spcBef>
            </a:pPr>
            <a:endParaRPr sz="2800">
              <a:latin typeface="Times New Roman"/>
              <a:cs typeface="Times New Roman"/>
            </a:endParaRPr>
          </a:p>
          <a:p>
            <a:pPr marL="694690">
              <a:lnSpc>
                <a:spcPct val="100000"/>
              </a:lnSpc>
            </a:pPr>
            <a:r>
              <a:rPr sz="2800" spc="-10" dirty="0">
                <a:solidFill>
                  <a:srgbClr val="FDFFFF"/>
                </a:solidFill>
                <a:latin typeface="Verdana"/>
                <a:cs typeface="Verdana"/>
              </a:rPr>
              <a:t>Datos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2355" y="3973067"/>
            <a:ext cx="821436" cy="79705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8739" y="6623101"/>
            <a:ext cx="315658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0030B8"/>
                </a:solidFill>
                <a:latin typeface="Verdana"/>
                <a:cs typeface="Verdana"/>
              </a:rPr>
              <a:t>Según</a:t>
            </a:r>
            <a:r>
              <a:rPr sz="1050" spc="-10" dirty="0">
                <a:solidFill>
                  <a:srgbClr val="0030B8"/>
                </a:solidFill>
                <a:latin typeface="Verdana"/>
                <a:cs typeface="Verdana"/>
              </a:rPr>
              <a:t> Ley</a:t>
            </a:r>
            <a:r>
              <a:rPr sz="1050" spc="-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spc="-165" dirty="0">
                <a:solidFill>
                  <a:srgbClr val="0030B8"/>
                </a:solidFill>
                <a:latin typeface="Verdana"/>
                <a:cs typeface="Verdana"/>
              </a:rPr>
              <a:t>1581</a:t>
            </a:r>
            <a:r>
              <a:rPr sz="1050" spc="-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0030B8"/>
                </a:solidFill>
                <a:latin typeface="Verdana"/>
                <a:cs typeface="Verdana"/>
              </a:rPr>
              <a:t>protección</a:t>
            </a:r>
            <a:r>
              <a:rPr sz="105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050" spc="-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0030B8"/>
                </a:solidFill>
                <a:latin typeface="Verdana"/>
                <a:cs typeface="Verdana"/>
              </a:rPr>
              <a:t>datos</a:t>
            </a:r>
            <a:r>
              <a:rPr sz="1050" spc="-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0030B8"/>
                </a:solidFill>
                <a:latin typeface="Verdana"/>
                <a:cs typeface="Verdana"/>
              </a:rPr>
              <a:t>personales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1108" y="5550204"/>
            <a:ext cx="378015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35990" marR="5080" indent="-923925">
              <a:lnSpc>
                <a:spcPct val="100000"/>
              </a:lnSpc>
              <a:spcBef>
                <a:spcPts val="100"/>
              </a:spcBef>
            </a:pPr>
            <a:r>
              <a:rPr sz="1800" spc="70" dirty="0">
                <a:solidFill>
                  <a:srgbClr val="2B3990"/>
                </a:solidFill>
                <a:latin typeface="Verdana"/>
                <a:cs typeface="Verdana"/>
              </a:rPr>
              <a:t>No</a:t>
            </a:r>
            <a:r>
              <a:rPr sz="1800" spc="-140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2B3990"/>
                </a:solidFill>
                <a:latin typeface="Verdana"/>
                <a:cs typeface="Verdana"/>
              </a:rPr>
              <a:t>es</a:t>
            </a:r>
            <a:r>
              <a:rPr sz="1800" spc="-145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2B3990"/>
                </a:solidFill>
                <a:latin typeface="Verdana"/>
                <a:cs typeface="Verdana"/>
              </a:rPr>
              <a:t>solo</a:t>
            </a:r>
            <a:r>
              <a:rPr sz="1800" spc="-135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2B3990"/>
                </a:solidFill>
                <a:latin typeface="Verdana"/>
                <a:cs typeface="Verdana"/>
              </a:rPr>
              <a:t>tener</a:t>
            </a:r>
            <a:r>
              <a:rPr sz="1800" spc="-145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2B3990"/>
                </a:solidFill>
                <a:latin typeface="Verdana"/>
                <a:cs typeface="Verdana"/>
              </a:rPr>
              <a:t>datos,</a:t>
            </a:r>
            <a:r>
              <a:rPr sz="1800" spc="-155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2B3990"/>
                </a:solidFill>
                <a:latin typeface="Verdana"/>
                <a:cs typeface="Verdana"/>
              </a:rPr>
              <a:t>es</a:t>
            </a:r>
            <a:r>
              <a:rPr sz="1800" spc="-140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2B3990"/>
                </a:solidFill>
                <a:latin typeface="Verdana"/>
                <a:cs typeface="Verdana"/>
              </a:rPr>
              <a:t>usarlos adecuadamente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99178" y="3453206"/>
            <a:ext cx="577342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0030B8"/>
                </a:solidFill>
                <a:latin typeface="Tahoma"/>
                <a:cs typeface="Tahoma"/>
              </a:rPr>
              <a:t>Cualitativos:</a:t>
            </a:r>
            <a:r>
              <a:rPr sz="1500" b="1" spc="55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Hacen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referencia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a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características</a:t>
            </a:r>
            <a:r>
              <a:rPr sz="15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o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cualidades cuya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 medición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no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corresponde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a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números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(suelen</a:t>
            </a:r>
            <a:r>
              <a:rPr sz="15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ser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dimensiones</a:t>
            </a:r>
            <a:r>
              <a:rPr sz="15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o</a:t>
            </a:r>
            <a:r>
              <a:rPr sz="15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atributos</a:t>
            </a:r>
            <a:r>
              <a:rPr sz="15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40" dirty="0">
                <a:solidFill>
                  <a:srgbClr val="0030B8"/>
                </a:solidFill>
                <a:latin typeface="Verdana"/>
                <a:cs typeface="Verdana"/>
              </a:rPr>
              <a:t>análisis)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50" dirty="0">
                <a:solidFill>
                  <a:srgbClr val="0030B8"/>
                </a:solidFill>
                <a:latin typeface="Verdana"/>
                <a:cs typeface="Verdana"/>
              </a:rPr>
              <a:t>Podemos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distinguir</a:t>
            </a:r>
            <a:r>
              <a:rPr sz="15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dos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tipos: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99178" y="4596765"/>
            <a:ext cx="569785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2CDAFF"/>
              </a:buClr>
              <a:buFont typeface="Courier New"/>
              <a:buChar char="o"/>
              <a:tabLst>
                <a:tab pos="299085" algn="l"/>
              </a:tabLst>
            </a:pPr>
            <a:r>
              <a:rPr sz="1500" b="1" dirty="0">
                <a:solidFill>
                  <a:srgbClr val="0030B8"/>
                </a:solidFill>
                <a:latin typeface="Tahoma"/>
                <a:cs typeface="Tahoma"/>
              </a:rPr>
              <a:t>Nominales:</a:t>
            </a:r>
            <a:r>
              <a:rPr sz="1500" b="1" spc="110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Son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variables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que</a:t>
            </a:r>
            <a:r>
              <a:rPr sz="15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no</a:t>
            </a:r>
            <a:r>
              <a:rPr sz="15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tienen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orden,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ejemplo:</a:t>
            </a:r>
            <a:endParaRPr sz="1500">
              <a:latin typeface="Verdana"/>
              <a:cs typeface="Verdana"/>
            </a:endParaRPr>
          </a:p>
          <a:p>
            <a:pPr marL="299085">
              <a:lnSpc>
                <a:spcPct val="100000"/>
              </a:lnSpc>
            </a:pP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Sexo,</a:t>
            </a:r>
            <a:r>
              <a:rPr sz="1500" spc="-1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País,</a:t>
            </a:r>
            <a:r>
              <a:rPr sz="1500" spc="-11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310" dirty="0">
                <a:solidFill>
                  <a:srgbClr val="0030B8"/>
                </a:solidFill>
                <a:latin typeface="Verdana"/>
                <a:cs typeface="Verdana"/>
              </a:rPr>
              <a:t>…</a:t>
            </a:r>
            <a:endParaRPr sz="1500">
              <a:latin typeface="Verdana"/>
              <a:cs typeface="Verdana"/>
            </a:endParaRPr>
          </a:p>
          <a:p>
            <a:pPr marL="298450" indent="-285750">
              <a:lnSpc>
                <a:spcPct val="100000"/>
              </a:lnSpc>
              <a:buClr>
                <a:srgbClr val="2CDAFF"/>
              </a:buClr>
              <a:buFont typeface="Courier New"/>
              <a:buChar char="o"/>
              <a:tabLst>
                <a:tab pos="298450" algn="l"/>
              </a:tabLst>
            </a:pPr>
            <a:r>
              <a:rPr sz="1500" b="1" dirty="0">
                <a:solidFill>
                  <a:srgbClr val="0030B8"/>
                </a:solidFill>
                <a:latin typeface="Tahoma"/>
                <a:cs typeface="Tahoma"/>
              </a:rPr>
              <a:t>Ordinales:</a:t>
            </a:r>
            <a:r>
              <a:rPr sz="1500" b="1" spc="35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Son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variables</a:t>
            </a:r>
            <a:r>
              <a:rPr sz="15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que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50" dirty="0">
                <a:solidFill>
                  <a:srgbClr val="0030B8"/>
                </a:solidFill>
                <a:latin typeface="Verdana"/>
                <a:cs typeface="Verdana"/>
              </a:rPr>
              <a:t>pueden</a:t>
            </a:r>
            <a:r>
              <a:rPr sz="1500" spc="-1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asociarle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55" dirty="0">
                <a:solidFill>
                  <a:srgbClr val="0030B8"/>
                </a:solidFill>
                <a:latin typeface="Verdana"/>
                <a:cs typeface="Verdana"/>
              </a:rPr>
              <a:t>un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orden,</a:t>
            </a:r>
            <a:endParaRPr sz="1500">
              <a:latin typeface="Verdana"/>
              <a:cs typeface="Verdana"/>
            </a:endParaRPr>
          </a:p>
          <a:p>
            <a:pPr marL="299085">
              <a:lnSpc>
                <a:spcPct val="100000"/>
              </a:lnSpc>
            </a:pP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ejemplo:</a:t>
            </a:r>
            <a:r>
              <a:rPr sz="1500" spc="-1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40" dirty="0">
                <a:solidFill>
                  <a:srgbClr val="0030B8"/>
                </a:solidFill>
                <a:latin typeface="Verdana"/>
                <a:cs typeface="Verdana"/>
              </a:rPr>
              <a:t>Estrato,</a:t>
            </a:r>
            <a:r>
              <a:rPr sz="15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Estado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Proceso,</a:t>
            </a:r>
            <a:r>
              <a:rPr sz="15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310" dirty="0">
                <a:solidFill>
                  <a:srgbClr val="0030B8"/>
                </a:solidFill>
                <a:latin typeface="Verdana"/>
                <a:cs typeface="Verdana"/>
              </a:rPr>
              <a:t>…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599178" y="2694889"/>
            <a:ext cx="526034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65" dirty="0"/>
              <a:t>Tipos</a:t>
            </a:r>
            <a:r>
              <a:rPr sz="3200" dirty="0"/>
              <a:t> </a:t>
            </a:r>
            <a:r>
              <a:rPr sz="3200" spc="155" dirty="0"/>
              <a:t>de</a:t>
            </a:r>
            <a:r>
              <a:rPr sz="3200" spc="-10" dirty="0"/>
              <a:t> </a:t>
            </a:r>
            <a:r>
              <a:rPr sz="3200" dirty="0"/>
              <a:t>datos:</a:t>
            </a:r>
            <a:r>
              <a:rPr sz="3200" spc="-30" dirty="0"/>
              <a:t> </a:t>
            </a:r>
            <a:r>
              <a:rPr sz="3200" spc="40" dirty="0"/>
              <a:t>variables</a:t>
            </a:r>
            <a:endParaRPr sz="3200"/>
          </a:p>
        </p:txBody>
      </p:sp>
      <p:sp>
        <p:nvSpPr>
          <p:cNvPr id="5" name="object 5"/>
          <p:cNvSpPr txBox="1"/>
          <p:nvPr/>
        </p:nvSpPr>
        <p:spPr>
          <a:xfrm>
            <a:off x="1530096" y="3729228"/>
            <a:ext cx="2432685" cy="1286510"/>
          </a:xfrm>
          <a:prstGeom prst="rect">
            <a:avLst/>
          </a:prstGeom>
          <a:solidFill>
            <a:srgbClr val="6E92DB"/>
          </a:solidFill>
        </p:spPr>
        <p:txBody>
          <a:bodyPr vert="horz" wrap="square" lIns="0" tIns="273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15"/>
              </a:spcBef>
            </a:pPr>
            <a:endParaRPr sz="2800">
              <a:latin typeface="Times New Roman"/>
              <a:cs typeface="Times New Roman"/>
            </a:endParaRPr>
          </a:p>
          <a:p>
            <a:pPr marL="694690">
              <a:lnSpc>
                <a:spcPct val="100000"/>
              </a:lnSpc>
            </a:pPr>
            <a:r>
              <a:rPr sz="2800" spc="-10" dirty="0">
                <a:solidFill>
                  <a:srgbClr val="FDFFFF"/>
                </a:solidFill>
                <a:latin typeface="Verdana"/>
                <a:cs typeface="Verdana"/>
              </a:rPr>
              <a:t>Datos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2355" y="3973067"/>
            <a:ext cx="821436" cy="79705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8739" y="6630720"/>
            <a:ext cx="471360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45" dirty="0">
                <a:solidFill>
                  <a:srgbClr val="0030B8"/>
                </a:solidFill>
                <a:latin typeface="Verdana"/>
                <a:cs typeface="Verdana"/>
              </a:rPr>
              <a:t>Salazar,</a:t>
            </a:r>
            <a:r>
              <a:rPr sz="1050" spc="-1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0030B8"/>
                </a:solidFill>
                <a:latin typeface="Verdana"/>
                <a:cs typeface="Verdana"/>
              </a:rPr>
              <a:t>C</a:t>
            </a:r>
            <a:r>
              <a:rPr sz="1050" spc="-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spc="-70" dirty="0">
                <a:solidFill>
                  <a:srgbClr val="0030B8"/>
                </a:solidFill>
                <a:latin typeface="Verdana"/>
                <a:cs typeface="Verdana"/>
              </a:rPr>
              <a:t>&amp;</a:t>
            </a:r>
            <a:r>
              <a:rPr sz="1050" spc="-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0030B8"/>
                </a:solidFill>
                <a:latin typeface="Verdana"/>
                <a:cs typeface="Verdana"/>
              </a:rPr>
              <a:t>Del</a:t>
            </a:r>
            <a:r>
              <a:rPr sz="1050" spc="-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spc="-30" dirty="0">
                <a:solidFill>
                  <a:srgbClr val="0030B8"/>
                </a:solidFill>
                <a:latin typeface="Verdana"/>
                <a:cs typeface="Verdana"/>
              </a:rPr>
              <a:t>Castillo,</a:t>
            </a:r>
            <a:r>
              <a:rPr sz="1050" spc="-35" dirty="0">
                <a:solidFill>
                  <a:srgbClr val="0030B8"/>
                </a:solidFill>
                <a:latin typeface="Verdana"/>
                <a:cs typeface="Verdana"/>
              </a:rPr>
              <a:t> P.</a:t>
            </a:r>
            <a:r>
              <a:rPr sz="1050" spc="-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spc="-110" dirty="0">
                <a:solidFill>
                  <a:srgbClr val="0030B8"/>
                </a:solidFill>
                <a:latin typeface="Verdana"/>
                <a:cs typeface="Verdana"/>
              </a:rPr>
              <a:t>(2018).</a:t>
            </a:r>
            <a:r>
              <a:rPr sz="1050" spc="-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0030B8"/>
                </a:solidFill>
                <a:latin typeface="Verdana"/>
                <a:cs typeface="Verdana"/>
              </a:rPr>
              <a:t>Fundamentos</a:t>
            </a:r>
            <a:r>
              <a:rPr sz="105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0030B8"/>
                </a:solidFill>
                <a:latin typeface="Verdana"/>
                <a:cs typeface="Verdana"/>
              </a:rPr>
              <a:t>básicos</a:t>
            </a:r>
            <a:r>
              <a:rPr sz="105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050" spc="-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0030B8"/>
                </a:solidFill>
                <a:latin typeface="Verdana"/>
                <a:cs typeface="Verdana"/>
              </a:rPr>
              <a:t>estadística.</a:t>
            </a:r>
            <a:endParaRPr sz="10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99178" y="3453206"/>
            <a:ext cx="489077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0030B8"/>
                </a:solidFill>
                <a:latin typeface="Tahoma"/>
                <a:cs typeface="Tahoma"/>
              </a:rPr>
              <a:t>Cuantitativos:</a:t>
            </a:r>
            <a:r>
              <a:rPr sz="1500" b="1" spc="114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Es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aquella</a:t>
            </a:r>
            <a:r>
              <a:rPr sz="15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que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puede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30" dirty="0">
                <a:solidFill>
                  <a:srgbClr val="0030B8"/>
                </a:solidFill>
                <a:latin typeface="Verdana"/>
                <a:cs typeface="Verdana"/>
              </a:rPr>
              <a:t>ser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expresada</a:t>
            </a:r>
            <a:endParaRPr sz="15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numéricamente,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500" spc="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pueden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ser: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99178" y="4139565"/>
            <a:ext cx="582358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29590" indent="-287020">
              <a:lnSpc>
                <a:spcPct val="100000"/>
              </a:lnSpc>
              <a:spcBef>
                <a:spcPts val="100"/>
              </a:spcBef>
              <a:buClr>
                <a:srgbClr val="2CDAFF"/>
              </a:buClr>
              <a:buFont typeface="Courier New"/>
              <a:buChar char="o"/>
              <a:tabLst>
                <a:tab pos="299085" algn="l"/>
              </a:tabLst>
            </a:pPr>
            <a:r>
              <a:rPr sz="1500" b="1" dirty="0">
                <a:solidFill>
                  <a:srgbClr val="0030B8"/>
                </a:solidFill>
                <a:latin typeface="Tahoma"/>
                <a:cs typeface="Tahoma"/>
              </a:rPr>
              <a:t>Discretos:</a:t>
            </a:r>
            <a:r>
              <a:rPr sz="1500" b="1" spc="120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Son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aquellos</a:t>
            </a:r>
            <a:r>
              <a:rPr sz="15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que</a:t>
            </a:r>
            <a:r>
              <a:rPr sz="15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toman</a:t>
            </a:r>
            <a:r>
              <a:rPr sz="15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valores</a:t>
            </a:r>
            <a:r>
              <a:rPr sz="15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aislados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(normalmente</a:t>
            </a:r>
            <a:r>
              <a:rPr sz="1500" spc="-11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30" dirty="0">
                <a:solidFill>
                  <a:srgbClr val="0030B8"/>
                </a:solidFill>
                <a:latin typeface="Verdana"/>
                <a:cs typeface="Verdana"/>
              </a:rPr>
              <a:t>enteros)</a:t>
            </a:r>
            <a:r>
              <a:rPr sz="1500" spc="-11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sin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valores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entre</a:t>
            </a:r>
            <a:r>
              <a:rPr sz="15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mismos, 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ejemplo:</a:t>
            </a:r>
            <a:r>
              <a:rPr sz="1500" spc="-1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90" dirty="0">
                <a:solidFill>
                  <a:srgbClr val="0030B8"/>
                </a:solidFill>
                <a:latin typeface="Verdana"/>
                <a:cs typeface="Verdana"/>
              </a:rPr>
              <a:t>#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Hijos,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90" dirty="0">
                <a:solidFill>
                  <a:srgbClr val="0030B8"/>
                </a:solidFill>
                <a:latin typeface="Verdana"/>
                <a:cs typeface="Verdana"/>
              </a:rPr>
              <a:t>#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30" dirty="0">
                <a:solidFill>
                  <a:srgbClr val="0030B8"/>
                </a:solidFill>
                <a:latin typeface="Verdana"/>
                <a:cs typeface="Verdana"/>
              </a:rPr>
              <a:t>vehículos,</a:t>
            </a:r>
            <a:r>
              <a:rPr sz="15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310" dirty="0">
                <a:solidFill>
                  <a:srgbClr val="0030B8"/>
                </a:solidFill>
                <a:latin typeface="Verdana"/>
                <a:cs typeface="Verdana"/>
              </a:rPr>
              <a:t>…</a:t>
            </a:r>
            <a:endParaRPr sz="1500">
              <a:latin typeface="Verdana"/>
              <a:cs typeface="Verdana"/>
            </a:endParaRPr>
          </a:p>
          <a:p>
            <a:pPr marL="299085" marR="5080" indent="-287020" algn="just">
              <a:lnSpc>
                <a:spcPct val="100000"/>
              </a:lnSpc>
              <a:buClr>
                <a:srgbClr val="2CDAFF"/>
              </a:buClr>
              <a:buFont typeface="Courier New"/>
              <a:buChar char="o"/>
              <a:tabLst>
                <a:tab pos="299085" algn="l"/>
              </a:tabLst>
            </a:pPr>
            <a:r>
              <a:rPr sz="1500" b="1" spc="25" dirty="0">
                <a:solidFill>
                  <a:srgbClr val="0030B8"/>
                </a:solidFill>
                <a:latin typeface="Tahoma"/>
                <a:cs typeface="Tahoma"/>
              </a:rPr>
              <a:t>Continuos:</a:t>
            </a:r>
            <a:r>
              <a:rPr sz="1500" b="1" spc="-5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Este</a:t>
            </a:r>
            <a:r>
              <a:rPr sz="1500" spc="-1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15" dirty="0">
                <a:solidFill>
                  <a:srgbClr val="0030B8"/>
                </a:solidFill>
                <a:latin typeface="Verdana"/>
                <a:cs typeface="Verdana"/>
              </a:rPr>
              <a:t>corresponde</a:t>
            </a:r>
            <a:r>
              <a:rPr sz="1500" spc="-1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a</a:t>
            </a:r>
            <a:r>
              <a:rPr sz="1500" spc="-1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5" dirty="0">
                <a:solidFill>
                  <a:srgbClr val="0030B8"/>
                </a:solidFill>
                <a:latin typeface="Verdana"/>
                <a:cs typeface="Verdana"/>
              </a:rPr>
              <a:t>aquellos</a:t>
            </a:r>
            <a:r>
              <a:rPr sz="1500" spc="-1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5" dirty="0">
                <a:solidFill>
                  <a:srgbClr val="0030B8"/>
                </a:solidFill>
                <a:latin typeface="Verdana"/>
                <a:cs typeface="Verdana"/>
              </a:rPr>
              <a:t>datos</a:t>
            </a:r>
            <a:r>
              <a:rPr sz="1500" spc="-1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40" dirty="0">
                <a:solidFill>
                  <a:srgbClr val="0030B8"/>
                </a:solidFill>
                <a:latin typeface="Verdana"/>
                <a:cs typeface="Verdana"/>
              </a:rPr>
              <a:t>con</a:t>
            </a:r>
            <a:r>
              <a:rPr sz="1500" spc="-1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valores</a:t>
            </a:r>
            <a:r>
              <a:rPr sz="15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15" dirty="0">
                <a:solidFill>
                  <a:srgbClr val="0030B8"/>
                </a:solidFill>
                <a:latin typeface="Verdana"/>
                <a:cs typeface="Verdana"/>
              </a:rPr>
              <a:t>intermedios</a:t>
            </a:r>
            <a:r>
              <a:rPr sz="1500" spc="-1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10" dirty="0">
                <a:solidFill>
                  <a:srgbClr val="0030B8"/>
                </a:solidFill>
                <a:latin typeface="Verdana"/>
                <a:cs typeface="Verdana"/>
              </a:rPr>
              <a:t>(normalmente</a:t>
            </a:r>
            <a:r>
              <a:rPr sz="1500" spc="-1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reales),</a:t>
            </a:r>
            <a:r>
              <a:rPr sz="1500" spc="-1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ejemplo:</a:t>
            </a:r>
            <a:r>
              <a:rPr sz="1500" spc="-1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45" dirty="0">
                <a:solidFill>
                  <a:srgbClr val="0030B8"/>
                </a:solidFill>
                <a:latin typeface="Verdana"/>
                <a:cs typeface="Verdana"/>
              </a:rPr>
              <a:t>Promedio</a:t>
            </a:r>
            <a:r>
              <a:rPr sz="1500" spc="-1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45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altura,</a:t>
            </a:r>
            <a:r>
              <a:rPr sz="1500" spc="-1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0030B8"/>
                </a:solidFill>
                <a:latin typeface="Verdana"/>
                <a:cs typeface="Verdana"/>
              </a:rPr>
              <a:t>nivel</a:t>
            </a:r>
            <a:r>
              <a:rPr sz="1500" spc="-1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45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1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0030B8"/>
                </a:solidFill>
                <a:latin typeface="Verdana"/>
                <a:cs typeface="Verdana"/>
              </a:rPr>
              <a:t>glicemia,</a:t>
            </a:r>
            <a:r>
              <a:rPr sz="1500" spc="-1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20" dirty="0">
                <a:solidFill>
                  <a:srgbClr val="0030B8"/>
                </a:solidFill>
                <a:latin typeface="Verdana"/>
                <a:cs typeface="Verdana"/>
              </a:rPr>
              <a:t>probabilidad</a:t>
            </a:r>
            <a:r>
              <a:rPr sz="1500" spc="-1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45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1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ocurrencia,</a:t>
            </a:r>
            <a:r>
              <a:rPr sz="1500" spc="-1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60" dirty="0">
                <a:solidFill>
                  <a:srgbClr val="0030B8"/>
                </a:solidFill>
                <a:latin typeface="Verdana"/>
                <a:cs typeface="Verdana"/>
              </a:rPr>
              <a:t>…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599178" y="2694889"/>
            <a:ext cx="526034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65" dirty="0"/>
              <a:t>Tipos</a:t>
            </a:r>
            <a:r>
              <a:rPr sz="3200" dirty="0"/>
              <a:t> </a:t>
            </a:r>
            <a:r>
              <a:rPr sz="3200" spc="155" dirty="0"/>
              <a:t>de</a:t>
            </a:r>
            <a:r>
              <a:rPr sz="3200" spc="-10" dirty="0"/>
              <a:t> </a:t>
            </a:r>
            <a:r>
              <a:rPr sz="3200" dirty="0"/>
              <a:t>datos:</a:t>
            </a:r>
            <a:r>
              <a:rPr sz="3200" spc="-30" dirty="0"/>
              <a:t> </a:t>
            </a:r>
            <a:r>
              <a:rPr sz="3200" spc="40" dirty="0"/>
              <a:t>variables</a:t>
            </a:r>
            <a:endParaRPr sz="3200"/>
          </a:p>
        </p:txBody>
      </p:sp>
      <p:sp>
        <p:nvSpPr>
          <p:cNvPr id="5" name="object 5"/>
          <p:cNvSpPr txBox="1"/>
          <p:nvPr/>
        </p:nvSpPr>
        <p:spPr>
          <a:xfrm>
            <a:off x="1530096" y="3729228"/>
            <a:ext cx="2432685" cy="1286510"/>
          </a:xfrm>
          <a:prstGeom prst="rect">
            <a:avLst/>
          </a:prstGeom>
          <a:solidFill>
            <a:srgbClr val="6E92DB"/>
          </a:solidFill>
        </p:spPr>
        <p:txBody>
          <a:bodyPr vert="horz" wrap="square" lIns="0" tIns="273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15"/>
              </a:spcBef>
            </a:pPr>
            <a:endParaRPr sz="2800">
              <a:latin typeface="Times New Roman"/>
              <a:cs typeface="Times New Roman"/>
            </a:endParaRPr>
          </a:p>
          <a:p>
            <a:pPr marL="694690">
              <a:lnSpc>
                <a:spcPct val="100000"/>
              </a:lnSpc>
            </a:pPr>
            <a:r>
              <a:rPr sz="2800" spc="-10" dirty="0">
                <a:solidFill>
                  <a:srgbClr val="FDFFFF"/>
                </a:solidFill>
                <a:latin typeface="Verdana"/>
                <a:cs typeface="Verdana"/>
              </a:rPr>
              <a:t>Datos</a:t>
            </a:r>
            <a:endParaRPr sz="28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2355" y="3973067"/>
            <a:ext cx="821436" cy="79705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8739" y="6630720"/>
            <a:ext cx="471360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45" dirty="0">
                <a:solidFill>
                  <a:srgbClr val="0030B8"/>
                </a:solidFill>
                <a:latin typeface="Verdana"/>
                <a:cs typeface="Verdana"/>
              </a:rPr>
              <a:t>Salazar,</a:t>
            </a:r>
            <a:r>
              <a:rPr sz="1050" spc="-1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0030B8"/>
                </a:solidFill>
                <a:latin typeface="Verdana"/>
                <a:cs typeface="Verdana"/>
              </a:rPr>
              <a:t>C</a:t>
            </a:r>
            <a:r>
              <a:rPr sz="1050" spc="-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spc="-70" dirty="0">
                <a:solidFill>
                  <a:srgbClr val="0030B8"/>
                </a:solidFill>
                <a:latin typeface="Verdana"/>
                <a:cs typeface="Verdana"/>
              </a:rPr>
              <a:t>&amp;</a:t>
            </a:r>
            <a:r>
              <a:rPr sz="1050" spc="-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0030B8"/>
                </a:solidFill>
                <a:latin typeface="Verdana"/>
                <a:cs typeface="Verdana"/>
              </a:rPr>
              <a:t>Del</a:t>
            </a:r>
            <a:r>
              <a:rPr sz="1050" spc="-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spc="-30" dirty="0">
                <a:solidFill>
                  <a:srgbClr val="0030B8"/>
                </a:solidFill>
                <a:latin typeface="Verdana"/>
                <a:cs typeface="Verdana"/>
              </a:rPr>
              <a:t>Castillo,</a:t>
            </a:r>
            <a:r>
              <a:rPr sz="1050" spc="-35" dirty="0">
                <a:solidFill>
                  <a:srgbClr val="0030B8"/>
                </a:solidFill>
                <a:latin typeface="Verdana"/>
                <a:cs typeface="Verdana"/>
              </a:rPr>
              <a:t> P.</a:t>
            </a:r>
            <a:r>
              <a:rPr sz="1050" spc="-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spc="-110" dirty="0">
                <a:solidFill>
                  <a:srgbClr val="0030B8"/>
                </a:solidFill>
                <a:latin typeface="Verdana"/>
                <a:cs typeface="Verdana"/>
              </a:rPr>
              <a:t>(2018).</a:t>
            </a:r>
            <a:r>
              <a:rPr sz="1050" spc="-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0030B8"/>
                </a:solidFill>
                <a:latin typeface="Verdana"/>
                <a:cs typeface="Verdana"/>
              </a:rPr>
              <a:t>Fundamentos</a:t>
            </a:r>
            <a:r>
              <a:rPr sz="105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0030B8"/>
                </a:solidFill>
                <a:latin typeface="Verdana"/>
                <a:cs typeface="Verdana"/>
              </a:rPr>
              <a:t>básicos</a:t>
            </a:r>
            <a:r>
              <a:rPr sz="105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050" spc="-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0030B8"/>
                </a:solidFill>
                <a:latin typeface="Verdana"/>
                <a:cs typeface="Verdana"/>
              </a:rPr>
              <a:t>estadística.</a:t>
            </a:r>
            <a:endParaRPr sz="10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74388" y="471169"/>
            <a:ext cx="8669655" cy="13804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22365" marR="5080">
              <a:lnSpc>
                <a:spcPct val="100200"/>
              </a:lnSpc>
              <a:spcBef>
                <a:spcPts val="95"/>
              </a:spcBef>
            </a:pPr>
            <a:r>
              <a:rPr sz="1500" dirty="0"/>
              <a:t>Tableros</a:t>
            </a:r>
            <a:r>
              <a:rPr sz="1500" spc="114" dirty="0"/>
              <a:t> </a:t>
            </a:r>
            <a:r>
              <a:rPr sz="1500" spc="65" dirty="0"/>
              <a:t>de</a:t>
            </a:r>
            <a:r>
              <a:rPr sz="1500" spc="100" dirty="0"/>
              <a:t> </a:t>
            </a:r>
            <a:r>
              <a:rPr sz="1500" spc="-10" dirty="0"/>
              <a:t>indicadores: </a:t>
            </a:r>
            <a:r>
              <a:rPr sz="1200" b="0" dirty="0">
                <a:latin typeface="Verdana"/>
                <a:cs typeface="Verdana"/>
              </a:rPr>
              <a:t>Generación</a:t>
            </a:r>
            <a:r>
              <a:rPr sz="1200" b="0" spc="-10" dirty="0">
                <a:latin typeface="Verdana"/>
                <a:cs typeface="Verdana"/>
              </a:rPr>
              <a:t> </a:t>
            </a:r>
            <a:r>
              <a:rPr sz="1200" b="0" dirty="0">
                <a:latin typeface="Verdana"/>
                <a:cs typeface="Verdana"/>
              </a:rPr>
              <a:t>de</a:t>
            </a:r>
            <a:r>
              <a:rPr sz="1200" b="0" spc="-15" dirty="0">
                <a:latin typeface="Verdana"/>
                <a:cs typeface="Verdana"/>
              </a:rPr>
              <a:t> </a:t>
            </a:r>
            <a:r>
              <a:rPr sz="1200" b="0" dirty="0">
                <a:latin typeface="Verdana"/>
                <a:cs typeface="Verdana"/>
              </a:rPr>
              <a:t>indicadores</a:t>
            </a:r>
            <a:r>
              <a:rPr sz="1200" b="0" spc="5" dirty="0">
                <a:latin typeface="Verdana"/>
                <a:cs typeface="Verdana"/>
              </a:rPr>
              <a:t> </a:t>
            </a:r>
            <a:r>
              <a:rPr sz="1200" b="0" spc="-50" dirty="0">
                <a:latin typeface="Verdana"/>
                <a:cs typeface="Verdana"/>
              </a:rPr>
              <a:t>y </a:t>
            </a:r>
            <a:r>
              <a:rPr sz="1200" b="0" dirty="0">
                <a:latin typeface="Verdana"/>
                <a:cs typeface="Verdana"/>
              </a:rPr>
              <a:t>monitoreo</a:t>
            </a:r>
            <a:r>
              <a:rPr sz="1200" b="0" spc="-50" dirty="0">
                <a:latin typeface="Verdana"/>
                <a:cs typeface="Verdana"/>
              </a:rPr>
              <a:t> </a:t>
            </a:r>
            <a:r>
              <a:rPr sz="1200" b="0" dirty="0">
                <a:latin typeface="Verdana"/>
                <a:cs typeface="Verdana"/>
              </a:rPr>
              <a:t>de</a:t>
            </a:r>
            <a:r>
              <a:rPr sz="1200" b="0" spc="-20" dirty="0">
                <a:latin typeface="Verdana"/>
                <a:cs typeface="Verdana"/>
              </a:rPr>
              <a:t> la</a:t>
            </a:r>
            <a:r>
              <a:rPr sz="1200" b="0" dirty="0">
                <a:latin typeface="Verdana"/>
                <a:cs typeface="Verdana"/>
              </a:rPr>
              <a:t> gestión</a:t>
            </a:r>
            <a:r>
              <a:rPr sz="1200" b="0" spc="-15" dirty="0">
                <a:latin typeface="Verdana"/>
                <a:cs typeface="Verdana"/>
              </a:rPr>
              <a:t> </a:t>
            </a:r>
            <a:r>
              <a:rPr sz="1200" b="0" dirty="0">
                <a:latin typeface="Verdana"/>
                <a:cs typeface="Verdana"/>
              </a:rPr>
              <a:t>de</a:t>
            </a:r>
            <a:r>
              <a:rPr sz="1200" b="0" spc="-20" dirty="0">
                <a:latin typeface="Verdana"/>
                <a:cs typeface="Verdana"/>
              </a:rPr>
              <a:t> </a:t>
            </a:r>
            <a:r>
              <a:rPr sz="1200" b="0" spc="-25" dirty="0">
                <a:latin typeface="Verdana"/>
                <a:cs typeface="Verdana"/>
              </a:rPr>
              <a:t>la </a:t>
            </a:r>
            <a:r>
              <a:rPr sz="1200" b="0" spc="-10" dirty="0">
                <a:latin typeface="Verdana"/>
                <a:cs typeface="Verdana"/>
              </a:rPr>
              <a:t>entidad</a:t>
            </a:r>
            <a:endParaRPr sz="12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3200" spc="65" dirty="0"/>
              <a:t>Tipos</a:t>
            </a:r>
            <a:r>
              <a:rPr sz="3200" dirty="0"/>
              <a:t> </a:t>
            </a:r>
            <a:r>
              <a:rPr sz="3200" spc="155" dirty="0"/>
              <a:t>de</a:t>
            </a:r>
            <a:r>
              <a:rPr sz="3200" spc="-10" dirty="0"/>
              <a:t> </a:t>
            </a:r>
            <a:r>
              <a:rPr sz="3200" dirty="0"/>
              <a:t>datos:</a:t>
            </a:r>
            <a:r>
              <a:rPr sz="3200" spc="-30" dirty="0"/>
              <a:t> </a:t>
            </a:r>
            <a:r>
              <a:rPr sz="3200" spc="100" dirty="0"/>
              <a:t>almacenamiento</a:t>
            </a:r>
            <a:endParaRPr sz="3200" dirty="0"/>
          </a:p>
        </p:txBody>
      </p:sp>
      <p:grpSp>
        <p:nvGrpSpPr>
          <p:cNvPr id="4" name="object 4"/>
          <p:cNvGrpSpPr/>
          <p:nvPr/>
        </p:nvGrpSpPr>
        <p:grpSpPr>
          <a:xfrm>
            <a:off x="794004" y="2078735"/>
            <a:ext cx="10724515" cy="3086100"/>
            <a:chOff x="794004" y="2078735"/>
            <a:chExt cx="10724515" cy="30861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27947" y="2078735"/>
              <a:ext cx="2790444" cy="229209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83024" y="2261615"/>
              <a:ext cx="2229612" cy="13715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4004" y="4087367"/>
              <a:ext cx="3870960" cy="107746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6175628" y="6034836"/>
            <a:ext cx="402082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dirty="0">
                <a:solidFill>
                  <a:srgbClr val="2B3990"/>
                </a:solidFill>
                <a:latin typeface="Verdana"/>
                <a:cs typeface="Verdana"/>
              </a:rPr>
              <a:t>Fuente </a:t>
            </a:r>
            <a:r>
              <a:rPr sz="800" spc="-10" dirty="0">
                <a:solidFill>
                  <a:srgbClr val="2B3990"/>
                </a:solidFill>
                <a:latin typeface="Verdana"/>
                <a:cs typeface="Verdana"/>
              </a:rPr>
              <a:t>imágenes:</a:t>
            </a:r>
            <a:r>
              <a:rPr sz="800" spc="-15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800" u="sng" spc="-10" dirty="0">
                <a:solidFill>
                  <a:srgbClr val="2B3990"/>
                </a:solidFill>
                <a:uFill>
                  <a:solidFill>
                    <a:srgbClr val="2B3990"/>
                  </a:solidFill>
                </a:uFill>
                <a:latin typeface="Verdana"/>
                <a:cs typeface="Verdana"/>
                <a:hlinkClick r:id="rId5"/>
              </a:rPr>
              <a:t>https://www.funcionpublica.gov.co/</a:t>
            </a:r>
            <a:endParaRPr sz="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800" dirty="0">
                <a:solidFill>
                  <a:srgbClr val="2B3990"/>
                </a:solidFill>
                <a:latin typeface="Verdana"/>
                <a:cs typeface="Verdana"/>
              </a:rPr>
              <a:t>[OPEN DATA</a:t>
            </a:r>
            <a:r>
              <a:rPr sz="800" spc="10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2B3990"/>
                </a:solidFill>
                <a:latin typeface="Verdana"/>
                <a:cs typeface="Verdana"/>
              </a:rPr>
              <a:t>HANDBOOK].</a:t>
            </a:r>
            <a:r>
              <a:rPr sz="800" spc="5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800" spc="-90" dirty="0">
                <a:solidFill>
                  <a:srgbClr val="2B3990"/>
                </a:solidFill>
                <a:latin typeface="Verdana"/>
                <a:cs typeface="Verdana"/>
              </a:rPr>
              <a:t>(s.f).</a:t>
            </a:r>
            <a:r>
              <a:rPr sz="800" spc="10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2B3990"/>
                </a:solidFill>
                <a:latin typeface="Verdana"/>
                <a:cs typeface="Verdana"/>
              </a:rPr>
              <a:t>Recuperado</a:t>
            </a:r>
            <a:r>
              <a:rPr sz="800" spc="-5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800" dirty="0">
                <a:solidFill>
                  <a:srgbClr val="2B3990"/>
                </a:solidFill>
                <a:latin typeface="Verdana"/>
                <a:cs typeface="Verdana"/>
              </a:rPr>
              <a:t>de</a:t>
            </a:r>
            <a:r>
              <a:rPr sz="800" spc="10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800" u="sng" spc="-10" dirty="0">
                <a:solidFill>
                  <a:srgbClr val="2B3990"/>
                </a:solidFill>
                <a:uFill>
                  <a:solidFill>
                    <a:srgbClr val="2B3990"/>
                  </a:solidFill>
                </a:uFill>
                <a:latin typeface="Verdana"/>
                <a:cs typeface="Verdana"/>
                <a:hlinkClick r:id="rId6"/>
              </a:rPr>
              <a:t>http://opendatahandbook.org/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2439" y="2339085"/>
            <a:ext cx="3388360" cy="987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200"/>
              </a:lnSpc>
              <a:spcBef>
                <a:spcPts val="95"/>
              </a:spcBef>
            </a:pPr>
            <a:r>
              <a:rPr sz="1500" b="1" dirty="0">
                <a:solidFill>
                  <a:srgbClr val="0030B8"/>
                </a:solidFill>
                <a:latin typeface="Tahoma"/>
                <a:cs typeface="Tahoma"/>
              </a:rPr>
              <a:t>Estructurados:</a:t>
            </a:r>
            <a:r>
              <a:rPr sz="1500" b="1" spc="160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Son</a:t>
            </a:r>
            <a:r>
              <a:rPr sz="1200" spc="-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dados</a:t>
            </a:r>
            <a:r>
              <a:rPr sz="1200" spc="1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que</a:t>
            </a:r>
            <a:r>
              <a:rPr sz="1200" spc="1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0030B8"/>
                </a:solidFill>
                <a:latin typeface="Verdana"/>
                <a:cs typeface="Verdana"/>
              </a:rPr>
              <a:t>están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organizados</a:t>
            </a:r>
            <a:r>
              <a:rPr sz="12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normalmente</a:t>
            </a:r>
            <a:r>
              <a:rPr sz="1200" spc="-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1200" spc="-1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tablas</a:t>
            </a:r>
            <a:r>
              <a:rPr sz="1200" spc="-1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u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0030B8"/>
                </a:solidFill>
                <a:latin typeface="Verdana"/>
                <a:cs typeface="Verdana"/>
              </a:rPr>
              <a:t>hojas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2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cálculo,</a:t>
            </a:r>
            <a:r>
              <a:rPr sz="12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12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una</a:t>
            </a:r>
            <a:r>
              <a:rPr sz="12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estructura</a:t>
            </a:r>
            <a:r>
              <a:rPr sz="12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definida,</a:t>
            </a:r>
            <a:r>
              <a:rPr sz="12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0030B8"/>
                </a:solidFill>
                <a:latin typeface="Verdana"/>
                <a:cs typeface="Verdana"/>
              </a:rPr>
              <a:t>por </a:t>
            </a:r>
            <a:r>
              <a:rPr sz="1200" spc="-35" dirty="0">
                <a:solidFill>
                  <a:srgbClr val="0030B8"/>
                </a:solidFill>
                <a:latin typeface="Verdana"/>
                <a:cs typeface="Verdana"/>
              </a:rPr>
              <a:t>ejemplo:</a:t>
            </a:r>
            <a:r>
              <a:rPr sz="12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0030B8"/>
                </a:solidFill>
                <a:latin typeface="Verdana"/>
                <a:cs typeface="Verdana"/>
              </a:rPr>
              <a:t>Hojas</a:t>
            </a:r>
            <a:r>
              <a:rPr sz="12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2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Cálculo,</a:t>
            </a:r>
            <a:r>
              <a:rPr sz="12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0030B8"/>
                </a:solidFill>
                <a:latin typeface="Verdana"/>
                <a:cs typeface="Verdana"/>
              </a:rPr>
              <a:t>Tablas</a:t>
            </a:r>
            <a:r>
              <a:rPr sz="12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12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Bases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2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30" dirty="0">
                <a:solidFill>
                  <a:srgbClr val="0030B8"/>
                </a:solidFill>
                <a:latin typeface="Verdana"/>
                <a:cs typeface="Verdana"/>
              </a:rPr>
              <a:t>datos,</a:t>
            </a:r>
            <a:r>
              <a:rPr sz="12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50" dirty="0">
                <a:solidFill>
                  <a:srgbClr val="0030B8"/>
                </a:solidFill>
                <a:latin typeface="Verdana"/>
                <a:cs typeface="Verdana"/>
              </a:rPr>
              <a:t>…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97628" y="4029582"/>
            <a:ext cx="3323590" cy="1353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99"/>
              </a:lnSpc>
              <a:spcBef>
                <a:spcPts val="95"/>
              </a:spcBef>
            </a:pPr>
            <a:r>
              <a:rPr sz="1500" b="1" dirty="0">
                <a:solidFill>
                  <a:srgbClr val="0030B8"/>
                </a:solidFill>
                <a:latin typeface="Tahoma"/>
                <a:cs typeface="Tahoma"/>
              </a:rPr>
              <a:t>Semiestructurados:</a:t>
            </a:r>
            <a:r>
              <a:rPr sz="1500" b="1" spc="310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Son</a:t>
            </a:r>
            <a:r>
              <a:rPr sz="1200" spc="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0030B8"/>
                </a:solidFill>
                <a:latin typeface="Verdana"/>
                <a:cs typeface="Verdana"/>
              </a:rPr>
              <a:t>una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combinación</a:t>
            </a:r>
            <a:r>
              <a:rPr sz="1200" spc="-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200" spc="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200" spc="-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dos</a:t>
            </a:r>
            <a:r>
              <a:rPr sz="1200" spc="-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30" dirty="0">
                <a:solidFill>
                  <a:srgbClr val="0030B8"/>
                </a:solidFill>
                <a:latin typeface="Verdana"/>
                <a:cs typeface="Verdana"/>
              </a:rPr>
              <a:t>anteriores,</a:t>
            </a:r>
            <a:r>
              <a:rPr sz="1200" spc="-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en </a:t>
            </a:r>
            <a:r>
              <a:rPr sz="1200" spc="-25" dirty="0">
                <a:solidFill>
                  <a:srgbClr val="0030B8"/>
                </a:solidFill>
                <a:latin typeface="Verdana"/>
                <a:cs typeface="Verdana"/>
              </a:rPr>
              <a:t>el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cual</a:t>
            </a:r>
            <a:r>
              <a:rPr sz="12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0030B8"/>
                </a:solidFill>
                <a:latin typeface="Verdana"/>
                <a:cs typeface="Verdana"/>
              </a:rPr>
              <a:t>existe</a:t>
            </a:r>
            <a:r>
              <a:rPr sz="12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un</a:t>
            </a:r>
            <a:r>
              <a:rPr sz="12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orden</a:t>
            </a:r>
            <a:r>
              <a:rPr sz="12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general</a:t>
            </a:r>
            <a:r>
              <a:rPr sz="12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pero</a:t>
            </a:r>
            <a:r>
              <a:rPr sz="12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2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datos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pueden</a:t>
            </a:r>
            <a:r>
              <a:rPr sz="1200" spc="-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30" dirty="0">
                <a:solidFill>
                  <a:srgbClr val="0030B8"/>
                </a:solidFill>
                <a:latin typeface="Verdana"/>
                <a:cs typeface="Verdana"/>
              </a:rPr>
              <a:t>ser</a:t>
            </a:r>
            <a:r>
              <a:rPr sz="12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no</a:t>
            </a:r>
            <a:r>
              <a:rPr sz="12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estructurados,</a:t>
            </a:r>
            <a:r>
              <a:rPr sz="1200" spc="-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por</a:t>
            </a:r>
            <a:r>
              <a:rPr sz="12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ejemplo: Mensajes</a:t>
            </a:r>
            <a:r>
              <a:rPr sz="12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30" dirty="0">
                <a:solidFill>
                  <a:srgbClr val="0030B8"/>
                </a:solidFill>
                <a:latin typeface="Verdana"/>
                <a:cs typeface="Verdana"/>
              </a:rPr>
              <a:t>JSON,</a:t>
            </a:r>
            <a:r>
              <a:rPr sz="12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0030B8"/>
                </a:solidFill>
                <a:latin typeface="Verdana"/>
                <a:cs typeface="Verdana"/>
              </a:rPr>
              <a:t>XML,</a:t>
            </a:r>
            <a:r>
              <a:rPr sz="12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0030B8"/>
                </a:solidFill>
                <a:latin typeface="Verdana"/>
                <a:cs typeface="Verdana"/>
              </a:rPr>
              <a:t>Hojas</a:t>
            </a:r>
            <a:r>
              <a:rPr sz="12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2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Excel</a:t>
            </a:r>
            <a:r>
              <a:rPr sz="12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0030B8"/>
                </a:solidFill>
                <a:latin typeface="Verdana"/>
                <a:cs typeface="Verdana"/>
              </a:rPr>
              <a:t>con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imágenes</a:t>
            </a:r>
            <a:r>
              <a:rPr sz="12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70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2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texto</a:t>
            </a:r>
            <a:r>
              <a:rPr sz="12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libre</a:t>
            </a:r>
            <a:r>
              <a:rPr sz="12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12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ciertas</a:t>
            </a:r>
            <a:r>
              <a:rPr sz="12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columnas,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200" spc="-50" dirty="0">
                <a:solidFill>
                  <a:srgbClr val="0030B8"/>
                </a:solidFill>
                <a:latin typeface="Verdana"/>
                <a:cs typeface="Verdana"/>
              </a:rPr>
              <a:t>…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76207" y="4503801"/>
            <a:ext cx="2874645" cy="987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200"/>
              </a:lnSpc>
              <a:spcBef>
                <a:spcPts val="95"/>
              </a:spcBef>
            </a:pPr>
            <a:r>
              <a:rPr sz="1500" b="1" spc="50" dirty="0">
                <a:solidFill>
                  <a:srgbClr val="0030B8"/>
                </a:solidFill>
                <a:latin typeface="Tahoma"/>
                <a:cs typeface="Tahoma"/>
              </a:rPr>
              <a:t>No</a:t>
            </a:r>
            <a:r>
              <a:rPr sz="1500" b="1" spc="110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0030B8"/>
                </a:solidFill>
                <a:latin typeface="Tahoma"/>
                <a:cs typeface="Tahoma"/>
              </a:rPr>
              <a:t>estructurados:</a:t>
            </a:r>
            <a:r>
              <a:rPr sz="1500" b="1" spc="105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Son</a:t>
            </a:r>
            <a:r>
              <a:rPr sz="1200" spc="-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0030B8"/>
                </a:solidFill>
                <a:latin typeface="Verdana"/>
                <a:cs typeface="Verdana"/>
              </a:rPr>
              <a:t>datos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libres</a:t>
            </a:r>
            <a:r>
              <a:rPr sz="12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sin</a:t>
            </a:r>
            <a:r>
              <a:rPr sz="12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un</a:t>
            </a:r>
            <a:r>
              <a:rPr sz="12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formato</a:t>
            </a:r>
            <a:r>
              <a:rPr sz="12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único</a:t>
            </a:r>
            <a:r>
              <a:rPr sz="12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70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2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0030B8"/>
                </a:solidFill>
                <a:latin typeface="Verdana"/>
                <a:cs typeface="Verdana"/>
              </a:rPr>
              <a:t>que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puede</a:t>
            </a:r>
            <a:r>
              <a:rPr sz="12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diferir</a:t>
            </a:r>
            <a:r>
              <a:rPr sz="12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entre</a:t>
            </a:r>
            <a:r>
              <a:rPr sz="12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registro</a:t>
            </a:r>
            <a:r>
              <a:rPr sz="12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70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2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0030B8"/>
                </a:solidFill>
                <a:latin typeface="Verdana"/>
                <a:cs typeface="Verdana"/>
              </a:rPr>
              <a:t>registro,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por</a:t>
            </a:r>
            <a:r>
              <a:rPr sz="12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35" dirty="0">
                <a:solidFill>
                  <a:srgbClr val="0030B8"/>
                </a:solidFill>
                <a:latin typeface="Verdana"/>
                <a:cs typeface="Verdana"/>
              </a:rPr>
              <a:t>ejemplo:</a:t>
            </a:r>
            <a:r>
              <a:rPr sz="12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0030B8"/>
                </a:solidFill>
                <a:latin typeface="Verdana"/>
                <a:cs typeface="Verdana"/>
              </a:rPr>
              <a:t>Blogs,</a:t>
            </a:r>
            <a:r>
              <a:rPr sz="12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0030B8"/>
                </a:solidFill>
                <a:latin typeface="Verdana"/>
                <a:cs typeface="Verdana"/>
              </a:rPr>
              <a:t>Video,</a:t>
            </a:r>
            <a:r>
              <a:rPr sz="12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Audio, </a:t>
            </a:r>
            <a:r>
              <a:rPr sz="1200" spc="-20" dirty="0">
                <a:solidFill>
                  <a:srgbClr val="0030B8"/>
                </a:solidFill>
                <a:latin typeface="Verdana"/>
                <a:cs typeface="Verdana"/>
              </a:rPr>
              <a:t>textos</a:t>
            </a:r>
            <a:r>
              <a:rPr sz="12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12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PQRSD.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99178" y="2034667"/>
            <a:ext cx="304038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Datos:</a:t>
            </a:r>
            <a:r>
              <a:rPr sz="3200" spc="65" dirty="0"/>
              <a:t> </a:t>
            </a:r>
            <a:r>
              <a:rPr sz="3200" spc="85" dirty="0"/>
              <a:t>calidad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78739" y="2792984"/>
            <a:ext cx="10499090" cy="4017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19650" marR="67310" indent="-287020">
              <a:lnSpc>
                <a:spcPct val="100000"/>
              </a:lnSpc>
              <a:spcBef>
                <a:spcPts val="100"/>
              </a:spcBef>
              <a:buClr>
                <a:srgbClr val="2CDAFF"/>
              </a:buClr>
              <a:buFont typeface="Courier New"/>
              <a:buChar char="o"/>
              <a:tabLst>
                <a:tab pos="4819650" algn="l"/>
              </a:tabLst>
            </a:pPr>
            <a:r>
              <a:rPr sz="1500" b="1" dirty="0">
                <a:solidFill>
                  <a:srgbClr val="0030B8"/>
                </a:solidFill>
                <a:latin typeface="Tahoma"/>
                <a:cs typeface="Tahoma"/>
              </a:rPr>
              <a:t>Exactitud</a:t>
            </a:r>
            <a:r>
              <a:rPr sz="1500" b="1" spc="60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0030B8"/>
                </a:solidFill>
                <a:latin typeface="Tahoma"/>
                <a:cs typeface="Tahoma"/>
              </a:rPr>
              <a:t>(Accuracy):</a:t>
            </a:r>
            <a:r>
              <a:rPr sz="1500" b="1" spc="65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Se</a:t>
            </a:r>
            <a:r>
              <a:rPr sz="15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50" dirty="0">
                <a:solidFill>
                  <a:srgbClr val="0030B8"/>
                </a:solidFill>
                <a:latin typeface="Verdana"/>
                <a:cs typeface="Verdana"/>
              </a:rPr>
              <a:t>mide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el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grado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el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que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datos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representan</a:t>
            </a:r>
            <a:r>
              <a:rPr sz="15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correctamente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el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objeto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del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70" dirty="0">
                <a:solidFill>
                  <a:srgbClr val="0030B8"/>
                </a:solidFill>
                <a:latin typeface="Verdana"/>
                <a:cs typeface="Verdana"/>
              </a:rPr>
              <a:t>mundo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real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o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30" dirty="0">
                <a:solidFill>
                  <a:srgbClr val="0030B8"/>
                </a:solidFill>
                <a:latin typeface="Verdana"/>
                <a:cs typeface="Verdana"/>
              </a:rPr>
              <a:t>un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evento</a:t>
            </a:r>
            <a:r>
              <a:rPr sz="15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que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se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describe.</a:t>
            </a:r>
            <a:endParaRPr sz="1500">
              <a:latin typeface="Verdana"/>
              <a:cs typeface="Verdana"/>
            </a:endParaRPr>
          </a:p>
          <a:p>
            <a:pPr marL="4819650" marR="5080">
              <a:lnSpc>
                <a:spcPct val="100000"/>
              </a:lnSpc>
            </a:pPr>
            <a:r>
              <a:rPr sz="1500" spc="-30" dirty="0">
                <a:solidFill>
                  <a:srgbClr val="0030B8"/>
                </a:solidFill>
                <a:latin typeface="Verdana"/>
                <a:cs typeface="Verdana"/>
              </a:rPr>
              <a:t>Ejemplo:</a:t>
            </a:r>
            <a:r>
              <a:rPr sz="1500" spc="-11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dirección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envío</a:t>
            </a:r>
            <a:r>
              <a:rPr sz="15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pedidos</a:t>
            </a:r>
            <a:r>
              <a:rPr sz="15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a</a:t>
            </a:r>
            <a:r>
              <a:rPr sz="15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55" dirty="0">
                <a:solidFill>
                  <a:srgbClr val="0030B8"/>
                </a:solidFill>
                <a:latin typeface="Verdana"/>
                <a:cs typeface="Verdana"/>
              </a:rPr>
              <a:t>un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cliente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la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base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datos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clientes</a:t>
            </a:r>
            <a:r>
              <a:rPr sz="1500" spc="-1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es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dirección</a:t>
            </a:r>
            <a:r>
              <a:rPr sz="15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real.</a:t>
            </a:r>
            <a:endParaRPr sz="1500">
              <a:latin typeface="Verdana"/>
              <a:cs typeface="Verdana"/>
            </a:endParaRPr>
          </a:p>
          <a:p>
            <a:pPr marL="4819650" marR="263525" indent="-287020">
              <a:lnSpc>
                <a:spcPct val="100000"/>
              </a:lnSpc>
              <a:spcBef>
                <a:spcPts val="1800"/>
              </a:spcBef>
              <a:buClr>
                <a:srgbClr val="2CDAFF"/>
              </a:buClr>
              <a:buFont typeface="Courier New"/>
              <a:buChar char="o"/>
              <a:tabLst>
                <a:tab pos="4819650" algn="l"/>
              </a:tabLst>
            </a:pPr>
            <a:r>
              <a:rPr sz="1500" b="1" spc="50" dirty="0">
                <a:solidFill>
                  <a:srgbClr val="0030B8"/>
                </a:solidFill>
                <a:latin typeface="Tahoma"/>
                <a:cs typeface="Tahoma"/>
              </a:rPr>
              <a:t>Completitud</a:t>
            </a:r>
            <a:r>
              <a:rPr sz="1500" b="1" spc="60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0030B8"/>
                </a:solidFill>
                <a:latin typeface="Tahoma"/>
                <a:cs typeface="Tahoma"/>
              </a:rPr>
              <a:t>(Completeness):</a:t>
            </a:r>
            <a:r>
              <a:rPr sz="1500" b="1" spc="100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El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grado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el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que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el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dato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tiene</a:t>
            </a:r>
            <a:r>
              <a:rPr sz="1500" spc="-1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el</a:t>
            </a:r>
            <a:r>
              <a:rPr sz="15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valor</a:t>
            </a:r>
            <a:r>
              <a:rPr sz="15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esperado</a:t>
            </a:r>
            <a:r>
              <a:rPr sz="1500" spc="-1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50" dirty="0">
                <a:solidFill>
                  <a:srgbClr val="0030B8"/>
                </a:solidFill>
                <a:latin typeface="Verdana"/>
                <a:cs typeface="Verdana"/>
              </a:rPr>
              <a:t>cumple</a:t>
            </a:r>
            <a:r>
              <a:rPr sz="15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con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requerimientos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marcados.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Si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55" dirty="0">
                <a:solidFill>
                  <a:srgbClr val="0030B8"/>
                </a:solidFill>
                <a:latin typeface="Verdana"/>
                <a:cs typeface="Verdana"/>
              </a:rPr>
              <a:t>un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dato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es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opcional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no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debe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considerarse para</a:t>
            </a:r>
            <a:r>
              <a:rPr sz="1500" spc="-11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lograr</a:t>
            </a:r>
            <a:r>
              <a:rPr sz="1500" spc="-1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el</a:t>
            </a:r>
            <a:r>
              <a:rPr sz="1500" spc="-1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85" dirty="0">
                <a:solidFill>
                  <a:srgbClr val="0030B8"/>
                </a:solidFill>
                <a:latin typeface="Verdana"/>
                <a:cs typeface="Verdana"/>
              </a:rPr>
              <a:t>100%</a:t>
            </a:r>
            <a:r>
              <a:rPr sz="1500" spc="-1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1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completitud.</a:t>
            </a:r>
            <a:endParaRPr sz="1500">
              <a:latin typeface="Verdana"/>
              <a:cs typeface="Verdana"/>
            </a:endParaRPr>
          </a:p>
          <a:p>
            <a:pPr marL="4819650" marR="139065">
              <a:lnSpc>
                <a:spcPct val="100000"/>
              </a:lnSpc>
              <a:spcBef>
                <a:spcPts val="5"/>
              </a:spcBef>
            </a:pPr>
            <a:r>
              <a:rPr sz="1500" spc="-30" dirty="0">
                <a:solidFill>
                  <a:srgbClr val="0030B8"/>
                </a:solidFill>
                <a:latin typeface="Verdana"/>
                <a:cs typeface="Verdana"/>
              </a:rPr>
              <a:t>Ejemplo:</a:t>
            </a:r>
            <a:r>
              <a:rPr sz="1500" spc="-11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50" dirty="0">
                <a:solidFill>
                  <a:srgbClr val="0030B8"/>
                </a:solidFill>
                <a:latin typeface="Verdana"/>
                <a:cs typeface="Verdana"/>
              </a:rPr>
              <a:t>Podemos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establecer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que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clientes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tendrán</a:t>
            </a:r>
            <a:r>
              <a:rPr sz="15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sus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datos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completos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45" dirty="0">
                <a:solidFill>
                  <a:srgbClr val="0030B8"/>
                </a:solidFill>
                <a:latin typeface="Verdana"/>
                <a:cs typeface="Verdana"/>
              </a:rPr>
              <a:t>si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hemos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registrado</a:t>
            </a:r>
            <a:r>
              <a:rPr sz="15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su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nombre,</a:t>
            </a:r>
            <a:r>
              <a:rPr sz="1500" spc="-1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primer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apellido,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segundo</a:t>
            </a:r>
            <a:r>
              <a:rPr sz="15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apellido,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número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identificación,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e-</a:t>
            </a:r>
            <a:r>
              <a:rPr sz="1500" spc="-40" dirty="0">
                <a:solidFill>
                  <a:srgbClr val="0030B8"/>
                </a:solidFill>
                <a:latin typeface="Verdana"/>
                <a:cs typeface="Verdana"/>
              </a:rPr>
              <a:t>mail,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dirección,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código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postal,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ciudad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5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país.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El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segundo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nombre</a:t>
            </a:r>
            <a:r>
              <a:rPr sz="15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será</a:t>
            </a:r>
            <a:r>
              <a:rPr sz="1500" spc="-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opcional.</a:t>
            </a:r>
            <a:endParaRPr sz="15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335"/>
              </a:spcBef>
            </a:pPr>
            <a:endParaRPr sz="15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50" dirty="0">
                <a:solidFill>
                  <a:srgbClr val="0030B8"/>
                </a:solidFill>
                <a:latin typeface="Verdana"/>
                <a:cs typeface="Verdana"/>
              </a:rPr>
              <a:t>Henderson,</a:t>
            </a:r>
            <a:r>
              <a:rPr sz="105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spc="-60" dirty="0">
                <a:solidFill>
                  <a:srgbClr val="0030B8"/>
                </a:solidFill>
                <a:latin typeface="Verdana"/>
                <a:cs typeface="Verdana"/>
              </a:rPr>
              <a:t>D.</a:t>
            </a:r>
            <a:r>
              <a:rPr sz="1050" spc="-1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spc="-95" dirty="0">
                <a:solidFill>
                  <a:srgbClr val="0030B8"/>
                </a:solidFill>
                <a:latin typeface="Verdana"/>
                <a:cs typeface="Verdana"/>
              </a:rPr>
              <a:t>[Ed.].</a:t>
            </a:r>
            <a:r>
              <a:rPr sz="1050" spc="-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spc="-125" dirty="0">
                <a:solidFill>
                  <a:srgbClr val="0030B8"/>
                </a:solidFill>
                <a:latin typeface="Verdana"/>
                <a:cs typeface="Verdana"/>
              </a:rPr>
              <a:t>(2015),</a:t>
            </a:r>
            <a:r>
              <a:rPr sz="1050" dirty="0">
                <a:solidFill>
                  <a:srgbClr val="0030B8"/>
                </a:solidFill>
                <a:latin typeface="Verdana"/>
                <a:cs typeface="Verdana"/>
              </a:rPr>
              <a:t> DAMA-DMBOK,</a:t>
            </a:r>
            <a:r>
              <a:rPr sz="105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0030B8"/>
                </a:solidFill>
                <a:latin typeface="Verdana"/>
                <a:cs typeface="Verdana"/>
              </a:rPr>
              <a:t>Estados</a:t>
            </a:r>
            <a:r>
              <a:rPr sz="105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spc="-20" dirty="0">
                <a:solidFill>
                  <a:srgbClr val="0030B8"/>
                </a:solidFill>
                <a:latin typeface="Verdana"/>
                <a:cs typeface="Verdana"/>
              </a:rPr>
              <a:t>Unidos:</a:t>
            </a:r>
            <a:r>
              <a:rPr sz="105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0030B8"/>
                </a:solidFill>
                <a:latin typeface="Verdana"/>
                <a:cs typeface="Verdana"/>
              </a:rPr>
              <a:t>Editorial</a:t>
            </a:r>
            <a:r>
              <a:rPr sz="1050" spc="-1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0030B8"/>
                </a:solidFill>
                <a:latin typeface="Verdana"/>
                <a:cs typeface="Verdana"/>
              </a:rPr>
              <a:t>Dama</a:t>
            </a:r>
            <a:r>
              <a:rPr sz="105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0030B8"/>
                </a:solidFill>
                <a:latin typeface="Verdana"/>
                <a:cs typeface="Verdana"/>
              </a:rPr>
              <a:t>International.</a:t>
            </a:r>
            <a:endParaRPr sz="105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4691" y="2714244"/>
            <a:ext cx="3390900" cy="33909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99178" y="2792984"/>
            <a:ext cx="5887085" cy="2769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80010" indent="-287020" algn="just">
              <a:lnSpc>
                <a:spcPct val="100000"/>
              </a:lnSpc>
              <a:spcBef>
                <a:spcPts val="100"/>
              </a:spcBef>
              <a:buClr>
                <a:srgbClr val="2CDAFF"/>
              </a:buClr>
              <a:buFont typeface="Courier New"/>
              <a:buChar char="o"/>
              <a:tabLst>
                <a:tab pos="299085" algn="l"/>
              </a:tabLst>
            </a:pPr>
            <a:r>
              <a:rPr sz="1500" b="1" spc="35" dirty="0">
                <a:solidFill>
                  <a:srgbClr val="0030B8"/>
                </a:solidFill>
                <a:latin typeface="Tahoma"/>
                <a:cs typeface="Tahoma"/>
              </a:rPr>
              <a:t>Consistencia</a:t>
            </a:r>
            <a:r>
              <a:rPr sz="1500" b="1" spc="5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0030B8"/>
                </a:solidFill>
                <a:latin typeface="Tahoma"/>
                <a:cs typeface="Tahoma"/>
              </a:rPr>
              <a:t>(Consistency):</a:t>
            </a:r>
            <a:r>
              <a:rPr sz="1500" b="1" spc="-5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0030B8"/>
                </a:solidFill>
                <a:latin typeface="Verdana"/>
                <a:cs typeface="Verdana"/>
              </a:rPr>
              <a:t>Mide</a:t>
            </a:r>
            <a:r>
              <a:rPr sz="1500" spc="-1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40" dirty="0">
                <a:solidFill>
                  <a:srgbClr val="0030B8"/>
                </a:solidFill>
                <a:latin typeface="Verdana"/>
                <a:cs typeface="Verdana"/>
              </a:rPr>
              <a:t>si</a:t>
            </a:r>
            <a:r>
              <a:rPr sz="1500" spc="-1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5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500" spc="-1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5" dirty="0">
                <a:solidFill>
                  <a:srgbClr val="0030B8"/>
                </a:solidFill>
                <a:latin typeface="Verdana"/>
                <a:cs typeface="Verdana"/>
              </a:rPr>
              <a:t>datos</a:t>
            </a:r>
            <a:r>
              <a:rPr sz="1500" spc="-1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están</a:t>
            </a:r>
            <a:r>
              <a:rPr sz="1500" spc="-1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5" dirty="0">
                <a:solidFill>
                  <a:srgbClr val="0030B8"/>
                </a:solidFill>
                <a:latin typeface="Verdana"/>
                <a:cs typeface="Verdana"/>
              </a:rPr>
              <a:t>libres</a:t>
            </a:r>
            <a:r>
              <a:rPr sz="15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45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1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25" dirty="0">
                <a:solidFill>
                  <a:srgbClr val="0030B8"/>
                </a:solidFill>
                <a:latin typeface="Verdana"/>
                <a:cs typeface="Verdana"/>
              </a:rPr>
              <a:t>contradicción</a:t>
            </a:r>
            <a:r>
              <a:rPr sz="1500" spc="-1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500" spc="-1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25" dirty="0">
                <a:solidFill>
                  <a:srgbClr val="0030B8"/>
                </a:solidFill>
                <a:latin typeface="Verdana"/>
                <a:cs typeface="Verdana"/>
              </a:rPr>
              <a:t>tienen</a:t>
            </a:r>
            <a:r>
              <a:rPr sz="1500" spc="-1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20" dirty="0">
                <a:solidFill>
                  <a:srgbClr val="0030B8"/>
                </a:solidFill>
                <a:latin typeface="Verdana"/>
                <a:cs typeface="Verdana"/>
              </a:rPr>
              <a:t>coherencia</a:t>
            </a:r>
            <a:r>
              <a:rPr sz="1500" spc="-1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5" dirty="0">
                <a:solidFill>
                  <a:srgbClr val="0030B8"/>
                </a:solidFill>
                <a:latin typeface="Verdana"/>
                <a:cs typeface="Verdana"/>
              </a:rPr>
              <a:t>lógica,</a:t>
            </a:r>
            <a:r>
              <a:rPr sz="1500" spc="-1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45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1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10" dirty="0">
                <a:solidFill>
                  <a:srgbClr val="0030B8"/>
                </a:solidFill>
                <a:latin typeface="Verdana"/>
                <a:cs typeface="Verdana"/>
              </a:rPr>
              <a:t>formato</a:t>
            </a:r>
            <a:r>
              <a:rPr sz="1500" spc="-1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25" dirty="0">
                <a:solidFill>
                  <a:srgbClr val="0030B8"/>
                </a:solidFill>
                <a:latin typeface="Verdana"/>
                <a:cs typeface="Verdana"/>
              </a:rPr>
              <a:t>o</a:t>
            </a:r>
            <a:r>
              <a:rPr sz="1500" spc="1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temporal.</a:t>
            </a:r>
            <a:endParaRPr sz="1500">
              <a:latin typeface="Verdana"/>
              <a:cs typeface="Verdana"/>
            </a:endParaRPr>
          </a:p>
          <a:p>
            <a:pPr marL="299085" marR="122555">
              <a:lnSpc>
                <a:spcPct val="100000"/>
              </a:lnSpc>
            </a:pPr>
            <a:r>
              <a:rPr sz="1500" spc="-30" dirty="0">
                <a:solidFill>
                  <a:srgbClr val="0030B8"/>
                </a:solidFill>
                <a:latin typeface="Verdana"/>
                <a:cs typeface="Verdana"/>
              </a:rPr>
              <a:t>Ejemplo: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Para </a:t>
            </a:r>
            <a:r>
              <a:rPr sz="1500" spc="55" dirty="0">
                <a:solidFill>
                  <a:srgbClr val="0030B8"/>
                </a:solidFill>
                <a:latin typeface="Verdana"/>
                <a:cs typeface="Verdana"/>
              </a:rPr>
              <a:t>un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 cliente</a:t>
            </a:r>
            <a:r>
              <a:rPr sz="15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determinado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tenemos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ventas registradas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pero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no</a:t>
            </a:r>
            <a:r>
              <a:rPr sz="15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nos</a:t>
            </a:r>
            <a:r>
              <a:rPr sz="15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consta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ninguna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orden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pedido.</a:t>
            </a:r>
            <a:endParaRPr sz="1500">
              <a:latin typeface="Verdana"/>
              <a:cs typeface="Verdana"/>
            </a:endParaRPr>
          </a:p>
          <a:p>
            <a:pPr marL="299085" marR="74930" indent="-287020">
              <a:lnSpc>
                <a:spcPct val="100000"/>
              </a:lnSpc>
              <a:spcBef>
                <a:spcPts val="1800"/>
              </a:spcBef>
              <a:buClr>
                <a:srgbClr val="2CDAFF"/>
              </a:buClr>
              <a:buFont typeface="Courier New"/>
              <a:buChar char="o"/>
              <a:tabLst>
                <a:tab pos="299085" algn="l"/>
              </a:tabLst>
            </a:pPr>
            <a:r>
              <a:rPr sz="1500" b="1" dirty="0">
                <a:solidFill>
                  <a:srgbClr val="0030B8"/>
                </a:solidFill>
                <a:latin typeface="Tahoma"/>
                <a:cs typeface="Tahoma"/>
              </a:rPr>
              <a:t>Pertinencia</a:t>
            </a:r>
            <a:r>
              <a:rPr sz="1500" b="1" spc="155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0030B8"/>
                </a:solidFill>
                <a:latin typeface="Tahoma"/>
                <a:cs typeface="Tahoma"/>
              </a:rPr>
              <a:t>temporal</a:t>
            </a:r>
            <a:r>
              <a:rPr sz="1500" b="1" spc="180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0030B8"/>
                </a:solidFill>
                <a:latin typeface="Tahoma"/>
                <a:cs typeface="Tahoma"/>
              </a:rPr>
              <a:t>(Timeliness):</a:t>
            </a:r>
            <a:r>
              <a:rPr sz="1500" b="1" spc="150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1500" spc="60" dirty="0">
                <a:solidFill>
                  <a:srgbClr val="0030B8"/>
                </a:solidFill>
                <a:latin typeface="Verdana"/>
                <a:cs typeface="Verdana"/>
              </a:rPr>
              <a:t>Mide</a:t>
            </a:r>
            <a:r>
              <a:rPr sz="1500" spc="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el</a:t>
            </a:r>
            <a:r>
              <a:rPr sz="1500" spc="-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grado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1500" spc="-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que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datos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están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disponibles</a:t>
            </a:r>
            <a:r>
              <a:rPr sz="1500" spc="-11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cuando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se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requieren.</a:t>
            </a:r>
            <a:endParaRPr sz="1500">
              <a:latin typeface="Verdana"/>
              <a:cs typeface="Verdana"/>
            </a:endParaRPr>
          </a:p>
          <a:p>
            <a:pPr marL="299085" marR="5080">
              <a:lnSpc>
                <a:spcPct val="100000"/>
              </a:lnSpc>
            </a:pPr>
            <a:r>
              <a:rPr sz="1500" spc="-30" dirty="0">
                <a:solidFill>
                  <a:srgbClr val="0030B8"/>
                </a:solidFill>
                <a:latin typeface="Verdana"/>
                <a:cs typeface="Verdana"/>
              </a:rPr>
              <a:t>Ejemplo:</a:t>
            </a:r>
            <a:r>
              <a:rPr sz="15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Para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asignación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habitaciones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55" dirty="0">
                <a:solidFill>
                  <a:srgbClr val="0030B8"/>
                </a:solidFill>
                <a:latin typeface="Verdana"/>
                <a:cs typeface="Verdana"/>
              </a:rPr>
              <a:t>un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hotel,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la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recepción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debe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contar</a:t>
            </a:r>
            <a:r>
              <a:rPr sz="1500" spc="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con</a:t>
            </a:r>
            <a:r>
              <a:rPr sz="1500" spc="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el</a:t>
            </a:r>
            <a:r>
              <a:rPr sz="1500" spc="-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número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actualizado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de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habitaciones</a:t>
            </a:r>
            <a:r>
              <a:rPr sz="15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disponibles</a:t>
            </a:r>
            <a:r>
              <a:rPr sz="15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el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50" dirty="0">
                <a:solidFill>
                  <a:srgbClr val="0030B8"/>
                </a:solidFill>
                <a:latin typeface="Verdana"/>
                <a:cs typeface="Verdana"/>
              </a:rPr>
              <a:t>momento</a:t>
            </a:r>
            <a:r>
              <a:rPr sz="15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registrar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la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llegada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del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cliente.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599178" y="2034667"/>
            <a:ext cx="304038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Datos:</a:t>
            </a:r>
            <a:r>
              <a:rPr sz="3200" spc="65" dirty="0"/>
              <a:t> </a:t>
            </a:r>
            <a:r>
              <a:rPr sz="3200" spc="85" dirty="0"/>
              <a:t>calidad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78739" y="6623101"/>
            <a:ext cx="592836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0030B8"/>
                </a:solidFill>
                <a:latin typeface="Verdana"/>
                <a:cs typeface="Verdana"/>
              </a:rPr>
              <a:t>Henderson,</a:t>
            </a:r>
            <a:r>
              <a:rPr sz="105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spc="-60" dirty="0">
                <a:solidFill>
                  <a:srgbClr val="0030B8"/>
                </a:solidFill>
                <a:latin typeface="Verdana"/>
                <a:cs typeface="Verdana"/>
              </a:rPr>
              <a:t>D.</a:t>
            </a:r>
            <a:r>
              <a:rPr sz="1050" spc="-1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spc="-95" dirty="0">
                <a:solidFill>
                  <a:srgbClr val="0030B8"/>
                </a:solidFill>
                <a:latin typeface="Verdana"/>
                <a:cs typeface="Verdana"/>
              </a:rPr>
              <a:t>[Ed.].</a:t>
            </a:r>
            <a:r>
              <a:rPr sz="1050" spc="-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spc="-125" dirty="0">
                <a:solidFill>
                  <a:srgbClr val="0030B8"/>
                </a:solidFill>
                <a:latin typeface="Verdana"/>
                <a:cs typeface="Verdana"/>
              </a:rPr>
              <a:t>(2015),</a:t>
            </a:r>
            <a:r>
              <a:rPr sz="1050" dirty="0">
                <a:solidFill>
                  <a:srgbClr val="0030B8"/>
                </a:solidFill>
                <a:latin typeface="Verdana"/>
                <a:cs typeface="Verdana"/>
              </a:rPr>
              <a:t> DAMA-DMBOK,</a:t>
            </a:r>
            <a:r>
              <a:rPr sz="105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0030B8"/>
                </a:solidFill>
                <a:latin typeface="Verdana"/>
                <a:cs typeface="Verdana"/>
              </a:rPr>
              <a:t>Estados</a:t>
            </a:r>
            <a:r>
              <a:rPr sz="105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spc="-20" dirty="0">
                <a:solidFill>
                  <a:srgbClr val="0030B8"/>
                </a:solidFill>
                <a:latin typeface="Verdana"/>
                <a:cs typeface="Verdana"/>
              </a:rPr>
              <a:t>Unidos:</a:t>
            </a:r>
            <a:r>
              <a:rPr sz="105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0030B8"/>
                </a:solidFill>
                <a:latin typeface="Verdana"/>
                <a:cs typeface="Verdana"/>
              </a:rPr>
              <a:t>Editorial</a:t>
            </a:r>
            <a:r>
              <a:rPr sz="1050" spc="-1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0030B8"/>
                </a:solidFill>
                <a:latin typeface="Verdana"/>
                <a:cs typeface="Verdana"/>
              </a:rPr>
              <a:t>Dama</a:t>
            </a:r>
            <a:r>
              <a:rPr sz="105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0030B8"/>
                </a:solidFill>
                <a:latin typeface="Verdana"/>
                <a:cs typeface="Verdana"/>
              </a:rPr>
              <a:t>International.</a:t>
            </a:r>
            <a:endParaRPr sz="105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4691" y="2714244"/>
            <a:ext cx="3390900" cy="33909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99178" y="2792984"/>
            <a:ext cx="5995035" cy="33197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313055" indent="-287020">
              <a:lnSpc>
                <a:spcPct val="100000"/>
              </a:lnSpc>
              <a:spcBef>
                <a:spcPts val="100"/>
              </a:spcBef>
              <a:buClr>
                <a:srgbClr val="2CDAFF"/>
              </a:buClr>
              <a:buFont typeface="Courier New"/>
              <a:buChar char="o"/>
              <a:tabLst>
                <a:tab pos="299085" algn="l"/>
              </a:tabLst>
            </a:pPr>
            <a:r>
              <a:rPr sz="1500" b="1" spc="50" dirty="0">
                <a:solidFill>
                  <a:srgbClr val="0030B8"/>
                </a:solidFill>
                <a:latin typeface="Tahoma"/>
                <a:cs typeface="Tahoma"/>
              </a:rPr>
              <a:t>Unicidad</a:t>
            </a:r>
            <a:r>
              <a:rPr sz="1500" b="1" spc="25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0030B8"/>
                </a:solidFill>
                <a:latin typeface="Tahoma"/>
                <a:cs typeface="Tahoma"/>
              </a:rPr>
              <a:t>(Uniqueness):</a:t>
            </a:r>
            <a:r>
              <a:rPr sz="1500" b="1" spc="50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Cada</a:t>
            </a:r>
            <a:r>
              <a:rPr sz="15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dato</a:t>
            </a:r>
            <a:r>
              <a:rPr sz="15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es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único.</a:t>
            </a:r>
            <a:r>
              <a:rPr sz="15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Con</a:t>
            </a:r>
            <a:r>
              <a:rPr sz="15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esta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dimensión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se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busca</a:t>
            </a:r>
            <a:r>
              <a:rPr sz="1500" spc="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corregir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 duplicidad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inesperada</a:t>
            </a:r>
            <a:r>
              <a:rPr sz="15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en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nuestros</a:t>
            </a:r>
            <a:r>
              <a:rPr sz="1500" spc="-1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dataset.</a:t>
            </a:r>
            <a:endParaRPr sz="1500">
              <a:latin typeface="Verdana"/>
              <a:cs typeface="Verdana"/>
            </a:endParaRPr>
          </a:p>
          <a:p>
            <a:pPr marL="299085" marR="5080">
              <a:lnSpc>
                <a:spcPct val="100000"/>
              </a:lnSpc>
              <a:spcBef>
                <a:spcPts val="10"/>
              </a:spcBef>
            </a:pPr>
            <a:r>
              <a:rPr sz="1200" spc="-30" dirty="0">
                <a:solidFill>
                  <a:srgbClr val="0030B8"/>
                </a:solidFill>
                <a:latin typeface="Verdana"/>
                <a:cs typeface="Verdana"/>
              </a:rPr>
              <a:t>Ejemplo:</a:t>
            </a:r>
            <a:r>
              <a:rPr sz="12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12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nuestra</a:t>
            </a:r>
            <a:r>
              <a:rPr sz="12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base</a:t>
            </a:r>
            <a:r>
              <a:rPr sz="1200" spc="-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2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datos</a:t>
            </a:r>
            <a:r>
              <a:rPr sz="12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podemos</a:t>
            </a:r>
            <a:r>
              <a:rPr sz="12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tener</a:t>
            </a:r>
            <a:r>
              <a:rPr sz="12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dos</a:t>
            </a:r>
            <a:r>
              <a:rPr sz="12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clientes</a:t>
            </a:r>
            <a:r>
              <a:rPr sz="1200" spc="-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que</a:t>
            </a:r>
            <a:r>
              <a:rPr sz="12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0030B8"/>
                </a:solidFill>
                <a:latin typeface="Verdana"/>
                <a:cs typeface="Verdana"/>
              </a:rPr>
              <a:t>se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registraron</a:t>
            </a:r>
            <a:r>
              <a:rPr sz="12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como</a:t>
            </a:r>
            <a:r>
              <a:rPr sz="12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35" dirty="0">
                <a:solidFill>
                  <a:srgbClr val="0030B8"/>
                </a:solidFill>
                <a:latin typeface="Verdana"/>
                <a:cs typeface="Verdana"/>
              </a:rPr>
              <a:t>«Fran</a:t>
            </a:r>
            <a:r>
              <a:rPr sz="12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40" dirty="0">
                <a:solidFill>
                  <a:srgbClr val="0030B8"/>
                </a:solidFill>
                <a:latin typeface="Verdana"/>
                <a:cs typeface="Verdana"/>
              </a:rPr>
              <a:t>García»</a:t>
            </a:r>
            <a:r>
              <a:rPr sz="1200" spc="-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70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2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«Francisco</a:t>
            </a:r>
            <a:r>
              <a:rPr sz="12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Juan</a:t>
            </a:r>
            <a:r>
              <a:rPr sz="12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60" dirty="0">
                <a:solidFill>
                  <a:srgbClr val="0030B8"/>
                </a:solidFill>
                <a:latin typeface="Verdana"/>
                <a:cs typeface="Verdana"/>
              </a:rPr>
              <a:t>García»,</a:t>
            </a:r>
            <a:r>
              <a:rPr sz="12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siendo</a:t>
            </a:r>
            <a:r>
              <a:rPr sz="12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2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misma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persona</a:t>
            </a:r>
            <a:r>
              <a:rPr sz="12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pero</a:t>
            </a:r>
            <a:r>
              <a:rPr sz="12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sólo</a:t>
            </a:r>
            <a:r>
              <a:rPr sz="12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el</a:t>
            </a:r>
            <a:r>
              <a:rPr sz="12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último</a:t>
            </a:r>
            <a:r>
              <a:rPr sz="12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contiene</a:t>
            </a:r>
            <a:r>
              <a:rPr sz="12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todos</a:t>
            </a:r>
            <a:r>
              <a:rPr sz="12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2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datos</a:t>
            </a:r>
            <a:r>
              <a:rPr sz="12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completos.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1200">
              <a:latin typeface="Verdana"/>
              <a:cs typeface="Verdana"/>
            </a:endParaRPr>
          </a:p>
          <a:p>
            <a:pPr marL="299085" marR="48260" indent="-287020">
              <a:lnSpc>
                <a:spcPct val="100000"/>
              </a:lnSpc>
              <a:buClr>
                <a:srgbClr val="2CDAFF"/>
              </a:buClr>
              <a:buFont typeface="Courier New"/>
              <a:buChar char="o"/>
              <a:tabLst>
                <a:tab pos="299085" algn="l"/>
              </a:tabLst>
            </a:pPr>
            <a:r>
              <a:rPr sz="1500" b="1" dirty="0">
                <a:solidFill>
                  <a:srgbClr val="0030B8"/>
                </a:solidFill>
                <a:latin typeface="Tahoma"/>
                <a:cs typeface="Tahoma"/>
              </a:rPr>
              <a:t>Validez</a:t>
            </a:r>
            <a:r>
              <a:rPr sz="1500" b="1" spc="60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1500" b="1" spc="-20" dirty="0">
                <a:solidFill>
                  <a:srgbClr val="0030B8"/>
                </a:solidFill>
                <a:latin typeface="Tahoma"/>
                <a:cs typeface="Tahoma"/>
              </a:rPr>
              <a:t>(Validity):</a:t>
            </a:r>
            <a:r>
              <a:rPr sz="1500" b="1" spc="25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Medir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45" dirty="0">
                <a:solidFill>
                  <a:srgbClr val="0030B8"/>
                </a:solidFill>
                <a:latin typeface="Verdana"/>
                <a:cs typeface="Verdana"/>
              </a:rPr>
              <a:t>si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55" dirty="0">
                <a:solidFill>
                  <a:srgbClr val="0030B8"/>
                </a:solidFill>
                <a:latin typeface="Verdana"/>
                <a:cs typeface="Verdana"/>
              </a:rPr>
              <a:t>un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valor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se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30" dirty="0">
                <a:solidFill>
                  <a:srgbClr val="0030B8"/>
                </a:solidFill>
                <a:latin typeface="Verdana"/>
                <a:cs typeface="Verdana"/>
              </a:rPr>
              <a:t>ajusta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a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una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regla</a:t>
            </a:r>
            <a:r>
              <a:rPr sz="15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de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negocio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o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a</a:t>
            </a:r>
            <a:r>
              <a:rPr sz="15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55" dirty="0">
                <a:solidFill>
                  <a:srgbClr val="0030B8"/>
                </a:solidFill>
                <a:latin typeface="Verdana"/>
                <a:cs typeface="Verdana"/>
              </a:rPr>
              <a:t>un</a:t>
            </a:r>
            <a:r>
              <a:rPr sz="15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estándar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preestablecido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cuanto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50" dirty="0">
                <a:solidFill>
                  <a:srgbClr val="0030B8"/>
                </a:solidFill>
                <a:latin typeface="Verdana"/>
                <a:cs typeface="Verdana"/>
              </a:rPr>
              <a:t>a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formato,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tipo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dato,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valores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posibles</a:t>
            </a:r>
            <a:r>
              <a:rPr sz="15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o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rangos especificados.</a:t>
            </a:r>
            <a:endParaRPr sz="1500">
              <a:latin typeface="Verdana"/>
              <a:cs typeface="Verdana"/>
            </a:endParaRPr>
          </a:p>
          <a:p>
            <a:pPr marL="299085" marR="19050">
              <a:lnSpc>
                <a:spcPct val="100000"/>
              </a:lnSpc>
              <a:spcBef>
                <a:spcPts val="15"/>
              </a:spcBef>
            </a:pPr>
            <a:r>
              <a:rPr sz="1200" spc="-30" dirty="0">
                <a:solidFill>
                  <a:srgbClr val="0030B8"/>
                </a:solidFill>
                <a:latin typeface="Verdana"/>
                <a:cs typeface="Verdana"/>
              </a:rPr>
              <a:t>Ejemplo:</a:t>
            </a:r>
            <a:r>
              <a:rPr sz="12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12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el</a:t>
            </a:r>
            <a:r>
              <a:rPr sz="1200" spc="-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seguimiento</a:t>
            </a:r>
            <a:r>
              <a:rPr sz="12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2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entrega</a:t>
            </a:r>
            <a:r>
              <a:rPr sz="12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2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un</a:t>
            </a:r>
            <a:r>
              <a:rPr sz="1200" spc="-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pedido,</a:t>
            </a:r>
            <a:r>
              <a:rPr sz="12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2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última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actualización</a:t>
            </a:r>
            <a:r>
              <a:rPr sz="12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0030B8"/>
                </a:solidFill>
                <a:latin typeface="Verdana"/>
                <a:cs typeface="Verdana"/>
              </a:rPr>
              <a:t>es</a:t>
            </a:r>
            <a:r>
              <a:rPr sz="12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posterior</a:t>
            </a:r>
            <a:r>
              <a:rPr sz="12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30" dirty="0">
                <a:solidFill>
                  <a:srgbClr val="0030B8"/>
                </a:solidFill>
                <a:latin typeface="Verdana"/>
                <a:cs typeface="Verdana"/>
              </a:rPr>
              <a:t>a</a:t>
            </a:r>
            <a:r>
              <a:rPr sz="12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2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hora</a:t>
            </a:r>
            <a:r>
              <a:rPr sz="12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0030B8"/>
                </a:solidFill>
                <a:latin typeface="Verdana"/>
                <a:cs typeface="Verdana"/>
              </a:rPr>
              <a:t>actual.</a:t>
            </a:r>
            <a:r>
              <a:rPr sz="12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Dan</a:t>
            </a:r>
            <a:r>
              <a:rPr sz="12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Myers</a:t>
            </a:r>
            <a:r>
              <a:rPr sz="12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expone</a:t>
            </a:r>
            <a:r>
              <a:rPr sz="12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este</a:t>
            </a:r>
            <a:r>
              <a:rPr sz="12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caso</a:t>
            </a:r>
            <a:r>
              <a:rPr sz="12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0030B8"/>
                </a:solidFill>
                <a:latin typeface="Verdana"/>
                <a:cs typeface="Verdana"/>
              </a:rPr>
              <a:t>en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su</a:t>
            </a:r>
            <a:r>
              <a:rPr sz="1200" spc="-1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blog</a:t>
            </a:r>
            <a:r>
              <a:rPr sz="1200" spc="-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explicando</a:t>
            </a:r>
            <a:r>
              <a:rPr sz="1200" spc="-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que</a:t>
            </a:r>
            <a:r>
              <a:rPr sz="1200" spc="-1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30" dirty="0">
                <a:solidFill>
                  <a:srgbClr val="0030B8"/>
                </a:solidFill>
                <a:latin typeface="Verdana"/>
                <a:cs typeface="Verdana"/>
              </a:rPr>
              <a:t>si</a:t>
            </a:r>
            <a:r>
              <a:rPr sz="1200" spc="-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0030B8"/>
                </a:solidFill>
                <a:latin typeface="Verdana"/>
                <a:cs typeface="Verdana"/>
              </a:rPr>
              <a:t>existiera</a:t>
            </a:r>
            <a:r>
              <a:rPr sz="1200" spc="-1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una</a:t>
            </a:r>
            <a:r>
              <a:rPr sz="1200" spc="-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regla</a:t>
            </a:r>
            <a:r>
              <a:rPr sz="1200" spc="-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200" spc="-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negocio</a:t>
            </a:r>
            <a:r>
              <a:rPr sz="1200" spc="-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que</a:t>
            </a:r>
            <a:r>
              <a:rPr sz="1200" spc="-1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indique</a:t>
            </a:r>
            <a:r>
              <a:rPr sz="1200" spc="-25" dirty="0">
                <a:solidFill>
                  <a:srgbClr val="0030B8"/>
                </a:solidFill>
                <a:latin typeface="Verdana"/>
                <a:cs typeface="Verdana"/>
              </a:rPr>
              <a:t> que </a:t>
            </a:r>
            <a:r>
              <a:rPr sz="1200" spc="-30" dirty="0">
                <a:solidFill>
                  <a:srgbClr val="0030B8"/>
                </a:solidFill>
                <a:latin typeface="Verdana"/>
                <a:cs typeface="Verdana"/>
              </a:rPr>
              <a:t>las</a:t>
            </a:r>
            <a:r>
              <a:rPr sz="12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actualizaciones</a:t>
            </a:r>
            <a:r>
              <a:rPr sz="1200" spc="-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no</a:t>
            </a:r>
            <a:r>
              <a:rPr sz="12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pueden</a:t>
            </a:r>
            <a:r>
              <a:rPr sz="12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producirse</a:t>
            </a:r>
            <a:r>
              <a:rPr sz="12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12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una</a:t>
            </a:r>
            <a:r>
              <a:rPr sz="12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fecha</a:t>
            </a:r>
            <a:r>
              <a:rPr sz="12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70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2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hora</a:t>
            </a:r>
            <a:r>
              <a:rPr sz="12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superior</a:t>
            </a:r>
            <a:r>
              <a:rPr sz="12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30" dirty="0">
                <a:solidFill>
                  <a:srgbClr val="0030B8"/>
                </a:solidFill>
                <a:latin typeface="Verdana"/>
                <a:cs typeface="Verdana"/>
              </a:rPr>
              <a:t>a</a:t>
            </a:r>
            <a:r>
              <a:rPr sz="12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0030B8"/>
                </a:solidFill>
                <a:latin typeface="Verdana"/>
                <a:cs typeface="Verdana"/>
              </a:rPr>
              <a:t>la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actual</a:t>
            </a:r>
            <a:r>
              <a:rPr sz="12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del</a:t>
            </a:r>
            <a:r>
              <a:rPr sz="1200" spc="-30" dirty="0">
                <a:solidFill>
                  <a:srgbClr val="0030B8"/>
                </a:solidFill>
                <a:latin typeface="Verdana"/>
                <a:cs typeface="Verdana"/>
              </a:rPr>
              <a:t> sistema,</a:t>
            </a:r>
            <a:r>
              <a:rPr sz="12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este</a:t>
            </a:r>
            <a:r>
              <a:rPr sz="1200" spc="-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problema</a:t>
            </a:r>
            <a:r>
              <a:rPr sz="12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no</a:t>
            </a:r>
            <a:r>
              <a:rPr sz="12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0030B8"/>
                </a:solidFill>
                <a:latin typeface="Verdana"/>
                <a:cs typeface="Verdana"/>
              </a:rPr>
              <a:t>se</a:t>
            </a:r>
            <a:r>
              <a:rPr sz="12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hubiera</a:t>
            </a:r>
            <a:r>
              <a:rPr sz="1200" spc="-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producido.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599178" y="2034667"/>
            <a:ext cx="304038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Datos:</a:t>
            </a:r>
            <a:r>
              <a:rPr sz="3200" spc="65" dirty="0"/>
              <a:t> </a:t>
            </a:r>
            <a:r>
              <a:rPr sz="3200" spc="85" dirty="0"/>
              <a:t>calidad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78739" y="6623101"/>
            <a:ext cx="592836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0030B8"/>
                </a:solidFill>
                <a:latin typeface="Verdana"/>
                <a:cs typeface="Verdana"/>
              </a:rPr>
              <a:t>Henderson,</a:t>
            </a:r>
            <a:r>
              <a:rPr sz="105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spc="-60" dirty="0">
                <a:solidFill>
                  <a:srgbClr val="0030B8"/>
                </a:solidFill>
                <a:latin typeface="Verdana"/>
                <a:cs typeface="Verdana"/>
              </a:rPr>
              <a:t>D.</a:t>
            </a:r>
            <a:r>
              <a:rPr sz="1050" spc="-1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spc="-95" dirty="0">
                <a:solidFill>
                  <a:srgbClr val="0030B8"/>
                </a:solidFill>
                <a:latin typeface="Verdana"/>
                <a:cs typeface="Verdana"/>
              </a:rPr>
              <a:t>[Ed.].</a:t>
            </a:r>
            <a:r>
              <a:rPr sz="1050" spc="-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spc="-125" dirty="0">
                <a:solidFill>
                  <a:srgbClr val="0030B8"/>
                </a:solidFill>
                <a:latin typeface="Verdana"/>
                <a:cs typeface="Verdana"/>
              </a:rPr>
              <a:t>(2015),</a:t>
            </a:r>
            <a:r>
              <a:rPr sz="1050" dirty="0">
                <a:solidFill>
                  <a:srgbClr val="0030B8"/>
                </a:solidFill>
                <a:latin typeface="Verdana"/>
                <a:cs typeface="Verdana"/>
              </a:rPr>
              <a:t> DAMA-DMBOK,</a:t>
            </a:r>
            <a:r>
              <a:rPr sz="105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0030B8"/>
                </a:solidFill>
                <a:latin typeface="Verdana"/>
                <a:cs typeface="Verdana"/>
              </a:rPr>
              <a:t>Estados</a:t>
            </a:r>
            <a:r>
              <a:rPr sz="105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spc="-20" dirty="0">
                <a:solidFill>
                  <a:srgbClr val="0030B8"/>
                </a:solidFill>
                <a:latin typeface="Verdana"/>
                <a:cs typeface="Verdana"/>
              </a:rPr>
              <a:t>Unidos:</a:t>
            </a:r>
            <a:r>
              <a:rPr sz="105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0030B8"/>
                </a:solidFill>
                <a:latin typeface="Verdana"/>
                <a:cs typeface="Verdana"/>
              </a:rPr>
              <a:t>Editorial</a:t>
            </a:r>
            <a:r>
              <a:rPr sz="1050" spc="-1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0030B8"/>
                </a:solidFill>
                <a:latin typeface="Verdana"/>
                <a:cs typeface="Verdana"/>
              </a:rPr>
              <a:t>Dama</a:t>
            </a:r>
            <a:r>
              <a:rPr sz="105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0030B8"/>
                </a:solidFill>
                <a:latin typeface="Verdana"/>
                <a:cs typeface="Verdana"/>
              </a:rPr>
              <a:t>International.</a:t>
            </a:r>
            <a:endParaRPr sz="105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4691" y="2714244"/>
            <a:ext cx="3390900" cy="33909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64870" y="1235151"/>
            <a:ext cx="552196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80" dirty="0"/>
              <a:t>Correlación</a:t>
            </a:r>
            <a:r>
              <a:rPr sz="3200" spc="-55" dirty="0"/>
              <a:t> </a:t>
            </a:r>
            <a:r>
              <a:rPr sz="3200" spc="50" dirty="0"/>
              <a:t>vs</a:t>
            </a:r>
            <a:r>
              <a:rPr sz="3200" spc="-35" dirty="0"/>
              <a:t> </a:t>
            </a:r>
            <a:r>
              <a:rPr sz="3200" spc="80" dirty="0"/>
              <a:t>Causalidad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6875144" y="368934"/>
            <a:ext cx="2459355" cy="804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200"/>
              </a:lnSpc>
              <a:spcBef>
                <a:spcPts val="95"/>
              </a:spcBef>
            </a:pPr>
            <a:r>
              <a:rPr sz="1500" b="1" dirty="0">
                <a:solidFill>
                  <a:srgbClr val="0030B8"/>
                </a:solidFill>
                <a:latin typeface="Tahoma"/>
                <a:cs typeface="Tahoma"/>
              </a:rPr>
              <a:t>Tableros</a:t>
            </a:r>
            <a:r>
              <a:rPr sz="1500" b="1" spc="114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1500" b="1" spc="65" dirty="0">
                <a:solidFill>
                  <a:srgbClr val="0030B8"/>
                </a:solidFill>
                <a:latin typeface="Tahoma"/>
                <a:cs typeface="Tahoma"/>
              </a:rPr>
              <a:t>de</a:t>
            </a:r>
            <a:r>
              <a:rPr sz="1500" b="1" spc="100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0030B8"/>
                </a:solidFill>
                <a:latin typeface="Tahoma"/>
                <a:cs typeface="Tahoma"/>
              </a:rPr>
              <a:t>indicadores: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Generación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200" spc="-1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indicadores</a:t>
            </a:r>
            <a:r>
              <a:rPr sz="1200" spc="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50" dirty="0">
                <a:solidFill>
                  <a:srgbClr val="0030B8"/>
                </a:solidFill>
                <a:latin typeface="Verdana"/>
                <a:cs typeface="Verdana"/>
              </a:rPr>
              <a:t>y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monitoreo</a:t>
            </a:r>
            <a:r>
              <a:rPr sz="12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200" spc="-20" dirty="0">
                <a:solidFill>
                  <a:srgbClr val="0030B8"/>
                </a:solidFill>
                <a:latin typeface="Verdana"/>
                <a:cs typeface="Verdana"/>
              </a:rPr>
              <a:t> la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 gestión</a:t>
            </a:r>
            <a:r>
              <a:rPr sz="1200" spc="-1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200" spc="-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0030B8"/>
                </a:solidFill>
                <a:latin typeface="Verdana"/>
                <a:cs typeface="Verdana"/>
              </a:rPr>
              <a:t>la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entidad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770888" y="2229611"/>
            <a:ext cx="8783320" cy="2955290"/>
            <a:chOff x="1770888" y="2229611"/>
            <a:chExt cx="8783320" cy="295529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0888" y="2229611"/>
              <a:ext cx="2822448" cy="282092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98664" y="2229611"/>
              <a:ext cx="2955035" cy="2955036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5886703" y="3484829"/>
            <a:ext cx="4140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70" dirty="0">
                <a:latin typeface="Tahoma"/>
                <a:cs typeface="Tahoma"/>
              </a:rPr>
              <a:t>Vs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62091" y="3211537"/>
            <a:ext cx="5805170" cy="1278890"/>
          </a:xfrm>
          <a:prstGeom prst="rect">
            <a:avLst/>
          </a:prstGeom>
        </p:spPr>
        <p:txBody>
          <a:bodyPr vert="horz" wrap="square" lIns="0" tIns="212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70"/>
              </a:spcBef>
            </a:pPr>
            <a:r>
              <a:rPr sz="4000" b="1" spc="-10" dirty="0">
                <a:solidFill>
                  <a:srgbClr val="0030B8"/>
                </a:solidFill>
                <a:latin typeface="Tahoma"/>
                <a:cs typeface="Tahoma"/>
              </a:rPr>
              <a:t>02.</a:t>
            </a:r>
            <a:r>
              <a:rPr sz="4000" b="1" spc="-114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4000" b="1" spc="90" dirty="0">
                <a:solidFill>
                  <a:srgbClr val="0030B8"/>
                </a:solidFill>
                <a:latin typeface="Tahoma"/>
                <a:cs typeface="Tahoma"/>
              </a:rPr>
              <a:t>Analítica</a:t>
            </a:r>
            <a:r>
              <a:rPr sz="4000" b="1" spc="-114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4000" b="1" spc="195" dirty="0">
                <a:solidFill>
                  <a:srgbClr val="0030B8"/>
                </a:solidFill>
                <a:latin typeface="Tahoma"/>
                <a:cs typeface="Tahoma"/>
              </a:rPr>
              <a:t>de</a:t>
            </a:r>
            <a:r>
              <a:rPr sz="4000" b="1" spc="-114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4000" b="1" spc="90" dirty="0">
                <a:solidFill>
                  <a:srgbClr val="0030B8"/>
                </a:solidFill>
                <a:latin typeface="Tahoma"/>
                <a:cs typeface="Tahoma"/>
              </a:rPr>
              <a:t>Datos</a:t>
            </a:r>
            <a:endParaRPr sz="4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2200" dirty="0">
                <a:solidFill>
                  <a:srgbClr val="2CDAFF"/>
                </a:solidFill>
                <a:latin typeface="Verdana"/>
                <a:cs typeface="Verdana"/>
              </a:rPr>
              <a:t>Generación</a:t>
            </a:r>
            <a:r>
              <a:rPr sz="2200" spc="-114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200" spc="50" dirty="0">
                <a:solidFill>
                  <a:srgbClr val="2CDAFF"/>
                </a:solidFill>
                <a:latin typeface="Verdana"/>
                <a:cs typeface="Verdana"/>
              </a:rPr>
              <a:t>de</a:t>
            </a:r>
            <a:r>
              <a:rPr sz="2200" spc="-11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200" spc="-50" dirty="0">
                <a:solidFill>
                  <a:srgbClr val="2CDAFF"/>
                </a:solidFill>
                <a:latin typeface="Verdana"/>
                <a:cs typeface="Verdana"/>
              </a:rPr>
              <a:t>valor</a:t>
            </a:r>
            <a:r>
              <a:rPr sz="2200" spc="-114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2CDAFF"/>
                </a:solidFill>
                <a:latin typeface="Verdana"/>
                <a:cs typeface="Verdana"/>
              </a:rPr>
              <a:t>desde</a:t>
            </a:r>
            <a:r>
              <a:rPr sz="2200" spc="-114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200" spc="-30" dirty="0">
                <a:solidFill>
                  <a:srgbClr val="2CDAFF"/>
                </a:solidFill>
                <a:latin typeface="Verdana"/>
                <a:cs typeface="Verdana"/>
              </a:rPr>
              <a:t>los</a:t>
            </a:r>
            <a:r>
              <a:rPr sz="2200" spc="-114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2CDAFF"/>
                </a:solidFill>
                <a:latin typeface="Verdana"/>
                <a:cs typeface="Verdana"/>
              </a:rPr>
              <a:t>datos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5232" y="2644139"/>
            <a:ext cx="3314700" cy="331317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24578" y="3453206"/>
            <a:ext cx="5226050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Clr>
                <a:srgbClr val="2CDAFF"/>
              </a:buClr>
              <a:buFont typeface="Courier New"/>
              <a:buChar char="o"/>
              <a:tabLst>
                <a:tab pos="298450" algn="l"/>
              </a:tabLst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Unificar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fuentes</a:t>
            </a:r>
            <a:r>
              <a:rPr sz="15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conceptos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información</a:t>
            </a:r>
            <a:endParaRPr sz="15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Clr>
                <a:srgbClr val="2CDAFF"/>
              </a:buClr>
              <a:buFont typeface="Courier New"/>
              <a:buChar char="o"/>
              <a:tabLst>
                <a:tab pos="299085" algn="l"/>
              </a:tabLst>
            </a:pP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Tener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una</a:t>
            </a:r>
            <a:r>
              <a:rPr sz="15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única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verdad</a:t>
            </a:r>
            <a:endParaRPr sz="15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buClr>
                <a:srgbClr val="2CDAFF"/>
              </a:buClr>
              <a:buFont typeface="Courier New"/>
              <a:buChar char="o"/>
              <a:tabLst>
                <a:tab pos="299085" algn="l"/>
              </a:tabLst>
            </a:pP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Análisis</a:t>
            </a:r>
            <a:r>
              <a:rPr sz="1500" spc="-1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descriptivos</a:t>
            </a:r>
            <a:endParaRPr sz="15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buClr>
                <a:srgbClr val="2CDAFF"/>
              </a:buClr>
              <a:buFont typeface="Courier New"/>
              <a:buChar char="o"/>
              <a:tabLst>
                <a:tab pos="299085" algn="l"/>
              </a:tabLst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Entender</a:t>
            </a:r>
            <a:r>
              <a:rPr sz="15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que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paso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por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qué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paso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(desde</a:t>
            </a:r>
            <a:r>
              <a:rPr sz="15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datos)</a:t>
            </a:r>
            <a:endParaRPr sz="15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buClr>
                <a:srgbClr val="2CDAFF"/>
              </a:buClr>
              <a:buFont typeface="Courier New"/>
              <a:buChar char="o"/>
              <a:tabLst>
                <a:tab pos="299085" algn="l"/>
              </a:tabLst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Medir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y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mejorar</a:t>
            </a:r>
            <a:r>
              <a:rPr sz="15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distintos</a:t>
            </a:r>
            <a:r>
              <a:rPr sz="15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procesos</a:t>
            </a:r>
            <a:endParaRPr sz="15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buClr>
                <a:srgbClr val="2CDAFF"/>
              </a:buClr>
              <a:buFont typeface="Courier New"/>
              <a:buChar char="o"/>
              <a:tabLst>
                <a:tab pos="299085" algn="l"/>
              </a:tabLst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Identificación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oportunidades</a:t>
            </a:r>
            <a:endParaRPr sz="15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buClr>
                <a:srgbClr val="2CDAFF"/>
              </a:buClr>
              <a:buFont typeface="Courier New"/>
              <a:buChar char="o"/>
              <a:tabLst>
                <a:tab pos="299085" algn="l"/>
              </a:tabLst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Fuente</a:t>
            </a:r>
            <a:r>
              <a:rPr sz="1500" spc="-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para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500" spc="-1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automatización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1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decisiones</a:t>
            </a:r>
            <a:endParaRPr sz="1500">
              <a:latin typeface="Verdana"/>
              <a:cs typeface="Verdana"/>
            </a:endParaRPr>
          </a:p>
          <a:p>
            <a:pPr marL="298450" indent="-285750">
              <a:lnSpc>
                <a:spcPct val="100000"/>
              </a:lnSpc>
              <a:buClr>
                <a:srgbClr val="2CDAFF"/>
              </a:buClr>
              <a:buFont typeface="Courier New"/>
              <a:buChar char="o"/>
              <a:tabLst>
                <a:tab pos="298450" algn="l"/>
              </a:tabLst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Uso</a:t>
            </a:r>
            <a:r>
              <a:rPr sz="15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1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5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datos</a:t>
            </a:r>
            <a:r>
              <a:rPr sz="1500" spc="-11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60" dirty="0">
                <a:solidFill>
                  <a:srgbClr val="0030B8"/>
                </a:solidFill>
                <a:latin typeface="Verdana"/>
                <a:cs typeface="Verdana"/>
              </a:rPr>
              <a:t>…</a:t>
            </a:r>
            <a:r>
              <a:rPr sz="15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Pasivo</a:t>
            </a:r>
            <a:r>
              <a:rPr sz="1500" spc="-1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10" dirty="0">
                <a:solidFill>
                  <a:srgbClr val="0030B8"/>
                </a:solidFill>
                <a:latin typeface="Verdana"/>
                <a:cs typeface="Verdana"/>
              </a:rPr>
              <a:t>-</a:t>
            </a:r>
            <a:r>
              <a:rPr sz="1500" spc="-370" dirty="0">
                <a:solidFill>
                  <a:srgbClr val="0030B8"/>
                </a:solidFill>
                <a:latin typeface="Verdana"/>
                <a:cs typeface="Verdana"/>
              </a:rPr>
              <a:t>&gt;</a:t>
            </a:r>
            <a:r>
              <a:rPr sz="15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Activo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599178" y="2678430"/>
            <a:ext cx="263334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40" dirty="0"/>
              <a:t>Importancia</a:t>
            </a:r>
            <a:endParaRPr sz="32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4147" y="2988564"/>
            <a:ext cx="2662428" cy="266395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24578" y="3453206"/>
            <a:ext cx="5689600" cy="2084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Clr>
                <a:srgbClr val="2CDAFF"/>
              </a:buClr>
              <a:buFont typeface="Courier New"/>
              <a:buChar char="o"/>
              <a:tabLst>
                <a:tab pos="298450" algn="l"/>
              </a:tabLst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Modelos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datos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(modelos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industria)</a:t>
            </a:r>
            <a:endParaRPr sz="15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Clr>
                <a:srgbClr val="2CDAFF"/>
              </a:buClr>
              <a:buFont typeface="Courier New"/>
              <a:buChar char="o"/>
              <a:tabLst>
                <a:tab pos="299085" algn="l"/>
              </a:tabLst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Cálculos</a:t>
            </a:r>
            <a:r>
              <a:rPr sz="1500" spc="-1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</a:t>
            </a:r>
            <a:r>
              <a:rPr sz="15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indicadores</a:t>
            </a:r>
            <a:endParaRPr sz="1500">
              <a:latin typeface="Verdana"/>
              <a:cs typeface="Verdana"/>
            </a:endParaRPr>
          </a:p>
          <a:p>
            <a:pPr marL="299085" marR="5080" indent="-287020">
              <a:lnSpc>
                <a:spcPct val="100000"/>
              </a:lnSpc>
              <a:buClr>
                <a:srgbClr val="2CDAFF"/>
              </a:buClr>
              <a:buFont typeface="Courier New"/>
              <a:buChar char="o"/>
              <a:tabLst>
                <a:tab pos="299085" algn="l"/>
              </a:tabLst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Reportes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informes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por</a:t>
            </a:r>
            <a:r>
              <a:rPr sz="15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pregunta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negocio,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proceso</a:t>
            </a:r>
            <a:r>
              <a:rPr sz="15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5" dirty="0">
                <a:solidFill>
                  <a:srgbClr val="0030B8"/>
                </a:solidFill>
                <a:latin typeface="Verdana"/>
                <a:cs typeface="Verdana"/>
              </a:rPr>
              <a:t>u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otro.</a:t>
            </a:r>
            <a:endParaRPr sz="15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buClr>
                <a:srgbClr val="2CDAFF"/>
              </a:buClr>
              <a:buFont typeface="Courier New"/>
              <a:buChar char="o"/>
              <a:tabLst>
                <a:tab pos="299085" algn="l"/>
              </a:tabLst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Cuadros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50" dirty="0">
                <a:solidFill>
                  <a:srgbClr val="0030B8"/>
                </a:solidFill>
                <a:latin typeface="Verdana"/>
                <a:cs typeface="Verdana"/>
              </a:rPr>
              <a:t>mando</a:t>
            </a:r>
            <a:r>
              <a:rPr sz="1500" spc="-11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(dashboard)</a:t>
            </a:r>
            <a:r>
              <a:rPr sz="15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Operativos</a:t>
            </a:r>
            <a:endParaRPr sz="15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buClr>
                <a:srgbClr val="2CDAFF"/>
              </a:buClr>
              <a:buFont typeface="Courier New"/>
              <a:buChar char="o"/>
              <a:tabLst>
                <a:tab pos="299085" algn="l"/>
              </a:tabLst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Cuadros</a:t>
            </a:r>
            <a:r>
              <a:rPr sz="15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50" dirty="0">
                <a:solidFill>
                  <a:srgbClr val="0030B8"/>
                </a:solidFill>
                <a:latin typeface="Verdana"/>
                <a:cs typeface="Verdana"/>
              </a:rPr>
              <a:t>mando</a:t>
            </a:r>
            <a:r>
              <a:rPr sz="1500" spc="-1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Corporativos</a:t>
            </a:r>
            <a:r>
              <a:rPr sz="1500" spc="-1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5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Estratégicos</a:t>
            </a:r>
            <a:endParaRPr sz="15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buClr>
                <a:srgbClr val="2CDAFF"/>
              </a:buClr>
              <a:buFont typeface="Courier New"/>
              <a:buChar char="o"/>
              <a:tabLst>
                <a:tab pos="299085" algn="l"/>
              </a:tabLst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KPI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(Key</a:t>
            </a:r>
            <a:r>
              <a:rPr sz="15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Performance</a:t>
            </a:r>
            <a:r>
              <a:rPr sz="15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Indicators)</a:t>
            </a:r>
            <a:endParaRPr sz="1500">
              <a:latin typeface="Verdana"/>
              <a:cs typeface="Verdana"/>
            </a:endParaRPr>
          </a:p>
          <a:p>
            <a:pPr marL="298450" indent="-285750">
              <a:lnSpc>
                <a:spcPct val="100000"/>
              </a:lnSpc>
              <a:buClr>
                <a:srgbClr val="2CDAFF"/>
              </a:buClr>
              <a:buFont typeface="Courier New"/>
              <a:buChar char="o"/>
              <a:tabLst>
                <a:tab pos="298450" algn="l"/>
              </a:tabLst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CPI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(Corporate</a:t>
            </a:r>
            <a:r>
              <a:rPr sz="1500" spc="-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Performance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 Indicators)</a:t>
            </a:r>
            <a:endParaRPr sz="1500">
              <a:latin typeface="Verdana"/>
              <a:cs typeface="Verdana"/>
            </a:endParaRPr>
          </a:p>
          <a:p>
            <a:pPr marL="299085" indent="-286385">
              <a:lnSpc>
                <a:spcPct val="100000"/>
              </a:lnSpc>
              <a:buClr>
                <a:srgbClr val="2CDAFF"/>
              </a:buClr>
              <a:buFont typeface="Courier New"/>
              <a:buChar char="o"/>
              <a:tabLst>
                <a:tab pos="299085" algn="l"/>
              </a:tabLst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Democratizar</a:t>
            </a:r>
            <a:r>
              <a:rPr sz="15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información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 y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el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análisis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las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áreas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599178" y="2678430"/>
            <a:ext cx="440182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80" dirty="0">
                <a:solidFill>
                  <a:srgbClr val="0066CD"/>
                </a:solidFill>
                <a:latin typeface="Trebuchet MS"/>
                <a:cs typeface="Trebuchet MS"/>
              </a:rPr>
              <a:t>Principales</a:t>
            </a:r>
            <a:r>
              <a:rPr sz="3200" spc="35" dirty="0">
                <a:solidFill>
                  <a:srgbClr val="0066CD"/>
                </a:solidFill>
                <a:latin typeface="Trebuchet MS"/>
                <a:cs typeface="Trebuchet MS"/>
              </a:rPr>
              <a:t> </a:t>
            </a:r>
            <a:r>
              <a:rPr sz="3200" spc="105" dirty="0">
                <a:solidFill>
                  <a:srgbClr val="0066CD"/>
                </a:solidFill>
                <a:latin typeface="Trebuchet MS"/>
                <a:cs typeface="Trebuchet MS"/>
              </a:rPr>
              <a:t>productos</a:t>
            </a:r>
            <a:endParaRPr sz="32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6319" y="2784348"/>
            <a:ext cx="301752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38878" y="3937507"/>
            <a:ext cx="593979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2B3990"/>
                </a:solidFill>
                <a:latin typeface="Verdana"/>
                <a:cs typeface="Verdana"/>
              </a:rPr>
              <a:t>“Un</a:t>
            </a:r>
            <a:r>
              <a:rPr sz="1500" spc="5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500" b="1" spc="-20" dirty="0">
                <a:solidFill>
                  <a:srgbClr val="2B3990"/>
                </a:solidFill>
                <a:latin typeface="Tahoma"/>
                <a:cs typeface="Tahoma"/>
              </a:rPr>
              <a:t>KPI</a:t>
            </a:r>
            <a:r>
              <a:rPr sz="1500" b="1" spc="70" dirty="0">
                <a:solidFill>
                  <a:srgbClr val="2B3990"/>
                </a:solidFill>
                <a:latin typeface="Tahoma"/>
                <a:cs typeface="Tahoma"/>
              </a:rPr>
              <a:t> </a:t>
            </a:r>
            <a:r>
              <a:rPr sz="1500" spc="-70" dirty="0">
                <a:solidFill>
                  <a:srgbClr val="2B3990"/>
                </a:solidFill>
                <a:latin typeface="Verdana"/>
                <a:cs typeface="Verdana"/>
              </a:rPr>
              <a:t>(</a:t>
            </a:r>
            <a:r>
              <a:rPr sz="1500" i="1" spc="-70" dirty="0">
                <a:solidFill>
                  <a:srgbClr val="2B3990"/>
                </a:solidFill>
                <a:latin typeface="Verdana"/>
                <a:cs typeface="Verdana"/>
              </a:rPr>
              <a:t>key</a:t>
            </a:r>
            <a:r>
              <a:rPr sz="1500" i="1" spc="-25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500" i="1" dirty="0">
                <a:solidFill>
                  <a:srgbClr val="2B3990"/>
                </a:solidFill>
                <a:latin typeface="Verdana"/>
                <a:cs typeface="Verdana"/>
              </a:rPr>
              <a:t>performance</a:t>
            </a:r>
            <a:r>
              <a:rPr sz="1500" i="1" spc="-50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500" i="1" spc="-20" dirty="0">
                <a:solidFill>
                  <a:srgbClr val="2B3990"/>
                </a:solidFill>
                <a:latin typeface="Verdana"/>
                <a:cs typeface="Verdana"/>
              </a:rPr>
              <a:t>indicator</a:t>
            </a:r>
            <a:r>
              <a:rPr sz="1500" spc="-20" dirty="0">
                <a:solidFill>
                  <a:srgbClr val="2B3990"/>
                </a:solidFill>
                <a:latin typeface="Verdana"/>
                <a:cs typeface="Verdana"/>
              </a:rPr>
              <a:t>),</a:t>
            </a:r>
            <a:r>
              <a:rPr sz="1500" spc="-40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B3990"/>
                </a:solidFill>
                <a:latin typeface="Verdana"/>
                <a:cs typeface="Verdana"/>
              </a:rPr>
              <a:t>conocido</a:t>
            </a:r>
            <a:r>
              <a:rPr sz="1500" spc="-5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2B3990"/>
                </a:solidFill>
                <a:latin typeface="Verdana"/>
                <a:cs typeface="Verdana"/>
              </a:rPr>
              <a:t>también</a:t>
            </a:r>
            <a:endParaRPr sz="15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</a:pPr>
            <a:r>
              <a:rPr sz="1500" spc="50" dirty="0">
                <a:solidFill>
                  <a:srgbClr val="2B3990"/>
                </a:solidFill>
                <a:latin typeface="Verdana"/>
                <a:cs typeface="Verdana"/>
              </a:rPr>
              <a:t>como</a:t>
            </a:r>
            <a:r>
              <a:rPr sz="1500" spc="-60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2B3990"/>
                </a:solidFill>
                <a:latin typeface="Tahoma"/>
                <a:cs typeface="Tahoma"/>
              </a:rPr>
              <a:t>indicador</a:t>
            </a:r>
            <a:r>
              <a:rPr sz="1500" b="1" spc="55" dirty="0">
                <a:solidFill>
                  <a:srgbClr val="2B399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2B3990"/>
                </a:solidFill>
                <a:latin typeface="Tahoma"/>
                <a:cs typeface="Tahoma"/>
              </a:rPr>
              <a:t>clave</a:t>
            </a:r>
            <a:r>
              <a:rPr sz="1500" b="1" spc="70" dirty="0">
                <a:solidFill>
                  <a:srgbClr val="2B3990"/>
                </a:solidFill>
                <a:latin typeface="Tahoma"/>
                <a:cs typeface="Tahoma"/>
              </a:rPr>
              <a:t> </a:t>
            </a:r>
            <a:r>
              <a:rPr sz="1500" b="1" spc="55" dirty="0">
                <a:solidFill>
                  <a:srgbClr val="2B3990"/>
                </a:solidFill>
                <a:latin typeface="Tahoma"/>
                <a:cs typeface="Tahoma"/>
              </a:rPr>
              <a:t>o</a:t>
            </a:r>
            <a:r>
              <a:rPr sz="1500" b="1" spc="75" dirty="0">
                <a:solidFill>
                  <a:srgbClr val="2B3990"/>
                </a:solidFill>
                <a:latin typeface="Tahoma"/>
                <a:cs typeface="Tahoma"/>
              </a:rPr>
              <a:t> </a:t>
            </a:r>
            <a:r>
              <a:rPr sz="1500" b="1" spc="60" dirty="0">
                <a:solidFill>
                  <a:srgbClr val="2B3990"/>
                </a:solidFill>
                <a:latin typeface="Tahoma"/>
                <a:cs typeface="Tahoma"/>
              </a:rPr>
              <a:t>medidor</a:t>
            </a:r>
            <a:r>
              <a:rPr sz="1500" b="1" spc="75" dirty="0">
                <a:solidFill>
                  <a:srgbClr val="2B3990"/>
                </a:solidFill>
                <a:latin typeface="Tahoma"/>
                <a:cs typeface="Tahoma"/>
              </a:rPr>
              <a:t> </a:t>
            </a:r>
            <a:r>
              <a:rPr sz="1500" b="1" spc="65" dirty="0">
                <a:solidFill>
                  <a:srgbClr val="2B3990"/>
                </a:solidFill>
                <a:latin typeface="Tahoma"/>
                <a:cs typeface="Tahoma"/>
              </a:rPr>
              <a:t>de</a:t>
            </a:r>
            <a:r>
              <a:rPr sz="1500" b="1" spc="70" dirty="0">
                <a:solidFill>
                  <a:srgbClr val="2B3990"/>
                </a:solidFill>
                <a:latin typeface="Tahoma"/>
                <a:cs typeface="Tahoma"/>
              </a:rPr>
              <a:t> </a:t>
            </a:r>
            <a:r>
              <a:rPr sz="1500" b="1" spc="65" dirty="0">
                <a:solidFill>
                  <a:srgbClr val="2B3990"/>
                </a:solidFill>
                <a:latin typeface="Tahoma"/>
                <a:cs typeface="Tahoma"/>
              </a:rPr>
              <a:t>desempeño</a:t>
            </a:r>
            <a:r>
              <a:rPr sz="1500" b="1" spc="70" dirty="0">
                <a:solidFill>
                  <a:srgbClr val="2B3990"/>
                </a:solidFill>
                <a:latin typeface="Tahoma"/>
                <a:cs typeface="Tahoma"/>
              </a:rPr>
              <a:t> </a:t>
            </a:r>
            <a:r>
              <a:rPr sz="1500" dirty="0">
                <a:solidFill>
                  <a:srgbClr val="2B3990"/>
                </a:solidFill>
                <a:latin typeface="Verdana"/>
                <a:cs typeface="Verdana"/>
              </a:rPr>
              <a:t>o</a:t>
            </a:r>
            <a:r>
              <a:rPr sz="1500" spc="-75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500" b="1" spc="-10" dirty="0">
                <a:solidFill>
                  <a:srgbClr val="2B3990"/>
                </a:solidFill>
                <a:latin typeface="Tahoma"/>
                <a:cs typeface="Tahoma"/>
              </a:rPr>
              <a:t>indicador </a:t>
            </a:r>
            <a:r>
              <a:rPr sz="1500" b="1" dirty="0">
                <a:solidFill>
                  <a:srgbClr val="2B3990"/>
                </a:solidFill>
                <a:latin typeface="Tahoma"/>
                <a:cs typeface="Tahoma"/>
              </a:rPr>
              <a:t>clave</a:t>
            </a:r>
            <a:r>
              <a:rPr sz="1500" b="1" spc="120" dirty="0">
                <a:solidFill>
                  <a:srgbClr val="2B3990"/>
                </a:solidFill>
                <a:latin typeface="Tahoma"/>
                <a:cs typeface="Tahoma"/>
              </a:rPr>
              <a:t> </a:t>
            </a:r>
            <a:r>
              <a:rPr sz="1500" b="1" spc="70" dirty="0">
                <a:solidFill>
                  <a:srgbClr val="2B3990"/>
                </a:solidFill>
                <a:latin typeface="Tahoma"/>
                <a:cs typeface="Tahoma"/>
              </a:rPr>
              <a:t>de</a:t>
            </a:r>
            <a:r>
              <a:rPr sz="1500" b="1" spc="120" dirty="0">
                <a:solidFill>
                  <a:srgbClr val="2B3990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2B3990"/>
                </a:solidFill>
                <a:latin typeface="Tahoma"/>
                <a:cs typeface="Tahoma"/>
              </a:rPr>
              <a:t>rendimiento</a:t>
            </a:r>
            <a:r>
              <a:rPr sz="1500" dirty="0">
                <a:solidFill>
                  <a:srgbClr val="2B3990"/>
                </a:solidFill>
                <a:latin typeface="Verdana"/>
                <a:cs typeface="Verdana"/>
              </a:rPr>
              <a:t>,</a:t>
            </a:r>
            <a:r>
              <a:rPr sz="1500" spc="-15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2B3990"/>
                </a:solidFill>
                <a:latin typeface="Verdana"/>
                <a:cs typeface="Verdana"/>
              </a:rPr>
              <a:t>es</a:t>
            </a:r>
            <a:r>
              <a:rPr sz="1500" spc="-30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B3990"/>
                </a:solidFill>
                <a:latin typeface="Verdana"/>
                <a:cs typeface="Verdana"/>
              </a:rPr>
              <a:t>una</a:t>
            </a:r>
            <a:r>
              <a:rPr sz="1500" spc="-25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B3990"/>
                </a:solidFill>
                <a:latin typeface="Verdana"/>
                <a:cs typeface="Verdana"/>
              </a:rPr>
              <a:t>medida</a:t>
            </a:r>
            <a:r>
              <a:rPr sz="1500" spc="-65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B3990"/>
                </a:solidFill>
                <a:latin typeface="Verdana"/>
                <a:cs typeface="Verdana"/>
              </a:rPr>
              <a:t>del</a:t>
            </a:r>
            <a:r>
              <a:rPr sz="1500" spc="-50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2B3990"/>
                </a:solidFill>
                <a:latin typeface="Verdana"/>
                <a:cs typeface="Verdana"/>
              </a:rPr>
              <a:t>nivel</a:t>
            </a:r>
            <a:r>
              <a:rPr sz="1500" spc="-50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2B3990"/>
                </a:solidFill>
                <a:latin typeface="Verdana"/>
                <a:cs typeface="Verdana"/>
              </a:rPr>
              <a:t>del </a:t>
            </a:r>
            <a:r>
              <a:rPr sz="1500" dirty="0">
                <a:solidFill>
                  <a:srgbClr val="2B3990"/>
                </a:solidFill>
                <a:latin typeface="Verdana"/>
                <a:cs typeface="Verdana"/>
              </a:rPr>
              <a:t>rendimiento</a:t>
            </a:r>
            <a:r>
              <a:rPr sz="1500" spc="-70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B3990"/>
                </a:solidFill>
                <a:latin typeface="Verdana"/>
                <a:cs typeface="Verdana"/>
              </a:rPr>
              <a:t>de</a:t>
            </a:r>
            <a:r>
              <a:rPr sz="1500" spc="-50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500" spc="55" dirty="0">
                <a:solidFill>
                  <a:srgbClr val="2B3990"/>
                </a:solidFill>
                <a:latin typeface="Verdana"/>
                <a:cs typeface="Verdana"/>
              </a:rPr>
              <a:t>un</a:t>
            </a:r>
            <a:r>
              <a:rPr sz="1500" spc="-35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500" spc="-30" dirty="0">
                <a:solidFill>
                  <a:srgbClr val="2B3990"/>
                </a:solidFill>
                <a:latin typeface="Verdana"/>
                <a:cs typeface="Verdana"/>
              </a:rPr>
              <a:t>proceso.</a:t>
            </a:r>
            <a:r>
              <a:rPr sz="1500" spc="-25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B3990"/>
                </a:solidFill>
                <a:latin typeface="Verdana"/>
                <a:cs typeface="Verdana"/>
              </a:rPr>
              <a:t>El</a:t>
            </a:r>
            <a:r>
              <a:rPr sz="1500" spc="-55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500" spc="-35" dirty="0">
                <a:solidFill>
                  <a:srgbClr val="2B3990"/>
                </a:solidFill>
                <a:latin typeface="Verdana"/>
                <a:cs typeface="Verdana"/>
              </a:rPr>
              <a:t>valor </a:t>
            </a:r>
            <a:r>
              <a:rPr sz="1500" dirty="0">
                <a:solidFill>
                  <a:srgbClr val="2B3990"/>
                </a:solidFill>
                <a:latin typeface="Verdana"/>
                <a:cs typeface="Verdana"/>
              </a:rPr>
              <a:t>del</a:t>
            </a:r>
            <a:r>
              <a:rPr sz="1500" spc="-60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B3990"/>
                </a:solidFill>
                <a:latin typeface="Verdana"/>
                <a:cs typeface="Verdana"/>
              </a:rPr>
              <a:t>indicador</a:t>
            </a:r>
            <a:r>
              <a:rPr sz="1500" spc="-65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2B3990"/>
                </a:solidFill>
                <a:latin typeface="Verdana"/>
                <a:cs typeface="Verdana"/>
              </a:rPr>
              <a:t>está </a:t>
            </a:r>
            <a:r>
              <a:rPr sz="1500" dirty="0">
                <a:solidFill>
                  <a:srgbClr val="2B3990"/>
                </a:solidFill>
                <a:latin typeface="Verdana"/>
                <a:cs typeface="Verdana"/>
              </a:rPr>
              <a:t>directamente</a:t>
            </a:r>
            <a:r>
              <a:rPr sz="1500" spc="-75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B3990"/>
                </a:solidFill>
                <a:latin typeface="Verdana"/>
                <a:cs typeface="Verdana"/>
              </a:rPr>
              <a:t>relacionado</a:t>
            </a:r>
            <a:r>
              <a:rPr sz="1500" spc="-85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B3990"/>
                </a:solidFill>
                <a:latin typeface="Verdana"/>
                <a:cs typeface="Verdana"/>
              </a:rPr>
              <a:t>con</a:t>
            </a:r>
            <a:r>
              <a:rPr sz="1500" spc="-20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500" spc="55" dirty="0">
                <a:solidFill>
                  <a:srgbClr val="2B3990"/>
                </a:solidFill>
                <a:latin typeface="Verdana"/>
                <a:cs typeface="Verdana"/>
              </a:rPr>
              <a:t>un</a:t>
            </a:r>
            <a:r>
              <a:rPr sz="1500" spc="-30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2B3990"/>
                </a:solidFill>
                <a:latin typeface="Verdana"/>
                <a:cs typeface="Verdana"/>
              </a:rPr>
              <a:t>objetivo</a:t>
            </a:r>
            <a:r>
              <a:rPr sz="1500" spc="-65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2B3990"/>
                </a:solidFill>
                <a:latin typeface="Verdana"/>
                <a:cs typeface="Verdana"/>
              </a:rPr>
              <a:t>fijado</a:t>
            </a:r>
            <a:r>
              <a:rPr sz="1500" spc="-35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2B3990"/>
                </a:solidFill>
                <a:latin typeface="Verdana"/>
                <a:cs typeface="Verdana"/>
              </a:rPr>
              <a:t>previamente </a:t>
            </a:r>
            <a:r>
              <a:rPr sz="1500" spc="-85" dirty="0">
                <a:solidFill>
                  <a:srgbClr val="2B3990"/>
                </a:solidFill>
                <a:latin typeface="Verdana"/>
                <a:cs typeface="Verdana"/>
              </a:rPr>
              <a:t>y</a:t>
            </a:r>
            <a:r>
              <a:rPr sz="1500" spc="-45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B3990"/>
                </a:solidFill>
                <a:latin typeface="Verdana"/>
                <a:cs typeface="Verdana"/>
              </a:rPr>
              <a:t>normalmente</a:t>
            </a:r>
            <a:r>
              <a:rPr sz="1500" spc="-100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500" spc="-35" dirty="0">
                <a:solidFill>
                  <a:srgbClr val="2B3990"/>
                </a:solidFill>
                <a:latin typeface="Verdana"/>
                <a:cs typeface="Verdana"/>
              </a:rPr>
              <a:t>se</a:t>
            </a:r>
            <a:r>
              <a:rPr sz="1500" spc="-45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2B3990"/>
                </a:solidFill>
                <a:latin typeface="Verdana"/>
                <a:cs typeface="Verdana"/>
              </a:rPr>
              <a:t>expresa</a:t>
            </a:r>
            <a:r>
              <a:rPr sz="1500" spc="-75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B3990"/>
                </a:solidFill>
                <a:latin typeface="Verdana"/>
                <a:cs typeface="Verdana"/>
              </a:rPr>
              <a:t>en</a:t>
            </a:r>
            <a:r>
              <a:rPr sz="1500" spc="-70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500" spc="-35" dirty="0">
                <a:solidFill>
                  <a:srgbClr val="2B3990"/>
                </a:solidFill>
                <a:latin typeface="Verdana"/>
                <a:cs typeface="Verdana"/>
              </a:rPr>
              <a:t>valores</a:t>
            </a:r>
            <a:r>
              <a:rPr sz="1500" spc="-55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2B3990"/>
                </a:solidFill>
                <a:latin typeface="Verdana"/>
                <a:cs typeface="Verdana"/>
              </a:rPr>
              <a:t>porcentuales.”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599178" y="2678430"/>
            <a:ext cx="5041265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spc="55" dirty="0">
                <a:solidFill>
                  <a:srgbClr val="0066CD"/>
                </a:solidFill>
                <a:latin typeface="Trebuchet MS"/>
                <a:cs typeface="Trebuchet MS"/>
              </a:rPr>
              <a:t>KPI:</a:t>
            </a:r>
            <a:r>
              <a:rPr sz="3200" spc="25" dirty="0">
                <a:solidFill>
                  <a:srgbClr val="0066CD"/>
                </a:solidFill>
                <a:latin typeface="Trebuchet MS"/>
                <a:cs typeface="Trebuchet MS"/>
              </a:rPr>
              <a:t> </a:t>
            </a:r>
            <a:r>
              <a:rPr sz="3200" spc="80" dirty="0">
                <a:solidFill>
                  <a:srgbClr val="0066CD"/>
                </a:solidFill>
                <a:latin typeface="Trebuchet MS"/>
                <a:cs typeface="Trebuchet MS"/>
              </a:rPr>
              <a:t>indicadores</a:t>
            </a:r>
            <a:r>
              <a:rPr sz="3200" spc="15" dirty="0">
                <a:solidFill>
                  <a:srgbClr val="0066CD"/>
                </a:solidFill>
                <a:latin typeface="Trebuchet MS"/>
                <a:cs typeface="Trebuchet MS"/>
              </a:rPr>
              <a:t> </a:t>
            </a:r>
            <a:r>
              <a:rPr sz="3200" spc="75" dirty="0">
                <a:solidFill>
                  <a:srgbClr val="0066CD"/>
                </a:solidFill>
                <a:latin typeface="Trebuchet MS"/>
                <a:cs typeface="Trebuchet MS"/>
              </a:rPr>
              <a:t>clave</a:t>
            </a:r>
            <a:r>
              <a:rPr sz="3200" spc="25" dirty="0">
                <a:solidFill>
                  <a:srgbClr val="0066CD"/>
                </a:solidFill>
                <a:latin typeface="Trebuchet MS"/>
                <a:cs typeface="Trebuchet MS"/>
              </a:rPr>
              <a:t> </a:t>
            </a:r>
            <a:r>
              <a:rPr sz="3200" spc="45" dirty="0">
                <a:solidFill>
                  <a:srgbClr val="0066CD"/>
                </a:solidFill>
                <a:latin typeface="Trebuchet MS"/>
                <a:cs typeface="Trebuchet MS"/>
              </a:rPr>
              <a:t>de </a:t>
            </a:r>
            <a:r>
              <a:rPr sz="3200" spc="110" dirty="0">
                <a:solidFill>
                  <a:srgbClr val="0066CD"/>
                </a:solidFill>
                <a:latin typeface="Trebuchet MS"/>
                <a:cs typeface="Trebuchet MS"/>
              </a:rPr>
              <a:t>desempeño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39" y="6390233"/>
            <a:ext cx="784860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050" spc="-30" dirty="0">
                <a:solidFill>
                  <a:srgbClr val="0030B8"/>
                </a:solidFill>
                <a:latin typeface="Verdana"/>
                <a:cs typeface="Verdana"/>
              </a:rPr>
              <a:t>Kerzner,</a:t>
            </a:r>
            <a:r>
              <a:rPr sz="1050" spc="-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spc="-55" dirty="0">
                <a:solidFill>
                  <a:srgbClr val="0030B8"/>
                </a:solidFill>
                <a:latin typeface="Verdana"/>
                <a:cs typeface="Verdana"/>
              </a:rPr>
              <a:t>H.</a:t>
            </a:r>
            <a:r>
              <a:rPr sz="1050" spc="-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spc="-120" dirty="0">
                <a:solidFill>
                  <a:srgbClr val="0030B8"/>
                </a:solidFill>
                <a:latin typeface="Verdana"/>
                <a:cs typeface="Verdana"/>
              </a:rPr>
              <a:t>(2017).</a:t>
            </a:r>
            <a:r>
              <a:rPr sz="1050" dirty="0">
                <a:solidFill>
                  <a:srgbClr val="0030B8"/>
                </a:solidFill>
                <a:latin typeface="Verdana"/>
                <a:cs typeface="Verdana"/>
              </a:rPr>
              <a:t> Project</a:t>
            </a:r>
            <a:r>
              <a:rPr sz="1050" spc="-1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0030B8"/>
                </a:solidFill>
                <a:latin typeface="Verdana"/>
                <a:cs typeface="Verdana"/>
              </a:rPr>
              <a:t>Management.</a:t>
            </a:r>
            <a:r>
              <a:rPr sz="1050" spc="-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0030B8"/>
                </a:solidFill>
                <a:latin typeface="Verdana"/>
                <a:cs typeface="Verdana"/>
              </a:rPr>
              <a:t>Metrics,</a:t>
            </a:r>
            <a:r>
              <a:rPr sz="1050" spc="-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spc="-45" dirty="0">
                <a:solidFill>
                  <a:srgbClr val="0030B8"/>
                </a:solidFill>
                <a:latin typeface="Verdana"/>
                <a:cs typeface="Verdana"/>
              </a:rPr>
              <a:t>KPIs,</a:t>
            </a:r>
            <a:r>
              <a:rPr sz="1050" spc="-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0030B8"/>
                </a:solidFill>
                <a:latin typeface="Verdana"/>
                <a:cs typeface="Verdana"/>
              </a:rPr>
              <a:t>and</a:t>
            </a:r>
            <a:r>
              <a:rPr sz="1050" spc="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0030B8"/>
                </a:solidFill>
                <a:latin typeface="Verdana"/>
                <a:cs typeface="Verdana"/>
              </a:rPr>
              <a:t>dashboards.</a:t>
            </a:r>
            <a:r>
              <a:rPr sz="105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0030B8"/>
                </a:solidFill>
                <a:latin typeface="Verdana"/>
                <a:cs typeface="Verdana"/>
              </a:rPr>
              <a:t>A</a:t>
            </a:r>
            <a:r>
              <a:rPr sz="1050" spc="-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0030B8"/>
                </a:solidFill>
                <a:latin typeface="Verdana"/>
                <a:cs typeface="Verdana"/>
              </a:rPr>
              <a:t>guide</a:t>
            </a:r>
            <a:r>
              <a:rPr sz="1050" spc="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0030B8"/>
                </a:solidFill>
                <a:latin typeface="Verdana"/>
                <a:cs typeface="Verdana"/>
              </a:rPr>
              <a:t>to measuring</a:t>
            </a:r>
            <a:r>
              <a:rPr sz="1050" spc="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0030B8"/>
                </a:solidFill>
                <a:latin typeface="Verdana"/>
                <a:cs typeface="Verdana"/>
              </a:rPr>
              <a:t>and monitoring</a:t>
            </a:r>
            <a:r>
              <a:rPr sz="1050" spc="-1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0030B8"/>
                </a:solidFill>
                <a:latin typeface="Verdana"/>
                <a:cs typeface="Verdana"/>
              </a:rPr>
              <a:t>project </a:t>
            </a:r>
            <a:r>
              <a:rPr sz="1050" dirty="0">
                <a:solidFill>
                  <a:srgbClr val="0030B8"/>
                </a:solidFill>
                <a:latin typeface="Verdana"/>
                <a:cs typeface="Verdana"/>
              </a:rPr>
              <a:t>performance,</a:t>
            </a:r>
            <a:r>
              <a:rPr sz="105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0030B8"/>
                </a:solidFill>
                <a:latin typeface="Verdana"/>
                <a:cs typeface="Verdana"/>
              </a:rPr>
              <a:t>Tercera</a:t>
            </a:r>
            <a:r>
              <a:rPr sz="105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0030B8"/>
                </a:solidFill>
                <a:latin typeface="Verdana"/>
                <a:cs typeface="Verdana"/>
              </a:rPr>
              <a:t>Edición.</a:t>
            </a:r>
            <a:r>
              <a:rPr sz="105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0030B8"/>
                </a:solidFill>
                <a:latin typeface="Verdana"/>
                <a:cs typeface="Verdana"/>
              </a:rPr>
              <a:t>Nueva</a:t>
            </a:r>
            <a:r>
              <a:rPr sz="1050" spc="-55" dirty="0">
                <a:solidFill>
                  <a:srgbClr val="0030B8"/>
                </a:solidFill>
                <a:latin typeface="Verdana"/>
                <a:cs typeface="Verdana"/>
              </a:rPr>
              <a:t> Jersey:</a:t>
            </a:r>
            <a:r>
              <a:rPr sz="105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0030B8"/>
                </a:solidFill>
                <a:latin typeface="Verdana"/>
                <a:cs typeface="Verdana"/>
              </a:rPr>
              <a:t>John</a:t>
            </a:r>
            <a:r>
              <a:rPr sz="105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0030B8"/>
                </a:solidFill>
                <a:latin typeface="Verdana"/>
                <a:cs typeface="Verdana"/>
              </a:rPr>
              <a:t>Wiley</a:t>
            </a:r>
            <a:r>
              <a:rPr sz="105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spc="-70" dirty="0">
                <a:solidFill>
                  <a:srgbClr val="0030B8"/>
                </a:solidFill>
                <a:latin typeface="Verdana"/>
                <a:cs typeface="Verdana"/>
              </a:rPr>
              <a:t>&amp;</a:t>
            </a:r>
            <a:r>
              <a:rPr sz="1050" spc="-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050" spc="-50" dirty="0">
                <a:solidFill>
                  <a:srgbClr val="0030B8"/>
                </a:solidFill>
                <a:latin typeface="Verdana"/>
                <a:cs typeface="Verdana"/>
              </a:rPr>
              <a:t>Sons, </a:t>
            </a:r>
            <a:r>
              <a:rPr sz="1050" spc="-20" dirty="0">
                <a:solidFill>
                  <a:srgbClr val="0030B8"/>
                </a:solidFill>
                <a:latin typeface="Verdana"/>
                <a:cs typeface="Verdana"/>
              </a:rPr>
              <a:t>Inc.</a:t>
            </a:r>
            <a:endParaRPr sz="105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5067" y="2311907"/>
            <a:ext cx="3308604" cy="330860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34070" y="3961257"/>
            <a:ext cx="2895600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Gestión</a:t>
            </a:r>
            <a:r>
              <a:rPr sz="15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histórica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radicados 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asignaciones</a:t>
            </a:r>
            <a:r>
              <a:rPr sz="15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Alcaldía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Local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Suba</a:t>
            </a:r>
            <a:r>
              <a:rPr sz="15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15" dirty="0">
                <a:solidFill>
                  <a:srgbClr val="0030B8"/>
                </a:solidFill>
                <a:latin typeface="Verdana"/>
                <a:cs typeface="Verdana"/>
              </a:rPr>
              <a:t>–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Bogotá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D.C.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69414" marR="5080">
              <a:lnSpc>
                <a:spcPct val="100000"/>
              </a:lnSpc>
              <a:spcBef>
                <a:spcPts val="105"/>
              </a:spcBef>
            </a:pPr>
            <a:r>
              <a:rPr sz="3200" spc="85" dirty="0"/>
              <a:t>Ejemplos</a:t>
            </a:r>
            <a:r>
              <a:rPr sz="3200" spc="5" dirty="0"/>
              <a:t> </a:t>
            </a:r>
            <a:r>
              <a:rPr sz="3200" spc="130" dirty="0"/>
              <a:t>de </a:t>
            </a:r>
            <a:r>
              <a:rPr sz="3200" spc="50" dirty="0"/>
              <a:t>Tableros</a:t>
            </a:r>
            <a:endParaRPr sz="32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1375" y="2441448"/>
            <a:ext cx="7216140" cy="413918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20116" y="6609080"/>
            <a:ext cx="60801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10" dirty="0">
                <a:solidFill>
                  <a:srgbClr val="2B3990"/>
                </a:solidFill>
                <a:latin typeface="Verdana"/>
                <a:cs typeface="Verdana"/>
              </a:rPr>
              <a:t>Tableros</a:t>
            </a:r>
            <a:r>
              <a:rPr sz="1000" i="1" dirty="0">
                <a:solidFill>
                  <a:srgbClr val="2B3990"/>
                </a:solidFill>
                <a:latin typeface="Verdana"/>
                <a:cs typeface="Verdana"/>
              </a:rPr>
              <a:t> de</a:t>
            </a:r>
            <a:r>
              <a:rPr sz="1000" i="1" spc="-25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000" i="1" dirty="0">
                <a:solidFill>
                  <a:srgbClr val="2B3990"/>
                </a:solidFill>
                <a:latin typeface="Verdana"/>
                <a:cs typeface="Verdana"/>
              </a:rPr>
              <a:t>seguimiento</a:t>
            </a:r>
            <a:r>
              <a:rPr sz="1000" i="1" spc="10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000" i="1" spc="70" dirty="0">
                <a:solidFill>
                  <a:srgbClr val="2B3990"/>
                </a:solidFill>
                <a:latin typeface="Verdana"/>
                <a:cs typeface="Verdana"/>
              </a:rPr>
              <a:t>a</a:t>
            </a:r>
            <a:r>
              <a:rPr sz="1000" i="1" spc="-5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000" i="1" dirty="0">
                <a:solidFill>
                  <a:srgbClr val="2B3990"/>
                </a:solidFill>
                <a:latin typeface="Verdana"/>
                <a:cs typeface="Verdana"/>
              </a:rPr>
              <a:t>la</a:t>
            </a:r>
            <a:r>
              <a:rPr sz="1000" i="1" spc="-5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000" i="1" spc="-20" dirty="0">
                <a:solidFill>
                  <a:srgbClr val="2B3990"/>
                </a:solidFill>
                <a:latin typeface="Verdana"/>
                <a:cs typeface="Verdana"/>
              </a:rPr>
              <a:t>gestión.</a:t>
            </a:r>
            <a:r>
              <a:rPr sz="1000" i="1" spc="-15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000" i="1" spc="-110" dirty="0">
                <a:solidFill>
                  <a:srgbClr val="2B3990"/>
                </a:solidFill>
                <a:latin typeface="Verdana"/>
                <a:cs typeface="Verdana"/>
              </a:rPr>
              <a:t>(s.f.)</a:t>
            </a:r>
            <a:r>
              <a:rPr sz="1000" i="1" spc="-40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000" i="1" dirty="0">
                <a:solidFill>
                  <a:srgbClr val="2B3990"/>
                </a:solidFill>
                <a:latin typeface="Verdana"/>
                <a:cs typeface="Verdana"/>
              </a:rPr>
              <a:t>Recuperado</a:t>
            </a:r>
            <a:r>
              <a:rPr sz="1000" i="1" spc="15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000" i="1" dirty="0">
                <a:solidFill>
                  <a:srgbClr val="2B3990"/>
                </a:solidFill>
                <a:latin typeface="Verdana"/>
                <a:cs typeface="Verdana"/>
              </a:rPr>
              <a:t>de</a:t>
            </a:r>
            <a:r>
              <a:rPr sz="1000" i="1" spc="-25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000" i="1" spc="-10" dirty="0">
                <a:solidFill>
                  <a:srgbClr val="2B3990"/>
                </a:solidFill>
                <a:latin typeface="Verdana"/>
                <a:cs typeface="Verdana"/>
                <a:hlinkClick r:id="rId3"/>
              </a:rPr>
              <a:t>https://www.gobiernobogota.gov.co/</a:t>
            </a:r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75628" y="4030167"/>
            <a:ext cx="4287520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Análisis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general</a:t>
            </a:r>
            <a:r>
              <a:rPr sz="1500" spc="-1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criminalidad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4" dirty="0">
                <a:solidFill>
                  <a:srgbClr val="0030B8"/>
                </a:solidFill>
                <a:latin typeface="Verdana"/>
                <a:cs typeface="Verdana"/>
              </a:rPr>
              <a:t>–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casos</a:t>
            </a:r>
            <a:r>
              <a:rPr sz="15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endParaRPr sz="15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00" spc="10" dirty="0">
                <a:solidFill>
                  <a:srgbClr val="0030B8"/>
                </a:solidFill>
                <a:latin typeface="Verdana"/>
                <a:cs typeface="Verdana"/>
              </a:rPr>
              <a:t>Homicidio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1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1500" spc="-1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el</a:t>
            </a:r>
            <a:r>
              <a:rPr sz="1500" spc="-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10" dirty="0">
                <a:solidFill>
                  <a:srgbClr val="0030B8"/>
                </a:solidFill>
                <a:latin typeface="Verdana"/>
                <a:cs typeface="Verdana"/>
              </a:rPr>
              <a:t>municipio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1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Medellín.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034785" y="2521966"/>
            <a:ext cx="458025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90" dirty="0"/>
              <a:t>Ejemplos</a:t>
            </a:r>
            <a:r>
              <a:rPr sz="3200" spc="-15" dirty="0"/>
              <a:t> </a:t>
            </a:r>
            <a:r>
              <a:rPr sz="3200" spc="155" dirty="0"/>
              <a:t>de</a:t>
            </a:r>
            <a:r>
              <a:rPr sz="3200" spc="-35" dirty="0"/>
              <a:t> </a:t>
            </a:r>
            <a:r>
              <a:rPr sz="3200" spc="50" dirty="0"/>
              <a:t>Tableros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1447927" y="6609080"/>
            <a:ext cx="40309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10" dirty="0">
                <a:solidFill>
                  <a:srgbClr val="2B3990"/>
                </a:solidFill>
                <a:latin typeface="Verdana"/>
                <a:cs typeface="Verdana"/>
              </a:rPr>
              <a:t>Tableros</a:t>
            </a:r>
            <a:r>
              <a:rPr sz="1000" i="1" spc="-5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000" i="1" dirty="0">
                <a:solidFill>
                  <a:srgbClr val="2B3990"/>
                </a:solidFill>
                <a:latin typeface="Verdana"/>
                <a:cs typeface="Verdana"/>
              </a:rPr>
              <a:t>de</a:t>
            </a:r>
            <a:r>
              <a:rPr sz="1000" i="1" spc="-25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000" i="1" spc="-20" dirty="0">
                <a:solidFill>
                  <a:srgbClr val="2B3990"/>
                </a:solidFill>
                <a:latin typeface="Verdana"/>
                <a:cs typeface="Verdana"/>
              </a:rPr>
              <a:t>Análisis.</a:t>
            </a:r>
            <a:r>
              <a:rPr sz="1000" i="1" spc="15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000" i="1" spc="-110" dirty="0">
                <a:solidFill>
                  <a:srgbClr val="2B3990"/>
                </a:solidFill>
                <a:latin typeface="Verdana"/>
                <a:cs typeface="Verdana"/>
              </a:rPr>
              <a:t>(s.f.)</a:t>
            </a:r>
            <a:r>
              <a:rPr sz="1000" i="1" spc="-40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000" i="1" dirty="0">
                <a:solidFill>
                  <a:srgbClr val="2B3990"/>
                </a:solidFill>
                <a:latin typeface="Verdana"/>
                <a:cs typeface="Verdana"/>
              </a:rPr>
              <a:t>Recuperado</a:t>
            </a:r>
            <a:r>
              <a:rPr sz="1000" i="1" spc="10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000" i="1" dirty="0">
                <a:solidFill>
                  <a:srgbClr val="2B3990"/>
                </a:solidFill>
                <a:latin typeface="Verdana"/>
                <a:cs typeface="Verdana"/>
              </a:rPr>
              <a:t>de</a:t>
            </a:r>
            <a:r>
              <a:rPr sz="1000" i="1" spc="-25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000" i="1" spc="-20" dirty="0">
                <a:solidFill>
                  <a:srgbClr val="2B3990"/>
                </a:solidFill>
                <a:latin typeface="Verdana"/>
                <a:cs typeface="Verdana"/>
                <a:hlinkClick r:id="rId2"/>
              </a:rPr>
              <a:t>http://medata.gov.co/</a:t>
            </a:r>
            <a:endParaRPr sz="100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27988" y="2508504"/>
            <a:ext cx="3703320" cy="4018788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77102" y="3603117"/>
            <a:ext cx="42957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Análisis</a:t>
            </a:r>
            <a:r>
              <a:rPr sz="1500" spc="-1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las</a:t>
            </a:r>
            <a:r>
              <a:rPr sz="15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Alertas</a:t>
            </a:r>
            <a:r>
              <a:rPr sz="1500" spc="-11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Tempranas</a:t>
            </a:r>
            <a:r>
              <a:rPr sz="1500" spc="-1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registradas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plataforma</a:t>
            </a:r>
            <a:r>
              <a:rPr sz="1500" spc="-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del</a:t>
            </a:r>
            <a:r>
              <a:rPr sz="15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municipio</a:t>
            </a:r>
            <a:r>
              <a:rPr sz="15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Medellín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20198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90" dirty="0"/>
              <a:t>Ejemplos</a:t>
            </a:r>
            <a:r>
              <a:rPr sz="3200" spc="-15" dirty="0"/>
              <a:t> </a:t>
            </a:r>
            <a:r>
              <a:rPr sz="3200" spc="155" dirty="0"/>
              <a:t>de</a:t>
            </a:r>
            <a:r>
              <a:rPr sz="3200" spc="-35" dirty="0"/>
              <a:t> </a:t>
            </a:r>
            <a:r>
              <a:rPr sz="3200" spc="50" dirty="0"/>
              <a:t>Tableros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1317752" y="6593535"/>
            <a:ext cx="40386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10" dirty="0">
                <a:solidFill>
                  <a:srgbClr val="2B3990"/>
                </a:solidFill>
                <a:latin typeface="Verdana"/>
                <a:cs typeface="Verdana"/>
              </a:rPr>
              <a:t>Tableros</a:t>
            </a:r>
            <a:r>
              <a:rPr sz="1000" i="1" dirty="0">
                <a:solidFill>
                  <a:srgbClr val="2B3990"/>
                </a:solidFill>
                <a:latin typeface="Verdana"/>
                <a:cs typeface="Verdana"/>
              </a:rPr>
              <a:t> de</a:t>
            </a:r>
            <a:r>
              <a:rPr sz="1000" i="1" spc="-20" dirty="0">
                <a:solidFill>
                  <a:srgbClr val="2B3990"/>
                </a:solidFill>
                <a:latin typeface="Verdana"/>
                <a:cs typeface="Verdana"/>
              </a:rPr>
              <a:t> Análisis.</a:t>
            </a:r>
            <a:r>
              <a:rPr sz="1000" i="1" spc="15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000" i="1" spc="-110" dirty="0">
                <a:solidFill>
                  <a:srgbClr val="2B3990"/>
                </a:solidFill>
                <a:latin typeface="Verdana"/>
                <a:cs typeface="Verdana"/>
              </a:rPr>
              <a:t>(s.f.)</a:t>
            </a:r>
            <a:r>
              <a:rPr sz="1000" i="1" spc="-35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000" i="1" dirty="0">
                <a:solidFill>
                  <a:srgbClr val="2B3990"/>
                </a:solidFill>
                <a:latin typeface="Verdana"/>
                <a:cs typeface="Verdana"/>
              </a:rPr>
              <a:t>Recuperado</a:t>
            </a:r>
            <a:r>
              <a:rPr sz="1000" i="1" spc="20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000" i="1" dirty="0">
                <a:solidFill>
                  <a:srgbClr val="2B3990"/>
                </a:solidFill>
                <a:latin typeface="Verdana"/>
                <a:cs typeface="Verdana"/>
              </a:rPr>
              <a:t>de</a:t>
            </a:r>
            <a:r>
              <a:rPr sz="1000" i="1" spc="-20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000" i="1" spc="-10" dirty="0">
                <a:solidFill>
                  <a:srgbClr val="2B3990"/>
                </a:solidFill>
                <a:latin typeface="Verdana"/>
                <a:cs typeface="Verdana"/>
                <a:hlinkClick r:id="rId2"/>
              </a:rPr>
              <a:t>http://medata.gov.co/</a:t>
            </a:r>
            <a:endParaRPr sz="100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39011" y="2336292"/>
            <a:ext cx="4411980" cy="417576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34070" y="3961257"/>
            <a:ext cx="291147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Identificación</a:t>
            </a:r>
            <a:r>
              <a:rPr sz="1500" spc="-11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factores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riesgo</a:t>
            </a:r>
            <a:r>
              <a:rPr sz="1500" spc="-11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embarazo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adolescente</a:t>
            </a:r>
            <a:r>
              <a:rPr sz="1500" spc="-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500" spc="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subsecuente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en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el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10" dirty="0">
                <a:solidFill>
                  <a:srgbClr val="0030B8"/>
                </a:solidFill>
                <a:latin typeface="Verdana"/>
                <a:cs typeface="Verdana"/>
              </a:rPr>
              <a:t>municipio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1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Medellín.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934070" y="2454097"/>
            <a:ext cx="2647950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spc="85" dirty="0"/>
              <a:t>Ejemplos</a:t>
            </a:r>
            <a:r>
              <a:rPr sz="3200" spc="5" dirty="0"/>
              <a:t> </a:t>
            </a:r>
            <a:r>
              <a:rPr sz="3200" spc="130" dirty="0"/>
              <a:t>de </a:t>
            </a:r>
            <a:r>
              <a:rPr sz="3200" spc="50" dirty="0"/>
              <a:t>Tableros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420116" y="6609080"/>
            <a:ext cx="40309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10" dirty="0">
                <a:solidFill>
                  <a:srgbClr val="2B3990"/>
                </a:solidFill>
                <a:latin typeface="Verdana"/>
                <a:cs typeface="Verdana"/>
              </a:rPr>
              <a:t>Tableros</a:t>
            </a:r>
            <a:r>
              <a:rPr sz="1000" i="1" spc="-5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000" i="1" dirty="0">
                <a:solidFill>
                  <a:srgbClr val="2B3990"/>
                </a:solidFill>
                <a:latin typeface="Verdana"/>
                <a:cs typeface="Verdana"/>
              </a:rPr>
              <a:t>de</a:t>
            </a:r>
            <a:r>
              <a:rPr sz="1000" i="1" spc="-25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000" i="1" spc="-20" dirty="0">
                <a:solidFill>
                  <a:srgbClr val="2B3990"/>
                </a:solidFill>
                <a:latin typeface="Verdana"/>
                <a:cs typeface="Verdana"/>
              </a:rPr>
              <a:t>Análisis.</a:t>
            </a:r>
            <a:r>
              <a:rPr sz="1000" i="1" spc="15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000" i="1" spc="-110" dirty="0">
                <a:solidFill>
                  <a:srgbClr val="2B3990"/>
                </a:solidFill>
                <a:latin typeface="Verdana"/>
                <a:cs typeface="Verdana"/>
              </a:rPr>
              <a:t>(s.f.)</a:t>
            </a:r>
            <a:r>
              <a:rPr sz="1000" i="1" spc="-40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000" i="1" dirty="0">
                <a:solidFill>
                  <a:srgbClr val="2B3990"/>
                </a:solidFill>
                <a:latin typeface="Verdana"/>
                <a:cs typeface="Verdana"/>
              </a:rPr>
              <a:t>Recuperado</a:t>
            </a:r>
            <a:r>
              <a:rPr sz="1000" i="1" spc="10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000" i="1" dirty="0">
                <a:solidFill>
                  <a:srgbClr val="2B3990"/>
                </a:solidFill>
                <a:latin typeface="Verdana"/>
                <a:cs typeface="Verdana"/>
              </a:rPr>
              <a:t>de</a:t>
            </a:r>
            <a:r>
              <a:rPr sz="1000" i="1" spc="-25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000" i="1" spc="-20" dirty="0">
                <a:solidFill>
                  <a:srgbClr val="2B3990"/>
                </a:solidFill>
                <a:latin typeface="Verdana"/>
                <a:cs typeface="Verdana"/>
                <a:hlinkClick r:id="rId2"/>
              </a:rPr>
              <a:t>http://medata.gov.co/</a:t>
            </a:r>
            <a:endParaRPr sz="100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1375" y="2453639"/>
            <a:ext cx="6542532" cy="4191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34070" y="3961257"/>
            <a:ext cx="306006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Análisis</a:t>
            </a:r>
            <a:r>
              <a:rPr sz="1500" spc="-1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histórico</a:t>
            </a:r>
            <a:r>
              <a:rPr sz="15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del </a:t>
            </a:r>
            <a:r>
              <a:rPr sz="1500" spc="20" dirty="0">
                <a:solidFill>
                  <a:srgbClr val="0030B8"/>
                </a:solidFill>
                <a:latin typeface="Verdana"/>
                <a:cs typeface="Verdana"/>
              </a:rPr>
              <a:t>comportamiento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2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 los </a:t>
            </a:r>
            <a:r>
              <a:rPr sz="1500" spc="10" dirty="0">
                <a:solidFill>
                  <a:srgbClr val="0030B8"/>
                </a:solidFill>
                <a:latin typeface="Verdana"/>
                <a:cs typeface="Verdana"/>
              </a:rPr>
              <a:t>estudiantes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10" dirty="0">
                <a:solidFill>
                  <a:srgbClr val="0030B8"/>
                </a:solidFill>
                <a:latin typeface="Verdana"/>
                <a:cs typeface="Verdana"/>
              </a:rPr>
              <a:t>del</a:t>
            </a:r>
            <a:r>
              <a:rPr sz="15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10" dirty="0">
                <a:solidFill>
                  <a:srgbClr val="0030B8"/>
                </a:solidFill>
                <a:latin typeface="Verdana"/>
                <a:cs typeface="Verdana"/>
              </a:rPr>
              <a:t>municipio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de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Medellín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las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pruebas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Saber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434" dirty="0">
                <a:solidFill>
                  <a:srgbClr val="0030B8"/>
                </a:solidFill>
                <a:latin typeface="Verdana"/>
                <a:cs typeface="Verdana"/>
              </a:rPr>
              <a:t>11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934070" y="2454097"/>
            <a:ext cx="2647950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spc="85" dirty="0"/>
              <a:t>Ejemplos</a:t>
            </a:r>
            <a:r>
              <a:rPr sz="3200" spc="5" dirty="0"/>
              <a:t> </a:t>
            </a:r>
            <a:r>
              <a:rPr sz="3200" spc="130" dirty="0"/>
              <a:t>de </a:t>
            </a:r>
            <a:r>
              <a:rPr sz="3200" spc="50" dirty="0"/>
              <a:t>Tableros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420116" y="6659981"/>
            <a:ext cx="40309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spc="-10" dirty="0">
                <a:solidFill>
                  <a:srgbClr val="2B3990"/>
                </a:solidFill>
                <a:latin typeface="Verdana"/>
                <a:cs typeface="Verdana"/>
              </a:rPr>
              <a:t>Tableros</a:t>
            </a:r>
            <a:r>
              <a:rPr sz="1000" i="1" spc="-5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000" i="1" dirty="0">
                <a:solidFill>
                  <a:srgbClr val="2B3990"/>
                </a:solidFill>
                <a:latin typeface="Verdana"/>
                <a:cs typeface="Verdana"/>
              </a:rPr>
              <a:t>de</a:t>
            </a:r>
            <a:r>
              <a:rPr sz="1000" i="1" spc="-25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000" i="1" spc="-20" dirty="0">
                <a:solidFill>
                  <a:srgbClr val="2B3990"/>
                </a:solidFill>
                <a:latin typeface="Verdana"/>
                <a:cs typeface="Verdana"/>
              </a:rPr>
              <a:t>Análisis.</a:t>
            </a:r>
            <a:r>
              <a:rPr sz="1000" i="1" spc="15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000" i="1" spc="-110" dirty="0">
                <a:solidFill>
                  <a:srgbClr val="2B3990"/>
                </a:solidFill>
                <a:latin typeface="Verdana"/>
                <a:cs typeface="Verdana"/>
              </a:rPr>
              <a:t>(s.f.)</a:t>
            </a:r>
            <a:r>
              <a:rPr sz="1000" i="1" spc="-40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000" i="1" dirty="0">
                <a:solidFill>
                  <a:srgbClr val="2B3990"/>
                </a:solidFill>
                <a:latin typeface="Verdana"/>
                <a:cs typeface="Verdana"/>
              </a:rPr>
              <a:t>Recuperado</a:t>
            </a:r>
            <a:r>
              <a:rPr sz="1000" i="1" spc="10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000" i="1" dirty="0">
                <a:solidFill>
                  <a:srgbClr val="2B3990"/>
                </a:solidFill>
                <a:latin typeface="Verdana"/>
                <a:cs typeface="Verdana"/>
              </a:rPr>
              <a:t>de</a:t>
            </a:r>
            <a:r>
              <a:rPr sz="1000" i="1" spc="-25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1000" i="1" spc="-20" dirty="0">
                <a:solidFill>
                  <a:srgbClr val="2B3990"/>
                </a:solidFill>
                <a:latin typeface="Verdana"/>
                <a:cs typeface="Verdana"/>
                <a:hlinkClick r:id="rId2"/>
              </a:rPr>
              <a:t>http://medata.gov.co/</a:t>
            </a:r>
            <a:endParaRPr sz="100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3108" y="2441448"/>
            <a:ext cx="6310884" cy="421690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083302" y="2671952"/>
            <a:ext cx="66446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0" dirty="0"/>
              <a:t>Inteligencia</a:t>
            </a:r>
            <a:r>
              <a:rPr spc="20" dirty="0"/>
              <a:t> </a:t>
            </a:r>
            <a:r>
              <a:rPr spc="65" dirty="0"/>
              <a:t>institucional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83302" y="3483102"/>
            <a:ext cx="5390515" cy="29000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5" dirty="0">
                <a:solidFill>
                  <a:srgbClr val="2CDAFF"/>
                </a:solidFill>
                <a:latin typeface="Verdana"/>
                <a:cs typeface="Verdana"/>
              </a:rPr>
              <a:t>¡A</a:t>
            </a:r>
            <a:r>
              <a:rPr sz="2000" spc="-11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CDAFF"/>
                </a:solidFill>
                <a:latin typeface="Verdana"/>
                <a:cs typeface="Verdana"/>
              </a:rPr>
              <a:t>tener</a:t>
            </a:r>
            <a:r>
              <a:rPr sz="2000" spc="-11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CDAFF"/>
                </a:solidFill>
                <a:latin typeface="Verdana"/>
                <a:cs typeface="Verdana"/>
              </a:rPr>
              <a:t>en</a:t>
            </a:r>
            <a:r>
              <a:rPr sz="2000" spc="-114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2CDAFF"/>
                </a:solidFill>
                <a:latin typeface="Verdana"/>
                <a:cs typeface="Verdana"/>
              </a:rPr>
              <a:t>cuenta!</a:t>
            </a:r>
            <a:endParaRPr sz="2000">
              <a:latin typeface="Verdana"/>
              <a:cs typeface="Verdana"/>
            </a:endParaRPr>
          </a:p>
          <a:p>
            <a:pPr marL="460375" marR="74930" indent="-287020">
              <a:lnSpc>
                <a:spcPct val="100000"/>
              </a:lnSpc>
              <a:spcBef>
                <a:spcPts val="2225"/>
              </a:spcBef>
              <a:buClr>
                <a:srgbClr val="2CDAFF"/>
              </a:buClr>
              <a:buFont typeface="Courier New"/>
              <a:buChar char="o"/>
              <a:tabLst>
                <a:tab pos="460375" algn="l"/>
              </a:tabLst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Toma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decisiones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basada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realmente</a:t>
            </a:r>
            <a:r>
              <a:rPr sz="1500" spc="-11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datos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(generación</a:t>
            </a:r>
            <a:r>
              <a:rPr sz="1500" spc="-1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valor)</a:t>
            </a:r>
            <a:endParaRPr sz="1500">
              <a:latin typeface="Verdana"/>
              <a:cs typeface="Verdana"/>
            </a:endParaRPr>
          </a:p>
          <a:p>
            <a:pPr marL="459740" indent="-286385">
              <a:lnSpc>
                <a:spcPct val="100000"/>
              </a:lnSpc>
              <a:buClr>
                <a:srgbClr val="2CDAFF"/>
              </a:buClr>
              <a:buFont typeface="Courier New"/>
              <a:buChar char="o"/>
              <a:tabLst>
                <a:tab pos="459740" algn="l"/>
              </a:tabLst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Masificación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habilidad</a:t>
            </a:r>
            <a:endParaRPr sz="1500">
              <a:latin typeface="Verdana"/>
              <a:cs typeface="Verdana"/>
            </a:endParaRPr>
          </a:p>
          <a:p>
            <a:pPr marL="460375" marR="45085" indent="-287020">
              <a:lnSpc>
                <a:spcPct val="100000"/>
              </a:lnSpc>
              <a:buClr>
                <a:srgbClr val="2CDAFF"/>
              </a:buClr>
              <a:buFont typeface="Courier New"/>
              <a:buChar char="o"/>
              <a:tabLst>
                <a:tab pos="460375" algn="l"/>
              </a:tabLst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Acceso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uso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información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(regulación,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fuentes 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500" spc="-1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calidad)</a:t>
            </a:r>
            <a:endParaRPr sz="1500">
              <a:latin typeface="Verdana"/>
              <a:cs typeface="Verdana"/>
            </a:endParaRPr>
          </a:p>
          <a:p>
            <a:pPr marL="459740" indent="-286385">
              <a:lnSpc>
                <a:spcPct val="100000"/>
              </a:lnSpc>
              <a:buClr>
                <a:srgbClr val="2CDAFF"/>
              </a:buClr>
              <a:buFont typeface="Courier New"/>
              <a:buChar char="o"/>
              <a:tabLst>
                <a:tab pos="459740" algn="l"/>
              </a:tabLst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Uso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del</a:t>
            </a:r>
            <a:r>
              <a:rPr sz="15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análisis</a:t>
            </a:r>
            <a:r>
              <a:rPr sz="1500" spc="-11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datos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15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procesos</a:t>
            </a:r>
            <a:endParaRPr sz="1500">
              <a:latin typeface="Verdana"/>
              <a:cs typeface="Verdana"/>
            </a:endParaRPr>
          </a:p>
          <a:p>
            <a:pPr marL="459105" marR="5080" indent="-285750">
              <a:lnSpc>
                <a:spcPct val="100000"/>
              </a:lnSpc>
              <a:buClr>
                <a:srgbClr val="2CDAFF"/>
              </a:buClr>
              <a:buFont typeface="Courier New"/>
              <a:buChar char="o"/>
              <a:tabLst>
                <a:tab pos="460375" algn="l"/>
              </a:tabLst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Tecnología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que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responda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forma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30" dirty="0">
                <a:solidFill>
                  <a:srgbClr val="0030B8"/>
                </a:solidFill>
                <a:latin typeface="Verdana"/>
                <a:cs typeface="Verdana"/>
              </a:rPr>
              <a:t>rápida,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flexible</a:t>
            </a:r>
            <a:r>
              <a:rPr sz="15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50" dirty="0">
                <a:solidFill>
                  <a:srgbClr val="0030B8"/>
                </a:solidFill>
                <a:latin typeface="Verdana"/>
                <a:cs typeface="Verdana"/>
              </a:rPr>
              <a:t>e 	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integrada</a:t>
            </a:r>
            <a:r>
              <a:rPr sz="1500" spc="-1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a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nuevos</a:t>
            </a:r>
            <a:r>
              <a:rPr sz="15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tipos</a:t>
            </a:r>
            <a:r>
              <a:rPr sz="15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análisis</a:t>
            </a:r>
            <a:r>
              <a:rPr sz="15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de 	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información</a:t>
            </a:r>
            <a:endParaRPr sz="1500">
              <a:latin typeface="Verdana"/>
              <a:cs typeface="Verdana"/>
            </a:endParaRPr>
          </a:p>
          <a:p>
            <a:pPr marL="459740" indent="-286385">
              <a:lnSpc>
                <a:spcPct val="100000"/>
              </a:lnSpc>
              <a:buClr>
                <a:srgbClr val="2CDAFF"/>
              </a:buClr>
              <a:buFont typeface="Courier New"/>
              <a:buChar char="o"/>
              <a:tabLst>
                <a:tab pos="459740" algn="l"/>
              </a:tabLst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Seguridad</a:t>
            </a:r>
            <a:r>
              <a:rPr sz="15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información</a:t>
            </a:r>
            <a:endParaRPr sz="15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3044" y="2464307"/>
            <a:ext cx="3749039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540" y="1247013"/>
            <a:ext cx="748665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105" dirty="0"/>
              <a:t>¿Por</a:t>
            </a:r>
            <a:r>
              <a:rPr sz="3200" spc="-45" dirty="0"/>
              <a:t> </a:t>
            </a:r>
            <a:r>
              <a:rPr sz="3200" spc="135" dirty="0"/>
              <a:t>qué</a:t>
            </a:r>
            <a:r>
              <a:rPr sz="3200" spc="-35" dirty="0"/>
              <a:t> </a:t>
            </a:r>
            <a:r>
              <a:rPr sz="3200" spc="125" dirty="0"/>
              <a:t>conocer</a:t>
            </a:r>
            <a:r>
              <a:rPr sz="3200" spc="-60" dirty="0"/>
              <a:t> </a:t>
            </a:r>
            <a:r>
              <a:rPr sz="3200" spc="140" dirty="0"/>
              <a:t>no</a:t>
            </a:r>
            <a:r>
              <a:rPr sz="3200" spc="-25" dirty="0"/>
              <a:t> </a:t>
            </a:r>
            <a:r>
              <a:rPr sz="3200" spc="70" dirty="0"/>
              <a:t>es</a:t>
            </a:r>
            <a:r>
              <a:rPr sz="3200" spc="-25" dirty="0"/>
              <a:t> </a:t>
            </a:r>
            <a:r>
              <a:rPr sz="3200" spc="70" dirty="0"/>
              <a:t>suficiente?</a:t>
            </a:r>
            <a:endParaRPr sz="3200"/>
          </a:p>
        </p:txBody>
      </p:sp>
      <p:pic>
        <p:nvPicPr>
          <p:cNvPr id="4" name="object 4" descr="click baby - Adobe Marketing cloud 20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818131"/>
            <a:ext cx="8959595" cy="50398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116059" y="2206879"/>
            <a:ext cx="2913380" cy="3227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Verdana"/>
                <a:cs typeface="Verdana"/>
              </a:rPr>
              <a:t>Peter</a:t>
            </a:r>
            <a:r>
              <a:rPr sz="1400" spc="-9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mira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esto</a:t>
            </a:r>
            <a:r>
              <a:rPr sz="1400" spc="-85" dirty="0">
                <a:latin typeface="Verdana"/>
                <a:cs typeface="Verdana"/>
              </a:rPr>
              <a:t> </a:t>
            </a:r>
            <a:r>
              <a:rPr sz="1400" spc="-305" dirty="0">
                <a:latin typeface="Verdana"/>
                <a:cs typeface="Verdana"/>
              </a:rPr>
              <a:t>…</a:t>
            </a:r>
            <a:endParaRPr sz="1400">
              <a:latin typeface="Verdana"/>
              <a:cs typeface="Verdana"/>
            </a:endParaRPr>
          </a:p>
          <a:p>
            <a:pPr marL="12700" marR="45720">
              <a:lnSpc>
                <a:spcPct val="100000"/>
              </a:lnSpc>
            </a:pPr>
            <a:r>
              <a:rPr sz="1400" spc="-20" dirty="0">
                <a:latin typeface="Verdana"/>
                <a:cs typeface="Verdana"/>
              </a:rPr>
              <a:t>Señor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los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números</a:t>
            </a:r>
            <a:r>
              <a:rPr sz="1400" spc="-8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cada</a:t>
            </a:r>
            <a:r>
              <a:rPr sz="1400" spc="-80" dirty="0">
                <a:latin typeface="Verdana"/>
                <a:cs typeface="Verdana"/>
              </a:rPr>
              <a:t> </a:t>
            </a:r>
            <a:r>
              <a:rPr sz="1400" spc="-40" dirty="0">
                <a:latin typeface="Verdana"/>
                <a:cs typeface="Verdana"/>
              </a:rPr>
              <a:t>vez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son </a:t>
            </a:r>
            <a:r>
              <a:rPr sz="1400" dirty="0">
                <a:latin typeface="Verdana"/>
                <a:cs typeface="Verdana"/>
              </a:rPr>
              <a:t>más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grandes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spc="-305" dirty="0">
                <a:latin typeface="Verdana"/>
                <a:cs typeface="Verdana"/>
              </a:rPr>
              <a:t>…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1400" dirty="0">
                <a:latin typeface="Verdana"/>
                <a:cs typeface="Verdana"/>
              </a:rPr>
              <a:t>Yoshi</a:t>
            </a:r>
            <a:r>
              <a:rPr sz="1400" spc="-9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volvimos!!</a:t>
            </a:r>
            <a:endParaRPr sz="1400">
              <a:latin typeface="Verdana"/>
              <a:cs typeface="Verdana"/>
            </a:endParaRPr>
          </a:p>
          <a:p>
            <a:pPr marL="12700" marR="337820">
              <a:lnSpc>
                <a:spcPct val="100000"/>
              </a:lnSpc>
            </a:pPr>
            <a:r>
              <a:rPr sz="1400" spc="-30" dirty="0">
                <a:latin typeface="Verdana"/>
                <a:cs typeface="Verdana"/>
              </a:rPr>
              <a:t>Vamos,</a:t>
            </a:r>
            <a:r>
              <a:rPr sz="1400" spc="-80" dirty="0">
                <a:latin typeface="Verdana"/>
                <a:cs typeface="Verdana"/>
              </a:rPr>
              <a:t> </a:t>
            </a:r>
            <a:r>
              <a:rPr sz="1400" spc="-45" dirty="0">
                <a:latin typeface="Verdana"/>
                <a:cs typeface="Verdana"/>
              </a:rPr>
              <a:t>vamos,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necesito</a:t>
            </a:r>
            <a:r>
              <a:rPr sz="1400" spc="-85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más </a:t>
            </a:r>
            <a:r>
              <a:rPr sz="1400" dirty="0">
                <a:latin typeface="Verdana"/>
                <a:cs typeface="Verdana"/>
              </a:rPr>
              <a:t>transporte</a:t>
            </a:r>
            <a:r>
              <a:rPr sz="1400" spc="-120" dirty="0">
                <a:latin typeface="Verdana"/>
                <a:cs typeface="Verdana"/>
              </a:rPr>
              <a:t> </a:t>
            </a:r>
            <a:r>
              <a:rPr sz="1400" spc="-75" dirty="0">
                <a:latin typeface="Verdana"/>
                <a:cs typeface="Verdana"/>
              </a:rPr>
              <a:t>y</a:t>
            </a:r>
            <a:r>
              <a:rPr sz="1400" spc="-9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arboles!</a:t>
            </a:r>
            <a:endParaRPr sz="14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1680"/>
              </a:spcBef>
            </a:pPr>
            <a:r>
              <a:rPr sz="1400" spc="-65" dirty="0">
                <a:latin typeface="Verdana"/>
                <a:cs typeface="Verdana"/>
              </a:rPr>
              <a:t>Oye,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mira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el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mercado</a:t>
            </a:r>
            <a:r>
              <a:rPr sz="1400" spc="-8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pulpa </a:t>
            </a:r>
            <a:r>
              <a:rPr sz="1400" dirty="0">
                <a:latin typeface="Verdana"/>
                <a:cs typeface="Verdana"/>
              </a:rPr>
              <a:t>de</a:t>
            </a:r>
            <a:r>
              <a:rPr sz="1400" spc="-7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árbol</a:t>
            </a:r>
            <a:r>
              <a:rPr sz="1400" spc="-75" dirty="0">
                <a:latin typeface="Verdana"/>
                <a:cs typeface="Verdana"/>
              </a:rPr>
              <a:t> </a:t>
            </a:r>
            <a:r>
              <a:rPr sz="1400" spc="-220" dirty="0">
                <a:latin typeface="Verdana"/>
                <a:cs typeface="Verdana"/>
              </a:rPr>
              <a:t>...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necesitamos</a:t>
            </a:r>
            <a:r>
              <a:rPr sz="1400" spc="-8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comprar </a:t>
            </a:r>
            <a:r>
              <a:rPr sz="1400" spc="-25" dirty="0">
                <a:latin typeface="Verdana"/>
                <a:cs typeface="Verdana"/>
              </a:rPr>
              <a:t>ya!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660"/>
              </a:spcBef>
            </a:pPr>
            <a:endParaRPr sz="1400">
              <a:latin typeface="Verdana"/>
              <a:cs typeface="Verdana"/>
            </a:endParaRPr>
          </a:p>
          <a:p>
            <a:pPr marL="12700" marR="262890">
              <a:lnSpc>
                <a:spcPct val="100000"/>
              </a:lnSpc>
            </a:pPr>
            <a:r>
              <a:rPr sz="1400" dirty="0">
                <a:solidFill>
                  <a:srgbClr val="3366C4"/>
                </a:solidFill>
                <a:latin typeface="Verdana"/>
                <a:cs typeface="Verdana"/>
              </a:rPr>
              <a:t>Pero</a:t>
            </a:r>
            <a:r>
              <a:rPr sz="1400" spc="-95" dirty="0">
                <a:solidFill>
                  <a:srgbClr val="3366C4"/>
                </a:solidFill>
                <a:latin typeface="Verdana"/>
                <a:cs typeface="Verdana"/>
              </a:rPr>
              <a:t> </a:t>
            </a:r>
            <a:r>
              <a:rPr sz="1400" spc="-20" dirty="0">
                <a:solidFill>
                  <a:srgbClr val="3366C4"/>
                </a:solidFill>
                <a:latin typeface="Verdana"/>
                <a:cs typeface="Verdana"/>
              </a:rPr>
              <a:t>al</a:t>
            </a:r>
            <a:r>
              <a:rPr sz="1400" spc="-85" dirty="0">
                <a:solidFill>
                  <a:srgbClr val="3366C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3366C4"/>
                </a:solidFill>
                <a:latin typeface="Verdana"/>
                <a:cs typeface="Verdana"/>
              </a:rPr>
              <a:t>final</a:t>
            </a:r>
            <a:r>
              <a:rPr sz="1400" spc="-70" dirty="0">
                <a:solidFill>
                  <a:srgbClr val="3366C4"/>
                </a:solidFill>
                <a:latin typeface="Verdana"/>
                <a:cs typeface="Verdana"/>
              </a:rPr>
              <a:t> </a:t>
            </a:r>
            <a:r>
              <a:rPr sz="1400" spc="-220" dirty="0">
                <a:solidFill>
                  <a:srgbClr val="3366C4"/>
                </a:solidFill>
                <a:latin typeface="Verdana"/>
                <a:cs typeface="Verdana"/>
              </a:rPr>
              <a:t>...</a:t>
            </a:r>
            <a:r>
              <a:rPr sz="1400" spc="-70" dirty="0">
                <a:solidFill>
                  <a:srgbClr val="3366C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3366C4"/>
                </a:solidFill>
                <a:latin typeface="Verdana"/>
                <a:cs typeface="Verdana"/>
              </a:rPr>
              <a:t>todo</a:t>
            </a:r>
            <a:r>
              <a:rPr sz="1400" spc="-100" dirty="0">
                <a:solidFill>
                  <a:srgbClr val="3366C4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3366C4"/>
                </a:solidFill>
                <a:latin typeface="Verdana"/>
                <a:cs typeface="Verdana"/>
              </a:rPr>
              <a:t>era</a:t>
            </a:r>
            <a:r>
              <a:rPr sz="1400" spc="-75" dirty="0">
                <a:solidFill>
                  <a:srgbClr val="3366C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3366C4"/>
                </a:solidFill>
                <a:latin typeface="Verdana"/>
                <a:cs typeface="Verdana"/>
              </a:rPr>
              <a:t>por</a:t>
            </a:r>
            <a:r>
              <a:rPr sz="1400" spc="-75" dirty="0">
                <a:solidFill>
                  <a:srgbClr val="3366C4"/>
                </a:solidFill>
                <a:latin typeface="Verdana"/>
                <a:cs typeface="Verdana"/>
              </a:rPr>
              <a:t> </a:t>
            </a:r>
            <a:r>
              <a:rPr sz="1400" spc="25" dirty="0">
                <a:solidFill>
                  <a:srgbClr val="3366C4"/>
                </a:solidFill>
                <a:latin typeface="Verdana"/>
                <a:cs typeface="Verdana"/>
              </a:rPr>
              <a:t>un </a:t>
            </a:r>
            <a:r>
              <a:rPr sz="1400" spc="-20" dirty="0">
                <a:solidFill>
                  <a:srgbClr val="3366C4"/>
                </a:solidFill>
                <a:latin typeface="Verdana"/>
                <a:cs typeface="Verdana"/>
              </a:rPr>
              <a:t>bebé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39606" y="6562445"/>
            <a:ext cx="312102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</a:rPr>
              <a:t>Adobe.</a:t>
            </a:r>
            <a:r>
              <a:rPr sz="800" i="1" spc="-2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90" dirty="0">
                <a:solidFill>
                  <a:srgbClr val="393939"/>
                </a:solidFill>
                <a:latin typeface="Verdana"/>
                <a:cs typeface="Verdana"/>
              </a:rPr>
              <a:t>(2014,</a:t>
            </a:r>
            <a:r>
              <a:rPr sz="800" i="1" spc="-3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Junio</a:t>
            </a:r>
            <a:r>
              <a:rPr sz="800" i="1" spc="-4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135" dirty="0">
                <a:solidFill>
                  <a:srgbClr val="393939"/>
                </a:solidFill>
                <a:latin typeface="Verdana"/>
                <a:cs typeface="Verdana"/>
              </a:rPr>
              <a:t>21).</a:t>
            </a: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25" dirty="0">
                <a:solidFill>
                  <a:srgbClr val="393939"/>
                </a:solidFill>
                <a:latin typeface="Verdana"/>
                <a:cs typeface="Verdana"/>
              </a:rPr>
              <a:t>Click,</a:t>
            </a:r>
            <a:r>
              <a:rPr sz="800" i="1" spc="-3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</a:rPr>
              <a:t>Baby,</a:t>
            </a:r>
            <a:r>
              <a:rPr sz="800" i="1" spc="-3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Click</a:t>
            </a:r>
            <a:r>
              <a:rPr sz="800" i="1" spc="-4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45" dirty="0">
                <a:solidFill>
                  <a:srgbClr val="393939"/>
                </a:solidFill>
                <a:latin typeface="Verdana"/>
                <a:cs typeface="Verdana"/>
              </a:rPr>
              <a:t>[Video].</a:t>
            </a:r>
            <a:r>
              <a:rPr sz="800" i="1" spc="-1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</a:rPr>
              <a:t>Recuperado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de</a:t>
            </a:r>
            <a:r>
              <a:rPr sz="800" i="1" spc="-3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  <a:hlinkClick r:id="rId3"/>
              </a:rPr>
              <a:t>https://www.youtube.com/watch?v=N1ltwg2nTK4</a:t>
            </a:r>
            <a:endParaRPr sz="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664870" y="1385773"/>
            <a:ext cx="42125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70" dirty="0"/>
              <a:t>Tipos</a:t>
            </a:r>
            <a:r>
              <a:rPr sz="3600" spc="-5" dirty="0"/>
              <a:t> </a:t>
            </a:r>
            <a:r>
              <a:rPr sz="3600" spc="175" dirty="0"/>
              <a:t>de</a:t>
            </a:r>
            <a:r>
              <a:rPr sz="3600" spc="-30" dirty="0"/>
              <a:t> </a:t>
            </a:r>
            <a:r>
              <a:rPr sz="3600" spc="60" dirty="0"/>
              <a:t>analítica</a:t>
            </a:r>
            <a:endParaRPr sz="3600"/>
          </a:p>
        </p:txBody>
      </p:sp>
      <p:sp>
        <p:nvSpPr>
          <p:cNvPr id="6" name="object 6"/>
          <p:cNvSpPr/>
          <p:nvPr/>
        </p:nvSpPr>
        <p:spPr>
          <a:xfrm>
            <a:off x="618744" y="2209800"/>
            <a:ext cx="2443480" cy="629920"/>
          </a:xfrm>
          <a:custGeom>
            <a:avLst/>
            <a:gdLst/>
            <a:ahLst/>
            <a:cxnLst/>
            <a:rect l="l" t="t" r="r" b="b"/>
            <a:pathLst>
              <a:path w="2443480" h="629919">
                <a:moveTo>
                  <a:pt x="2128266" y="0"/>
                </a:moveTo>
                <a:lnTo>
                  <a:pt x="0" y="0"/>
                </a:lnTo>
                <a:lnTo>
                  <a:pt x="314706" y="314705"/>
                </a:lnTo>
                <a:lnTo>
                  <a:pt x="0" y="629412"/>
                </a:lnTo>
                <a:lnTo>
                  <a:pt x="2128266" y="629412"/>
                </a:lnTo>
                <a:lnTo>
                  <a:pt x="2442972" y="314705"/>
                </a:lnTo>
                <a:lnTo>
                  <a:pt x="2128266" y="0"/>
                </a:lnTo>
                <a:close/>
              </a:path>
            </a:pathLst>
          </a:custGeom>
          <a:solidFill>
            <a:srgbClr val="474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84249" y="2364104"/>
            <a:ext cx="1313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Descriptiva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295900" y="2212848"/>
            <a:ext cx="3103245" cy="629920"/>
          </a:xfrm>
          <a:custGeom>
            <a:avLst/>
            <a:gdLst/>
            <a:ahLst/>
            <a:cxnLst/>
            <a:rect l="l" t="t" r="r" b="b"/>
            <a:pathLst>
              <a:path w="3103245" h="629919">
                <a:moveTo>
                  <a:pt x="2788157" y="0"/>
                </a:moveTo>
                <a:lnTo>
                  <a:pt x="0" y="0"/>
                </a:lnTo>
                <a:lnTo>
                  <a:pt x="314705" y="314705"/>
                </a:lnTo>
                <a:lnTo>
                  <a:pt x="0" y="629412"/>
                </a:lnTo>
                <a:lnTo>
                  <a:pt x="2788157" y="629412"/>
                </a:lnTo>
                <a:lnTo>
                  <a:pt x="3102864" y="314705"/>
                </a:lnTo>
                <a:lnTo>
                  <a:pt x="2788157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259195" y="2367788"/>
            <a:ext cx="11766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Predictiva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05800" y="2225039"/>
            <a:ext cx="2994660" cy="629920"/>
          </a:xfrm>
          <a:custGeom>
            <a:avLst/>
            <a:gdLst/>
            <a:ahLst/>
            <a:cxnLst/>
            <a:rect l="l" t="t" r="r" b="b"/>
            <a:pathLst>
              <a:path w="2994659" h="629919">
                <a:moveTo>
                  <a:pt x="2679954" y="0"/>
                </a:moveTo>
                <a:lnTo>
                  <a:pt x="0" y="0"/>
                </a:lnTo>
                <a:lnTo>
                  <a:pt x="314705" y="314706"/>
                </a:lnTo>
                <a:lnTo>
                  <a:pt x="0" y="629412"/>
                </a:lnTo>
                <a:lnTo>
                  <a:pt x="2679954" y="629412"/>
                </a:lnTo>
                <a:lnTo>
                  <a:pt x="2994659" y="314706"/>
                </a:lnTo>
                <a:lnTo>
                  <a:pt x="2679954" y="0"/>
                </a:lnTo>
                <a:close/>
              </a:path>
            </a:pathLst>
          </a:custGeom>
          <a:solidFill>
            <a:srgbClr val="3CBB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113901" y="2380234"/>
            <a:ext cx="13798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Prescriptiva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9831" y="3006090"/>
            <a:ext cx="45891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ahoma"/>
                <a:cs typeface="Tahoma"/>
              </a:rPr>
              <a:t>Inteligencia</a:t>
            </a:r>
            <a:r>
              <a:rPr sz="1800" b="1" spc="165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Institucional</a:t>
            </a:r>
            <a:r>
              <a:rPr sz="1800" b="1" spc="150" dirty="0">
                <a:latin typeface="Tahoma"/>
                <a:cs typeface="Tahoma"/>
              </a:rPr>
              <a:t> </a:t>
            </a:r>
            <a:r>
              <a:rPr sz="1800" b="1" spc="-400" dirty="0">
                <a:latin typeface="Tahoma"/>
                <a:cs typeface="Tahoma"/>
              </a:rPr>
              <a:t>+</a:t>
            </a:r>
            <a:r>
              <a:rPr sz="1800" b="1" spc="160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Estadística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75275" y="2992373"/>
            <a:ext cx="26587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5" dirty="0">
                <a:latin typeface="Tahoma"/>
                <a:cs typeface="Tahoma"/>
              </a:rPr>
              <a:t>Modelos</a:t>
            </a:r>
            <a:r>
              <a:rPr sz="1800" b="1" spc="-20" dirty="0">
                <a:latin typeface="Tahoma"/>
                <a:cs typeface="Tahoma"/>
              </a:rPr>
              <a:t> </a:t>
            </a:r>
            <a:r>
              <a:rPr sz="1800" b="1" spc="50" dirty="0">
                <a:latin typeface="Tahoma"/>
                <a:cs typeface="Tahoma"/>
              </a:rPr>
              <a:t>Matemáticos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917305" y="2968497"/>
            <a:ext cx="16319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0" dirty="0">
                <a:latin typeface="Tahoma"/>
                <a:cs typeface="Tahoma"/>
              </a:rPr>
              <a:t>Optimización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09878" y="3518154"/>
            <a:ext cx="11309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747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Verdana"/>
                <a:cs typeface="Verdana"/>
              </a:rPr>
              <a:t>¿Qué</a:t>
            </a:r>
            <a:r>
              <a:rPr sz="1200" spc="-4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pasó</a:t>
            </a:r>
            <a:r>
              <a:rPr sz="1200" spc="-50" dirty="0">
                <a:latin typeface="Verdana"/>
                <a:cs typeface="Verdana"/>
              </a:rPr>
              <a:t> o </a:t>
            </a:r>
            <a:r>
              <a:rPr sz="1200" spc="-20" dirty="0">
                <a:latin typeface="Verdana"/>
                <a:cs typeface="Verdana"/>
              </a:rPr>
              <a:t>esta</a:t>
            </a:r>
            <a:r>
              <a:rPr sz="1200" spc="-8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pasando?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68644" y="3623309"/>
            <a:ext cx="10706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Verdana"/>
                <a:cs typeface="Verdana"/>
              </a:rPr>
              <a:t>¿Qué</a:t>
            </a:r>
            <a:r>
              <a:rPr sz="1200" spc="1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pasará?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503411" y="3649471"/>
            <a:ext cx="23501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Verdana"/>
                <a:cs typeface="Verdana"/>
              </a:rPr>
              <a:t>¿Cuál</a:t>
            </a:r>
            <a:r>
              <a:rPr sz="1200" spc="-85" dirty="0">
                <a:latin typeface="Verdana"/>
                <a:cs typeface="Verdana"/>
              </a:rPr>
              <a:t> </a:t>
            </a:r>
            <a:r>
              <a:rPr sz="1200" spc="-25" dirty="0">
                <a:latin typeface="Verdana"/>
                <a:cs typeface="Verdana"/>
              </a:rPr>
              <a:t>seria</a:t>
            </a:r>
            <a:r>
              <a:rPr sz="1200" spc="-70" dirty="0">
                <a:latin typeface="Verdana"/>
                <a:cs typeface="Verdana"/>
              </a:rPr>
              <a:t> </a:t>
            </a:r>
            <a:r>
              <a:rPr sz="1200" spc="50" dirty="0">
                <a:latin typeface="Verdana"/>
                <a:cs typeface="Verdana"/>
              </a:rPr>
              <a:t>mi</a:t>
            </a:r>
            <a:r>
              <a:rPr sz="1200" spc="-7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mejor</a:t>
            </a:r>
            <a:r>
              <a:rPr sz="1200" spc="-8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decisión?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51026" y="4224273"/>
            <a:ext cx="10464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3050" marR="5080" indent="-260985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Verdana"/>
                <a:cs typeface="Verdana"/>
              </a:rPr>
              <a:t>Ayer</a:t>
            </a:r>
            <a:r>
              <a:rPr sz="1200" spc="-100" dirty="0">
                <a:latin typeface="Verdana"/>
                <a:cs typeface="Verdana"/>
              </a:rPr>
              <a:t> </a:t>
            </a:r>
            <a:r>
              <a:rPr sz="1200" spc="-70" dirty="0">
                <a:latin typeface="Verdana"/>
                <a:cs typeface="Verdana"/>
              </a:rPr>
              <a:t>y</a:t>
            </a:r>
            <a:r>
              <a:rPr sz="1200" spc="-10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hoy</a:t>
            </a:r>
            <a:r>
              <a:rPr sz="1200" spc="-100" dirty="0">
                <a:latin typeface="Verdana"/>
                <a:cs typeface="Verdana"/>
              </a:rPr>
              <a:t> </a:t>
            </a:r>
            <a:r>
              <a:rPr sz="1200" spc="-25" dirty="0">
                <a:latin typeface="Verdana"/>
                <a:cs typeface="Verdana"/>
              </a:rPr>
              <a:t>ha </a:t>
            </a:r>
            <a:r>
              <a:rPr sz="1200" spc="-10" dirty="0">
                <a:latin typeface="Verdana"/>
                <a:cs typeface="Verdana"/>
              </a:rPr>
              <a:t>llovido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961126" y="4166361"/>
            <a:ext cx="15754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6924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Verdana"/>
                <a:cs typeface="Verdana"/>
              </a:rPr>
              <a:t>Mañana</a:t>
            </a:r>
            <a:r>
              <a:rPr sz="1200" spc="55" dirty="0">
                <a:latin typeface="Verdana"/>
                <a:cs typeface="Verdana"/>
              </a:rPr>
              <a:t> </a:t>
            </a:r>
            <a:r>
              <a:rPr sz="1200" spc="-25" dirty="0">
                <a:latin typeface="Verdana"/>
                <a:cs typeface="Verdana"/>
              </a:rPr>
              <a:t>muy </a:t>
            </a:r>
            <a:r>
              <a:rPr sz="1200" dirty="0">
                <a:latin typeface="Verdana"/>
                <a:cs typeface="Verdana"/>
              </a:rPr>
              <a:t>posiblemente</a:t>
            </a:r>
            <a:r>
              <a:rPr sz="1200" spc="16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llueva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573769" y="4160646"/>
            <a:ext cx="231838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Verdana"/>
                <a:cs typeface="Verdana"/>
              </a:rPr>
              <a:t>Para</a:t>
            </a:r>
            <a:r>
              <a:rPr sz="1200" spc="-60" dirty="0">
                <a:latin typeface="Verdana"/>
                <a:cs typeface="Verdana"/>
              </a:rPr>
              <a:t> </a:t>
            </a:r>
            <a:r>
              <a:rPr sz="1200" spc="-25" dirty="0">
                <a:latin typeface="Verdana"/>
                <a:cs typeface="Verdana"/>
              </a:rPr>
              <a:t>ir</a:t>
            </a:r>
            <a:r>
              <a:rPr sz="1200" spc="-65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al</a:t>
            </a:r>
            <a:r>
              <a:rPr sz="1200" spc="-6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centro</a:t>
            </a:r>
            <a:r>
              <a:rPr sz="1200" spc="-6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del</a:t>
            </a:r>
            <a:r>
              <a:rPr sz="1200" spc="-6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municipio </a:t>
            </a:r>
            <a:r>
              <a:rPr sz="1200" dirty="0">
                <a:latin typeface="Verdana"/>
                <a:cs typeface="Verdana"/>
              </a:rPr>
              <a:t>sin</a:t>
            </a:r>
            <a:r>
              <a:rPr sz="1200" spc="-4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mojarme</a:t>
            </a:r>
            <a:r>
              <a:rPr sz="1200" spc="-55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al</a:t>
            </a:r>
            <a:r>
              <a:rPr sz="1200" spc="-4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menor</a:t>
            </a:r>
            <a:r>
              <a:rPr sz="1200" spc="-65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costo </a:t>
            </a:r>
            <a:r>
              <a:rPr sz="1200" dirty="0">
                <a:latin typeface="Verdana"/>
                <a:cs typeface="Verdana"/>
              </a:rPr>
              <a:t>posible</a:t>
            </a:r>
            <a:r>
              <a:rPr sz="1200" spc="-6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debería</a:t>
            </a:r>
            <a:r>
              <a:rPr sz="1200" spc="-25" dirty="0">
                <a:latin typeface="Verdana"/>
                <a:cs typeface="Verdana"/>
              </a:rPr>
              <a:t> </a:t>
            </a:r>
            <a:r>
              <a:rPr sz="1200" spc="-30" dirty="0">
                <a:latin typeface="Verdana"/>
                <a:cs typeface="Verdana"/>
              </a:rPr>
              <a:t>salir</a:t>
            </a:r>
            <a:r>
              <a:rPr sz="1200" spc="-45" dirty="0">
                <a:latin typeface="Verdana"/>
                <a:cs typeface="Verdana"/>
              </a:rPr>
              <a:t> </a:t>
            </a:r>
            <a:r>
              <a:rPr sz="1200" spc="-35" dirty="0">
                <a:latin typeface="Verdana"/>
                <a:cs typeface="Verdana"/>
              </a:rPr>
              <a:t>30 </a:t>
            </a:r>
            <a:r>
              <a:rPr sz="1200" dirty="0">
                <a:latin typeface="Verdana"/>
                <a:cs typeface="Verdana"/>
              </a:rPr>
              <a:t>minutos</a:t>
            </a:r>
            <a:r>
              <a:rPr sz="1200" spc="-6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antes</a:t>
            </a:r>
            <a:r>
              <a:rPr sz="1200" spc="-5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e</a:t>
            </a:r>
            <a:r>
              <a:rPr sz="1200" spc="-60" dirty="0">
                <a:latin typeface="Verdana"/>
                <a:cs typeface="Verdana"/>
              </a:rPr>
              <a:t> </a:t>
            </a:r>
            <a:r>
              <a:rPr sz="1200" spc="-25" dirty="0">
                <a:latin typeface="Verdana"/>
                <a:cs typeface="Verdana"/>
              </a:rPr>
              <a:t>ir</a:t>
            </a:r>
            <a:r>
              <a:rPr sz="1200" spc="-6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en</a:t>
            </a:r>
            <a:r>
              <a:rPr sz="1200" spc="-5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bicicleta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53390" y="2225039"/>
            <a:ext cx="10614660" cy="3018155"/>
            <a:chOff x="453390" y="2225039"/>
            <a:chExt cx="10614660" cy="3018155"/>
          </a:xfrm>
        </p:grpSpPr>
        <p:sp>
          <p:nvSpPr>
            <p:cNvPr id="22" name="object 22"/>
            <p:cNvSpPr/>
            <p:nvPr/>
          </p:nvSpPr>
          <p:spPr>
            <a:xfrm>
              <a:off x="453390" y="5144261"/>
              <a:ext cx="5397500" cy="99060"/>
            </a:xfrm>
            <a:custGeom>
              <a:avLst/>
              <a:gdLst/>
              <a:ahLst/>
              <a:cxnLst/>
              <a:rect l="l" t="t" r="r" b="b"/>
              <a:pathLst>
                <a:path w="5397500" h="99060">
                  <a:moveTo>
                    <a:pt x="85623" y="13081"/>
                  </a:moveTo>
                  <a:lnTo>
                    <a:pt x="0" y="56133"/>
                  </a:lnTo>
                  <a:lnTo>
                    <a:pt x="85826" y="98806"/>
                  </a:lnTo>
                  <a:lnTo>
                    <a:pt x="85758" y="70231"/>
                  </a:lnTo>
                  <a:lnTo>
                    <a:pt x="71450" y="70231"/>
                  </a:lnTo>
                  <a:lnTo>
                    <a:pt x="71386" y="41656"/>
                  </a:lnTo>
                  <a:lnTo>
                    <a:pt x="85691" y="41656"/>
                  </a:lnTo>
                  <a:lnTo>
                    <a:pt x="85623" y="13081"/>
                  </a:lnTo>
                  <a:close/>
                </a:path>
                <a:path w="5397500" h="99060">
                  <a:moveTo>
                    <a:pt x="5311140" y="0"/>
                  </a:moveTo>
                  <a:lnTo>
                    <a:pt x="5311224" y="28610"/>
                  </a:lnTo>
                  <a:lnTo>
                    <a:pt x="5311306" y="56133"/>
                  </a:lnTo>
                  <a:lnTo>
                    <a:pt x="5311394" y="85725"/>
                  </a:lnTo>
                  <a:lnTo>
                    <a:pt x="5368136" y="57185"/>
                  </a:lnTo>
                  <a:lnTo>
                    <a:pt x="5325618" y="57185"/>
                  </a:lnTo>
                  <a:lnTo>
                    <a:pt x="5325618" y="28610"/>
                  </a:lnTo>
                  <a:lnTo>
                    <a:pt x="5368702" y="28610"/>
                  </a:lnTo>
                  <a:lnTo>
                    <a:pt x="5311140" y="0"/>
                  </a:lnTo>
                  <a:close/>
                </a:path>
                <a:path w="5397500" h="99060">
                  <a:moveTo>
                    <a:pt x="5311224" y="28610"/>
                  </a:moveTo>
                  <a:lnTo>
                    <a:pt x="71386" y="41656"/>
                  </a:lnTo>
                  <a:lnTo>
                    <a:pt x="71450" y="70231"/>
                  </a:lnTo>
                  <a:lnTo>
                    <a:pt x="85758" y="70231"/>
                  </a:lnTo>
                  <a:lnTo>
                    <a:pt x="85691" y="41656"/>
                  </a:lnTo>
                  <a:lnTo>
                    <a:pt x="5311263" y="41656"/>
                  </a:lnTo>
                  <a:lnTo>
                    <a:pt x="5311224" y="28610"/>
                  </a:lnTo>
                  <a:close/>
                </a:path>
                <a:path w="5397500" h="99060">
                  <a:moveTo>
                    <a:pt x="5311263" y="41656"/>
                  </a:moveTo>
                  <a:lnTo>
                    <a:pt x="85691" y="41656"/>
                  </a:lnTo>
                  <a:lnTo>
                    <a:pt x="85758" y="70231"/>
                  </a:lnTo>
                  <a:lnTo>
                    <a:pt x="71450" y="70231"/>
                  </a:lnTo>
                  <a:lnTo>
                    <a:pt x="5311309" y="57185"/>
                  </a:lnTo>
                  <a:lnTo>
                    <a:pt x="5311263" y="41656"/>
                  </a:lnTo>
                  <a:close/>
                </a:path>
                <a:path w="5397500" h="99060">
                  <a:moveTo>
                    <a:pt x="5368702" y="28610"/>
                  </a:moveTo>
                  <a:lnTo>
                    <a:pt x="5325618" y="28610"/>
                  </a:lnTo>
                  <a:lnTo>
                    <a:pt x="5325618" y="57185"/>
                  </a:lnTo>
                  <a:lnTo>
                    <a:pt x="5368136" y="57185"/>
                  </a:lnTo>
                  <a:lnTo>
                    <a:pt x="5396992" y="42671"/>
                  </a:lnTo>
                  <a:lnTo>
                    <a:pt x="5368702" y="2861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927598" y="5148833"/>
              <a:ext cx="5140325" cy="76200"/>
            </a:xfrm>
            <a:custGeom>
              <a:avLst/>
              <a:gdLst/>
              <a:ahLst/>
              <a:cxnLst/>
              <a:rect l="l" t="t" r="r" b="b"/>
              <a:pathLst>
                <a:path w="5140325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50800"/>
                  </a:lnTo>
                  <a:lnTo>
                    <a:pt x="63500" y="50800"/>
                  </a:lnTo>
                  <a:lnTo>
                    <a:pt x="63500" y="25400"/>
                  </a:lnTo>
                  <a:lnTo>
                    <a:pt x="76200" y="25400"/>
                  </a:lnTo>
                  <a:lnTo>
                    <a:pt x="76200" y="0"/>
                  </a:lnTo>
                  <a:close/>
                </a:path>
                <a:path w="5140325" h="76200">
                  <a:moveTo>
                    <a:pt x="5063871" y="0"/>
                  </a:moveTo>
                  <a:lnTo>
                    <a:pt x="5063871" y="76200"/>
                  </a:lnTo>
                  <a:lnTo>
                    <a:pt x="5114671" y="50800"/>
                  </a:lnTo>
                  <a:lnTo>
                    <a:pt x="5076571" y="50800"/>
                  </a:lnTo>
                  <a:lnTo>
                    <a:pt x="5076571" y="25400"/>
                  </a:lnTo>
                  <a:lnTo>
                    <a:pt x="5114671" y="25400"/>
                  </a:lnTo>
                  <a:lnTo>
                    <a:pt x="5063871" y="0"/>
                  </a:lnTo>
                  <a:close/>
                </a:path>
                <a:path w="5140325" h="76200">
                  <a:moveTo>
                    <a:pt x="76200" y="25400"/>
                  </a:moveTo>
                  <a:lnTo>
                    <a:pt x="63500" y="25400"/>
                  </a:lnTo>
                  <a:lnTo>
                    <a:pt x="63500" y="50800"/>
                  </a:lnTo>
                  <a:lnTo>
                    <a:pt x="76200" y="50800"/>
                  </a:lnTo>
                  <a:lnTo>
                    <a:pt x="76200" y="25400"/>
                  </a:lnTo>
                  <a:close/>
                </a:path>
                <a:path w="5140325" h="76200">
                  <a:moveTo>
                    <a:pt x="5063871" y="25400"/>
                  </a:moveTo>
                  <a:lnTo>
                    <a:pt x="76200" y="25400"/>
                  </a:lnTo>
                  <a:lnTo>
                    <a:pt x="76200" y="50800"/>
                  </a:lnTo>
                  <a:lnTo>
                    <a:pt x="5063871" y="50800"/>
                  </a:lnTo>
                  <a:lnTo>
                    <a:pt x="5063871" y="25400"/>
                  </a:lnTo>
                  <a:close/>
                </a:path>
                <a:path w="5140325" h="76200">
                  <a:moveTo>
                    <a:pt x="5114671" y="25400"/>
                  </a:moveTo>
                  <a:lnTo>
                    <a:pt x="5076571" y="25400"/>
                  </a:lnTo>
                  <a:lnTo>
                    <a:pt x="5076571" y="50800"/>
                  </a:lnTo>
                  <a:lnTo>
                    <a:pt x="5114671" y="50800"/>
                  </a:lnTo>
                  <a:lnTo>
                    <a:pt x="5140071" y="38100"/>
                  </a:lnTo>
                  <a:lnTo>
                    <a:pt x="5114671" y="2540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944368" y="2225039"/>
              <a:ext cx="2444750" cy="629920"/>
            </a:xfrm>
            <a:custGeom>
              <a:avLst/>
              <a:gdLst/>
              <a:ahLst/>
              <a:cxnLst/>
              <a:rect l="l" t="t" r="r" b="b"/>
              <a:pathLst>
                <a:path w="2444750" h="629919">
                  <a:moveTo>
                    <a:pt x="2129790" y="0"/>
                  </a:moveTo>
                  <a:lnTo>
                    <a:pt x="0" y="0"/>
                  </a:lnTo>
                  <a:lnTo>
                    <a:pt x="314706" y="314706"/>
                  </a:lnTo>
                  <a:lnTo>
                    <a:pt x="0" y="629412"/>
                  </a:lnTo>
                  <a:lnTo>
                    <a:pt x="2129790" y="629412"/>
                  </a:lnTo>
                  <a:lnTo>
                    <a:pt x="2444496" y="314706"/>
                  </a:lnTo>
                  <a:lnTo>
                    <a:pt x="2129790" y="0"/>
                  </a:lnTo>
                  <a:close/>
                </a:path>
              </a:pathLst>
            </a:custGeom>
            <a:solidFill>
              <a:srgbClr val="474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970023" y="5334406"/>
            <a:ext cx="206248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Verdana"/>
                <a:cs typeface="Verdana"/>
              </a:rPr>
              <a:t>Automatización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561581" y="5321605"/>
            <a:ext cx="372300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Verdana"/>
                <a:cs typeface="Verdana"/>
              </a:rPr>
              <a:t>Transformación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Innovación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469385" y="2380234"/>
            <a:ext cx="13950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Diagnóstica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481578" y="3580257"/>
            <a:ext cx="12528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Verdana"/>
                <a:cs typeface="Verdana"/>
              </a:rPr>
              <a:t>¿Por</a:t>
            </a:r>
            <a:r>
              <a:rPr sz="1200" spc="-5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qué</a:t>
            </a:r>
            <a:r>
              <a:rPr sz="1200" spc="-1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pasó</a:t>
            </a:r>
            <a:r>
              <a:rPr sz="1200" spc="-15" dirty="0">
                <a:latin typeface="Verdana"/>
                <a:cs typeface="Verdana"/>
              </a:rPr>
              <a:t> </a:t>
            </a:r>
            <a:r>
              <a:rPr sz="1200" spc="-50" dirty="0">
                <a:latin typeface="Verdana"/>
                <a:cs typeface="Verdana"/>
              </a:rPr>
              <a:t>o</a:t>
            </a:r>
            <a:endParaRPr sz="1200">
              <a:latin typeface="Verdana"/>
              <a:cs typeface="Verdana"/>
            </a:endParaRPr>
          </a:p>
          <a:p>
            <a:pPr marL="73660">
              <a:lnSpc>
                <a:spcPct val="100000"/>
              </a:lnSpc>
            </a:pPr>
            <a:r>
              <a:rPr sz="1200" spc="-20" dirty="0">
                <a:latin typeface="Verdana"/>
                <a:cs typeface="Verdana"/>
              </a:rPr>
              <a:t>está</a:t>
            </a:r>
            <a:r>
              <a:rPr sz="1200" spc="-9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pasando?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993517" y="4185615"/>
            <a:ext cx="22288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Verdana"/>
                <a:cs typeface="Verdana"/>
              </a:rPr>
              <a:t>Gran</a:t>
            </a:r>
            <a:r>
              <a:rPr sz="1200" spc="-6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evaporación</a:t>
            </a:r>
            <a:r>
              <a:rPr sz="1200" spc="-6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de</a:t>
            </a:r>
            <a:r>
              <a:rPr sz="1200" spc="-5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fuentes</a:t>
            </a:r>
            <a:endParaRPr sz="1200">
              <a:latin typeface="Verdana"/>
              <a:cs typeface="Verdana"/>
            </a:endParaRPr>
          </a:p>
          <a:p>
            <a:pPr marL="24765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Verdana"/>
                <a:cs typeface="Verdana"/>
              </a:rPr>
              <a:t>hídricas</a:t>
            </a:r>
            <a:r>
              <a:rPr sz="1200" spc="-7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aledañas</a:t>
            </a:r>
            <a:r>
              <a:rPr sz="1200" spc="-6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e</a:t>
            </a:r>
            <a:r>
              <a:rPr sz="1200" spc="-7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inicio</a:t>
            </a:r>
            <a:r>
              <a:rPr sz="1200" spc="-65" dirty="0">
                <a:latin typeface="Verdana"/>
                <a:cs typeface="Verdana"/>
              </a:rPr>
              <a:t> </a:t>
            </a:r>
            <a:r>
              <a:rPr sz="1200" spc="-25" dirty="0">
                <a:latin typeface="Verdana"/>
                <a:cs typeface="Verdana"/>
              </a:rPr>
              <a:t>del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305936" y="4551933"/>
            <a:ext cx="16052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Verdana"/>
                <a:cs typeface="Verdana"/>
              </a:rPr>
              <a:t>fenómeno</a:t>
            </a:r>
            <a:r>
              <a:rPr sz="1200" spc="-1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de</a:t>
            </a:r>
            <a:r>
              <a:rPr sz="1200" spc="-10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la</a:t>
            </a:r>
            <a:r>
              <a:rPr sz="1200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niña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425444" y="6184798"/>
            <a:ext cx="48215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70" dirty="0">
                <a:solidFill>
                  <a:srgbClr val="2B3990"/>
                </a:solidFill>
                <a:latin typeface="Verdana"/>
                <a:cs typeface="Verdana"/>
              </a:rPr>
              <a:t>¡Todos</a:t>
            </a:r>
            <a:r>
              <a:rPr sz="2800" spc="-210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2800" dirty="0">
                <a:solidFill>
                  <a:srgbClr val="2B3990"/>
                </a:solidFill>
                <a:latin typeface="Verdana"/>
                <a:cs typeface="Verdana"/>
              </a:rPr>
              <a:t>lo</a:t>
            </a:r>
            <a:r>
              <a:rPr sz="2800" spc="-229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2800" spc="50" dirty="0">
                <a:solidFill>
                  <a:srgbClr val="2B3990"/>
                </a:solidFill>
                <a:latin typeface="Verdana"/>
                <a:cs typeface="Verdana"/>
              </a:rPr>
              <a:t>hacemos</a:t>
            </a:r>
            <a:r>
              <a:rPr sz="2800" spc="-210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2800" spc="-60" dirty="0">
                <a:solidFill>
                  <a:srgbClr val="2B3990"/>
                </a:solidFill>
                <a:latin typeface="Verdana"/>
                <a:cs typeface="Verdana"/>
              </a:rPr>
              <a:t>a</a:t>
            </a:r>
            <a:r>
              <a:rPr sz="2800" spc="-229" dirty="0">
                <a:solidFill>
                  <a:srgbClr val="2B3990"/>
                </a:solidFill>
                <a:latin typeface="Verdana"/>
                <a:cs typeface="Verdana"/>
              </a:rPr>
              <a:t> </a:t>
            </a:r>
            <a:r>
              <a:rPr sz="2800" spc="-30" dirty="0">
                <a:solidFill>
                  <a:srgbClr val="2B3990"/>
                </a:solidFill>
                <a:latin typeface="Verdana"/>
                <a:cs typeface="Verdana"/>
              </a:rPr>
              <a:t>diario!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5440" y="6116218"/>
            <a:ext cx="95637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Procesos</a:t>
            </a:r>
            <a:r>
              <a:rPr sz="1800" spc="-1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1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0030B8"/>
                </a:solidFill>
                <a:latin typeface="Verdana"/>
                <a:cs typeface="Verdana"/>
              </a:rPr>
              <a:t>análisis</a:t>
            </a:r>
            <a:r>
              <a:rPr sz="1800" spc="-1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0030B8"/>
                </a:solidFill>
                <a:latin typeface="Verdana"/>
                <a:cs typeface="Verdana"/>
              </a:rPr>
              <a:t>que</a:t>
            </a:r>
            <a:r>
              <a:rPr sz="18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0030B8"/>
                </a:solidFill>
                <a:latin typeface="Verdana"/>
                <a:cs typeface="Verdana"/>
              </a:rPr>
              <a:t>dan</a:t>
            </a:r>
            <a:r>
              <a:rPr sz="1800" spc="-1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respuesta</a:t>
            </a:r>
            <a:r>
              <a:rPr sz="1800" spc="-1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del</a:t>
            </a:r>
            <a:r>
              <a:rPr sz="1800" spc="-1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pasado</a:t>
            </a:r>
            <a:r>
              <a:rPr sz="1800" spc="-1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800" spc="-1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el</a:t>
            </a:r>
            <a:r>
              <a:rPr sz="1800" spc="-11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70" dirty="0">
                <a:solidFill>
                  <a:srgbClr val="0030B8"/>
                </a:solidFill>
                <a:latin typeface="Verdana"/>
                <a:cs typeface="Verdana"/>
              </a:rPr>
              <a:t>hoy,</a:t>
            </a:r>
            <a:r>
              <a:rPr sz="1800" spc="-1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para</a:t>
            </a:r>
            <a:r>
              <a:rPr sz="18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lo</a:t>
            </a:r>
            <a:r>
              <a:rPr sz="1800" spc="-11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cual</a:t>
            </a:r>
            <a:r>
              <a:rPr sz="1800" spc="-1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0030B8"/>
                </a:solidFill>
                <a:latin typeface="Verdana"/>
                <a:cs typeface="Verdana"/>
              </a:rPr>
              <a:t>se</a:t>
            </a:r>
            <a:r>
              <a:rPr sz="18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emplean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técnicas</a:t>
            </a:r>
            <a:r>
              <a:rPr sz="18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estadísticas</a:t>
            </a:r>
            <a:r>
              <a:rPr sz="18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8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inteligencia</a:t>
            </a:r>
            <a:r>
              <a:rPr sz="18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institucional.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083302" y="2039823"/>
            <a:ext cx="591375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pc="90" dirty="0"/>
              <a:t>Analítica</a:t>
            </a:r>
            <a:r>
              <a:rPr spc="-55" dirty="0"/>
              <a:t> </a:t>
            </a:r>
            <a:r>
              <a:rPr spc="100" dirty="0"/>
              <a:t>descriptiva</a:t>
            </a:r>
            <a:r>
              <a:rPr spc="-40" dirty="0"/>
              <a:t> </a:t>
            </a:r>
            <a:r>
              <a:rPr spc="15" dirty="0"/>
              <a:t>y </a:t>
            </a:r>
            <a:r>
              <a:rPr spc="105" dirty="0"/>
              <a:t>diagnóstica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083302" y="3414776"/>
            <a:ext cx="64865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2CDAFF"/>
                </a:solidFill>
                <a:latin typeface="Verdana"/>
                <a:cs typeface="Verdana"/>
              </a:rPr>
              <a:t>Respuesta</a:t>
            </a:r>
            <a:r>
              <a:rPr sz="2000" spc="-12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-30" dirty="0">
                <a:solidFill>
                  <a:srgbClr val="2CDAFF"/>
                </a:solidFill>
                <a:latin typeface="Verdana"/>
                <a:cs typeface="Verdana"/>
              </a:rPr>
              <a:t>a</a:t>
            </a:r>
            <a:r>
              <a:rPr sz="2000" spc="-105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CDAFF"/>
                </a:solidFill>
                <a:latin typeface="Verdana"/>
                <a:cs typeface="Verdana"/>
              </a:rPr>
              <a:t>preguntas</a:t>
            </a:r>
            <a:r>
              <a:rPr sz="2000" spc="-12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60" dirty="0">
                <a:solidFill>
                  <a:srgbClr val="2CDAFF"/>
                </a:solidFill>
                <a:latin typeface="Verdana"/>
                <a:cs typeface="Verdana"/>
              </a:rPr>
              <a:t>de</a:t>
            </a:r>
            <a:r>
              <a:rPr sz="2000" spc="-95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50" dirty="0">
                <a:solidFill>
                  <a:srgbClr val="2CDAFF"/>
                </a:solidFill>
                <a:latin typeface="Verdana"/>
                <a:cs typeface="Verdana"/>
              </a:rPr>
              <a:t>negocio</a:t>
            </a:r>
            <a:r>
              <a:rPr sz="2000" spc="-11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CDAFF"/>
                </a:solidFill>
                <a:latin typeface="Verdana"/>
                <a:cs typeface="Verdana"/>
              </a:rPr>
              <a:t>desde</a:t>
            </a:r>
            <a:r>
              <a:rPr sz="2000" spc="-11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2CDAFF"/>
                </a:solidFill>
                <a:latin typeface="Verdana"/>
                <a:cs typeface="Verdana"/>
              </a:rPr>
              <a:t>los</a:t>
            </a:r>
            <a:r>
              <a:rPr sz="2000" spc="-10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2CDAFF"/>
                </a:solidFill>
                <a:latin typeface="Verdana"/>
                <a:cs typeface="Verdana"/>
              </a:rPr>
              <a:t>datos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6901" y="4345051"/>
            <a:ext cx="7264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40" dirty="0">
                <a:solidFill>
                  <a:srgbClr val="3366C4"/>
                </a:solidFill>
                <a:latin typeface="Tahoma"/>
                <a:cs typeface="Tahoma"/>
              </a:rPr>
              <a:t>Datos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77795" y="4345051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450" dirty="0">
                <a:latin typeface="Tahoma"/>
                <a:cs typeface="Tahoma"/>
              </a:rPr>
              <a:t>+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6724" y="4919852"/>
            <a:ext cx="197612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635" algn="ctr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3366C4"/>
                </a:solidFill>
                <a:latin typeface="Verdana"/>
                <a:cs typeface="Verdana"/>
              </a:rPr>
              <a:t>Registro</a:t>
            </a:r>
            <a:r>
              <a:rPr sz="1100" spc="-85" dirty="0">
                <a:solidFill>
                  <a:srgbClr val="3366C4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366C4"/>
                </a:solidFill>
                <a:latin typeface="Verdana"/>
                <a:cs typeface="Verdana"/>
              </a:rPr>
              <a:t>de</a:t>
            </a:r>
            <a:r>
              <a:rPr sz="1100" spc="-30" dirty="0">
                <a:solidFill>
                  <a:srgbClr val="3366C4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3366C4"/>
                </a:solidFill>
                <a:latin typeface="Verdana"/>
                <a:cs typeface="Verdana"/>
              </a:rPr>
              <a:t>lluvias</a:t>
            </a:r>
            <a:r>
              <a:rPr sz="1100" spc="-60" dirty="0">
                <a:solidFill>
                  <a:srgbClr val="3366C4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366C4"/>
                </a:solidFill>
                <a:latin typeface="Verdana"/>
                <a:cs typeface="Verdana"/>
              </a:rPr>
              <a:t>por</a:t>
            </a:r>
            <a:r>
              <a:rPr sz="1100" spc="-40" dirty="0">
                <a:solidFill>
                  <a:srgbClr val="3366C4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3366C4"/>
                </a:solidFill>
                <a:latin typeface="Verdana"/>
                <a:cs typeface="Verdana"/>
              </a:rPr>
              <a:t>día </a:t>
            </a:r>
            <a:r>
              <a:rPr sz="1100" dirty="0">
                <a:solidFill>
                  <a:srgbClr val="3366C4"/>
                </a:solidFill>
                <a:latin typeface="Verdana"/>
                <a:cs typeface="Verdana"/>
              </a:rPr>
              <a:t>Registro</a:t>
            </a:r>
            <a:r>
              <a:rPr sz="1100" spc="-80" dirty="0">
                <a:solidFill>
                  <a:srgbClr val="3366C4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366C4"/>
                </a:solidFill>
                <a:latin typeface="Verdana"/>
                <a:cs typeface="Verdana"/>
              </a:rPr>
              <a:t>histórico</a:t>
            </a:r>
            <a:r>
              <a:rPr sz="1100" spc="-45" dirty="0">
                <a:solidFill>
                  <a:srgbClr val="3366C4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3366C4"/>
                </a:solidFill>
                <a:latin typeface="Verdana"/>
                <a:cs typeface="Verdana"/>
              </a:rPr>
              <a:t>de </a:t>
            </a:r>
            <a:r>
              <a:rPr sz="1100" dirty="0">
                <a:solidFill>
                  <a:srgbClr val="3366C4"/>
                </a:solidFill>
                <a:latin typeface="Verdana"/>
                <a:cs typeface="Verdana"/>
              </a:rPr>
              <a:t>temporadas</a:t>
            </a:r>
            <a:r>
              <a:rPr sz="1100" spc="-55" dirty="0">
                <a:solidFill>
                  <a:srgbClr val="3366C4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366C4"/>
                </a:solidFill>
                <a:latin typeface="Verdana"/>
                <a:cs typeface="Verdana"/>
              </a:rPr>
              <a:t>de</a:t>
            </a:r>
            <a:r>
              <a:rPr sz="1100" spc="-15" dirty="0">
                <a:solidFill>
                  <a:srgbClr val="3366C4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3366C4"/>
                </a:solidFill>
                <a:latin typeface="Verdana"/>
                <a:cs typeface="Verdana"/>
              </a:rPr>
              <a:t>lluvias</a:t>
            </a:r>
            <a:r>
              <a:rPr sz="1100" spc="-40" dirty="0">
                <a:solidFill>
                  <a:srgbClr val="3366C4"/>
                </a:solidFill>
                <a:latin typeface="Verdana"/>
                <a:cs typeface="Verdana"/>
              </a:rPr>
              <a:t> </a:t>
            </a:r>
            <a:r>
              <a:rPr sz="1100" spc="-50" dirty="0">
                <a:solidFill>
                  <a:srgbClr val="3366C4"/>
                </a:solidFill>
                <a:latin typeface="Verdana"/>
                <a:cs typeface="Verdana"/>
              </a:rPr>
              <a:t>y </a:t>
            </a:r>
            <a:r>
              <a:rPr sz="1100" dirty="0">
                <a:solidFill>
                  <a:srgbClr val="3366C4"/>
                </a:solidFill>
                <a:latin typeface="Verdana"/>
                <a:cs typeface="Verdana"/>
              </a:rPr>
              <a:t>fenómeno</a:t>
            </a:r>
            <a:r>
              <a:rPr sz="1100" spc="-60" dirty="0">
                <a:solidFill>
                  <a:srgbClr val="3366C4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366C4"/>
                </a:solidFill>
                <a:latin typeface="Verdana"/>
                <a:cs typeface="Verdana"/>
              </a:rPr>
              <a:t>del</a:t>
            </a:r>
            <a:r>
              <a:rPr sz="1100" spc="-15" dirty="0">
                <a:solidFill>
                  <a:srgbClr val="3366C4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366C4"/>
                </a:solidFill>
                <a:latin typeface="Verdana"/>
                <a:cs typeface="Verdana"/>
              </a:rPr>
              <a:t>niño</a:t>
            </a:r>
            <a:r>
              <a:rPr sz="1100" spc="-15" dirty="0">
                <a:solidFill>
                  <a:srgbClr val="3366C4"/>
                </a:solidFill>
                <a:latin typeface="Verdana"/>
                <a:cs typeface="Verdana"/>
              </a:rPr>
              <a:t> </a:t>
            </a:r>
            <a:r>
              <a:rPr sz="1100" spc="-60" dirty="0">
                <a:solidFill>
                  <a:srgbClr val="3366C4"/>
                </a:solidFill>
                <a:latin typeface="Verdana"/>
                <a:cs typeface="Verdana"/>
              </a:rPr>
              <a:t>y</a:t>
            </a:r>
            <a:r>
              <a:rPr sz="1100" spc="-15" dirty="0">
                <a:solidFill>
                  <a:srgbClr val="3366C4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366C4"/>
                </a:solidFill>
                <a:latin typeface="Verdana"/>
                <a:cs typeface="Verdana"/>
              </a:rPr>
              <a:t>la</a:t>
            </a:r>
            <a:r>
              <a:rPr sz="1100" spc="-20" dirty="0">
                <a:solidFill>
                  <a:srgbClr val="3366C4"/>
                </a:solidFill>
                <a:latin typeface="Verdana"/>
                <a:cs typeface="Verdana"/>
              </a:rPr>
              <a:t> niña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69869" y="4345051"/>
            <a:ext cx="2302510" cy="1375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52650" algn="l"/>
              </a:tabLst>
            </a:pPr>
            <a:r>
              <a:rPr sz="1800" b="1" spc="50" dirty="0">
                <a:latin typeface="Tahoma"/>
                <a:cs typeface="Tahoma"/>
              </a:rPr>
              <a:t>Procesamiento</a:t>
            </a:r>
            <a:r>
              <a:rPr sz="1800" b="1" dirty="0">
                <a:latin typeface="Tahoma"/>
                <a:cs typeface="Tahoma"/>
              </a:rPr>
              <a:t>	</a:t>
            </a:r>
            <a:r>
              <a:rPr sz="1800" b="1" spc="-450" dirty="0">
                <a:latin typeface="Tahoma"/>
                <a:cs typeface="Tahoma"/>
              </a:rPr>
              <a:t>=</a:t>
            </a:r>
            <a:endParaRPr sz="1800">
              <a:latin typeface="Tahoma"/>
              <a:cs typeface="Tahoma"/>
            </a:endParaRPr>
          </a:p>
          <a:p>
            <a:pPr marL="78740" marR="556260" algn="ctr">
              <a:lnSpc>
                <a:spcPct val="100000"/>
              </a:lnSpc>
              <a:spcBef>
                <a:spcPts val="1864"/>
              </a:spcBef>
            </a:pPr>
            <a:r>
              <a:rPr sz="1100" dirty="0">
                <a:latin typeface="Verdana"/>
                <a:cs typeface="Verdana"/>
              </a:rPr>
              <a:t>Cuadro</a:t>
            </a:r>
            <a:r>
              <a:rPr sz="1100" spc="-1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comparativo</a:t>
            </a:r>
            <a:r>
              <a:rPr sz="1100" spc="10" dirty="0">
                <a:latin typeface="Verdana"/>
                <a:cs typeface="Verdana"/>
              </a:rPr>
              <a:t> </a:t>
            </a:r>
            <a:r>
              <a:rPr sz="1100" spc="-25" dirty="0">
                <a:latin typeface="Verdana"/>
                <a:cs typeface="Verdana"/>
              </a:rPr>
              <a:t>de </a:t>
            </a:r>
            <a:r>
              <a:rPr sz="1100" spc="-10" dirty="0">
                <a:latin typeface="Verdana"/>
                <a:cs typeface="Verdana"/>
              </a:rPr>
              <a:t>lluvia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en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la</a:t>
            </a:r>
            <a:r>
              <a:rPr sz="1100" spc="-7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ciudad Análisis</a:t>
            </a:r>
            <a:r>
              <a:rPr sz="1100" spc="-3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de</a:t>
            </a:r>
            <a:r>
              <a:rPr sz="1100" spc="-4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tendencias, </a:t>
            </a:r>
            <a:r>
              <a:rPr sz="1100" dirty="0">
                <a:latin typeface="Verdana"/>
                <a:cs typeface="Verdana"/>
              </a:rPr>
              <a:t>cruce de</a:t>
            </a:r>
            <a:r>
              <a:rPr sz="1100" spc="35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información</a:t>
            </a:r>
            <a:r>
              <a:rPr sz="1100" spc="-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y </a:t>
            </a:r>
            <a:r>
              <a:rPr sz="1100" spc="-10" dirty="0">
                <a:latin typeface="Verdana"/>
                <a:cs typeface="Verdana"/>
              </a:rPr>
              <a:t>correlaciones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30315" y="4994528"/>
            <a:ext cx="1663700" cy="529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379292"/>
                </a:solidFill>
                <a:latin typeface="Verdana"/>
                <a:cs typeface="Verdana"/>
              </a:rPr>
              <a:t>En</a:t>
            </a:r>
            <a:r>
              <a:rPr sz="1100" spc="-60" dirty="0">
                <a:solidFill>
                  <a:srgbClr val="37929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9292"/>
                </a:solidFill>
                <a:latin typeface="Verdana"/>
                <a:cs typeface="Verdana"/>
              </a:rPr>
              <a:t>los</a:t>
            </a:r>
            <a:r>
              <a:rPr sz="1100" spc="-70" dirty="0">
                <a:solidFill>
                  <a:srgbClr val="37929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9292"/>
                </a:solidFill>
                <a:latin typeface="Verdana"/>
                <a:cs typeface="Verdana"/>
              </a:rPr>
              <a:t>últimos</a:t>
            </a:r>
            <a:r>
              <a:rPr sz="1100" spc="-80" dirty="0">
                <a:solidFill>
                  <a:srgbClr val="379292"/>
                </a:solidFill>
                <a:latin typeface="Verdana"/>
                <a:cs typeface="Verdana"/>
              </a:rPr>
              <a:t> </a:t>
            </a:r>
            <a:r>
              <a:rPr sz="1100" spc="-65" dirty="0">
                <a:solidFill>
                  <a:srgbClr val="379292"/>
                </a:solidFill>
                <a:latin typeface="Verdana"/>
                <a:cs typeface="Verdana"/>
              </a:rPr>
              <a:t>7</a:t>
            </a:r>
            <a:r>
              <a:rPr sz="1100" spc="-60" dirty="0">
                <a:solidFill>
                  <a:srgbClr val="37929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9292"/>
                </a:solidFill>
                <a:latin typeface="Verdana"/>
                <a:cs typeface="Verdana"/>
              </a:rPr>
              <a:t>días</a:t>
            </a:r>
            <a:r>
              <a:rPr sz="1100" spc="-50" dirty="0">
                <a:solidFill>
                  <a:srgbClr val="379292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379292"/>
                </a:solidFill>
                <a:latin typeface="Verdana"/>
                <a:cs typeface="Verdana"/>
              </a:rPr>
              <a:t>ha </a:t>
            </a:r>
            <a:r>
              <a:rPr sz="1100" dirty="0">
                <a:solidFill>
                  <a:srgbClr val="379292"/>
                </a:solidFill>
                <a:latin typeface="Verdana"/>
                <a:cs typeface="Verdana"/>
              </a:rPr>
              <a:t>llovido</a:t>
            </a:r>
            <a:r>
              <a:rPr sz="1100" spc="-80" dirty="0">
                <a:solidFill>
                  <a:srgbClr val="37929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9292"/>
                </a:solidFill>
                <a:latin typeface="Verdana"/>
                <a:cs typeface="Verdana"/>
              </a:rPr>
              <a:t>entre</a:t>
            </a:r>
            <a:r>
              <a:rPr sz="1100" spc="-80" dirty="0">
                <a:solidFill>
                  <a:srgbClr val="379292"/>
                </a:solidFill>
                <a:latin typeface="Verdana"/>
                <a:cs typeface="Verdana"/>
              </a:rPr>
              <a:t> </a:t>
            </a:r>
            <a:r>
              <a:rPr sz="1100" spc="-30" dirty="0">
                <a:solidFill>
                  <a:srgbClr val="379292"/>
                </a:solidFill>
                <a:latin typeface="Verdana"/>
                <a:cs typeface="Verdana"/>
              </a:rPr>
              <a:t>las</a:t>
            </a:r>
            <a:r>
              <a:rPr sz="1100" spc="-65" dirty="0">
                <a:solidFill>
                  <a:srgbClr val="37929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9292"/>
                </a:solidFill>
                <a:latin typeface="Verdana"/>
                <a:cs typeface="Verdana"/>
              </a:rPr>
              <a:t>8</a:t>
            </a:r>
            <a:r>
              <a:rPr sz="1100" spc="-80" dirty="0">
                <a:solidFill>
                  <a:srgbClr val="37929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9292"/>
                </a:solidFill>
                <a:latin typeface="Verdana"/>
                <a:cs typeface="Verdana"/>
              </a:rPr>
              <a:t>am</a:t>
            </a:r>
            <a:r>
              <a:rPr sz="1100" spc="-75" dirty="0">
                <a:solidFill>
                  <a:srgbClr val="379292"/>
                </a:solidFill>
                <a:latin typeface="Verdana"/>
                <a:cs typeface="Verdana"/>
              </a:rPr>
              <a:t> </a:t>
            </a:r>
            <a:r>
              <a:rPr sz="1100" spc="-50" dirty="0">
                <a:solidFill>
                  <a:srgbClr val="379292"/>
                </a:solidFill>
                <a:latin typeface="Verdana"/>
                <a:cs typeface="Verdana"/>
              </a:rPr>
              <a:t>y </a:t>
            </a:r>
            <a:r>
              <a:rPr sz="1100" spc="-305" dirty="0">
                <a:solidFill>
                  <a:srgbClr val="379292"/>
                </a:solidFill>
                <a:latin typeface="Verdana"/>
                <a:cs typeface="Verdana"/>
              </a:rPr>
              <a:t>11</a:t>
            </a:r>
            <a:r>
              <a:rPr sz="1100" spc="-95" dirty="0">
                <a:solidFill>
                  <a:srgbClr val="379292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379292"/>
                </a:solidFill>
                <a:latin typeface="Verdana"/>
                <a:cs typeface="Verdana"/>
              </a:rPr>
              <a:t>am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79338" y="4206620"/>
            <a:ext cx="16268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35255">
              <a:lnSpc>
                <a:spcPct val="100000"/>
              </a:lnSpc>
              <a:spcBef>
                <a:spcPts val="100"/>
              </a:spcBef>
            </a:pPr>
            <a:r>
              <a:rPr sz="1800" b="1" spc="80" dirty="0">
                <a:solidFill>
                  <a:srgbClr val="379292"/>
                </a:solidFill>
                <a:latin typeface="Tahoma"/>
                <a:cs typeface="Tahoma"/>
              </a:rPr>
              <a:t>Qué</a:t>
            </a:r>
            <a:r>
              <a:rPr sz="1800" b="1" spc="5" dirty="0">
                <a:solidFill>
                  <a:srgbClr val="379292"/>
                </a:solidFill>
                <a:latin typeface="Tahoma"/>
                <a:cs typeface="Tahoma"/>
              </a:rPr>
              <a:t> </a:t>
            </a:r>
            <a:r>
              <a:rPr sz="1800" b="1" spc="50" dirty="0">
                <a:solidFill>
                  <a:srgbClr val="379292"/>
                </a:solidFill>
                <a:latin typeface="Tahoma"/>
                <a:cs typeface="Tahoma"/>
              </a:rPr>
              <a:t>pasó</a:t>
            </a:r>
            <a:r>
              <a:rPr sz="1800" b="1" spc="-40" dirty="0">
                <a:solidFill>
                  <a:srgbClr val="379292"/>
                </a:solidFill>
                <a:latin typeface="Tahoma"/>
                <a:cs typeface="Tahoma"/>
              </a:rPr>
              <a:t> </a:t>
            </a:r>
            <a:r>
              <a:rPr sz="1800" b="1" spc="-50" dirty="0">
                <a:solidFill>
                  <a:srgbClr val="379292"/>
                </a:solidFill>
                <a:latin typeface="Tahoma"/>
                <a:cs typeface="Tahoma"/>
              </a:rPr>
              <a:t>y </a:t>
            </a:r>
            <a:r>
              <a:rPr sz="1800" b="1" dirty="0">
                <a:solidFill>
                  <a:srgbClr val="379292"/>
                </a:solidFill>
                <a:latin typeface="Tahoma"/>
                <a:cs typeface="Tahoma"/>
              </a:rPr>
              <a:t>esta</a:t>
            </a:r>
            <a:r>
              <a:rPr sz="1800" b="1" spc="114" dirty="0">
                <a:solidFill>
                  <a:srgbClr val="379292"/>
                </a:solidFill>
                <a:latin typeface="Tahoma"/>
                <a:cs typeface="Tahoma"/>
              </a:rPr>
              <a:t> </a:t>
            </a:r>
            <a:r>
              <a:rPr sz="1800" b="1" spc="50" dirty="0">
                <a:solidFill>
                  <a:srgbClr val="379292"/>
                </a:solidFill>
                <a:latin typeface="Tahoma"/>
                <a:cs typeface="Tahoma"/>
              </a:rPr>
              <a:t>pasando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82102" y="4212463"/>
            <a:ext cx="1925320" cy="1479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 algn="ctr">
              <a:lnSpc>
                <a:spcPct val="100000"/>
              </a:lnSpc>
              <a:spcBef>
                <a:spcPts val="100"/>
              </a:spcBef>
            </a:pPr>
            <a:r>
              <a:rPr sz="1800" b="1" spc="60" dirty="0">
                <a:solidFill>
                  <a:srgbClr val="379292"/>
                </a:solidFill>
                <a:latin typeface="Tahoma"/>
                <a:cs typeface="Tahoma"/>
              </a:rPr>
              <a:t>Por</a:t>
            </a:r>
            <a:r>
              <a:rPr sz="1800" b="1" spc="-5" dirty="0">
                <a:solidFill>
                  <a:srgbClr val="379292"/>
                </a:solidFill>
                <a:latin typeface="Tahoma"/>
                <a:cs typeface="Tahoma"/>
              </a:rPr>
              <a:t> </a:t>
            </a:r>
            <a:r>
              <a:rPr sz="1800" b="1" spc="75" dirty="0">
                <a:solidFill>
                  <a:srgbClr val="379292"/>
                </a:solidFill>
                <a:latin typeface="Tahoma"/>
                <a:cs typeface="Tahoma"/>
              </a:rPr>
              <a:t>qué</a:t>
            </a:r>
            <a:r>
              <a:rPr sz="1800" b="1" spc="-20" dirty="0">
                <a:solidFill>
                  <a:srgbClr val="379292"/>
                </a:solidFill>
                <a:latin typeface="Tahoma"/>
                <a:cs typeface="Tahoma"/>
              </a:rPr>
              <a:t> </a:t>
            </a:r>
            <a:r>
              <a:rPr sz="1800" b="1" spc="55" dirty="0">
                <a:solidFill>
                  <a:srgbClr val="379292"/>
                </a:solidFill>
                <a:latin typeface="Tahoma"/>
                <a:cs typeface="Tahoma"/>
              </a:rPr>
              <a:t>pasó</a:t>
            </a:r>
            <a:r>
              <a:rPr sz="1800" b="1" spc="-30" dirty="0">
                <a:solidFill>
                  <a:srgbClr val="379292"/>
                </a:solidFill>
                <a:latin typeface="Tahoma"/>
                <a:cs typeface="Tahoma"/>
              </a:rPr>
              <a:t> </a:t>
            </a:r>
            <a:r>
              <a:rPr sz="1800" b="1" spc="-50" dirty="0">
                <a:solidFill>
                  <a:srgbClr val="379292"/>
                </a:solidFill>
                <a:latin typeface="Tahoma"/>
                <a:cs typeface="Tahoma"/>
              </a:rPr>
              <a:t>y</a:t>
            </a:r>
            <a:endParaRPr sz="1800">
              <a:latin typeface="Tahoma"/>
              <a:cs typeface="Tahoma"/>
            </a:endParaRPr>
          </a:p>
          <a:p>
            <a:pPr marL="25400" algn="ctr">
              <a:lnSpc>
                <a:spcPct val="100000"/>
              </a:lnSpc>
            </a:pPr>
            <a:r>
              <a:rPr sz="1800" b="1" dirty="0">
                <a:solidFill>
                  <a:srgbClr val="379292"/>
                </a:solidFill>
                <a:latin typeface="Tahoma"/>
                <a:cs typeface="Tahoma"/>
              </a:rPr>
              <a:t>esta</a:t>
            </a:r>
            <a:r>
              <a:rPr sz="1800" b="1" spc="105" dirty="0">
                <a:solidFill>
                  <a:srgbClr val="379292"/>
                </a:solidFill>
                <a:latin typeface="Tahoma"/>
                <a:cs typeface="Tahoma"/>
              </a:rPr>
              <a:t> </a:t>
            </a:r>
            <a:r>
              <a:rPr sz="1800" b="1" spc="55" dirty="0">
                <a:solidFill>
                  <a:srgbClr val="379292"/>
                </a:solidFill>
                <a:latin typeface="Tahoma"/>
                <a:cs typeface="Tahoma"/>
              </a:rPr>
              <a:t>pasando</a:t>
            </a:r>
            <a:endParaRPr sz="1800">
              <a:latin typeface="Tahoma"/>
              <a:cs typeface="Tahoma"/>
            </a:endParaRPr>
          </a:p>
          <a:p>
            <a:pPr marL="12700" marR="5080" indent="1270" algn="ctr">
              <a:lnSpc>
                <a:spcPct val="100000"/>
              </a:lnSpc>
              <a:spcBef>
                <a:spcPts val="1839"/>
              </a:spcBef>
            </a:pPr>
            <a:r>
              <a:rPr sz="1100" dirty="0">
                <a:solidFill>
                  <a:srgbClr val="379292"/>
                </a:solidFill>
                <a:latin typeface="Verdana"/>
                <a:cs typeface="Verdana"/>
              </a:rPr>
              <a:t>Debido</a:t>
            </a:r>
            <a:r>
              <a:rPr sz="1100" spc="-25" dirty="0">
                <a:solidFill>
                  <a:srgbClr val="379292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379292"/>
                </a:solidFill>
                <a:latin typeface="Verdana"/>
                <a:cs typeface="Verdana"/>
              </a:rPr>
              <a:t>a</a:t>
            </a:r>
            <a:r>
              <a:rPr sz="1100" dirty="0">
                <a:solidFill>
                  <a:srgbClr val="379292"/>
                </a:solidFill>
                <a:latin typeface="Verdana"/>
                <a:cs typeface="Verdana"/>
              </a:rPr>
              <a:t> una</a:t>
            </a:r>
            <a:r>
              <a:rPr sz="1100" spc="-10" dirty="0">
                <a:solidFill>
                  <a:srgbClr val="379292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379292"/>
                </a:solidFill>
                <a:latin typeface="Verdana"/>
                <a:cs typeface="Verdana"/>
              </a:rPr>
              <a:t>gran </a:t>
            </a:r>
            <a:r>
              <a:rPr sz="1100" dirty="0">
                <a:solidFill>
                  <a:srgbClr val="379292"/>
                </a:solidFill>
                <a:latin typeface="Verdana"/>
                <a:cs typeface="Verdana"/>
              </a:rPr>
              <a:t>evaporación</a:t>
            </a:r>
            <a:r>
              <a:rPr sz="1100" spc="-50" dirty="0">
                <a:solidFill>
                  <a:srgbClr val="37929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9292"/>
                </a:solidFill>
                <a:latin typeface="Verdana"/>
                <a:cs typeface="Verdana"/>
              </a:rPr>
              <a:t>de</a:t>
            </a:r>
            <a:r>
              <a:rPr sz="1100" spc="-35" dirty="0">
                <a:solidFill>
                  <a:srgbClr val="37929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9292"/>
                </a:solidFill>
                <a:latin typeface="Verdana"/>
                <a:cs typeface="Verdana"/>
              </a:rPr>
              <a:t>fuentes </a:t>
            </a:r>
            <a:r>
              <a:rPr sz="1100" dirty="0">
                <a:solidFill>
                  <a:srgbClr val="379292"/>
                </a:solidFill>
                <a:latin typeface="Verdana"/>
                <a:cs typeface="Verdana"/>
              </a:rPr>
              <a:t>hídricas</a:t>
            </a:r>
            <a:r>
              <a:rPr sz="1100" spc="-75" dirty="0">
                <a:solidFill>
                  <a:srgbClr val="37929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9292"/>
                </a:solidFill>
                <a:latin typeface="Verdana"/>
                <a:cs typeface="Verdana"/>
              </a:rPr>
              <a:t>cercanas</a:t>
            </a:r>
            <a:r>
              <a:rPr sz="1100" spc="-75" dirty="0">
                <a:solidFill>
                  <a:srgbClr val="379292"/>
                </a:solidFill>
                <a:latin typeface="Verdana"/>
                <a:cs typeface="Verdana"/>
              </a:rPr>
              <a:t> </a:t>
            </a:r>
            <a:r>
              <a:rPr sz="1100" spc="-60" dirty="0">
                <a:solidFill>
                  <a:srgbClr val="379292"/>
                </a:solidFill>
                <a:latin typeface="Verdana"/>
                <a:cs typeface="Verdana"/>
              </a:rPr>
              <a:t>y</a:t>
            </a:r>
            <a:r>
              <a:rPr sz="1100" spc="-75" dirty="0">
                <a:solidFill>
                  <a:srgbClr val="37929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9292"/>
                </a:solidFill>
                <a:latin typeface="Verdana"/>
                <a:cs typeface="Verdana"/>
              </a:rPr>
              <a:t>el</a:t>
            </a:r>
            <a:r>
              <a:rPr sz="1100" spc="-85" dirty="0">
                <a:solidFill>
                  <a:srgbClr val="37929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9292"/>
                </a:solidFill>
                <a:latin typeface="Verdana"/>
                <a:cs typeface="Verdana"/>
              </a:rPr>
              <a:t>inicio </a:t>
            </a:r>
            <a:r>
              <a:rPr sz="1100" dirty="0">
                <a:solidFill>
                  <a:srgbClr val="379292"/>
                </a:solidFill>
                <a:latin typeface="Verdana"/>
                <a:cs typeface="Verdana"/>
              </a:rPr>
              <a:t>del</a:t>
            </a:r>
            <a:r>
              <a:rPr sz="1100" spc="-15" dirty="0">
                <a:solidFill>
                  <a:srgbClr val="37929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9292"/>
                </a:solidFill>
                <a:latin typeface="Verdana"/>
                <a:cs typeface="Verdana"/>
              </a:rPr>
              <a:t>fenómeno</a:t>
            </a:r>
            <a:r>
              <a:rPr sz="1100" spc="-55" dirty="0">
                <a:solidFill>
                  <a:srgbClr val="37929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9292"/>
                </a:solidFill>
                <a:latin typeface="Verdana"/>
                <a:cs typeface="Verdana"/>
              </a:rPr>
              <a:t>de</a:t>
            </a:r>
            <a:r>
              <a:rPr sz="1100" spc="-25" dirty="0">
                <a:solidFill>
                  <a:srgbClr val="37929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9292"/>
                </a:solidFill>
                <a:latin typeface="Verdana"/>
                <a:cs typeface="Verdana"/>
              </a:rPr>
              <a:t>la</a:t>
            </a:r>
            <a:r>
              <a:rPr sz="1100" spc="5" dirty="0">
                <a:solidFill>
                  <a:srgbClr val="379292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379292"/>
                </a:solidFill>
                <a:latin typeface="Verdana"/>
                <a:cs typeface="Verdana"/>
              </a:rPr>
              <a:t>niña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06690" y="4360545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450" dirty="0">
                <a:latin typeface="Tahoma"/>
                <a:cs typeface="Tahoma"/>
              </a:rPr>
              <a:t>+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987552" y="3055620"/>
            <a:ext cx="3660775" cy="1030605"/>
            <a:chOff x="987552" y="3055620"/>
            <a:chExt cx="3660775" cy="103060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7552" y="3055620"/>
              <a:ext cx="1031747" cy="103022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17975" y="3055620"/>
              <a:ext cx="1030224" cy="10302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083302" y="2400680"/>
            <a:ext cx="591439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pc="95" dirty="0"/>
              <a:t>Analítica</a:t>
            </a:r>
            <a:r>
              <a:rPr spc="-40" dirty="0"/>
              <a:t> </a:t>
            </a:r>
            <a:r>
              <a:rPr spc="100" dirty="0"/>
              <a:t>descriptiva</a:t>
            </a:r>
            <a:r>
              <a:rPr spc="-20" dirty="0"/>
              <a:t> </a:t>
            </a:r>
            <a:r>
              <a:rPr spc="15" dirty="0"/>
              <a:t>y </a:t>
            </a:r>
            <a:r>
              <a:rPr spc="105" dirty="0"/>
              <a:t>diagnóstica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83302" y="3775328"/>
            <a:ext cx="3629660" cy="2671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5" dirty="0">
                <a:solidFill>
                  <a:srgbClr val="2CDAFF"/>
                </a:solidFill>
                <a:latin typeface="Verdana"/>
                <a:cs typeface="Verdana"/>
              </a:rPr>
              <a:t>¡A</a:t>
            </a:r>
            <a:r>
              <a:rPr sz="2000" spc="-11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CDAFF"/>
                </a:solidFill>
                <a:latin typeface="Verdana"/>
                <a:cs typeface="Verdana"/>
              </a:rPr>
              <a:t>tener</a:t>
            </a:r>
            <a:r>
              <a:rPr sz="2000" spc="-11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CDAFF"/>
                </a:solidFill>
                <a:latin typeface="Verdana"/>
                <a:cs typeface="Verdana"/>
              </a:rPr>
              <a:t>en</a:t>
            </a:r>
            <a:r>
              <a:rPr sz="2000" spc="-114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2CDAFF"/>
                </a:solidFill>
                <a:latin typeface="Verdana"/>
                <a:cs typeface="Verdana"/>
              </a:rPr>
              <a:t>cuenta!</a:t>
            </a:r>
            <a:endParaRPr sz="2000">
              <a:latin typeface="Verdana"/>
              <a:cs typeface="Verdana"/>
            </a:endParaRPr>
          </a:p>
          <a:p>
            <a:pPr marL="459740" indent="-286385">
              <a:lnSpc>
                <a:spcPct val="100000"/>
              </a:lnSpc>
              <a:spcBef>
                <a:spcPts val="2230"/>
              </a:spcBef>
              <a:buClr>
                <a:srgbClr val="2CDAFF"/>
              </a:buClr>
              <a:buFont typeface="Courier New"/>
              <a:buChar char="o"/>
              <a:tabLst>
                <a:tab pos="459740" algn="l"/>
              </a:tabLst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Tipo</a:t>
            </a:r>
            <a:r>
              <a:rPr sz="15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Datos</a:t>
            </a:r>
            <a:endParaRPr sz="1500">
              <a:latin typeface="Verdana"/>
              <a:cs typeface="Verdana"/>
            </a:endParaRPr>
          </a:p>
          <a:p>
            <a:pPr marL="459740" indent="-286385">
              <a:lnSpc>
                <a:spcPct val="100000"/>
              </a:lnSpc>
              <a:buClr>
                <a:srgbClr val="2CDAFF"/>
              </a:buClr>
              <a:buFont typeface="Courier New"/>
              <a:buChar char="o"/>
              <a:tabLst>
                <a:tab pos="459740" algn="l"/>
              </a:tabLst>
            </a:pP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Estacionalidad</a:t>
            </a:r>
            <a:endParaRPr sz="1500">
              <a:latin typeface="Verdana"/>
              <a:cs typeface="Verdana"/>
            </a:endParaRPr>
          </a:p>
          <a:p>
            <a:pPr marL="459740" indent="-286385">
              <a:lnSpc>
                <a:spcPct val="100000"/>
              </a:lnSpc>
              <a:buClr>
                <a:srgbClr val="2CDAFF"/>
              </a:buClr>
              <a:buFont typeface="Courier New"/>
              <a:buChar char="o"/>
              <a:tabLst>
                <a:tab pos="459740" algn="l"/>
              </a:tabLst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Causalidad</a:t>
            </a:r>
            <a:r>
              <a:rPr sz="1500" spc="-1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Correlación</a:t>
            </a:r>
            <a:endParaRPr sz="1500">
              <a:latin typeface="Verdana"/>
              <a:cs typeface="Verdana"/>
            </a:endParaRPr>
          </a:p>
          <a:p>
            <a:pPr marL="459105" indent="-285750">
              <a:lnSpc>
                <a:spcPct val="100000"/>
              </a:lnSpc>
              <a:buClr>
                <a:srgbClr val="2CDAFF"/>
              </a:buClr>
              <a:buFont typeface="Courier New"/>
              <a:buChar char="o"/>
              <a:tabLst>
                <a:tab pos="459105" algn="l"/>
              </a:tabLst>
            </a:pP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Propósito,</a:t>
            </a:r>
            <a:r>
              <a:rPr sz="1500" spc="-11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proceso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acción</a:t>
            </a:r>
            <a:endParaRPr sz="1500">
              <a:latin typeface="Verdana"/>
              <a:cs typeface="Verdana"/>
            </a:endParaRPr>
          </a:p>
          <a:p>
            <a:pPr marL="459740" indent="-286385">
              <a:lnSpc>
                <a:spcPct val="100000"/>
              </a:lnSpc>
              <a:buClr>
                <a:srgbClr val="2CDAFF"/>
              </a:buClr>
              <a:buFont typeface="Courier New"/>
              <a:buChar char="o"/>
              <a:tabLst>
                <a:tab pos="459740" algn="l"/>
              </a:tabLst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Cómo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apoya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mis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procesos</a:t>
            </a:r>
            <a:endParaRPr sz="1500">
              <a:latin typeface="Verdana"/>
              <a:cs typeface="Verdana"/>
            </a:endParaRPr>
          </a:p>
          <a:p>
            <a:pPr marL="459740" indent="-286385">
              <a:lnSpc>
                <a:spcPct val="100000"/>
              </a:lnSpc>
              <a:buClr>
                <a:srgbClr val="2CDAFF"/>
              </a:buClr>
              <a:buFont typeface="Courier New"/>
              <a:buChar char="o"/>
              <a:tabLst>
                <a:tab pos="459740" algn="l"/>
              </a:tabLst>
            </a:pP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KPIs</a:t>
            </a:r>
            <a:endParaRPr sz="1500">
              <a:latin typeface="Verdana"/>
              <a:cs typeface="Verdana"/>
            </a:endParaRPr>
          </a:p>
          <a:p>
            <a:pPr marL="459740" indent="-286385">
              <a:lnSpc>
                <a:spcPct val="100000"/>
              </a:lnSpc>
              <a:buClr>
                <a:srgbClr val="2CDAFF"/>
              </a:buClr>
              <a:buFont typeface="Courier New"/>
              <a:buChar char="o"/>
              <a:tabLst>
                <a:tab pos="459740" algn="l"/>
              </a:tabLst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Gestión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gobierno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datos</a:t>
            </a:r>
            <a:endParaRPr sz="1500">
              <a:latin typeface="Verdana"/>
              <a:cs typeface="Verdana"/>
            </a:endParaRPr>
          </a:p>
          <a:p>
            <a:pPr marL="459740" indent="-286385">
              <a:lnSpc>
                <a:spcPct val="100000"/>
              </a:lnSpc>
              <a:buClr>
                <a:srgbClr val="2CDAFF"/>
              </a:buClr>
              <a:buFont typeface="Courier New"/>
              <a:buChar char="o"/>
              <a:tabLst>
                <a:tab pos="459740" algn="l"/>
              </a:tabLst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Retroalimentación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a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 los</a:t>
            </a:r>
            <a:r>
              <a:rPr sz="1500" spc="-1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procesos</a:t>
            </a:r>
            <a:endParaRPr sz="1500">
              <a:latin typeface="Verdana"/>
              <a:cs typeface="Verdana"/>
            </a:endParaRPr>
          </a:p>
          <a:p>
            <a:pPr marL="459740" indent="-286385">
              <a:lnSpc>
                <a:spcPct val="100000"/>
              </a:lnSpc>
              <a:buClr>
                <a:srgbClr val="2CDAFF"/>
              </a:buClr>
              <a:buFont typeface="Courier New"/>
              <a:buChar char="o"/>
              <a:tabLst>
                <a:tab pos="459740" algn="l"/>
              </a:tabLst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Entendimiento</a:t>
            </a:r>
            <a:r>
              <a:rPr sz="15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más</a:t>
            </a:r>
            <a:r>
              <a:rPr sz="1500" spc="1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allá</a:t>
            </a:r>
            <a:r>
              <a:rPr sz="1500" spc="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del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dato</a:t>
            </a:r>
            <a:endParaRPr sz="15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3044" y="2464307"/>
            <a:ext cx="3749039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5440" y="6116218"/>
            <a:ext cx="94653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Procesos</a:t>
            </a:r>
            <a:r>
              <a:rPr sz="18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0030B8"/>
                </a:solidFill>
                <a:latin typeface="Verdana"/>
                <a:cs typeface="Verdana"/>
              </a:rPr>
              <a:t>análisis</a:t>
            </a:r>
            <a:r>
              <a:rPr sz="18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0030B8"/>
                </a:solidFill>
                <a:latin typeface="Verdana"/>
                <a:cs typeface="Verdana"/>
              </a:rPr>
              <a:t>que</a:t>
            </a:r>
            <a:r>
              <a:rPr sz="18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0030B8"/>
                </a:solidFill>
                <a:latin typeface="Verdana"/>
                <a:cs typeface="Verdana"/>
              </a:rPr>
              <a:t>dan</a:t>
            </a:r>
            <a:r>
              <a:rPr sz="18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respuesta</a:t>
            </a:r>
            <a:r>
              <a:rPr sz="18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0030B8"/>
                </a:solidFill>
                <a:latin typeface="Verdana"/>
                <a:cs typeface="Verdana"/>
              </a:rPr>
              <a:t>futuro,</a:t>
            </a:r>
            <a:r>
              <a:rPr sz="18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para</a:t>
            </a:r>
            <a:r>
              <a:rPr sz="18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lo</a:t>
            </a:r>
            <a:r>
              <a:rPr sz="18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cual</a:t>
            </a:r>
            <a:r>
              <a:rPr sz="18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0030B8"/>
                </a:solidFill>
                <a:latin typeface="Verdana"/>
                <a:cs typeface="Verdana"/>
              </a:rPr>
              <a:t>se</a:t>
            </a:r>
            <a:r>
              <a:rPr sz="18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emplean</a:t>
            </a:r>
            <a:r>
              <a:rPr sz="18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técnicas </a:t>
            </a:r>
            <a:r>
              <a:rPr sz="1800" spc="-35" dirty="0">
                <a:solidFill>
                  <a:srgbClr val="0030B8"/>
                </a:solidFill>
                <a:latin typeface="Verdana"/>
                <a:cs typeface="Verdana"/>
              </a:rPr>
              <a:t>estadísticas,</a:t>
            </a:r>
            <a:r>
              <a:rPr sz="18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matemáticas</a:t>
            </a:r>
            <a:r>
              <a:rPr sz="1800" spc="-105" dirty="0">
                <a:solidFill>
                  <a:srgbClr val="0030B8"/>
                </a:solidFill>
                <a:latin typeface="Verdana"/>
                <a:cs typeface="Verdana"/>
              </a:rPr>
              <a:t> y</a:t>
            </a:r>
            <a:r>
              <a:rPr sz="18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Inteligencia</a:t>
            </a:r>
            <a:r>
              <a:rPr sz="18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Artificial.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95" dirty="0"/>
              <a:t>Analítica</a:t>
            </a:r>
            <a:r>
              <a:rPr spc="-40" dirty="0"/>
              <a:t> </a:t>
            </a:r>
            <a:r>
              <a:rPr spc="90" dirty="0"/>
              <a:t>predictiva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073777" y="2459482"/>
            <a:ext cx="63588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2CDAFF"/>
                </a:solidFill>
                <a:latin typeface="Verdana"/>
                <a:cs typeface="Verdana"/>
              </a:rPr>
              <a:t>Los</a:t>
            </a:r>
            <a:r>
              <a:rPr sz="2000" spc="-13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CDAFF"/>
                </a:solidFill>
                <a:latin typeface="Verdana"/>
                <a:cs typeface="Verdana"/>
              </a:rPr>
              <a:t>datos</a:t>
            </a:r>
            <a:r>
              <a:rPr sz="2000" spc="-145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CDAFF"/>
                </a:solidFill>
                <a:latin typeface="Verdana"/>
                <a:cs typeface="Verdana"/>
              </a:rPr>
              <a:t>históricos</a:t>
            </a:r>
            <a:r>
              <a:rPr sz="2000" spc="-155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2CDAFF"/>
                </a:solidFill>
                <a:latin typeface="Verdana"/>
                <a:cs typeface="Verdana"/>
              </a:rPr>
              <a:t>al</a:t>
            </a:r>
            <a:r>
              <a:rPr sz="2000" spc="-11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solidFill>
                  <a:srgbClr val="2CDAFF"/>
                </a:solidFill>
                <a:latin typeface="Verdana"/>
                <a:cs typeface="Verdana"/>
              </a:rPr>
              <a:t>servicio</a:t>
            </a:r>
            <a:r>
              <a:rPr sz="2000" spc="-15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CDAFF"/>
                </a:solidFill>
                <a:latin typeface="Verdana"/>
                <a:cs typeface="Verdana"/>
              </a:rPr>
              <a:t>del</a:t>
            </a:r>
            <a:r>
              <a:rPr sz="2000" spc="-10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CDAFF"/>
                </a:solidFill>
                <a:latin typeface="Verdana"/>
                <a:cs typeface="Verdana"/>
              </a:rPr>
              <a:t>futuro</a:t>
            </a:r>
            <a:r>
              <a:rPr sz="2000" spc="-125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2CDAFF"/>
                </a:solidFill>
                <a:latin typeface="Verdana"/>
                <a:cs typeface="Verdana"/>
              </a:rPr>
              <a:t>probable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48052" y="4695190"/>
            <a:ext cx="7264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40" dirty="0">
                <a:solidFill>
                  <a:srgbClr val="3366C4"/>
                </a:solidFill>
                <a:latin typeface="Tahoma"/>
                <a:cs typeface="Tahoma"/>
              </a:rPr>
              <a:t>Datos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58921" y="4695190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450" dirty="0">
                <a:latin typeface="Tahoma"/>
                <a:cs typeface="Tahoma"/>
              </a:rPr>
              <a:t>+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62454" y="5270119"/>
            <a:ext cx="114554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3366C4"/>
                </a:solidFill>
                <a:latin typeface="Trebuchet MS"/>
                <a:cs typeface="Trebuchet MS"/>
              </a:rPr>
              <a:t>Ayer</a:t>
            </a:r>
            <a:r>
              <a:rPr sz="1100" spc="90" dirty="0">
                <a:solidFill>
                  <a:srgbClr val="3366C4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3366C4"/>
                </a:solidFill>
                <a:latin typeface="Trebuchet MS"/>
                <a:cs typeface="Trebuchet MS"/>
              </a:rPr>
              <a:t>y</a:t>
            </a:r>
            <a:r>
              <a:rPr sz="1100" spc="100" dirty="0">
                <a:solidFill>
                  <a:srgbClr val="3366C4"/>
                </a:solidFill>
                <a:latin typeface="Trebuchet MS"/>
                <a:cs typeface="Trebuchet MS"/>
              </a:rPr>
              <a:t> </a:t>
            </a:r>
            <a:r>
              <a:rPr sz="1100" spc="60" dirty="0">
                <a:solidFill>
                  <a:srgbClr val="3366C4"/>
                </a:solidFill>
                <a:latin typeface="Trebuchet MS"/>
                <a:cs typeface="Trebuchet MS"/>
              </a:rPr>
              <a:t>hoy</a:t>
            </a:r>
            <a:r>
              <a:rPr sz="1100" spc="95" dirty="0">
                <a:solidFill>
                  <a:srgbClr val="3366C4"/>
                </a:solidFill>
                <a:latin typeface="Trebuchet MS"/>
                <a:cs typeface="Trebuchet MS"/>
              </a:rPr>
              <a:t> </a:t>
            </a:r>
            <a:r>
              <a:rPr sz="1100" spc="-10" dirty="0">
                <a:solidFill>
                  <a:srgbClr val="3366C4"/>
                </a:solidFill>
                <a:latin typeface="Trebuchet MS"/>
                <a:cs typeface="Trebuchet MS"/>
              </a:rPr>
              <a:t>llovió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51223" y="4695190"/>
            <a:ext cx="2305685" cy="872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55190" algn="l"/>
              </a:tabLst>
            </a:pPr>
            <a:r>
              <a:rPr sz="1800" b="1" spc="50" dirty="0">
                <a:latin typeface="Tahoma"/>
                <a:cs typeface="Tahoma"/>
              </a:rPr>
              <a:t>Procesamiento</a:t>
            </a:r>
            <a:r>
              <a:rPr sz="1800" b="1" dirty="0">
                <a:latin typeface="Tahoma"/>
                <a:cs typeface="Tahoma"/>
              </a:rPr>
              <a:t>	</a:t>
            </a:r>
            <a:r>
              <a:rPr sz="1800" b="1" spc="-450" dirty="0">
                <a:latin typeface="Tahoma"/>
                <a:cs typeface="Tahoma"/>
              </a:rPr>
              <a:t>=</a:t>
            </a:r>
            <a:endParaRPr sz="1800">
              <a:latin typeface="Tahoma"/>
              <a:cs typeface="Tahoma"/>
            </a:endParaRPr>
          </a:p>
          <a:p>
            <a:pPr marL="532765" marR="556260" indent="-459105">
              <a:lnSpc>
                <a:spcPct val="100000"/>
              </a:lnSpc>
              <a:spcBef>
                <a:spcPts val="1870"/>
              </a:spcBef>
            </a:pPr>
            <a:r>
              <a:rPr sz="1100" dirty="0">
                <a:latin typeface="Verdana"/>
                <a:cs typeface="Verdana"/>
              </a:rPr>
              <a:t>P(mañana</a:t>
            </a:r>
            <a:r>
              <a:rPr sz="1100" spc="-7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llueva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175" dirty="0">
                <a:latin typeface="Verdana"/>
                <a:cs typeface="Verdana"/>
              </a:rPr>
              <a:t>|</a:t>
            </a:r>
            <a:r>
              <a:rPr sz="1100" spc="-6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hoy</a:t>
            </a:r>
            <a:r>
              <a:rPr sz="1100" spc="-6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y </a:t>
            </a:r>
            <a:r>
              <a:rPr sz="1100" spc="-30" dirty="0">
                <a:latin typeface="Verdana"/>
                <a:cs typeface="Verdana"/>
              </a:rPr>
              <a:t>ayer</a:t>
            </a:r>
            <a:r>
              <a:rPr sz="1100" spc="-8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llovió)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65163" y="5206365"/>
            <a:ext cx="2450465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100" spc="10" dirty="0">
                <a:solidFill>
                  <a:srgbClr val="379292"/>
                </a:solidFill>
                <a:latin typeface="Verdana"/>
                <a:cs typeface="Verdana"/>
              </a:rPr>
              <a:t>Muy</a:t>
            </a:r>
            <a:r>
              <a:rPr sz="1100" spc="5" dirty="0">
                <a:solidFill>
                  <a:srgbClr val="379292"/>
                </a:solidFill>
                <a:latin typeface="Verdana"/>
                <a:cs typeface="Verdana"/>
              </a:rPr>
              <a:t> </a:t>
            </a:r>
            <a:r>
              <a:rPr sz="1100" spc="10" dirty="0">
                <a:solidFill>
                  <a:srgbClr val="379292"/>
                </a:solidFill>
                <a:latin typeface="Verdana"/>
                <a:cs typeface="Verdana"/>
              </a:rPr>
              <a:t>posiblemente</a:t>
            </a:r>
            <a:r>
              <a:rPr sz="1100" spc="-30" dirty="0">
                <a:solidFill>
                  <a:srgbClr val="379292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379292"/>
                </a:solidFill>
                <a:latin typeface="Verdana"/>
                <a:cs typeface="Verdana"/>
              </a:rPr>
              <a:t>llueva </a:t>
            </a:r>
            <a:r>
              <a:rPr sz="1100" dirty="0">
                <a:solidFill>
                  <a:srgbClr val="379292"/>
                </a:solidFill>
                <a:latin typeface="Verdana"/>
                <a:cs typeface="Verdana"/>
              </a:rPr>
              <a:t>(Probabilidad</a:t>
            </a:r>
            <a:r>
              <a:rPr sz="1100" spc="-15" dirty="0">
                <a:solidFill>
                  <a:srgbClr val="37929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9292"/>
                </a:solidFill>
                <a:latin typeface="Verdana"/>
                <a:cs typeface="Verdana"/>
              </a:rPr>
              <a:t>del</a:t>
            </a:r>
            <a:r>
              <a:rPr sz="1100" spc="-20" dirty="0">
                <a:solidFill>
                  <a:srgbClr val="379292"/>
                </a:solidFill>
                <a:latin typeface="Verdana"/>
                <a:cs typeface="Verdana"/>
              </a:rPr>
              <a:t> </a:t>
            </a:r>
            <a:r>
              <a:rPr sz="1100" spc="-100" dirty="0">
                <a:solidFill>
                  <a:srgbClr val="379292"/>
                </a:solidFill>
                <a:latin typeface="Verdana"/>
                <a:cs typeface="Verdana"/>
              </a:rPr>
              <a:t>90%</a:t>
            </a:r>
            <a:r>
              <a:rPr sz="1100" spc="-35" dirty="0">
                <a:solidFill>
                  <a:srgbClr val="37929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9292"/>
                </a:solidFill>
                <a:latin typeface="Verdana"/>
                <a:cs typeface="Verdana"/>
              </a:rPr>
              <a:t>con</a:t>
            </a:r>
            <a:r>
              <a:rPr sz="1100" spc="-25" dirty="0">
                <a:solidFill>
                  <a:srgbClr val="37929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9292"/>
                </a:solidFill>
                <a:latin typeface="Verdana"/>
                <a:cs typeface="Verdana"/>
              </a:rPr>
              <a:t>un</a:t>
            </a:r>
            <a:r>
              <a:rPr sz="1100" spc="-25" dirty="0">
                <a:solidFill>
                  <a:srgbClr val="379292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379292"/>
                </a:solidFill>
                <a:latin typeface="Verdana"/>
                <a:cs typeface="Verdana"/>
              </a:rPr>
              <a:t>nivel </a:t>
            </a:r>
            <a:r>
              <a:rPr sz="1100" dirty="0">
                <a:solidFill>
                  <a:srgbClr val="379292"/>
                </a:solidFill>
                <a:latin typeface="Verdana"/>
                <a:cs typeface="Verdana"/>
              </a:rPr>
              <a:t>de</a:t>
            </a:r>
            <a:r>
              <a:rPr sz="1100" spc="-35" dirty="0">
                <a:solidFill>
                  <a:srgbClr val="37929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9292"/>
                </a:solidFill>
                <a:latin typeface="Verdana"/>
                <a:cs typeface="Verdana"/>
              </a:rPr>
              <a:t>confianza</a:t>
            </a:r>
            <a:r>
              <a:rPr sz="1100" spc="-40" dirty="0">
                <a:solidFill>
                  <a:srgbClr val="379292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379292"/>
                </a:solidFill>
                <a:latin typeface="Verdana"/>
                <a:cs typeface="Verdana"/>
              </a:rPr>
              <a:t>del</a:t>
            </a:r>
            <a:r>
              <a:rPr sz="1100" spc="-35" dirty="0">
                <a:solidFill>
                  <a:srgbClr val="379292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379292"/>
                </a:solidFill>
                <a:latin typeface="Verdana"/>
                <a:cs typeface="Verdana"/>
              </a:rPr>
              <a:t>95%)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15682" y="4669282"/>
            <a:ext cx="18624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379292"/>
                </a:solidFill>
                <a:latin typeface="Trebuchet MS"/>
                <a:cs typeface="Trebuchet MS"/>
              </a:rPr>
              <a:t>Futuro</a:t>
            </a:r>
            <a:r>
              <a:rPr sz="1800" b="1" spc="225" dirty="0">
                <a:solidFill>
                  <a:srgbClr val="379292"/>
                </a:solidFill>
                <a:latin typeface="Trebuchet MS"/>
                <a:cs typeface="Trebuchet MS"/>
              </a:rPr>
              <a:t> </a:t>
            </a:r>
            <a:r>
              <a:rPr sz="1800" b="1" spc="45" dirty="0">
                <a:solidFill>
                  <a:srgbClr val="379292"/>
                </a:solidFill>
                <a:latin typeface="Trebuchet MS"/>
                <a:cs typeface="Trebuchet MS"/>
              </a:rPr>
              <a:t>Probable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868423" y="3308603"/>
            <a:ext cx="7021195" cy="1152525"/>
            <a:chOff x="1868423" y="3308603"/>
            <a:chExt cx="7021195" cy="115252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68423" y="3428999"/>
              <a:ext cx="1031748" cy="103174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43044" y="3345179"/>
              <a:ext cx="1031748" cy="103022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89647" y="3308603"/>
              <a:ext cx="1799844" cy="10668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95" dirty="0"/>
              <a:t>Analítica</a:t>
            </a:r>
            <a:r>
              <a:rPr spc="-40" dirty="0"/>
              <a:t> </a:t>
            </a:r>
            <a:r>
              <a:rPr spc="90" dirty="0"/>
              <a:t>predictiva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73777" y="2459482"/>
            <a:ext cx="36918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0" dirty="0">
                <a:solidFill>
                  <a:srgbClr val="2CDAFF"/>
                </a:solidFill>
                <a:latin typeface="Verdana"/>
                <a:cs typeface="Verdana"/>
              </a:rPr>
              <a:t>Tipos</a:t>
            </a:r>
            <a:r>
              <a:rPr sz="2000" spc="-114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60" dirty="0">
                <a:solidFill>
                  <a:srgbClr val="2CDAFF"/>
                </a:solidFill>
                <a:latin typeface="Verdana"/>
                <a:cs typeface="Verdana"/>
              </a:rPr>
              <a:t>de</a:t>
            </a:r>
            <a:r>
              <a:rPr sz="2000" spc="-85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CDAFF"/>
                </a:solidFill>
                <a:latin typeface="Verdana"/>
                <a:cs typeface="Verdana"/>
              </a:rPr>
              <a:t>técnicas</a:t>
            </a:r>
            <a:r>
              <a:rPr sz="2000" spc="-13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2CDAFF"/>
                </a:solidFill>
                <a:latin typeface="Verdana"/>
                <a:cs typeface="Verdana"/>
              </a:rPr>
              <a:t>empleadas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0559" y="3424428"/>
            <a:ext cx="2840990" cy="585470"/>
          </a:xfrm>
          <a:prstGeom prst="rect">
            <a:avLst/>
          </a:prstGeom>
          <a:solidFill>
            <a:srgbClr val="474537"/>
          </a:solidFill>
        </p:spPr>
        <p:txBody>
          <a:bodyPr vert="horz" wrap="square" lIns="0" tIns="145415" rIns="0" bIns="0" rtlCol="0">
            <a:spAutoFit/>
          </a:bodyPr>
          <a:lstStyle/>
          <a:p>
            <a:pPr marL="839469">
              <a:lnSpc>
                <a:spcPct val="100000"/>
              </a:lnSpc>
              <a:spcBef>
                <a:spcPts val="1145"/>
              </a:spcBef>
            </a:pP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Regresión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09644" y="3435096"/>
            <a:ext cx="3115310" cy="585470"/>
          </a:xfrm>
          <a:prstGeom prst="rect">
            <a:avLst/>
          </a:prstGeom>
          <a:solidFill>
            <a:srgbClr val="474537"/>
          </a:solidFill>
        </p:spPr>
        <p:txBody>
          <a:bodyPr vert="horz" wrap="square" lIns="0" tIns="144780" rIns="0" bIns="0" rtlCol="0">
            <a:spAutoFit/>
          </a:bodyPr>
          <a:lstStyle/>
          <a:p>
            <a:pPr marL="845819">
              <a:lnSpc>
                <a:spcPct val="100000"/>
              </a:lnSpc>
              <a:spcBef>
                <a:spcPts val="1140"/>
              </a:spcBef>
            </a:pP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Clasificación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70647" y="3424428"/>
            <a:ext cx="2840990" cy="585470"/>
          </a:xfrm>
          <a:prstGeom prst="rect">
            <a:avLst/>
          </a:prstGeom>
          <a:solidFill>
            <a:srgbClr val="474537"/>
          </a:solidFill>
        </p:spPr>
        <p:txBody>
          <a:bodyPr vert="horz" wrap="square" lIns="0" tIns="145415" rIns="0" bIns="0" rtlCol="0">
            <a:spAutoFit/>
          </a:bodyPr>
          <a:lstStyle/>
          <a:p>
            <a:pPr marL="807720">
              <a:lnSpc>
                <a:spcPct val="100000"/>
              </a:lnSpc>
              <a:spcBef>
                <a:spcPts val="1145"/>
              </a:spcBef>
            </a:pP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Predicción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4740" y="4213605"/>
            <a:ext cx="264414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Verdana"/>
                <a:cs typeface="Verdana"/>
              </a:rPr>
              <a:t>Interpolación</a:t>
            </a:r>
            <a:r>
              <a:rPr sz="1500" spc="-12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de</a:t>
            </a:r>
            <a:r>
              <a:rPr sz="1500" spc="-105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los</a:t>
            </a:r>
            <a:r>
              <a:rPr sz="1500" spc="-8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datos</a:t>
            </a:r>
            <a:r>
              <a:rPr sz="1500" spc="-85" dirty="0">
                <a:latin typeface="Verdana"/>
                <a:cs typeface="Verdana"/>
              </a:rPr>
              <a:t> </a:t>
            </a:r>
            <a:r>
              <a:rPr sz="1500" spc="-50" dirty="0">
                <a:latin typeface="Verdana"/>
                <a:cs typeface="Verdana"/>
              </a:rPr>
              <a:t>a </a:t>
            </a:r>
            <a:r>
              <a:rPr sz="1500" spc="-10" dirty="0">
                <a:latin typeface="Verdana"/>
                <a:cs typeface="Verdana"/>
              </a:rPr>
              <a:t>partir</a:t>
            </a:r>
            <a:r>
              <a:rPr sz="1500" spc="-10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del</a:t>
            </a:r>
            <a:r>
              <a:rPr sz="1500" spc="-100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analisis</a:t>
            </a:r>
            <a:r>
              <a:rPr sz="1500" spc="-9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entre</a:t>
            </a:r>
            <a:r>
              <a:rPr sz="1500" spc="-114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la </a:t>
            </a:r>
            <a:r>
              <a:rPr sz="1500" dirty="0">
                <a:latin typeface="Verdana"/>
                <a:cs typeface="Verdana"/>
              </a:rPr>
              <a:t>relación</a:t>
            </a:r>
            <a:r>
              <a:rPr sz="1500" spc="-10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de</a:t>
            </a:r>
            <a:r>
              <a:rPr sz="1500" spc="-90" dirty="0">
                <a:latin typeface="Verdana"/>
                <a:cs typeface="Verdana"/>
              </a:rPr>
              <a:t> </a:t>
            </a:r>
            <a:r>
              <a:rPr sz="1500" spc="-35" dirty="0">
                <a:latin typeface="Verdana"/>
                <a:cs typeface="Verdana"/>
              </a:rPr>
              <a:t>las</a:t>
            </a:r>
            <a:r>
              <a:rPr sz="1500" spc="-8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variables: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4740" y="5128005"/>
            <a:ext cx="263271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Verdana"/>
                <a:cs typeface="Verdana"/>
              </a:rPr>
              <a:t>Llenado</a:t>
            </a:r>
            <a:r>
              <a:rPr sz="1500" spc="-5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de</a:t>
            </a:r>
            <a:r>
              <a:rPr sz="1500" spc="-5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valores</a:t>
            </a:r>
            <a:endParaRPr sz="1500">
              <a:latin typeface="Verdana"/>
              <a:cs typeface="Verdana"/>
            </a:endParaRPr>
          </a:p>
          <a:p>
            <a:pPr marL="299085">
              <a:lnSpc>
                <a:spcPct val="100000"/>
              </a:lnSpc>
            </a:pPr>
            <a:r>
              <a:rPr sz="1500" spc="-10" dirty="0">
                <a:latin typeface="Verdana"/>
                <a:cs typeface="Verdana"/>
              </a:rPr>
              <a:t>perdidos.</a:t>
            </a:r>
            <a:endParaRPr sz="1500">
              <a:latin typeface="Verdana"/>
              <a:cs typeface="Verdana"/>
            </a:endParaRPr>
          </a:p>
          <a:p>
            <a:pPr marL="299085" marR="508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Verdana"/>
                <a:cs typeface="Verdana"/>
              </a:rPr>
              <a:t>¿Qué</a:t>
            </a:r>
            <a:r>
              <a:rPr sz="1500" spc="-3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ocurrió</a:t>
            </a:r>
            <a:r>
              <a:rPr sz="1500" spc="-2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en</a:t>
            </a:r>
            <a:r>
              <a:rPr sz="1500" spc="-65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cierto </a:t>
            </a:r>
            <a:r>
              <a:rPr sz="1500" spc="50" dirty="0">
                <a:latin typeface="Verdana"/>
                <a:cs typeface="Verdana"/>
              </a:rPr>
              <a:t>momento</a:t>
            </a:r>
            <a:r>
              <a:rPr sz="1500" spc="-14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en</a:t>
            </a:r>
            <a:r>
              <a:rPr sz="1500" spc="-12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el</a:t>
            </a:r>
            <a:r>
              <a:rPr sz="1500" spc="-12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tiempo?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88638" y="4213605"/>
            <a:ext cx="285623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Verdana"/>
                <a:cs typeface="Verdana"/>
              </a:rPr>
              <a:t>Asignarle</a:t>
            </a:r>
            <a:r>
              <a:rPr sz="1500" spc="-150" dirty="0">
                <a:latin typeface="Verdana"/>
                <a:cs typeface="Verdana"/>
              </a:rPr>
              <a:t> </a:t>
            </a:r>
            <a:r>
              <a:rPr sz="1500" spc="55" dirty="0">
                <a:latin typeface="Verdana"/>
                <a:cs typeface="Verdana"/>
              </a:rPr>
              <a:t>un</a:t>
            </a:r>
            <a:r>
              <a:rPr sz="1500" spc="-114" dirty="0">
                <a:latin typeface="Verdana"/>
                <a:cs typeface="Verdana"/>
              </a:rPr>
              <a:t> </a:t>
            </a:r>
            <a:r>
              <a:rPr sz="1500" spc="-30" dirty="0">
                <a:latin typeface="Verdana"/>
                <a:cs typeface="Verdana"/>
              </a:rPr>
              <a:t>valor</a:t>
            </a:r>
            <a:r>
              <a:rPr sz="1500" spc="-125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a</a:t>
            </a:r>
            <a:r>
              <a:rPr sz="1500" spc="-110" dirty="0">
                <a:latin typeface="Verdana"/>
                <a:cs typeface="Verdana"/>
              </a:rPr>
              <a:t> </a:t>
            </a:r>
            <a:r>
              <a:rPr sz="1500" spc="30" dirty="0">
                <a:latin typeface="Verdana"/>
                <a:cs typeface="Verdana"/>
              </a:rPr>
              <a:t>un </a:t>
            </a:r>
            <a:r>
              <a:rPr sz="1500" spc="-10" dirty="0">
                <a:latin typeface="Verdana"/>
                <a:cs typeface="Verdana"/>
              </a:rPr>
              <a:t>registro</a:t>
            </a:r>
            <a:r>
              <a:rPr sz="1500" spc="-110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a</a:t>
            </a:r>
            <a:r>
              <a:rPr sz="1500" spc="-9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partir</a:t>
            </a:r>
            <a:r>
              <a:rPr sz="1500" spc="-10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de</a:t>
            </a:r>
            <a:r>
              <a:rPr sz="1500" spc="-100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sus </a:t>
            </a:r>
            <a:r>
              <a:rPr sz="1500" dirty="0">
                <a:latin typeface="Verdana"/>
                <a:cs typeface="Verdana"/>
              </a:rPr>
              <a:t>propiedades</a:t>
            </a:r>
            <a:r>
              <a:rPr sz="1500" spc="-5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o</a:t>
            </a:r>
            <a:r>
              <a:rPr sz="1500" spc="-10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características: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88638" y="5128005"/>
            <a:ext cx="237553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Verdana"/>
                <a:cs typeface="Verdana"/>
              </a:rPr>
              <a:t>Detección</a:t>
            </a:r>
            <a:r>
              <a:rPr sz="1500" spc="3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de</a:t>
            </a:r>
            <a:r>
              <a:rPr sz="1500" spc="4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fraude.</a:t>
            </a:r>
            <a:endParaRPr sz="1500">
              <a:latin typeface="Verdana"/>
              <a:cs typeface="Verdana"/>
            </a:endParaRPr>
          </a:p>
          <a:p>
            <a:pPr marL="299085" marR="508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Verdana"/>
                <a:cs typeface="Verdana"/>
              </a:rPr>
              <a:t>¿Qué</a:t>
            </a:r>
            <a:r>
              <a:rPr sz="1500" spc="45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ciudadanos </a:t>
            </a:r>
            <a:r>
              <a:rPr sz="1500" dirty="0">
                <a:latin typeface="Verdana"/>
                <a:cs typeface="Verdana"/>
              </a:rPr>
              <a:t>reaccionarán</a:t>
            </a:r>
            <a:r>
              <a:rPr sz="1500" spc="-100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a</a:t>
            </a:r>
            <a:r>
              <a:rPr sz="1500" spc="-85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una </a:t>
            </a:r>
            <a:r>
              <a:rPr sz="1500" dirty="0">
                <a:latin typeface="Verdana"/>
                <a:cs typeface="Verdana"/>
              </a:rPr>
              <a:t>estrategia</a:t>
            </a:r>
            <a:r>
              <a:rPr sz="1500" spc="-15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especifica?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90841" y="4213605"/>
            <a:ext cx="275209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latin typeface="Verdana"/>
                <a:cs typeface="Verdana"/>
              </a:rPr>
              <a:t>Identificar</a:t>
            </a:r>
            <a:r>
              <a:rPr sz="1500" spc="-150" dirty="0">
                <a:latin typeface="Verdana"/>
                <a:cs typeface="Verdana"/>
              </a:rPr>
              <a:t> </a:t>
            </a:r>
            <a:r>
              <a:rPr sz="1500" spc="55" dirty="0">
                <a:latin typeface="Verdana"/>
                <a:cs typeface="Verdana"/>
              </a:rPr>
              <a:t>un</a:t>
            </a:r>
            <a:r>
              <a:rPr sz="1500" spc="-125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futuro </a:t>
            </a:r>
            <a:r>
              <a:rPr sz="1500" dirty="0">
                <a:latin typeface="Verdana"/>
                <a:cs typeface="Verdana"/>
              </a:rPr>
              <a:t>probable</a:t>
            </a:r>
            <a:r>
              <a:rPr sz="1500" spc="-95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a</a:t>
            </a:r>
            <a:r>
              <a:rPr sz="1500" spc="-5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partir</a:t>
            </a:r>
            <a:r>
              <a:rPr sz="1500" spc="-7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de</a:t>
            </a:r>
            <a:r>
              <a:rPr sz="1500" spc="-6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técnicas </a:t>
            </a:r>
            <a:r>
              <a:rPr sz="1500" dirty="0">
                <a:latin typeface="Verdana"/>
                <a:cs typeface="Verdana"/>
              </a:rPr>
              <a:t>de</a:t>
            </a:r>
            <a:r>
              <a:rPr sz="1500" spc="-75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análisis</a:t>
            </a:r>
            <a:r>
              <a:rPr sz="1500" spc="-9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de</a:t>
            </a:r>
            <a:r>
              <a:rPr sz="1500" spc="-7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datos: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490841" y="5128005"/>
            <a:ext cx="276860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Verdana"/>
                <a:cs typeface="Verdana"/>
              </a:rPr>
              <a:t>Demanda</a:t>
            </a:r>
            <a:r>
              <a:rPr sz="1500" spc="1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de</a:t>
            </a:r>
            <a:r>
              <a:rPr sz="1500" spc="6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servicios.</a:t>
            </a:r>
            <a:endParaRPr sz="1500">
              <a:latin typeface="Verdana"/>
              <a:cs typeface="Verdana"/>
            </a:endParaRPr>
          </a:p>
          <a:p>
            <a:pPr marL="299085" marR="5080" indent="-287020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spc="10" dirty="0">
                <a:latin typeface="Verdana"/>
                <a:cs typeface="Verdana"/>
              </a:rPr>
              <a:t>Probabilidad</a:t>
            </a:r>
            <a:r>
              <a:rPr sz="1500" spc="-30" dirty="0">
                <a:latin typeface="Verdana"/>
                <a:cs typeface="Verdana"/>
              </a:rPr>
              <a:t> </a:t>
            </a:r>
            <a:r>
              <a:rPr sz="1500" spc="10" dirty="0">
                <a:latin typeface="Verdana"/>
                <a:cs typeface="Verdana"/>
              </a:rPr>
              <a:t>de</a:t>
            </a:r>
            <a:r>
              <a:rPr sz="1500" spc="30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ser </a:t>
            </a:r>
            <a:r>
              <a:rPr sz="1500" dirty="0">
                <a:latin typeface="Verdana"/>
                <a:cs typeface="Verdana"/>
              </a:rPr>
              <a:t>victima</a:t>
            </a:r>
            <a:r>
              <a:rPr sz="1500" spc="-6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de</a:t>
            </a:r>
            <a:r>
              <a:rPr sz="1500" spc="-7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hurto</a:t>
            </a:r>
            <a:r>
              <a:rPr sz="1500" spc="-4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en</a:t>
            </a:r>
            <a:r>
              <a:rPr sz="1500" spc="-75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cierta calle.</a:t>
            </a:r>
            <a:endParaRPr sz="15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083302" y="2671952"/>
            <a:ext cx="51968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95" dirty="0"/>
              <a:t>Analítica</a:t>
            </a:r>
            <a:r>
              <a:rPr spc="-40" dirty="0"/>
              <a:t> </a:t>
            </a:r>
            <a:r>
              <a:rPr spc="90" dirty="0"/>
              <a:t>predictiva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83302" y="3483102"/>
            <a:ext cx="5601335" cy="24428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5" dirty="0">
                <a:solidFill>
                  <a:srgbClr val="2CDAFF"/>
                </a:solidFill>
                <a:latin typeface="Verdana"/>
                <a:cs typeface="Verdana"/>
              </a:rPr>
              <a:t>¡A</a:t>
            </a:r>
            <a:r>
              <a:rPr sz="2000" spc="-11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CDAFF"/>
                </a:solidFill>
                <a:latin typeface="Verdana"/>
                <a:cs typeface="Verdana"/>
              </a:rPr>
              <a:t>tener</a:t>
            </a:r>
            <a:r>
              <a:rPr sz="2000" spc="-11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CDAFF"/>
                </a:solidFill>
                <a:latin typeface="Verdana"/>
                <a:cs typeface="Verdana"/>
              </a:rPr>
              <a:t>en</a:t>
            </a:r>
            <a:r>
              <a:rPr sz="2000" spc="-114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2CDAFF"/>
                </a:solidFill>
                <a:latin typeface="Verdana"/>
                <a:cs typeface="Verdana"/>
              </a:rPr>
              <a:t>cuenta!</a:t>
            </a:r>
            <a:endParaRPr sz="2000">
              <a:latin typeface="Verdana"/>
              <a:cs typeface="Verdana"/>
            </a:endParaRPr>
          </a:p>
          <a:p>
            <a:pPr marL="459740" indent="-286385">
              <a:lnSpc>
                <a:spcPct val="100000"/>
              </a:lnSpc>
              <a:spcBef>
                <a:spcPts val="2225"/>
              </a:spcBef>
              <a:buClr>
                <a:srgbClr val="2CDAFF"/>
              </a:buClr>
              <a:buFont typeface="Courier New"/>
              <a:buChar char="o"/>
              <a:tabLst>
                <a:tab pos="459740" algn="l"/>
              </a:tabLst>
            </a:pP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Propósito,</a:t>
            </a:r>
            <a:r>
              <a:rPr sz="1500" spc="-11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proceso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 y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acción</a:t>
            </a:r>
            <a:endParaRPr sz="1500">
              <a:latin typeface="Verdana"/>
              <a:cs typeface="Verdana"/>
            </a:endParaRPr>
          </a:p>
          <a:p>
            <a:pPr marL="459740" indent="-286385">
              <a:lnSpc>
                <a:spcPct val="100000"/>
              </a:lnSpc>
              <a:buClr>
                <a:srgbClr val="2CDAFF"/>
              </a:buClr>
              <a:buFont typeface="Courier New"/>
              <a:buChar char="o"/>
              <a:tabLst>
                <a:tab pos="459740" algn="l"/>
              </a:tabLst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Como</a:t>
            </a:r>
            <a:r>
              <a:rPr sz="1500" spc="-1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se</a:t>
            </a:r>
            <a:r>
              <a:rPr sz="15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va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a</a:t>
            </a:r>
            <a:r>
              <a:rPr sz="15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50" dirty="0">
                <a:solidFill>
                  <a:srgbClr val="0030B8"/>
                </a:solidFill>
                <a:latin typeface="Verdana"/>
                <a:cs typeface="Verdana"/>
              </a:rPr>
              <a:t>vivir</a:t>
            </a:r>
            <a:r>
              <a:rPr sz="1500" spc="-11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1500" spc="-1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el</a:t>
            </a:r>
            <a:r>
              <a:rPr sz="15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día</a:t>
            </a:r>
            <a:r>
              <a:rPr sz="1500" spc="-11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a</a:t>
            </a:r>
            <a:r>
              <a:rPr sz="15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día</a:t>
            </a:r>
            <a:endParaRPr sz="1500">
              <a:latin typeface="Verdana"/>
              <a:cs typeface="Verdana"/>
            </a:endParaRPr>
          </a:p>
          <a:p>
            <a:pPr marL="459740" indent="-286385">
              <a:lnSpc>
                <a:spcPct val="100000"/>
              </a:lnSpc>
              <a:buClr>
                <a:srgbClr val="2CDAFF"/>
              </a:buClr>
              <a:buFont typeface="Courier New"/>
              <a:buChar char="o"/>
              <a:tabLst>
                <a:tab pos="459740" algn="l"/>
              </a:tabLst>
            </a:pP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Criterios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aceptación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(medidas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confianza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5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error)</a:t>
            </a:r>
            <a:endParaRPr sz="1500">
              <a:latin typeface="Verdana"/>
              <a:cs typeface="Verdana"/>
            </a:endParaRPr>
          </a:p>
          <a:p>
            <a:pPr marL="459740" indent="-286385">
              <a:lnSpc>
                <a:spcPct val="100000"/>
              </a:lnSpc>
              <a:buClr>
                <a:srgbClr val="2CDAFF"/>
              </a:buClr>
              <a:buFont typeface="Courier New"/>
              <a:buChar char="o"/>
              <a:tabLst>
                <a:tab pos="459740" algn="l"/>
              </a:tabLst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Entrenamiento</a:t>
            </a:r>
            <a:r>
              <a:rPr sz="1500" spc="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500" spc="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validación</a:t>
            </a:r>
            <a:endParaRPr sz="1500">
              <a:latin typeface="Verdana"/>
              <a:cs typeface="Verdana"/>
            </a:endParaRPr>
          </a:p>
          <a:p>
            <a:pPr marL="459740" indent="-286385">
              <a:lnSpc>
                <a:spcPct val="100000"/>
              </a:lnSpc>
              <a:buClr>
                <a:srgbClr val="2CDAFF"/>
              </a:buClr>
              <a:buFont typeface="Courier New"/>
              <a:buChar char="o"/>
              <a:tabLst>
                <a:tab pos="459740" algn="l"/>
              </a:tabLst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Modelos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premisas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a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considerar</a:t>
            </a:r>
            <a:endParaRPr sz="1500">
              <a:latin typeface="Verdana"/>
              <a:cs typeface="Verdana"/>
            </a:endParaRPr>
          </a:p>
          <a:p>
            <a:pPr marL="459740" indent="-286385">
              <a:lnSpc>
                <a:spcPct val="100000"/>
              </a:lnSpc>
              <a:buClr>
                <a:srgbClr val="2CDAFF"/>
              </a:buClr>
              <a:buFont typeface="Courier New"/>
              <a:buChar char="o"/>
              <a:tabLst>
                <a:tab pos="459740" algn="l"/>
              </a:tabLst>
            </a:pP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Criterios</a:t>
            </a:r>
            <a:r>
              <a:rPr sz="1500" spc="-1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validación</a:t>
            </a:r>
            <a:r>
              <a:rPr sz="1500" spc="-1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reentrenamiento</a:t>
            </a:r>
            <a:endParaRPr sz="1500">
              <a:latin typeface="Verdana"/>
              <a:cs typeface="Verdana"/>
            </a:endParaRPr>
          </a:p>
          <a:p>
            <a:pPr marL="459105" indent="-285750">
              <a:lnSpc>
                <a:spcPct val="100000"/>
              </a:lnSpc>
              <a:buClr>
                <a:srgbClr val="2CDAFF"/>
              </a:buClr>
              <a:buFont typeface="Courier New"/>
              <a:buChar char="o"/>
              <a:tabLst>
                <a:tab pos="459105" algn="l"/>
              </a:tabLst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Uso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1500" spc="-11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sistemas</a:t>
            </a:r>
            <a:r>
              <a:rPr sz="15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transaccionales</a:t>
            </a:r>
            <a:endParaRPr sz="1500">
              <a:latin typeface="Verdana"/>
              <a:cs typeface="Verdana"/>
            </a:endParaRPr>
          </a:p>
          <a:p>
            <a:pPr marL="459740" indent="-286385">
              <a:lnSpc>
                <a:spcPct val="100000"/>
              </a:lnSpc>
              <a:buClr>
                <a:srgbClr val="2CDAFF"/>
              </a:buClr>
              <a:buFont typeface="Courier New"/>
              <a:buChar char="o"/>
              <a:tabLst>
                <a:tab pos="459740" algn="l"/>
              </a:tabLst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Posibles</a:t>
            </a:r>
            <a:r>
              <a:rPr sz="15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sesgos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modelos</a:t>
            </a:r>
            <a:r>
              <a:rPr sz="15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datos</a:t>
            </a:r>
            <a:endParaRPr sz="15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3044" y="2464307"/>
            <a:ext cx="3749039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5440" y="6116218"/>
            <a:ext cx="90322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Procesos</a:t>
            </a:r>
            <a:r>
              <a:rPr sz="18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0030B8"/>
                </a:solidFill>
                <a:latin typeface="Verdana"/>
                <a:cs typeface="Verdana"/>
              </a:rPr>
              <a:t>análisis,</a:t>
            </a:r>
            <a:r>
              <a:rPr sz="18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simulación</a:t>
            </a:r>
            <a:r>
              <a:rPr sz="18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8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optimización</a:t>
            </a:r>
            <a:r>
              <a:rPr sz="18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0030B8"/>
                </a:solidFill>
                <a:latin typeface="Verdana"/>
                <a:cs typeface="Verdana"/>
              </a:rPr>
              <a:t>que</a:t>
            </a:r>
            <a:r>
              <a:rPr sz="18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dan</a:t>
            </a:r>
            <a:r>
              <a:rPr sz="18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respuesta</a:t>
            </a:r>
            <a:r>
              <a:rPr sz="18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acerca</a:t>
            </a:r>
            <a:r>
              <a:rPr sz="18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0030B8"/>
                </a:solidFill>
                <a:latin typeface="Verdana"/>
                <a:cs typeface="Verdana"/>
              </a:rPr>
              <a:t>la </a:t>
            </a:r>
            <a:r>
              <a:rPr sz="1800" spc="-45" dirty="0">
                <a:solidFill>
                  <a:srgbClr val="0030B8"/>
                </a:solidFill>
                <a:latin typeface="Verdana"/>
                <a:cs typeface="Verdana"/>
              </a:rPr>
              <a:t>“mejor”</a:t>
            </a:r>
            <a:r>
              <a:rPr sz="18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opción</a:t>
            </a:r>
            <a:r>
              <a:rPr sz="18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acuerdo</a:t>
            </a:r>
            <a:r>
              <a:rPr sz="18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0030B8"/>
                </a:solidFill>
                <a:latin typeface="Verdana"/>
                <a:cs typeface="Verdana"/>
              </a:rPr>
              <a:t>con</a:t>
            </a:r>
            <a:r>
              <a:rPr sz="18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8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criterios</a:t>
            </a:r>
            <a:r>
              <a:rPr sz="18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0030B8"/>
                </a:solidFill>
                <a:latin typeface="Verdana"/>
                <a:cs typeface="Verdana"/>
              </a:rPr>
              <a:t>(drivers)</a:t>
            </a:r>
            <a:r>
              <a:rPr sz="18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definidos.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95" dirty="0"/>
              <a:t>Analítica</a:t>
            </a:r>
            <a:r>
              <a:rPr spc="-40" dirty="0"/>
              <a:t> </a:t>
            </a:r>
            <a:r>
              <a:rPr spc="70" dirty="0"/>
              <a:t>prescriptiva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073777" y="2459482"/>
            <a:ext cx="7026909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2CDAFF"/>
                </a:solidFill>
                <a:latin typeface="Verdana"/>
                <a:cs typeface="Verdana"/>
              </a:rPr>
              <a:t>Optimización</a:t>
            </a:r>
            <a:r>
              <a:rPr sz="2000" spc="-8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60" dirty="0">
                <a:solidFill>
                  <a:srgbClr val="2CDAFF"/>
                </a:solidFill>
                <a:latin typeface="Verdana"/>
                <a:cs typeface="Verdana"/>
              </a:rPr>
              <a:t>de</a:t>
            </a:r>
            <a:r>
              <a:rPr sz="2000" spc="-45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CDAFF"/>
                </a:solidFill>
                <a:latin typeface="Verdana"/>
                <a:cs typeface="Verdana"/>
              </a:rPr>
              <a:t>escenarios</a:t>
            </a:r>
            <a:r>
              <a:rPr sz="2000" spc="-85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CDAFF"/>
                </a:solidFill>
                <a:latin typeface="Verdana"/>
                <a:cs typeface="Verdana"/>
              </a:rPr>
              <a:t>probables</a:t>
            </a:r>
            <a:r>
              <a:rPr sz="2000" spc="-85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CDAFF"/>
                </a:solidFill>
                <a:latin typeface="Verdana"/>
                <a:cs typeface="Verdana"/>
              </a:rPr>
              <a:t>para</a:t>
            </a:r>
            <a:r>
              <a:rPr sz="2000" spc="-65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2CDAFF"/>
                </a:solidFill>
                <a:latin typeface="Verdana"/>
                <a:cs typeface="Verdana"/>
              </a:rPr>
              <a:t>seleccionar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000" spc="-25" dirty="0">
                <a:solidFill>
                  <a:srgbClr val="2CDAFF"/>
                </a:solidFill>
                <a:latin typeface="Verdana"/>
                <a:cs typeface="Verdana"/>
              </a:rPr>
              <a:t>la</a:t>
            </a:r>
            <a:r>
              <a:rPr sz="2000" spc="-17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-40" dirty="0">
                <a:solidFill>
                  <a:srgbClr val="2CDAFF"/>
                </a:solidFill>
                <a:latin typeface="Verdana"/>
                <a:cs typeface="Verdana"/>
              </a:rPr>
              <a:t>“mejor”</a:t>
            </a:r>
            <a:r>
              <a:rPr sz="2000" spc="-17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2CDAFF"/>
                </a:solidFill>
                <a:latin typeface="Verdana"/>
                <a:cs typeface="Verdana"/>
              </a:rPr>
              <a:t>decisión.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88235" y="4777485"/>
            <a:ext cx="7264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40" dirty="0">
                <a:solidFill>
                  <a:srgbClr val="3366C4"/>
                </a:solidFill>
                <a:latin typeface="Tahoma"/>
                <a:cs typeface="Tahoma"/>
              </a:rPr>
              <a:t>Datos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99357" y="4777485"/>
            <a:ext cx="162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450" dirty="0">
                <a:latin typeface="Tahoma"/>
                <a:cs typeface="Tahoma"/>
              </a:rPr>
              <a:t>+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27986" y="5352034"/>
            <a:ext cx="1895475" cy="361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3366C4"/>
                </a:solidFill>
                <a:latin typeface="Trebuchet MS"/>
                <a:cs typeface="Trebuchet MS"/>
              </a:rPr>
              <a:t>Ayer</a:t>
            </a:r>
            <a:r>
              <a:rPr sz="1100" spc="80" dirty="0">
                <a:solidFill>
                  <a:srgbClr val="3366C4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3366C4"/>
                </a:solidFill>
                <a:latin typeface="Trebuchet MS"/>
                <a:cs typeface="Trebuchet MS"/>
              </a:rPr>
              <a:t>y</a:t>
            </a:r>
            <a:r>
              <a:rPr sz="1100" spc="90" dirty="0">
                <a:solidFill>
                  <a:srgbClr val="3366C4"/>
                </a:solidFill>
                <a:latin typeface="Trebuchet MS"/>
                <a:cs typeface="Trebuchet MS"/>
              </a:rPr>
              <a:t> </a:t>
            </a:r>
            <a:r>
              <a:rPr sz="1100" spc="60" dirty="0">
                <a:solidFill>
                  <a:srgbClr val="3366C4"/>
                </a:solidFill>
                <a:latin typeface="Trebuchet MS"/>
                <a:cs typeface="Trebuchet MS"/>
              </a:rPr>
              <a:t>hoy</a:t>
            </a:r>
            <a:r>
              <a:rPr sz="1100" spc="85" dirty="0">
                <a:solidFill>
                  <a:srgbClr val="3366C4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3366C4"/>
                </a:solidFill>
                <a:latin typeface="Trebuchet MS"/>
                <a:cs typeface="Trebuchet MS"/>
              </a:rPr>
              <a:t>llovió,</a:t>
            </a:r>
            <a:r>
              <a:rPr sz="1100" spc="95" dirty="0">
                <a:solidFill>
                  <a:srgbClr val="3366C4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3366C4"/>
                </a:solidFill>
                <a:latin typeface="Trebuchet MS"/>
                <a:cs typeface="Trebuchet MS"/>
              </a:rPr>
              <a:t>y</a:t>
            </a:r>
            <a:r>
              <a:rPr sz="1100" spc="90" dirty="0">
                <a:solidFill>
                  <a:srgbClr val="3366C4"/>
                </a:solidFill>
                <a:latin typeface="Trebuchet MS"/>
                <a:cs typeface="Trebuchet MS"/>
              </a:rPr>
              <a:t> </a:t>
            </a:r>
            <a:r>
              <a:rPr sz="1100" spc="60" dirty="0">
                <a:solidFill>
                  <a:srgbClr val="3366C4"/>
                </a:solidFill>
                <a:latin typeface="Trebuchet MS"/>
                <a:cs typeface="Trebuchet MS"/>
              </a:rPr>
              <a:t>mañana</a:t>
            </a:r>
            <a:endParaRPr sz="11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100" spc="55" dirty="0">
                <a:solidFill>
                  <a:srgbClr val="3366C4"/>
                </a:solidFill>
                <a:latin typeface="Trebuchet MS"/>
                <a:cs typeface="Trebuchet MS"/>
              </a:rPr>
              <a:t>posiblemente</a:t>
            </a:r>
            <a:r>
              <a:rPr sz="1100" spc="30" dirty="0">
                <a:solidFill>
                  <a:srgbClr val="3366C4"/>
                </a:solidFill>
                <a:latin typeface="Trebuchet MS"/>
                <a:cs typeface="Trebuchet MS"/>
              </a:rPr>
              <a:t> </a:t>
            </a:r>
            <a:r>
              <a:rPr sz="1100" spc="-10" dirty="0">
                <a:solidFill>
                  <a:srgbClr val="3366C4"/>
                </a:solidFill>
                <a:latin typeface="Trebuchet MS"/>
                <a:cs typeface="Trebuchet MS"/>
              </a:rPr>
              <a:t>llueva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91430" y="4777485"/>
            <a:ext cx="2302510" cy="1040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52650" algn="l"/>
              </a:tabLst>
            </a:pPr>
            <a:r>
              <a:rPr sz="1800" b="1" spc="50" dirty="0">
                <a:latin typeface="Tahoma"/>
                <a:cs typeface="Tahoma"/>
              </a:rPr>
              <a:t>Procesamiento</a:t>
            </a:r>
            <a:r>
              <a:rPr sz="1800" b="1" dirty="0">
                <a:latin typeface="Tahoma"/>
                <a:cs typeface="Tahoma"/>
              </a:rPr>
              <a:t>	</a:t>
            </a:r>
            <a:r>
              <a:rPr sz="1800" b="1" spc="-450" dirty="0">
                <a:latin typeface="Tahoma"/>
                <a:cs typeface="Tahoma"/>
              </a:rPr>
              <a:t>=</a:t>
            </a:r>
            <a:endParaRPr sz="1800">
              <a:latin typeface="Tahoma"/>
              <a:cs typeface="Tahoma"/>
            </a:endParaRPr>
          </a:p>
          <a:p>
            <a:pPr marL="41910" marR="523240" indent="1905" algn="ctr">
              <a:lnSpc>
                <a:spcPct val="100000"/>
              </a:lnSpc>
              <a:spcBef>
                <a:spcPts val="1864"/>
              </a:spcBef>
            </a:pPr>
            <a:r>
              <a:rPr sz="1100" spc="45" dirty="0">
                <a:latin typeface="Trebuchet MS"/>
                <a:cs typeface="Trebuchet MS"/>
              </a:rPr>
              <a:t>Minimizar</a:t>
            </a:r>
            <a:r>
              <a:rPr sz="1100" spc="40" dirty="0">
                <a:latin typeface="Trebuchet MS"/>
                <a:cs typeface="Trebuchet MS"/>
              </a:rPr>
              <a:t> </a:t>
            </a:r>
            <a:r>
              <a:rPr sz="1100" dirty="0">
                <a:latin typeface="Trebuchet MS"/>
                <a:cs typeface="Trebuchet MS"/>
              </a:rPr>
              <a:t>el</a:t>
            </a:r>
            <a:r>
              <a:rPr sz="1100" spc="65" dirty="0">
                <a:latin typeface="Trebuchet MS"/>
                <a:cs typeface="Trebuchet MS"/>
              </a:rPr>
              <a:t> </a:t>
            </a:r>
            <a:r>
              <a:rPr sz="1100" spc="50" dirty="0">
                <a:latin typeface="Trebuchet MS"/>
                <a:cs typeface="Trebuchet MS"/>
              </a:rPr>
              <a:t>tiempo</a:t>
            </a:r>
            <a:r>
              <a:rPr sz="1100" spc="55" dirty="0">
                <a:latin typeface="Trebuchet MS"/>
                <a:cs typeface="Trebuchet MS"/>
              </a:rPr>
              <a:t> </a:t>
            </a:r>
            <a:r>
              <a:rPr sz="1100" spc="-50" dirty="0">
                <a:latin typeface="Trebuchet MS"/>
                <a:cs typeface="Trebuchet MS"/>
              </a:rPr>
              <a:t>y </a:t>
            </a:r>
            <a:r>
              <a:rPr sz="1100" spc="65" dirty="0">
                <a:latin typeface="Trebuchet MS"/>
                <a:cs typeface="Trebuchet MS"/>
              </a:rPr>
              <a:t>costo</a:t>
            </a:r>
            <a:r>
              <a:rPr sz="1100" spc="35" dirty="0">
                <a:latin typeface="Trebuchet MS"/>
                <a:cs typeface="Trebuchet MS"/>
              </a:rPr>
              <a:t> </a:t>
            </a:r>
            <a:r>
              <a:rPr sz="1100" spc="55" dirty="0">
                <a:latin typeface="Trebuchet MS"/>
                <a:cs typeface="Trebuchet MS"/>
              </a:rPr>
              <a:t>de</a:t>
            </a:r>
            <a:r>
              <a:rPr sz="1100" spc="50" dirty="0">
                <a:latin typeface="Trebuchet MS"/>
                <a:cs typeface="Trebuchet MS"/>
              </a:rPr>
              <a:t> </a:t>
            </a:r>
            <a:r>
              <a:rPr sz="1100" spc="45" dirty="0">
                <a:latin typeface="Trebuchet MS"/>
                <a:cs typeface="Trebuchet MS"/>
              </a:rPr>
              <a:t>desplazamiento </a:t>
            </a:r>
            <a:r>
              <a:rPr sz="1100" spc="55" dirty="0">
                <a:latin typeface="Trebuchet MS"/>
                <a:cs typeface="Trebuchet MS"/>
              </a:rPr>
              <a:t>sin</a:t>
            </a:r>
            <a:r>
              <a:rPr sz="1100" spc="25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rebuchet MS"/>
                <a:cs typeface="Trebuchet MS"/>
              </a:rPr>
              <a:t>mojarse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93026" y="5288407"/>
            <a:ext cx="2475230" cy="52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1905" algn="ctr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379292"/>
                </a:solidFill>
                <a:latin typeface="Trebuchet MS"/>
                <a:cs typeface="Trebuchet MS"/>
              </a:rPr>
              <a:t>Debería</a:t>
            </a:r>
            <a:r>
              <a:rPr sz="1100" spc="125" dirty="0">
                <a:solidFill>
                  <a:srgbClr val="379292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379292"/>
                </a:solidFill>
                <a:latin typeface="Trebuchet MS"/>
                <a:cs typeface="Trebuchet MS"/>
              </a:rPr>
              <a:t>salir</a:t>
            </a:r>
            <a:r>
              <a:rPr sz="1100" spc="155" dirty="0">
                <a:solidFill>
                  <a:srgbClr val="379292"/>
                </a:solidFill>
                <a:latin typeface="Trebuchet MS"/>
                <a:cs typeface="Trebuchet MS"/>
              </a:rPr>
              <a:t> </a:t>
            </a:r>
            <a:r>
              <a:rPr sz="1100" spc="85" dirty="0">
                <a:solidFill>
                  <a:srgbClr val="379292"/>
                </a:solidFill>
                <a:latin typeface="Trebuchet MS"/>
                <a:cs typeface="Trebuchet MS"/>
              </a:rPr>
              <a:t>30</a:t>
            </a:r>
            <a:r>
              <a:rPr sz="1100" spc="125" dirty="0">
                <a:solidFill>
                  <a:srgbClr val="379292"/>
                </a:solidFill>
                <a:latin typeface="Trebuchet MS"/>
                <a:cs typeface="Trebuchet MS"/>
              </a:rPr>
              <a:t> </a:t>
            </a:r>
            <a:r>
              <a:rPr sz="1100" spc="65" dirty="0">
                <a:solidFill>
                  <a:srgbClr val="379292"/>
                </a:solidFill>
                <a:latin typeface="Trebuchet MS"/>
                <a:cs typeface="Trebuchet MS"/>
              </a:rPr>
              <a:t>minutos</a:t>
            </a:r>
            <a:r>
              <a:rPr sz="1100" spc="105" dirty="0">
                <a:solidFill>
                  <a:srgbClr val="379292"/>
                </a:solidFill>
                <a:latin typeface="Trebuchet MS"/>
                <a:cs typeface="Trebuchet MS"/>
              </a:rPr>
              <a:t> </a:t>
            </a:r>
            <a:r>
              <a:rPr sz="1100" spc="60" dirty="0">
                <a:solidFill>
                  <a:srgbClr val="379292"/>
                </a:solidFill>
                <a:latin typeface="Trebuchet MS"/>
                <a:cs typeface="Trebuchet MS"/>
              </a:rPr>
              <a:t>antes</a:t>
            </a:r>
            <a:r>
              <a:rPr sz="1100" spc="135" dirty="0">
                <a:solidFill>
                  <a:srgbClr val="379292"/>
                </a:solidFill>
                <a:latin typeface="Trebuchet MS"/>
                <a:cs typeface="Trebuchet MS"/>
              </a:rPr>
              <a:t> </a:t>
            </a:r>
            <a:r>
              <a:rPr sz="1100" spc="35" dirty="0">
                <a:solidFill>
                  <a:srgbClr val="379292"/>
                </a:solidFill>
                <a:latin typeface="Trebuchet MS"/>
                <a:cs typeface="Trebuchet MS"/>
              </a:rPr>
              <a:t>en </a:t>
            </a:r>
            <a:r>
              <a:rPr sz="1100" dirty="0">
                <a:solidFill>
                  <a:srgbClr val="379292"/>
                </a:solidFill>
                <a:latin typeface="Trebuchet MS"/>
                <a:cs typeface="Trebuchet MS"/>
              </a:rPr>
              <a:t>bicicleta</a:t>
            </a:r>
            <a:r>
              <a:rPr sz="1100" spc="150" dirty="0">
                <a:solidFill>
                  <a:srgbClr val="379292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379292"/>
                </a:solidFill>
                <a:latin typeface="Trebuchet MS"/>
                <a:cs typeface="Trebuchet MS"/>
              </a:rPr>
              <a:t>para</a:t>
            </a:r>
            <a:r>
              <a:rPr sz="1100" spc="200" dirty="0">
                <a:solidFill>
                  <a:srgbClr val="379292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379292"/>
                </a:solidFill>
                <a:latin typeface="Trebuchet MS"/>
                <a:cs typeface="Trebuchet MS"/>
              </a:rPr>
              <a:t>llegar</a:t>
            </a:r>
            <a:r>
              <a:rPr sz="1100" spc="204" dirty="0">
                <a:solidFill>
                  <a:srgbClr val="379292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379292"/>
                </a:solidFill>
                <a:latin typeface="Trebuchet MS"/>
                <a:cs typeface="Trebuchet MS"/>
              </a:rPr>
              <a:t>al</a:t>
            </a:r>
            <a:r>
              <a:rPr sz="1100" spc="195" dirty="0">
                <a:solidFill>
                  <a:srgbClr val="379292"/>
                </a:solidFill>
                <a:latin typeface="Trebuchet MS"/>
                <a:cs typeface="Trebuchet MS"/>
              </a:rPr>
              <a:t> </a:t>
            </a:r>
            <a:r>
              <a:rPr sz="1100" dirty="0">
                <a:solidFill>
                  <a:srgbClr val="379292"/>
                </a:solidFill>
                <a:latin typeface="Trebuchet MS"/>
                <a:cs typeface="Trebuchet MS"/>
              </a:rPr>
              <a:t>centro</a:t>
            </a:r>
            <a:r>
              <a:rPr sz="1100" spc="160" dirty="0">
                <a:solidFill>
                  <a:srgbClr val="379292"/>
                </a:solidFill>
                <a:latin typeface="Trebuchet MS"/>
                <a:cs typeface="Trebuchet MS"/>
              </a:rPr>
              <a:t> </a:t>
            </a:r>
            <a:r>
              <a:rPr sz="1100" spc="55" dirty="0">
                <a:solidFill>
                  <a:srgbClr val="379292"/>
                </a:solidFill>
                <a:latin typeface="Trebuchet MS"/>
                <a:cs typeface="Trebuchet MS"/>
              </a:rPr>
              <a:t>de</a:t>
            </a:r>
            <a:r>
              <a:rPr sz="1100" spc="200" dirty="0">
                <a:solidFill>
                  <a:srgbClr val="379292"/>
                </a:solidFill>
                <a:latin typeface="Trebuchet MS"/>
                <a:cs typeface="Trebuchet MS"/>
              </a:rPr>
              <a:t> </a:t>
            </a:r>
            <a:r>
              <a:rPr sz="1100" spc="30" dirty="0">
                <a:solidFill>
                  <a:srgbClr val="379292"/>
                </a:solidFill>
                <a:latin typeface="Trebuchet MS"/>
                <a:cs typeface="Trebuchet MS"/>
              </a:rPr>
              <a:t>mi </a:t>
            </a:r>
            <a:r>
              <a:rPr sz="1100" spc="40" dirty="0">
                <a:solidFill>
                  <a:srgbClr val="379292"/>
                </a:solidFill>
                <a:latin typeface="Trebuchet MS"/>
                <a:cs typeface="Trebuchet MS"/>
              </a:rPr>
              <a:t>ciudad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51750" y="4751323"/>
            <a:ext cx="1670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55" dirty="0">
                <a:solidFill>
                  <a:srgbClr val="379292"/>
                </a:solidFill>
                <a:latin typeface="Trebuchet MS"/>
                <a:cs typeface="Trebuchet MS"/>
              </a:rPr>
              <a:t>Opción</a:t>
            </a:r>
            <a:r>
              <a:rPr sz="1800" b="1" spc="-45" dirty="0">
                <a:solidFill>
                  <a:srgbClr val="379292"/>
                </a:solidFill>
                <a:latin typeface="Trebuchet MS"/>
                <a:cs typeface="Trebuchet MS"/>
              </a:rPr>
              <a:t> </a:t>
            </a:r>
            <a:r>
              <a:rPr sz="1800" b="1" spc="50" dirty="0">
                <a:solidFill>
                  <a:srgbClr val="379292"/>
                </a:solidFill>
                <a:latin typeface="Trebuchet MS"/>
                <a:cs typeface="Trebuchet MS"/>
              </a:rPr>
              <a:t>óptima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516380" y="3427476"/>
            <a:ext cx="7533640" cy="1178560"/>
            <a:chOff x="1516380" y="3427476"/>
            <a:chExt cx="7533640" cy="117856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16380" y="3724656"/>
              <a:ext cx="880871" cy="88087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83480" y="3427476"/>
              <a:ext cx="1031748" cy="103022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70404" y="3724656"/>
              <a:ext cx="1484375" cy="88087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24800" y="3457956"/>
              <a:ext cx="1124711" cy="112471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083302" y="2671952"/>
            <a:ext cx="56838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95" dirty="0"/>
              <a:t>Analítica</a:t>
            </a:r>
            <a:r>
              <a:rPr spc="-40" dirty="0"/>
              <a:t> </a:t>
            </a:r>
            <a:r>
              <a:rPr spc="70" dirty="0"/>
              <a:t>prescriptiva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83302" y="3483102"/>
            <a:ext cx="5128260" cy="26714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5" dirty="0">
                <a:solidFill>
                  <a:srgbClr val="2CDAFF"/>
                </a:solidFill>
                <a:latin typeface="Verdana"/>
                <a:cs typeface="Verdana"/>
              </a:rPr>
              <a:t>¡A</a:t>
            </a:r>
            <a:r>
              <a:rPr sz="2000" spc="-11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CDAFF"/>
                </a:solidFill>
                <a:latin typeface="Verdana"/>
                <a:cs typeface="Verdana"/>
              </a:rPr>
              <a:t>tener</a:t>
            </a:r>
            <a:r>
              <a:rPr sz="2000" spc="-11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CDAFF"/>
                </a:solidFill>
                <a:latin typeface="Verdana"/>
                <a:cs typeface="Verdana"/>
              </a:rPr>
              <a:t>en</a:t>
            </a:r>
            <a:r>
              <a:rPr sz="2000" spc="-114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2CDAFF"/>
                </a:solidFill>
                <a:latin typeface="Verdana"/>
                <a:cs typeface="Verdana"/>
              </a:rPr>
              <a:t>cuenta!</a:t>
            </a:r>
            <a:endParaRPr sz="2000">
              <a:latin typeface="Verdana"/>
              <a:cs typeface="Verdana"/>
            </a:endParaRPr>
          </a:p>
          <a:p>
            <a:pPr marL="459740" indent="-286385">
              <a:lnSpc>
                <a:spcPct val="100000"/>
              </a:lnSpc>
              <a:spcBef>
                <a:spcPts val="2225"/>
              </a:spcBef>
              <a:buClr>
                <a:srgbClr val="2CDAFF"/>
              </a:buClr>
              <a:buFont typeface="Courier New"/>
              <a:buChar char="o"/>
              <a:tabLst>
                <a:tab pos="459740" algn="l"/>
              </a:tabLst>
            </a:pP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Criterios</a:t>
            </a:r>
            <a:r>
              <a:rPr sz="1500" spc="-1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85" dirty="0">
                <a:solidFill>
                  <a:srgbClr val="0030B8"/>
                </a:solidFill>
                <a:latin typeface="Verdana"/>
                <a:cs typeface="Verdana"/>
              </a:rPr>
              <a:t>/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30" dirty="0">
                <a:solidFill>
                  <a:srgbClr val="0030B8"/>
                </a:solidFill>
                <a:latin typeface="Verdana"/>
                <a:cs typeface="Verdana"/>
              </a:rPr>
              <a:t>drivers</a:t>
            </a:r>
            <a:r>
              <a:rPr sz="1500" spc="-1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optimización</a:t>
            </a:r>
            <a:endParaRPr sz="1500">
              <a:latin typeface="Verdana"/>
              <a:cs typeface="Verdana"/>
            </a:endParaRPr>
          </a:p>
          <a:p>
            <a:pPr marL="459740" indent="-286385">
              <a:lnSpc>
                <a:spcPct val="100000"/>
              </a:lnSpc>
              <a:buClr>
                <a:srgbClr val="2CDAFF"/>
              </a:buClr>
              <a:buFont typeface="Courier New"/>
              <a:buChar char="o"/>
              <a:tabLst>
                <a:tab pos="459740" algn="l"/>
              </a:tabLst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Modelo</a:t>
            </a:r>
            <a:r>
              <a:rPr sz="1500" spc="-1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a</a:t>
            </a:r>
            <a:r>
              <a:rPr sz="1500" spc="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optimizar</a:t>
            </a:r>
            <a:endParaRPr sz="1500">
              <a:latin typeface="Verdana"/>
              <a:cs typeface="Verdana"/>
            </a:endParaRPr>
          </a:p>
          <a:p>
            <a:pPr marL="459740" indent="-286385">
              <a:lnSpc>
                <a:spcPct val="100000"/>
              </a:lnSpc>
              <a:buClr>
                <a:srgbClr val="2CDAFF"/>
              </a:buClr>
              <a:buFont typeface="Courier New"/>
              <a:buChar char="o"/>
              <a:tabLst>
                <a:tab pos="459740" algn="l"/>
              </a:tabLst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Meta</a:t>
            </a:r>
            <a:r>
              <a:rPr sz="1500" spc="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parámetros</a:t>
            </a:r>
            <a:endParaRPr sz="1500">
              <a:latin typeface="Verdana"/>
              <a:cs typeface="Verdana"/>
            </a:endParaRPr>
          </a:p>
          <a:p>
            <a:pPr marL="459740" indent="-286385">
              <a:lnSpc>
                <a:spcPct val="100000"/>
              </a:lnSpc>
              <a:buClr>
                <a:srgbClr val="2CDAFF"/>
              </a:buClr>
              <a:buFont typeface="Courier New"/>
              <a:buChar char="o"/>
              <a:tabLst>
                <a:tab pos="459740" algn="l"/>
              </a:tabLst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¿Cómo</a:t>
            </a:r>
            <a:r>
              <a:rPr sz="15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impactará</a:t>
            </a:r>
            <a:r>
              <a:rPr sz="1500" spc="-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el</a:t>
            </a:r>
            <a:r>
              <a:rPr sz="1500" spc="-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proceso?</a:t>
            </a:r>
            <a:endParaRPr sz="1500">
              <a:latin typeface="Verdana"/>
              <a:cs typeface="Verdana"/>
            </a:endParaRPr>
          </a:p>
          <a:p>
            <a:pPr marL="460375" marR="106680" indent="-287020">
              <a:lnSpc>
                <a:spcPct val="100000"/>
              </a:lnSpc>
              <a:buClr>
                <a:srgbClr val="2CDAFF"/>
              </a:buClr>
              <a:buFont typeface="Courier New"/>
              <a:buChar char="o"/>
              <a:tabLst>
                <a:tab pos="460375" algn="l"/>
              </a:tabLst>
            </a:pP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Criterios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aceptación</a:t>
            </a:r>
            <a:r>
              <a:rPr sz="15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(medidas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confianza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50" dirty="0">
                <a:solidFill>
                  <a:srgbClr val="0030B8"/>
                </a:solidFill>
                <a:latin typeface="Verdana"/>
                <a:cs typeface="Verdana"/>
              </a:rPr>
              <a:t>y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error)</a:t>
            </a:r>
            <a:endParaRPr sz="1500">
              <a:latin typeface="Verdana"/>
              <a:cs typeface="Verdana"/>
            </a:endParaRPr>
          </a:p>
          <a:p>
            <a:pPr marL="459105" indent="-285750">
              <a:lnSpc>
                <a:spcPct val="100000"/>
              </a:lnSpc>
              <a:buClr>
                <a:srgbClr val="2CDAFF"/>
              </a:buClr>
              <a:buFont typeface="Courier New"/>
              <a:buChar char="o"/>
              <a:tabLst>
                <a:tab pos="459105" algn="l"/>
              </a:tabLst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Algoritmo</a:t>
            </a:r>
            <a:r>
              <a:rPr sz="15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premisas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a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considerar</a:t>
            </a:r>
            <a:endParaRPr sz="1500">
              <a:latin typeface="Verdana"/>
              <a:cs typeface="Verdana"/>
            </a:endParaRPr>
          </a:p>
          <a:p>
            <a:pPr marL="460375" marR="5080" indent="-287020">
              <a:lnSpc>
                <a:spcPct val="100000"/>
              </a:lnSpc>
              <a:buClr>
                <a:srgbClr val="2CDAFF"/>
              </a:buClr>
              <a:buFont typeface="Courier New"/>
              <a:buChar char="o"/>
              <a:tabLst>
                <a:tab pos="460375" algn="l"/>
              </a:tabLst>
            </a:pP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Sugerir</a:t>
            </a:r>
            <a:r>
              <a:rPr sz="1500" spc="-1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más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no</a:t>
            </a:r>
            <a:r>
              <a:rPr sz="15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obligar</a:t>
            </a:r>
            <a:r>
              <a:rPr sz="1500" spc="-1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a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seleccionar</a:t>
            </a:r>
            <a:r>
              <a:rPr sz="15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respuesta óptima</a:t>
            </a:r>
            <a:endParaRPr sz="15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3044" y="2464307"/>
            <a:ext cx="3749039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89245" y="3132200"/>
            <a:ext cx="517652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4000" b="1" spc="120" dirty="0">
                <a:solidFill>
                  <a:srgbClr val="0030B8"/>
                </a:solidFill>
                <a:latin typeface="Tahoma"/>
                <a:cs typeface="Tahoma"/>
              </a:rPr>
              <a:t>Todo</a:t>
            </a:r>
            <a:r>
              <a:rPr sz="4000" b="1" spc="-15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4000" b="1" spc="85" dirty="0">
                <a:solidFill>
                  <a:srgbClr val="0030B8"/>
                </a:solidFill>
                <a:latin typeface="Tahoma"/>
                <a:cs typeface="Tahoma"/>
              </a:rPr>
              <a:t>se</a:t>
            </a:r>
            <a:r>
              <a:rPr sz="4000" b="1" spc="-35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4000" b="1" spc="90" dirty="0">
                <a:solidFill>
                  <a:srgbClr val="0030B8"/>
                </a:solidFill>
                <a:latin typeface="Tahoma"/>
                <a:cs typeface="Tahoma"/>
              </a:rPr>
              <a:t>basa</a:t>
            </a:r>
            <a:r>
              <a:rPr sz="4000" b="1" spc="-25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4000" b="1" spc="145" dirty="0">
                <a:solidFill>
                  <a:srgbClr val="0030B8"/>
                </a:solidFill>
                <a:latin typeface="Tahoma"/>
                <a:cs typeface="Tahoma"/>
              </a:rPr>
              <a:t>en</a:t>
            </a:r>
            <a:r>
              <a:rPr sz="4000" b="1" spc="-35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4000" b="1" spc="-25" dirty="0">
                <a:solidFill>
                  <a:srgbClr val="0030B8"/>
                </a:solidFill>
                <a:latin typeface="Tahoma"/>
                <a:cs typeface="Tahoma"/>
              </a:rPr>
              <a:t>las </a:t>
            </a:r>
            <a:r>
              <a:rPr sz="4000" b="1" spc="125" dirty="0">
                <a:solidFill>
                  <a:srgbClr val="0030B8"/>
                </a:solidFill>
                <a:latin typeface="Tahoma"/>
                <a:cs typeface="Tahoma"/>
              </a:rPr>
              <a:t>preguntas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89245" y="4764988"/>
            <a:ext cx="5100955" cy="696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2CDAFF"/>
                </a:solidFill>
                <a:latin typeface="Verdana"/>
                <a:cs typeface="Verdana"/>
              </a:rPr>
              <a:t>¿Cuáles</a:t>
            </a:r>
            <a:r>
              <a:rPr sz="2200" spc="-16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2CDAFF"/>
                </a:solidFill>
                <a:latin typeface="Verdana"/>
                <a:cs typeface="Verdana"/>
              </a:rPr>
              <a:t>son</a:t>
            </a:r>
            <a:r>
              <a:rPr sz="2200" spc="-16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200" spc="-50" dirty="0">
                <a:solidFill>
                  <a:srgbClr val="2CDAFF"/>
                </a:solidFill>
                <a:latin typeface="Verdana"/>
                <a:cs typeface="Verdana"/>
              </a:rPr>
              <a:t>las</a:t>
            </a:r>
            <a:r>
              <a:rPr sz="2200" spc="-165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2CDAFF"/>
                </a:solidFill>
                <a:latin typeface="Verdana"/>
                <a:cs typeface="Verdana"/>
              </a:rPr>
              <a:t>miradas</a:t>
            </a:r>
            <a:r>
              <a:rPr sz="2200" spc="-135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200" spc="-125" dirty="0">
                <a:solidFill>
                  <a:srgbClr val="2CDAFF"/>
                </a:solidFill>
                <a:latin typeface="Verdana"/>
                <a:cs typeface="Verdana"/>
              </a:rPr>
              <a:t>y</a:t>
            </a:r>
            <a:r>
              <a:rPr sz="2200" spc="-16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2CDAFF"/>
                </a:solidFill>
                <a:latin typeface="Verdana"/>
                <a:cs typeface="Verdana"/>
              </a:rPr>
              <a:t>preguntas</a:t>
            </a:r>
            <a:endParaRPr sz="2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200" spc="65" dirty="0">
                <a:solidFill>
                  <a:srgbClr val="2CDAFF"/>
                </a:solidFill>
                <a:latin typeface="Verdana"/>
                <a:cs typeface="Verdana"/>
              </a:rPr>
              <a:t>que</a:t>
            </a:r>
            <a:r>
              <a:rPr sz="2200" spc="-18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200" spc="-30" dirty="0">
                <a:solidFill>
                  <a:srgbClr val="2CDAFF"/>
                </a:solidFill>
                <a:latin typeface="Verdana"/>
                <a:cs typeface="Verdana"/>
              </a:rPr>
              <a:t>realizo</a:t>
            </a:r>
            <a:r>
              <a:rPr sz="2200" spc="-165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200" dirty="0">
                <a:solidFill>
                  <a:srgbClr val="2CDAFF"/>
                </a:solidFill>
                <a:latin typeface="Verdana"/>
                <a:cs typeface="Verdana"/>
              </a:rPr>
              <a:t>día</a:t>
            </a:r>
            <a:r>
              <a:rPr sz="2200" spc="-165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200" spc="-40" dirty="0">
                <a:solidFill>
                  <a:srgbClr val="2CDAFF"/>
                </a:solidFill>
                <a:latin typeface="Verdana"/>
                <a:cs typeface="Verdana"/>
              </a:rPr>
              <a:t>a</a:t>
            </a:r>
            <a:r>
              <a:rPr sz="2200" spc="-15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200" spc="-20" dirty="0">
                <a:solidFill>
                  <a:srgbClr val="2CDAFF"/>
                </a:solidFill>
                <a:latin typeface="Verdana"/>
                <a:cs typeface="Verdana"/>
              </a:rPr>
              <a:t>día?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4" name="object 4" descr="Human, Head, Man, Male, Cranium, Profile, Question Mark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0055" y="2502407"/>
            <a:ext cx="3413760" cy="4215384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20" dirty="0"/>
              <a:t>Ejemplo</a:t>
            </a:r>
            <a:r>
              <a:rPr spc="15" dirty="0"/>
              <a:t> </a:t>
            </a:r>
            <a:r>
              <a:rPr spc="125" dirty="0"/>
              <a:t>preguntas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73777" y="2459482"/>
            <a:ext cx="14236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2CDAFF"/>
                </a:solidFill>
                <a:latin typeface="Verdana"/>
                <a:cs typeface="Verdana"/>
              </a:rPr>
              <a:t>Ciudadano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7206" y="4016502"/>
            <a:ext cx="247777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Verdana"/>
                <a:cs typeface="Verdana"/>
              </a:rPr>
              <a:t>¿Quiénes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son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mis </a:t>
            </a:r>
            <a:r>
              <a:rPr sz="1400" dirty="0">
                <a:latin typeface="Verdana"/>
                <a:cs typeface="Verdana"/>
              </a:rPr>
              <a:t>ciudadanos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spc="-180" dirty="0">
                <a:latin typeface="Verdana"/>
                <a:cs typeface="Verdana"/>
              </a:rPr>
              <a:t>/</a:t>
            </a:r>
            <a:r>
              <a:rPr sz="140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empresas?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7206" y="4656582"/>
            <a:ext cx="22948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Verdana"/>
                <a:cs typeface="Verdana"/>
              </a:rPr>
              <a:t>¿Qué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los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hace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únicos?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7206" y="5082997"/>
            <a:ext cx="236347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6385" marR="15875" indent="-286385" algn="r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86385" algn="l"/>
              </a:tabLst>
            </a:pPr>
            <a:r>
              <a:rPr sz="1400" dirty="0">
                <a:latin typeface="Verdana"/>
                <a:cs typeface="Verdana"/>
              </a:rPr>
              <a:t>¿Quienes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están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debajo</a:t>
            </a:r>
            <a:endParaRPr sz="14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</a:pPr>
            <a:r>
              <a:rPr sz="1400" dirty="0">
                <a:latin typeface="Verdana"/>
                <a:cs typeface="Verdana"/>
              </a:rPr>
              <a:t>de</a:t>
            </a:r>
            <a:r>
              <a:rPr sz="1400" spc="-90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la</a:t>
            </a:r>
            <a:r>
              <a:rPr sz="1400" spc="-9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línea</a:t>
            </a:r>
            <a:r>
              <a:rPr sz="1400" spc="-7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</a:t>
            </a:r>
            <a:r>
              <a:rPr sz="1400" spc="-8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pobreza?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67206" y="5723635"/>
            <a:ext cx="245046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Verdana"/>
                <a:cs typeface="Verdana"/>
              </a:rPr>
              <a:t>¿A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quiénes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he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apoyado </a:t>
            </a:r>
            <a:r>
              <a:rPr sz="1400" dirty="0">
                <a:latin typeface="Verdana"/>
                <a:cs typeface="Verdana"/>
              </a:rPr>
              <a:t>con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ayudas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económicas </a:t>
            </a:r>
            <a:r>
              <a:rPr sz="1400" spc="-20" dirty="0">
                <a:latin typeface="Verdana"/>
                <a:cs typeface="Verdana"/>
              </a:rPr>
              <a:t>los</a:t>
            </a:r>
            <a:r>
              <a:rPr sz="1400" spc="-7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últimos</a:t>
            </a:r>
            <a:r>
              <a:rPr sz="1400" spc="-100" dirty="0">
                <a:latin typeface="Verdana"/>
                <a:cs typeface="Verdana"/>
              </a:rPr>
              <a:t> </a:t>
            </a:r>
            <a:r>
              <a:rPr sz="1400" spc="-245" dirty="0">
                <a:latin typeface="Verdana"/>
                <a:cs typeface="Verdana"/>
              </a:rPr>
              <a:t>12</a:t>
            </a:r>
            <a:r>
              <a:rPr sz="1400" spc="-9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meses?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60114" y="4016502"/>
            <a:ext cx="223456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Verdana"/>
                <a:cs typeface="Verdana"/>
              </a:rPr>
              <a:t>¿Cuál</a:t>
            </a:r>
            <a:r>
              <a:rPr sz="1400" spc="-120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es</a:t>
            </a:r>
            <a:r>
              <a:rPr sz="1400" spc="-10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el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nivel</a:t>
            </a:r>
            <a:r>
              <a:rPr sz="1400" spc="-100" dirty="0">
                <a:latin typeface="Verdana"/>
                <a:cs typeface="Verdana"/>
              </a:rPr>
              <a:t> </a:t>
            </a:r>
            <a:r>
              <a:rPr sz="1400" spc="-35" dirty="0">
                <a:latin typeface="Verdana"/>
                <a:cs typeface="Verdana"/>
              </a:rPr>
              <a:t>de </a:t>
            </a:r>
            <a:r>
              <a:rPr sz="1400" dirty="0">
                <a:latin typeface="Verdana"/>
                <a:cs typeface="Verdana"/>
              </a:rPr>
              <a:t>vulnerabilidad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mis </a:t>
            </a:r>
            <a:r>
              <a:rPr sz="1400" spc="-10" dirty="0">
                <a:latin typeface="Verdana"/>
                <a:cs typeface="Verdana"/>
              </a:rPr>
              <a:t>ciudadanos?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60114" y="4869941"/>
            <a:ext cx="2712085" cy="880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Verdana"/>
                <a:cs typeface="Verdana"/>
              </a:rPr>
              <a:t>¿Cuál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es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la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probabilidad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de </a:t>
            </a:r>
            <a:r>
              <a:rPr sz="1400" dirty="0">
                <a:latin typeface="Verdana"/>
                <a:cs typeface="Verdana"/>
              </a:rPr>
              <a:t>embarazo</a:t>
            </a:r>
            <a:r>
              <a:rPr sz="1400" spc="7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subsecuente</a:t>
            </a:r>
            <a:r>
              <a:rPr sz="1400" spc="50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en </a:t>
            </a:r>
            <a:r>
              <a:rPr sz="1400" dirty="0">
                <a:latin typeface="Verdana"/>
                <a:cs typeface="Verdana"/>
              </a:rPr>
              <a:t>niñas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spc="-75" dirty="0">
                <a:latin typeface="Verdana"/>
                <a:cs typeface="Verdana"/>
              </a:rPr>
              <a:t>y</a:t>
            </a:r>
            <a:r>
              <a:rPr sz="1400" spc="-9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adolescentes </a:t>
            </a:r>
            <a:r>
              <a:rPr sz="1400" dirty="0">
                <a:latin typeface="Verdana"/>
                <a:cs typeface="Verdana"/>
              </a:rPr>
              <a:t>menores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spc="-45" dirty="0">
                <a:latin typeface="Verdana"/>
                <a:cs typeface="Verdana"/>
              </a:rPr>
              <a:t>20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años?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60114" y="5936996"/>
            <a:ext cx="251269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Verdana"/>
                <a:cs typeface="Verdana"/>
              </a:rPr>
              <a:t>¿Cuáles</a:t>
            </a:r>
            <a:r>
              <a:rPr sz="1400" spc="-10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son</a:t>
            </a:r>
            <a:r>
              <a:rPr sz="1400" spc="-95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los</a:t>
            </a:r>
            <a:r>
              <a:rPr sz="1400" spc="-9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factores clave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que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inciden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en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el </a:t>
            </a:r>
            <a:r>
              <a:rPr sz="1400" dirty="0">
                <a:latin typeface="Verdana"/>
                <a:cs typeface="Verdana"/>
              </a:rPr>
              <a:t>embarazo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subsecuente?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296657" y="4006088"/>
            <a:ext cx="2464435" cy="1092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Verdana"/>
                <a:cs typeface="Verdana"/>
              </a:rPr>
              <a:t>¿Cuál</a:t>
            </a:r>
            <a:r>
              <a:rPr sz="1400" spc="-9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debería</a:t>
            </a:r>
            <a:r>
              <a:rPr sz="1400" spc="-85" dirty="0">
                <a:latin typeface="Verdana"/>
                <a:cs typeface="Verdana"/>
              </a:rPr>
              <a:t> </a:t>
            </a:r>
            <a:r>
              <a:rPr sz="1400" spc="-35" dirty="0">
                <a:latin typeface="Verdana"/>
                <a:cs typeface="Verdana"/>
              </a:rPr>
              <a:t>ser</a:t>
            </a:r>
            <a:r>
              <a:rPr sz="1400" spc="-70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la </a:t>
            </a:r>
            <a:r>
              <a:rPr sz="1400" spc="-10" dirty="0">
                <a:latin typeface="Verdana"/>
                <a:cs typeface="Verdana"/>
              </a:rPr>
              <a:t>oferta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institucional</a:t>
            </a:r>
            <a:r>
              <a:rPr sz="1400" spc="-80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para </a:t>
            </a:r>
            <a:r>
              <a:rPr sz="1400" dirty="0">
                <a:latin typeface="Verdana"/>
                <a:cs typeface="Verdana"/>
              </a:rPr>
              <a:t>disminuir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al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menos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spc="-50" dirty="0">
                <a:latin typeface="Verdana"/>
                <a:cs typeface="Verdana"/>
              </a:rPr>
              <a:t>5 </a:t>
            </a:r>
            <a:r>
              <a:rPr sz="1400" dirty="0">
                <a:latin typeface="Verdana"/>
                <a:cs typeface="Verdana"/>
              </a:rPr>
              <a:t>puntos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la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vulnerabilidad </a:t>
            </a:r>
            <a:r>
              <a:rPr sz="1400" dirty="0">
                <a:latin typeface="Verdana"/>
                <a:cs typeface="Verdana"/>
              </a:rPr>
              <a:t>de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nuestros</a:t>
            </a:r>
            <a:r>
              <a:rPr sz="1400" spc="-85" dirty="0">
                <a:latin typeface="Verdana"/>
                <a:cs typeface="Verdana"/>
              </a:rPr>
              <a:t> </a:t>
            </a:r>
            <a:r>
              <a:rPr sz="1400" spc="40" dirty="0">
                <a:latin typeface="Verdana"/>
                <a:cs typeface="Verdana"/>
              </a:rPr>
              <a:t>NNAJ?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296657" y="5286247"/>
            <a:ext cx="2488565" cy="1093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Verdana"/>
                <a:cs typeface="Verdana"/>
              </a:rPr>
              <a:t>¿Cuál</a:t>
            </a:r>
            <a:r>
              <a:rPr sz="1400" spc="-10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debería</a:t>
            </a:r>
            <a:r>
              <a:rPr sz="1400" spc="-95" dirty="0">
                <a:latin typeface="Verdana"/>
                <a:cs typeface="Verdana"/>
              </a:rPr>
              <a:t> </a:t>
            </a:r>
            <a:r>
              <a:rPr sz="1400" spc="-35" dirty="0">
                <a:latin typeface="Verdana"/>
                <a:cs typeface="Verdana"/>
              </a:rPr>
              <a:t>ser</a:t>
            </a:r>
            <a:r>
              <a:rPr sz="1400" spc="-75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la</a:t>
            </a:r>
            <a:r>
              <a:rPr sz="1400" spc="-100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ruta </a:t>
            </a:r>
            <a:r>
              <a:rPr sz="1400" dirty="0">
                <a:latin typeface="Verdana"/>
                <a:cs typeface="Verdana"/>
              </a:rPr>
              <a:t>de</a:t>
            </a:r>
            <a:r>
              <a:rPr sz="1400" spc="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atención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que </a:t>
            </a:r>
            <a:r>
              <a:rPr sz="1400" dirty="0">
                <a:latin typeface="Verdana"/>
                <a:cs typeface="Verdana"/>
              </a:rPr>
              <a:t>minimiza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el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riesgo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de </a:t>
            </a:r>
            <a:r>
              <a:rPr sz="1400" dirty="0">
                <a:latin typeface="Verdana"/>
                <a:cs typeface="Verdana"/>
              </a:rPr>
              <a:t>embarazo adolescente</a:t>
            </a:r>
            <a:r>
              <a:rPr sz="1400" spc="20" dirty="0">
                <a:latin typeface="Verdana"/>
                <a:cs typeface="Verdana"/>
              </a:rPr>
              <a:t> </a:t>
            </a:r>
            <a:r>
              <a:rPr sz="1400" spc="-50" dirty="0">
                <a:latin typeface="Verdana"/>
                <a:cs typeface="Verdana"/>
              </a:rPr>
              <a:t>y </a:t>
            </a:r>
            <a:r>
              <a:rPr sz="1400" spc="-10" dirty="0">
                <a:latin typeface="Verdana"/>
                <a:cs typeface="Verdana"/>
              </a:rPr>
              <a:t>subsecuente?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71727" y="3037332"/>
            <a:ext cx="2828925" cy="629920"/>
          </a:xfrm>
          <a:custGeom>
            <a:avLst/>
            <a:gdLst/>
            <a:ahLst/>
            <a:cxnLst/>
            <a:rect l="l" t="t" r="r" b="b"/>
            <a:pathLst>
              <a:path w="2828925" h="629920">
                <a:moveTo>
                  <a:pt x="2513838" y="0"/>
                </a:moveTo>
                <a:lnTo>
                  <a:pt x="0" y="0"/>
                </a:lnTo>
                <a:lnTo>
                  <a:pt x="314706" y="314705"/>
                </a:lnTo>
                <a:lnTo>
                  <a:pt x="0" y="629411"/>
                </a:lnTo>
                <a:lnTo>
                  <a:pt x="2513838" y="629411"/>
                </a:lnTo>
                <a:lnTo>
                  <a:pt x="2828544" y="314705"/>
                </a:lnTo>
                <a:lnTo>
                  <a:pt x="2513838" y="0"/>
                </a:lnTo>
                <a:close/>
              </a:path>
            </a:pathLst>
          </a:custGeom>
          <a:solidFill>
            <a:srgbClr val="474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629282" y="3192271"/>
            <a:ext cx="1313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Descriptiva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992879" y="3037332"/>
            <a:ext cx="2828925" cy="629920"/>
          </a:xfrm>
          <a:custGeom>
            <a:avLst/>
            <a:gdLst/>
            <a:ahLst/>
            <a:cxnLst/>
            <a:rect l="l" t="t" r="r" b="b"/>
            <a:pathLst>
              <a:path w="2828925" h="629920">
                <a:moveTo>
                  <a:pt x="2513838" y="0"/>
                </a:moveTo>
                <a:lnTo>
                  <a:pt x="0" y="0"/>
                </a:lnTo>
                <a:lnTo>
                  <a:pt x="314706" y="314705"/>
                </a:lnTo>
                <a:lnTo>
                  <a:pt x="0" y="629411"/>
                </a:lnTo>
                <a:lnTo>
                  <a:pt x="2513838" y="629411"/>
                </a:lnTo>
                <a:lnTo>
                  <a:pt x="2828544" y="314705"/>
                </a:lnTo>
                <a:lnTo>
                  <a:pt x="251383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818379" y="3192271"/>
            <a:ext cx="11766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Predictiva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197852" y="3075432"/>
            <a:ext cx="2781300" cy="629920"/>
          </a:xfrm>
          <a:custGeom>
            <a:avLst/>
            <a:gdLst/>
            <a:ahLst/>
            <a:cxnLst/>
            <a:rect l="l" t="t" r="r" b="b"/>
            <a:pathLst>
              <a:path w="2781300" h="629920">
                <a:moveTo>
                  <a:pt x="2466594" y="0"/>
                </a:moveTo>
                <a:lnTo>
                  <a:pt x="0" y="0"/>
                </a:lnTo>
                <a:lnTo>
                  <a:pt x="314705" y="314705"/>
                </a:lnTo>
                <a:lnTo>
                  <a:pt x="0" y="629411"/>
                </a:lnTo>
                <a:lnTo>
                  <a:pt x="2466594" y="629411"/>
                </a:lnTo>
                <a:lnTo>
                  <a:pt x="2781300" y="314705"/>
                </a:lnTo>
                <a:lnTo>
                  <a:pt x="2466594" y="0"/>
                </a:lnTo>
                <a:close/>
              </a:path>
            </a:pathLst>
          </a:custGeom>
          <a:solidFill>
            <a:srgbClr val="3CBB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899654" y="3230626"/>
            <a:ext cx="13798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Prescriptiva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20" dirty="0"/>
              <a:t>Ejemplo</a:t>
            </a:r>
            <a:r>
              <a:rPr spc="15" dirty="0"/>
              <a:t> </a:t>
            </a:r>
            <a:r>
              <a:rPr spc="125" dirty="0"/>
              <a:t>preguntas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73777" y="2459482"/>
            <a:ext cx="14236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2CDAFF"/>
                </a:solidFill>
                <a:latin typeface="Verdana"/>
                <a:cs typeface="Verdana"/>
              </a:rPr>
              <a:t>Ciudadano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7206" y="4016502"/>
            <a:ext cx="2421255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Verdana"/>
                <a:cs typeface="Verdana"/>
              </a:rPr>
              <a:t>¿Cuántos</a:t>
            </a:r>
            <a:r>
              <a:rPr sz="1400" spc="-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ciudadanos </a:t>
            </a:r>
            <a:r>
              <a:rPr sz="1400" dirty="0">
                <a:latin typeface="Verdana"/>
                <a:cs typeface="Verdana"/>
              </a:rPr>
              <a:t>tengo?</a:t>
            </a:r>
            <a:r>
              <a:rPr sz="1400" spc="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¿En</a:t>
            </a:r>
            <a:r>
              <a:rPr sz="1400" spc="50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que </a:t>
            </a:r>
            <a:r>
              <a:rPr sz="1400" spc="-10" dirty="0">
                <a:latin typeface="Verdana"/>
                <a:cs typeface="Verdana"/>
              </a:rPr>
              <a:t>estratos? </a:t>
            </a:r>
            <a:r>
              <a:rPr sz="1400" dirty="0">
                <a:latin typeface="Verdana"/>
                <a:cs typeface="Verdana"/>
              </a:rPr>
              <a:t>¿Dónde</a:t>
            </a:r>
            <a:r>
              <a:rPr sz="1400" spc="15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están </a:t>
            </a:r>
            <a:r>
              <a:rPr sz="1400" spc="-10" dirty="0">
                <a:latin typeface="Verdana"/>
                <a:cs typeface="Verdana"/>
              </a:rPr>
              <a:t>ubicados?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7206" y="5082997"/>
            <a:ext cx="2421255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Verdana"/>
                <a:cs typeface="Verdana"/>
              </a:rPr>
              <a:t>¿Cuántas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empresas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por </a:t>
            </a:r>
            <a:r>
              <a:rPr sz="1400" dirty="0">
                <a:latin typeface="Verdana"/>
                <a:cs typeface="Verdana"/>
              </a:rPr>
              <a:t>tamaño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operan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en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spc="25" dirty="0">
                <a:latin typeface="Verdana"/>
                <a:cs typeface="Verdana"/>
              </a:rPr>
              <a:t>mi </a:t>
            </a:r>
            <a:r>
              <a:rPr sz="1400" spc="-10" dirty="0">
                <a:latin typeface="Verdana"/>
                <a:cs typeface="Verdana"/>
              </a:rPr>
              <a:t>municipio?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7206" y="5936996"/>
            <a:ext cx="256222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Verdana"/>
                <a:cs typeface="Verdana"/>
              </a:rPr>
              <a:t>¿Cuál</a:t>
            </a:r>
            <a:r>
              <a:rPr sz="1400" spc="-70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es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el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tamaño</a:t>
            </a:r>
            <a:r>
              <a:rPr sz="1400" spc="-8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spc="25" dirty="0">
                <a:latin typeface="Verdana"/>
                <a:cs typeface="Verdana"/>
              </a:rPr>
              <a:t>mi </a:t>
            </a:r>
            <a:r>
              <a:rPr sz="1400" dirty="0">
                <a:latin typeface="Verdana"/>
                <a:cs typeface="Verdana"/>
              </a:rPr>
              <a:t>parque </a:t>
            </a:r>
            <a:r>
              <a:rPr sz="1400" spc="-10" dirty="0">
                <a:latin typeface="Verdana"/>
                <a:cs typeface="Verdana"/>
              </a:rPr>
              <a:t>automotor?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60114" y="4016502"/>
            <a:ext cx="2743835" cy="1092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Verdana"/>
                <a:cs typeface="Verdana"/>
              </a:rPr>
              <a:t>¿Cuál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es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la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probabilidad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de </a:t>
            </a:r>
            <a:r>
              <a:rPr sz="1400" dirty="0">
                <a:latin typeface="Verdana"/>
                <a:cs typeface="Verdana"/>
              </a:rPr>
              <a:t>que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ocurra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spc="50" dirty="0">
                <a:latin typeface="Verdana"/>
                <a:cs typeface="Verdana"/>
              </a:rPr>
              <a:t>un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homicidio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spc="-50" dirty="0">
                <a:latin typeface="Verdana"/>
                <a:cs typeface="Verdana"/>
              </a:rPr>
              <a:t>/ </a:t>
            </a:r>
            <a:r>
              <a:rPr sz="1400" dirty="0">
                <a:latin typeface="Verdana"/>
                <a:cs typeface="Verdana"/>
              </a:rPr>
              <a:t>feminicidio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en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el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polígono </a:t>
            </a:r>
            <a:r>
              <a:rPr sz="1400" spc="-55" dirty="0">
                <a:latin typeface="Verdana"/>
                <a:cs typeface="Verdana"/>
              </a:rPr>
              <a:t>XXX</a:t>
            </a:r>
            <a:r>
              <a:rPr sz="1400" spc="-114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durante</a:t>
            </a:r>
            <a:r>
              <a:rPr sz="1400" spc="-95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los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próximos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spc="-50" dirty="0">
                <a:latin typeface="Verdana"/>
                <a:cs typeface="Verdana"/>
              </a:rPr>
              <a:t>7 </a:t>
            </a:r>
            <a:r>
              <a:rPr sz="1400" spc="-10" dirty="0">
                <a:latin typeface="Verdana"/>
                <a:cs typeface="Verdana"/>
              </a:rPr>
              <a:t>días?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60114" y="5296916"/>
            <a:ext cx="270573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Verdana"/>
                <a:cs typeface="Verdana"/>
              </a:rPr>
              <a:t>¿Cuál</a:t>
            </a:r>
            <a:r>
              <a:rPr sz="1400" spc="-100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es</a:t>
            </a:r>
            <a:r>
              <a:rPr sz="1400" spc="-7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el</a:t>
            </a:r>
            <a:r>
              <a:rPr sz="1400" spc="-9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estado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</a:t>
            </a:r>
            <a:r>
              <a:rPr sz="1400" spc="-90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salud </a:t>
            </a:r>
            <a:r>
              <a:rPr sz="1400" dirty="0">
                <a:latin typeface="Verdana"/>
                <a:cs typeface="Verdana"/>
              </a:rPr>
              <a:t>de</a:t>
            </a:r>
            <a:r>
              <a:rPr sz="1400" spc="-90" dirty="0">
                <a:latin typeface="Verdana"/>
                <a:cs typeface="Verdana"/>
              </a:rPr>
              <a:t> </a:t>
            </a:r>
            <a:r>
              <a:rPr sz="1400" spc="50" dirty="0">
                <a:latin typeface="Verdana"/>
                <a:cs typeface="Verdana"/>
              </a:rPr>
              <a:t>un</a:t>
            </a:r>
            <a:r>
              <a:rPr sz="1400" spc="-9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ciudadano?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60114" y="5936996"/>
            <a:ext cx="281114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Verdana"/>
                <a:cs typeface="Verdana"/>
              </a:rPr>
              <a:t>¿Cuál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es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la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probabilidad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de </a:t>
            </a:r>
            <a:r>
              <a:rPr sz="1400" dirty="0">
                <a:latin typeface="Verdana"/>
                <a:cs typeface="Verdana"/>
              </a:rPr>
              <a:t>que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una</a:t>
            </a:r>
            <a:r>
              <a:rPr sz="1400" spc="-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persona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cambie</a:t>
            </a:r>
            <a:r>
              <a:rPr sz="1400" spc="10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de </a:t>
            </a:r>
            <a:r>
              <a:rPr sz="1400" dirty="0">
                <a:latin typeface="Verdana"/>
                <a:cs typeface="Verdana"/>
              </a:rPr>
              <a:t>estado</a:t>
            </a:r>
            <a:r>
              <a:rPr sz="1400" spc="-8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salud?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96657" y="4006088"/>
            <a:ext cx="247967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Verdana"/>
                <a:cs typeface="Verdana"/>
              </a:rPr>
              <a:t>¿Cuáles</a:t>
            </a:r>
            <a:r>
              <a:rPr sz="1400" spc="-9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cursos</a:t>
            </a:r>
            <a:r>
              <a:rPr sz="1400" spc="-8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debería ofrecer</a:t>
            </a:r>
            <a:r>
              <a:rPr sz="1400" spc="-10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para</a:t>
            </a:r>
            <a:r>
              <a:rPr sz="1400" spc="-105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apoyar</a:t>
            </a:r>
            <a:r>
              <a:rPr sz="1400" spc="-80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a</a:t>
            </a:r>
            <a:r>
              <a:rPr sz="1400" spc="-95" dirty="0">
                <a:latin typeface="Verdana"/>
                <a:cs typeface="Verdana"/>
              </a:rPr>
              <a:t> </a:t>
            </a:r>
            <a:r>
              <a:rPr sz="1400" spc="25" dirty="0">
                <a:latin typeface="Verdana"/>
                <a:cs typeface="Verdana"/>
              </a:rPr>
              <a:t>mi </a:t>
            </a:r>
            <a:r>
              <a:rPr sz="1400" spc="-10" dirty="0">
                <a:latin typeface="Verdana"/>
                <a:cs typeface="Verdana"/>
              </a:rPr>
              <a:t>población?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296657" y="4859527"/>
            <a:ext cx="2547620" cy="1093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Verdana"/>
                <a:cs typeface="Verdana"/>
              </a:rPr>
              <a:t>¿Cuál</a:t>
            </a:r>
            <a:r>
              <a:rPr sz="1400" spc="-9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debería</a:t>
            </a:r>
            <a:r>
              <a:rPr sz="1400" spc="-85" dirty="0">
                <a:latin typeface="Verdana"/>
                <a:cs typeface="Verdana"/>
              </a:rPr>
              <a:t> </a:t>
            </a:r>
            <a:r>
              <a:rPr sz="1400" spc="-35" dirty="0">
                <a:latin typeface="Verdana"/>
                <a:cs typeface="Verdana"/>
              </a:rPr>
              <a:t>ser</a:t>
            </a:r>
            <a:r>
              <a:rPr sz="1400" spc="-70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el </a:t>
            </a:r>
            <a:r>
              <a:rPr sz="1400" dirty="0">
                <a:latin typeface="Verdana"/>
                <a:cs typeface="Verdana"/>
              </a:rPr>
              <a:t>protocolo</a:t>
            </a:r>
            <a:r>
              <a:rPr sz="1400" spc="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</a:t>
            </a:r>
            <a:r>
              <a:rPr sz="1400" spc="2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atención</a:t>
            </a:r>
            <a:r>
              <a:rPr sz="1400" spc="10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en </a:t>
            </a:r>
            <a:r>
              <a:rPr sz="1400" dirty="0">
                <a:latin typeface="Verdana"/>
                <a:cs typeface="Verdana"/>
              </a:rPr>
              <a:t>salud</a:t>
            </a:r>
            <a:r>
              <a:rPr sz="1400" spc="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que</a:t>
            </a:r>
            <a:r>
              <a:rPr sz="1400" spc="-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optimice</a:t>
            </a:r>
            <a:r>
              <a:rPr sz="1400" spc="5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la </a:t>
            </a:r>
            <a:r>
              <a:rPr sz="1400" dirty="0">
                <a:latin typeface="Verdana"/>
                <a:cs typeface="Verdana"/>
              </a:rPr>
              <a:t>recuperación</a:t>
            </a:r>
            <a:r>
              <a:rPr sz="1400" spc="-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</a:t>
            </a:r>
            <a:r>
              <a:rPr sz="1400" spc="30" dirty="0">
                <a:latin typeface="Verdana"/>
                <a:cs typeface="Verdana"/>
              </a:rPr>
              <a:t> </a:t>
            </a:r>
            <a:r>
              <a:rPr sz="1400" spc="25" dirty="0">
                <a:latin typeface="Verdana"/>
                <a:cs typeface="Verdana"/>
              </a:rPr>
              <a:t>mi </a:t>
            </a:r>
            <a:r>
              <a:rPr sz="1400" dirty="0">
                <a:latin typeface="Verdana"/>
                <a:cs typeface="Verdana"/>
              </a:rPr>
              <a:t>paciente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spc="-180" dirty="0">
                <a:latin typeface="Verdana"/>
                <a:cs typeface="Verdana"/>
              </a:rPr>
              <a:t>/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ciudadano?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71727" y="3037332"/>
            <a:ext cx="2828925" cy="629920"/>
          </a:xfrm>
          <a:custGeom>
            <a:avLst/>
            <a:gdLst/>
            <a:ahLst/>
            <a:cxnLst/>
            <a:rect l="l" t="t" r="r" b="b"/>
            <a:pathLst>
              <a:path w="2828925" h="629920">
                <a:moveTo>
                  <a:pt x="2513838" y="0"/>
                </a:moveTo>
                <a:lnTo>
                  <a:pt x="0" y="0"/>
                </a:lnTo>
                <a:lnTo>
                  <a:pt x="314706" y="314705"/>
                </a:lnTo>
                <a:lnTo>
                  <a:pt x="0" y="629411"/>
                </a:lnTo>
                <a:lnTo>
                  <a:pt x="2513838" y="629411"/>
                </a:lnTo>
                <a:lnTo>
                  <a:pt x="2828544" y="314705"/>
                </a:lnTo>
                <a:lnTo>
                  <a:pt x="2513838" y="0"/>
                </a:lnTo>
                <a:close/>
              </a:path>
            </a:pathLst>
          </a:custGeom>
          <a:solidFill>
            <a:srgbClr val="474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629282" y="3192271"/>
            <a:ext cx="1313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Descriptiva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992879" y="3037332"/>
            <a:ext cx="2828925" cy="629920"/>
          </a:xfrm>
          <a:custGeom>
            <a:avLst/>
            <a:gdLst/>
            <a:ahLst/>
            <a:cxnLst/>
            <a:rect l="l" t="t" r="r" b="b"/>
            <a:pathLst>
              <a:path w="2828925" h="629920">
                <a:moveTo>
                  <a:pt x="2513838" y="0"/>
                </a:moveTo>
                <a:lnTo>
                  <a:pt x="0" y="0"/>
                </a:lnTo>
                <a:lnTo>
                  <a:pt x="314706" y="314705"/>
                </a:lnTo>
                <a:lnTo>
                  <a:pt x="0" y="629411"/>
                </a:lnTo>
                <a:lnTo>
                  <a:pt x="2513838" y="629411"/>
                </a:lnTo>
                <a:lnTo>
                  <a:pt x="2828544" y="314705"/>
                </a:lnTo>
                <a:lnTo>
                  <a:pt x="251383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818379" y="3192271"/>
            <a:ext cx="11766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Predictiva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197852" y="3075432"/>
            <a:ext cx="2781300" cy="629920"/>
          </a:xfrm>
          <a:custGeom>
            <a:avLst/>
            <a:gdLst/>
            <a:ahLst/>
            <a:cxnLst/>
            <a:rect l="l" t="t" r="r" b="b"/>
            <a:pathLst>
              <a:path w="2781300" h="629920">
                <a:moveTo>
                  <a:pt x="2466594" y="0"/>
                </a:moveTo>
                <a:lnTo>
                  <a:pt x="0" y="0"/>
                </a:lnTo>
                <a:lnTo>
                  <a:pt x="314705" y="314705"/>
                </a:lnTo>
                <a:lnTo>
                  <a:pt x="0" y="629411"/>
                </a:lnTo>
                <a:lnTo>
                  <a:pt x="2466594" y="629411"/>
                </a:lnTo>
                <a:lnTo>
                  <a:pt x="2781300" y="314705"/>
                </a:lnTo>
                <a:lnTo>
                  <a:pt x="2466594" y="0"/>
                </a:lnTo>
                <a:close/>
              </a:path>
            </a:pathLst>
          </a:custGeom>
          <a:solidFill>
            <a:srgbClr val="3CBB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899654" y="3230626"/>
            <a:ext cx="13798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Prescriptiva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20" dirty="0"/>
              <a:t>Ejemplo</a:t>
            </a:r>
            <a:r>
              <a:rPr spc="15" dirty="0"/>
              <a:t> </a:t>
            </a:r>
            <a:r>
              <a:rPr spc="125" dirty="0"/>
              <a:t>preguntas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73777" y="2459482"/>
            <a:ext cx="142367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2CDAFF"/>
                </a:solidFill>
                <a:latin typeface="Verdana"/>
                <a:cs typeface="Verdana"/>
              </a:rPr>
              <a:t>Ciudadano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7206" y="4016502"/>
            <a:ext cx="254635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Verdana"/>
                <a:cs typeface="Verdana"/>
              </a:rPr>
              <a:t>¿Cuántos</a:t>
            </a:r>
            <a:r>
              <a:rPr sz="1400" spc="-8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niños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spc="-75" dirty="0">
                <a:latin typeface="Verdana"/>
                <a:cs typeface="Verdana"/>
              </a:rPr>
              <a:t>y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niñas </a:t>
            </a:r>
            <a:r>
              <a:rPr sz="1400" dirty="0">
                <a:latin typeface="Verdana"/>
                <a:cs typeface="Verdana"/>
              </a:rPr>
              <a:t>están</a:t>
            </a:r>
            <a:r>
              <a:rPr sz="1400" spc="-114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en</a:t>
            </a:r>
            <a:r>
              <a:rPr sz="1400" spc="-9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riesgo</a:t>
            </a:r>
            <a:r>
              <a:rPr sz="1400" spc="-90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de </a:t>
            </a:r>
            <a:r>
              <a:rPr sz="1400" dirty="0">
                <a:latin typeface="Verdana"/>
                <a:cs typeface="Verdana"/>
              </a:rPr>
              <a:t>desnutrición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por</a:t>
            </a:r>
            <a:r>
              <a:rPr sz="1400" spc="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déficit </a:t>
            </a:r>
            <a:r>
              <a:rPr sz="1400" spc="-50" dirty="0">
                <a:latin typeface="Verdana"/>
                <a:cs typeface="Verdana"/>
              </a:rPr>
              <a:t>o </a:t>
            </a:r>
            <a:r>
              <a:rPr sz="1400" spc="-10" dirty="0">
                <a:latin typeface="Verdana"/>
                <a:cs typeface="Verdana"/>
              </a:rPr>
              <a:t>exceso?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7206" y="5082997"/>
            <a:ext cx="2159635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Verdana"/>
                <a:cs typeface="Verdana"/>
              </a:rPr>
              <a:t>¿Quiénes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están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en </a:t>
            </a:r>
            <a:r>
              <a:rPr sz="1400" dirty="0">
                <a:latin typeface="Verdana"/>
                <a:cs typeface="Verdana"/>
              </a:rPr>
              <a:t>programas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</a:t>
            </a:r>
            <a:r>
              <a:rPr sz="1400" spc="-20" dirty="0">
                <a:latin typeface="Verdana"/>
                <a:cs typeface="Verdana"/>
              </a:rPr>
              <a:t> apoyo </a:t>
            </a:r>
            <a:r>
              <a:rPr sz="1400" spc="-10" dirty="0">
                <a:latin typeface="Verdana"/>
                <a:cs typeface="Verdana"/>
              </a:rPr>
              <a:t>alimentario?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7206" y="5936996"/>
            <a:ext cx="2409190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Verdana"/>
                <a:cs typeface="Verdana"/>
              </a:rPr>
              <a:t>¿Cuántos</a:t>
            </a:r>
            <a:r>
              <a:rPr sz="1400" spc="-8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ellos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han </a:t>
            </a:r>
            <a:r>
              <a:rPr sz="1400" dirty="0">
                <a:latin typeface="Verdana"/>
                <a:cs typeface="Verdana"/>
              </a:rPr>
              <a:t>cambiado</a:t>
            </a:r>
            <a:r>
              <a:rPr sz="1400" spc="-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</a:t>
            </a:r>
            <a:r>
              <a:rPr sz="1400" spc="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estado</a:t>
            </a:r>
            <a:r>
              <a:rPr sz="1400" spc="-15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de </a:t>
            </a:r>
            <a:r>
              <a:rPr sz="1400" spc="-10" dirty="0">
                <a:latin typeface="Verdana"/>
                <a:cs typeface="Verdana"/>
              </a:rPr>
              <a:t>nutrición?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60114" y="4016502"/>
            <a:ext cx="283400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Verdana"/>
                <a:cs typeface="Verdana"/>
              </a:rPr>
              <a:t>¿Quiénes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están</a:t>
            </a:r>
            <a:r>
              <a:rPr sz="1400" spc="-8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en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riesgo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de </a:t>
            </a:r>
            <a:r>
              <a:rPr sz="1400" dirty="0">
                <a:latin typeface="Verdana"/>
                <a:cs typeface="Verdana"/>
              </a:rPr>
              <a:t>desnutrición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spc="-75" dirty="0">
                <a:latin typeface="Verdana"/>
                <a:cs typeface="Verdana"/>
              </a:rPr>
              <a:t>y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no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los </a:t>
            </a:r>
            <a:r>
              <a:rPr sz="1400" spc="-10" dirty="0">
                <a:latin typeface="Verdana"/>
                <a:cs typeface="Verdana"/>
              </a:rPr>
              <a:t>conocemos?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60114" y="4869941"/>
            <a:ext cx="2884170" cy="666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6545" marR="5080" indent="-28448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Verdana"/>
                <a:cs typeface="Verdana"/>
              </a:rPr>
              <a:t>¿Cuáles</a:t>
            </a:r>
            <a:r>
              <a:rPr sz="1400" spc="-8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son</a:t>
            </a:r>
            <a:r>
              <a:rPr sz="1400" spc="-70" dirty="0">
                <a:latin typeface="Verdana"/>
                <a:cs typeface="Verdana"/>
              </a:rPr>
              <a:t> </a:t>
            </a:r>
            <a:r>
              <a:rPr sz="1400" spc="-30" dirty="0">
                <a:latin typeface="Verdana"/>
                <a:cs typeface="Verdana"/>
              </a:rPr>
              <a:t>los</a:t>
            </a:r>
            <a:r>
              <a:rPr sz="1400" spc="-7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factores</a:t>
            </a:r>
            <a:r>
              <a:rPr sz="1400" spc="-114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más 	</a:t>
            </a:r>
            <a:r>
              <a:rPr sz="1400" spc="-20" dirty="0">
                <a:latin typeface="Verdana"/>
                <a:cs typeface="Verdana"/>
              </a:rPr>
              <a:t>relevantes</a:t>
            </a:r>
            <a:r>
              <a:rPr sz="1400" spc="-7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en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spc="-45" dirty="0">
                <a:latin typeface="Verdana"/>
                <a:cs typeface="Verdana"/>
              </a:rPr>
              <a:t>la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desnutrición 	</a:t>
            </a:r>
            <a:r>
              <a:rPr sz="1400" dirty="0">
                <a:latin typeface="Verdana"/>
                <a:cs typeface="Verdana"/>
              </a:rPr>
              <a:t>de</a:t>
            </a:r>
            <a:r>
              <a:rPr sz="1400" spc="-100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los</a:t>
            </a:r>
            <a:r>
              <a:rPr sz="1400" spc="-80" dirty="0">
                <a:latin typeface="Verdana"/>
                <a:cs typeface="Verdana"/>
              </a:rPr>
              <a:t> </a:t>
            </a:r>
            <a:r>
              <a:rPr sz="1400" spc="80" dirty="0">
                <a:latin typeface="Verdana"/>
                <a:cs typeface="Verdana"/>
              </a:rPr>
              <a:t>NN</a:t>
            </a:r>
            <a:r>
              <a:rPr sz="1400" spc="-9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</a:t>
            </a:r>
            <a:r>
              <a:rPr sz="1400" spc="-95" dirty="0">
                <a:latin typeface="Verdana"/>
                <a:cs typeface="Verdana"/>
              </a:rPr>
              <a:t> </a:t>
            </a:r>
            <a:r>
              <a:rPr sz="1400" spc="50" dirty="0">
                <a:latin typeface="Verdana"/>
                <a:cs typeface="Verdana"/>
              </a:rPr>
              <a:t>mi</a:t>
            </a:r>
            <a:r>
              <a:rPr sz="1400" spc="-10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municipio?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60114" y="5723635"/>
            <a:ext cx="2712085" cy="1093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Verdana"/>
                <a:cs typeface="Verdana"/>
              </a:rPr>
              <a:t>¿Cuál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es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la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probabilidad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de </a:t>
            </a:r>
            <a:r>
              <a:rPr sz="1400" dirty="0">
                <a:latin typeface="Verdana"/>
                <a:cs typeface="Verdana"/>
              </a:rPr>
              <a:t>que</a:t>
            </a:r>
            <a:r>
              <a:rPr sz="1400" spc="-80" dirty="0">
                <a:latin typeface="Verdana"/>
                <a:cs typeface="Verdana"/>
              </a:rPr>
              <a:t> </a:t>
            </a:r>
            <a:r>
              <a:rPr sz="1400" spc="50" dirty="0">
                <a:latin typeface="Verdana"/>
                <a:cs typeface="Verdana"/>
              </a:rPr>
              <a:t>un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niño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mejore</a:t>
            </a:r>
            <a:r>
              <a:rPr sz="1400" spc="-70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su </a:t>
            </a:r>
            <a:r>
              <a:rPr sz="1400" dirty="0">
                <a:latin typeface="Verdana"/>
                <a:cs typeface="Verdana"/>
              </a:rPr>
              <a:t>estado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</a:t>
            </a:r>
            <a:r>
              <a:rPr sz="1400" spc="-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nutrición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al </a:t>
            </a:r>
            <a:r>
              <a:rPr sz="1400" dirty="0">
                <a:latin typeface="Verdana"/>
                <a:cs typeface="Verdana"/>
              </a:rPr>
              <a:t>incluirlo</a:t>
            </a:r>
            <a:r>
              <a:rPr sz="1400" spc="-9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en</a:t>
            </a:r>
            <a:r>
              <a:rPr sz="1400" spc="-80" dirty="0">
                <a:latin typeface="Verdana"/>
                <a:cs typeface="Verdana"/>
              </a:rPr>
              <a:t> </a:t>
            </a:r>
            <a:r>
              <a:rPr sz="1400" spc="50" dirty="0">
                <a:latin typeface="Verdana"/>
                <a:cs typeface="Verdana"/>
              </a:rPr>
              <a:t>un</a:t>
            </a:r>
            <a:r>
              <a:rPr sz="1400" spc="-8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programa especifico?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96657" y="4006088"/>
            <a:ext cx="2489835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Verdana"/>
                <a:cs typeface="Verdana"/>
              </a:rPr>
              <a:t>¿Cuál</a:t>
            </a:r>
            <a:r>
              <a:rPr sz="1400" spc="-10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debería</a:t>
            </a:r>
            <a:r>
              <a:rPr sz="1400" spc="-95" dirty="0">
                <a:latin typeface="Verdana"/>
                <a:cs typeface="Verdana"/>
              </a:rPr>
              <a:t> </a:t>
            </a:r>
            <a:r>
              <a:rPr sz="1400" spc="-35" dirty="0">
                <a:latin typeface="Verdana"/>
                <a:cs typeface="Verdana"/>
              </a:rPr>
              <a:t>ser</a:t>
            </a:r>
            <a:r>
              <a:rPr sz="1400" spc="-75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la</a:t>
            </a:r>
            <a:r>
              <a:rPr sz="1400" spc="-100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ruta </a:t>
            </a:r>
            <a:r>
              <a:rPr sz="1400" dirty="0">
                <a:latin typeface="Verdana"/>
                <a:cs typeface="Verdana"/>
              </a:rPr>
              <a:t>de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atención</a:t>
            </a:r>
            <a:r>
              <a:rPr sz="1400" spc="-80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a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los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niños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spc="-50" dirty="0">
                <a:latin typeface="Verdana"/>
                <a:cs typeface="Verdana"/>
              </a:rPr>
              <a:t>y </a:t>
            </a:r>
            <a:r>
              <a:rPr sz="1400" dirty="0">
                <a:latin typeface="Verdana"/>
                <a:cs typeface="Verdana"/>
              </a:rPr>
              <a:t>niñas</a:t>
            </a:r>
            <a:r>
              <a:rPr sz="1400" spc="-7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en</a:t>
            </a:r>
            <a:r>
              <a:rPr sz="1400" spc="-7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estado</a:t>
            </a:r>
            <a:r>
              <a:rPr sz="1400" spc="-95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de </a:t>
            </a:r>
            <a:r>
              <a:rPr sz="1400" dirty="0">
                <a:latin typeface="Verdana"/>
                <a:cs typeface="Verdana"/>
              </a:rPr>
              <a:t>desnutrición</a:t>
            </a:r>
            <a:r>
              <a:rPr sz="1400" spc="-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aguda</a:t>
            </a:r>
            <a:r>
              <a:rPr sz="1400" spc="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o</a:t>
            </a:r>
            <a:r>
              <a:rPr sz="1400" spc="15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en </a:t>
            </a:r>
            <a:r>
              <a:rPr sz="1400" dirty="0">
                <a:latin typeface="Verdana"/>
                <a:cs typeface="Verdana"/>
              </a:rPr>
              <a:t>riesgo</a:t>
            </a:r>
            <a:r>
              <a:rPr sz="1400" spc="-8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</a:t>
            </a:r>
            <a:r>
              <a:rPr sz="1400" spc="-8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desnutrición </a:t>
            </a:r>
            <a:r>
              <a:rPr sz="1400" dirty="0">
                <a:latin typeface="Verdana"/>
                <a:cs typeface="Verdana"/>
              </a:rPr>
              <a:t>por</a:t>
            </a:r>
            <a:r>
              <a:rPr sz="1400" spc="-7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déficit</a:t>
            </a:r>
            <a:r>
              <a:rPr sz="1400" spc="-7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o</a:t>
            </a:r>
            <a:r>
              <a:rPr sz="1400" spc="-8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exceso?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296657" y="5499912"/>
            <a:ext cx="2545715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Verdana"/>
                <a:cs typeface="Verdana"/>
              </a:rPr>
              <a:t>¿Cuál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spc="-30" dirty="0">
                <a:latin typeface="Verdana"/>
                <a:cs typeface="Verdana"/>
              </a:rPr>
              <a:t>sería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el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impacto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de </a:t>
            </a:r>
            <a:r>
              <a:rPr sz="1400" dirty="0">
                <a:latin typeface="Verdana"/>
                <a:cs typeface="Verdana"/>
              </a:rPr>
              <a:t>introducir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una </a:t>
            </a:r>
            <a:r>
              <a:rPr sz="1400" spc="-10" dirty="0">
                <a:latin typeface="Verdana"/>
                <a:cs typeface="Verdana"/>
              </a:rPr>
              <a:t>nueva </a:t>
            </a:r>
            <a:r>
              <a:rPr sz="1400" dirty="0">
                <a:latin typeface="Verdana"/>
                <a:cs typeface="Verdana"/>
              </a:rPr>
              <a:t>estrategia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de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atención</a:t>
            </a:r>
            <a:r>
              <a:rPr sz="1400" spc="-50" dirty="0">
                <a:latin typeface="Verdana"/>
                <a:cs typeface="Verdana"/>
              </a:rPr>
              <a:t> a </a:t>
            </a:r>
            <a:r>
              <a:rPr sz="1400" spc="-25" dirty="0">
                <a:latin typeface="Verdana"/>
                <a:cs typeface="Verdana"/>
              </a:rPr>
              <a:t>la</a:t>
            </a:r>
            <a:r>
              <a:rPr sz="1400" spc="-12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niñez?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71727" y="3037332"/>
            <a:ext cx="2828925" cy="629920"/>
          </a:xfrm>
          <a:custGeom>
            <a:avLst/>
            <a:gdLst/>
            <a:ahLst/>
            <a:cxnLst/>
            <a:rect l="l" t="t" r="r" b="b"/>
            <a:pathLst>
              <a:path w="2828925" h="629920">
                <a:moveTo>
                  <a:pt x="2513838" y="0"/>
                </a:moveTo>
                <a:lnTo>
                  <a:pt x="0" y="0"/>
                </a:lnTo>
                <a:lnTo>
                  <a:pt x="314706" y="314705"/>
                </a:lnTo>
                <a:lnTo>
                  <a:pt x="0" y="629411"/>
                </a:lnTo>
                <a:lnTo>
                  <a:pt x="2513838" y="629411"/>
                </a:lnTo>
                <a:lnTo>
                  <a:pt x="2828544" y="314705"/>
                </a:lnTo>
                <a:lnTo>
                  <a:pt x="2513838" y="0"/>
                </a:lnTo>
                <a:close/>
              </a:path>
            </a:pathLst>
          </a:custGeom>
          <a:solidFill>
            <a:srgbClr val="474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629282" y="3192271"/>
            <a:ext cx="1313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Descriptiva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992879" y="3037332"/>
            <a:ext cx="2828925" cy="629920"/>
          </a:xfrm>
          <a:custGeom>
            <a:avLst/>
            <a:gdLst/>
            <a:ahLst/>
            <a:cxnLst/>
            <a:rect l="l" t="t" r="r" b="b"/>
            <a:pathLst>
              <a:path w="2828925" h="629920">
                <a:moveTo>
                  <a:pt x="2513838" y="0"/>
                </a:moveTo>
                <a:lnTo>
                  <a:pt x="0" y="0"/>
                </a:lnTo>
                <a:lnTo>
                  <a:pt x="314706" y="314705"/>
                </a:lnTo>
                <a:lnTo>
                  <a:pt x="0" y="629411"/>
                </a:lnTo>
                <a:lnTo>
                  <a:pt x="2513838" y="629411"/>
                </a:lnTo>
                <a:lnTo>
                  <a:pt x="2828544" y="314705"/>
                </a:lnTo>
                <a:lnTo>
                  <a:pt x="2513838" y="0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818379" y="3192271"/>
            <a:ext cx="11766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Predictiva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197852" y="3075432"/>
            <a:ext cx="2781300" cy="629920"/>
          </a:xfrm>
          <a:custGeom>
            <a:avLst/>
            <a:gdLst/>
            <a:ahLst/>
            <a:cxnLst/>
            <a:rect l="l" t="t" r="r" b="b"/>
            <a:pathLst>
              <a:path w="2781300" h="629920">
                <a:moveTo>
                  <a:pt x="2466594" y="0"/>
                </a:moveTo>
                <a:lnTo>
                  <a:pt x="0" y="0"/>
                </a:lnTo>
                <a:lnTo>
                  <a:pt x="314705" y="314705"/>
                </a:lnTo>
                <a:lnTo>
                  <a:pt x="0" y="629411"/>
                </a:lnTo>
                <a:lnTo>
                  <a:pt x="2466594" y="629411"/>
                </a:lnTo>
                <a:lnTo>
                  <a:pt x="2781300" y="314705"/>
                </a:lnTo>
                <a:lnTo>
                  <a:pt x="2466594" y="0"/>
                </a:lnTo>
                <a:close/>
              </a:path>
            </a:pathLst>
          </a:custGeom>
          <a:solidFill>
            <a:srgbClr val="3CBB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899654" y="3230626"/>
            <a:ext cx="13798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Prescriptiva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Analítica:</a:t>
            </a:r>
            <a:r>
              <a:rPr spc="365" dirty="0"/>
              <a:t> </a:t>
            </a:r>
            <a:r>
              <a:rPr spc="135" dirty="0"/>
              <a:t>implementación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71372" y="3183635"/>
            <a:ext cx="8793480" cy="3489960"/>
            <a:chOff x="1071372" y="3183635"/>
            <a:chExt cx="8793480" cy="3489960"/>
          </a:xfrm>
        </p:grpSpPr>
        <p:sp>
          <p:nvSpPr>
            <p:cNvPr id="4" name="object 4"/>
            <p:cNvSpPr/>
            <p:nvPr/>
          </p:nvSpPr>
          <p:spPr>
            <a:xfrm>
              <a:off x="1071372" y="3183635"/>
              <a:ext cx="5584190" cy="563880"/>
            </a:xfrm>
            <a:custGeom>
              <a:avLst/>
              <a:gdLst/>
              <a:ahLst/>
              <a:cxnLst/>
              <a:rect l="l" t="t" r="r" b="b"/>
              <a:pathLst>
                <a:path w="5584190" h="563879">
                  <a:moveTo>
                    <a:pt x="5489956" y="0"/>
                  </a:moveTo>
                  <a:lnTo>
                    <a:pt x="93980" y="0"/>
                  </a:lnTo>
                  <a:lnTo>
                    <a:pt x="57398" y="7379"/>
                  </a:lnTo>
                  <a:lnTo>
                    <a:pt x="27525" y="27511"/>
                  </a:lnTo>
                  <a:lnTo>
                    <a:pt x="7385" y="57382"/>
                  </a:lnTo>
                  <a:lnTo>
                    <a:pt x="0" y="93979"/>
                  </a:lnTo>
                  <a:lnTo>
                    <a:pt x="0" y="469900"/>
                  </a:lnTo>
                  <a:lnTo>
                    <a:pt x="7385" y="506497"/>
                  </a:lnTo>
                  <a:lnTo>
                    <a:pt x="27525" y="536368"/>
                  </a:lnTo>
                  <a:lnTo>
                    <a:pt x="57398" y="556500"/>
                  </a:lnTo>
                  <a:lnTo>
                    <a:pt x="93980" y="563880"/>
                  </a:lnTo>
                  <a:lnTo>
                    <a:pt x="5489956" y="563880"/>
                  </a:lnTo>
                  <a:lnTo>
                    <a:pt x="5526553" y="556500"/>
                  </a:lnTo>
                  <a:lnTo>
                    <a:pt x="5556424" y="536368"/>
                  </a:lnTo>
                  <a:lnTo>
                    <a:pt x="5576556" y="506497"/>
                  </a:lnTo>
                  <a:lnTo>
                    <a:pt x="5583935" y="469900"/>
                  </a:lnTo>
                  <a:lnTo>
                    <a:pt x="5583935" y="93979"/>
                  </a:lnTo>
                  <a:lnTo>
                    <a:pt x="5576556" y="57382"/>
                  </a:lnTo>
                  <a:lnTo>
                    <a:pt x="5556424" y="27511"/>
                  </a:lnTo>
                  <a:lnTo>
                    <a:pt x="5526553" y="7379"/>
                  </a:lnTo>
                  <a:lnTo>
                    <a:pt x="5489956" y="0"/>
                  </a:lnTo>
                  <a:close/>
                </a:path>
              </a:pathLst>
            </a:custGeom>
            <a:solidFill>
              <a:srgbClr val="3366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22476" y="3970019"/>
              <a:ext cx="6689090" cy="1346200"/>
            </a:xfrm>
            <a:custGeom>
              <a:avLst/>
              <a:gdLst/>
              <a:ahLst/>
              <a:cxnLst/>
              <a:rect l="l" t="t" r="r" b="b"/>
              <a:pathLst>
                <a:path w="6689090" h="1346200">
                  <a:moveTo>
                    <a:pt x="5999988" y="112014"/>
                  </a:moveTo>
                  <a:lnTo>
                    <a:pt x="5991174" y="68427"/>
                  </a:lnTo>
                  <a:lnTo>
                    <a:pt x="5967171" y="32816"/>
                  </a:lnTo>
                  <a:lnTo>
                    <a:pt x="5931560" y="8813"/>
                  </a:lnTo>
                  <a:lnTo>
                    <a:pt x="5887974" y="0"/>
                  </a:lnTo>
                  <a:lnTo>
                    <a:pt x="112001" y="0"/>
                  </a:lnTo>
                  <a:lnTo>
                    <a:pt x="68414" y="8813"/>
                  </a:lnTo>
                  <a:lnTo>
                    <a:pt x="32804" y="32816"/>
                  </a:lnTo>
                  <a:lnTo>
                    <a:pt x="8801" y="68427"/>
                  </a:lnTo>
                  <a:lnTo>
                    <a:pt x="0" y="112014"/>
                  </a:lnTo>
                  <a:lnTo>
                    <a:pt x="0" y="560070"/>
                  </a:lnTo>
                  <a:lnTo>
                    <a:pt x="8801" y="603669"/>
                  </a:lnTo>
                  <a:lnTo>
                    <a:pt x="32804" y="639279"/>
                  </a:lnTo>
                  <a:lnTo>
                    <a:pt x="68414" y="663282"/>
                  </a:lnTo>
                  <a:lnTo>
                    <a:pt x="112001" y="672084"/>
                  </a:lnTo>
                  <a:lnTo>
                    <a:pt x="5887974" y="672084"/>
                  </a:lnTo>
                  <a:lnTo>
                    <a:pt x="5931560" y="663282"/>
                  </a:lnTo>
                  <a:lnTo>
                    <a:pt x="5967171" y="639279"/>
                  </a:lnTo>
                  <a:lnTo>
                    <a:pt x="5991174" y="603669"/>
                  </a:lnTo>
                  <a:lnTo>
                    <a:pt x="5999988" y="560070"/>
                  </a:lnTo>
                  <a:lnTo>
                    <a:pt x="5999988" y="112014"/>
                  </a:lnTo>
                  <a:close/>
                </a:path>
                <a:path w="6689090" h="1346200">
                  <a:moveTo>
                    <a:pt x="6688836" y="908812"/>
                  </a:moveTo>
                  <a:lnTo>
                    <a:pt x="6681965" y="874801"/>
                  </a:lnTo>
                  <a:lnTo>
                    <a:pt x="6663245" y="847039"/>
                  </a:lnTo>
                  <a:lnTo>
                    <a:pt x="6635470" y="828306"/>
                  </a:lnTo>
                  <a:lnTo>
                    <a:pt x="6601460" y="821436"/>
                  </a:lnTo>
                  <a:lnTo>
                    <a:pt x="919480" y="821436"/>
                  </a:lnTo>
                  <a:lnTo>
                    <a:pt x="885456" y="828306"/>
                  </a:lnTo>
                  <a:lnTo>
                    <a:pt x="857694" y="847039"/>
                  </a:lnTo>
                  <a:lnTo>
                    <a:pt x="838962" y="874801"/>
                  </a:lnTo>
                  <a:lnTo>
                    <a:pt x="832104" y="908812"/>
                  </a:lnTo>
                  <a:lnTo>
                    <a:pt x="832104" y="1258316"/>
                  </a:lnTo>
                  <a:lnTo>
                    <a:pt x="838962" y="1292339"/>
                  </a:lnTo>
                  <a:lnTo>
                    <a:pt x="857694" y="1320101"/>
                  </a:lnTo>
                  <a:lnTo>
                    <a:pt x="885456" y="1338834"/>
                  </a:lnTo>
                  <a:lnTo>
                    <a:pt x="919480" y="1345692"/>
                  </a:lnTo>
                  <a:lnTo>
                    <a:pt x="6601460" y="1345692"/>
                  </a:lnTo>
                  <a:lnTo>
                    <a:pt x="6635470" y="1338834"/>
                  </a:lnTo>
                  <a:lnTo>
                    <a:pt x="6663245" y="1320101"/>
                  </a:lnTo>
                  <a:lnTo>
                    <a:pt x="6681965" y="1292339"/>
                  </a:lnTo>
                  <a:lnTo>
                    <a:pt x="6688836" y="1258316"/>
                  </a:lnTo>
                  <a:lnTo>
                    <a:pt x="6688836" y="908812"/>
                  </a:lnTo>
                  <a:close/>
                </a:path>
              </a:pathLst>
            </a:custGeom>
            <a:solidFill>
              <a:srgbClr val="474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081527" y="5457443"/>
              <a:ext cx="6337300" cy="573405"/>
            </a:xfrm>
            <a:custGeom>
              <a:avLst/>
              <a:gdLst/>
              <a:ahLst/>
              <a:cxnLst/>
              <a:rect l="l" t="t" r="r" b="b"/>
              <a:pathLst>
                <a:path w="6337300" h="573404">
                  <a:moveTo>
                    <a:pt x="6241288" y="0"/>
                  </a:moveTo>
                  <a:lnTo>
                    <a:pt x="95504" y="0"/>
                  </a:lnTo>
                  <a:lnTo>
                    <a:pt x="58346" y="7510"/>
                  </a:lnTo>
                  <a:lnTo>
                    <a:pt x="27987" y="27987"/>
                  </a:lnTo>
                  <a:lnTo>
                    <a:pt x="7510" y="58346"/>
                  </a:lnTo>
                  <a:lnTo>
                    <a:pt x="0" y="95503"/>
                  </a:lnTo>
                  <a:lnTo>
                    <a:pt x="0" y="477519"/>
                  </a:lnTo>
                  <a:lnTo>
                    <a:pt x="7510" y="514693"/>
                  </a:lnTo>
                  <a:lnTo>
                    <a:pt x="27987" y="545050"/>
                  </a:lnTo>
                  <a:lnTo>
                    <a:pt x="58346" y="565518"/>
                  </a:lnTo>
                  <a:lnTo>
                    <a:pt x="95504" y="573023"/>
                  </a:lnTo>
                  <a:lnTo>
                    <a:pt x="6241288" y="573023"/>
                  </a:lnTo>
                  <a:lnTo>
                    <a:pt x="6278445" y="565518"/>
                  </a:lnTo>
                  <a:lnTo>
                    <a:pt x="6308804" y="545050"/>
                  </a:lnTo>
                  <a:lnTo>
                    <a:pt x="6329281" y="514693"/>
                  </a:lnTo>
                  <a:lnTo>
                    <a:pt x="6336792" y="477519"/>
                  </a:lnTo>
                  <a:lnTo>
                    <a:pt x="6336792" y="95503"/>
                  </a:lnTo>
                  <a:lnTo>
                    <a:pt x="6329281" y="58346"/>
                  </a:lnTo>
                  <a:lnTo>
                    <a:pt x="6308804" y="27987"/>
                  </a:lnTo>
                  <a:lnTo>
                    <a:pt x="6278445" y="7510"/>
                  </a:lnTo>
                  <a:lnTo>
                    <a:pt x="6241288" y="0"/>
                  </a:lnTo>
                  <a:close/>
                </a:path>
              </a:pathLst>
            </a:custGeom>
            <a:solidFill>
              <a:srgbClr val="3CBBA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956304" y="6188963"/>
              <a:ext cx="5908675" cy="485140"/>
            </a:xfrm>
            <a:custGeom>
              <a:avLst/>
              <a:gdLst/>
              <a:ahLst/>
              <a:cxnLst/>
              <a:rect l="l" t="t" r="r" b="b"/>
              <a:pathLst>
                <a:path w="5908675" h="485140">
                  <a:moveTo>
                    <a:pt x="5827776" y="0"/>
                  </a:moveTo>
                  <a:lnTo>
                    <a:pt x="80772" y="0"/>
                  </a:lnTo>
                  <a:lnTo>
                    <a:pt x="49345" y="6346"/>
                  </a:lnTo>
                  <a:lnTo>
                    <a:pt x="23669" y="23655"/>
                  </a:lnTo>
                  <a:lnTo>
                    <a:pt x="6351" y="49329"/>
                  </a:lnTo>
                  <a:lnTo>
                    <a:pt x="0" y="80772"/>
                  </a:lnTo>
                  <a:lnTo>
                    <a:pt x="0" y="403860"/>
                  </a:lnTo>
                  <a:lnTo>
                    <a:pt x="6351" y="435302"/>
                  </a:lnTo>
                  <a:lnTo>
                    <a:pt x="23669" y="460976"/>
                  </a:lnTo>
                  <a:lnTo>
                    <a:pt x="49345" y="478285"/>
                  </a:lnTo>
                  <a:lnTo>
                    <a:pt x="80772" y="484632"/>
                  </a:lnTo>
                  <a:lnTo>
                    <a:pt x="5827776" y="484632"/>
                  </a:lnTo>
                  <a:lnTo>
                    <a:pt x="5859202" y="478285"/>
                  </a:lnTo>
                  <a:lnTo>
                    <a:pt x="5884878" y="460976"/>
                  </a:lnTo>
                  <a:lnTo>
                    <a:pt x="5902196" y="435302"/>
                  </a:lnTo>
                  <a:lnTo>
                    <a:pt x="5908548" y="403860"/>
                  </a:lnTo>
                  <a:lnTo>
                    <a:pt x="5908548" y="80772"/>
                  </a:lnTo>
                  <a:lnTo>
                    <a:pt x="5902196" y="49329"/>
                  </a:lnTo>
                  <a:lnTo>
                    <a:pt x="5884878" y="23655"/>
                  </a:lnTo>
                  <a:lnTo>
                    <a:pt x="5859202" y="6346"/>
                  </a:lnTo>
                  <a:lnTo>
                    <a:pt x="5827776" y="0"/>
                  </a:lnTo>
                  <a:close/>
                </a:path>
              </a:pathLst>
            </a:custGeom>
            <a:solidFill>
              <a:srgbClr val="3366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21688" y="2459482"/>
            <a:ext cx="10544175" cy="42500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764279">
              <a:lnSpc>
                <a:spcPct val="100000"/>
              </a:lnSpc>
              <a:spcBef>
                <a:spcPts val="105"/>
              </a:spcBef>
            </a:pPr>
            <a:r>
              <a:rPr sz="2000" spc="10" dirty="0">
                <a:solidFill>
                  <a:srgbClr val="2CDAFF"/>
                </a:solidFill>
                <a:latin typeface="Verdana"/>
                <a:cs typeface="Verdana"/>
              </a:rPr>
              <a:t>Pasos</a:t>
            </a:r>
            <a:r>
              <a:rPr sz="2000" spc="-114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CDAFF"/>
                </a:solidFill>
                <a:latin typeface="Verdana"/>
                <a:cs typeface="Verdana"/>
              </a:rPr>
              <a:t>recomendados</a:t>
            </a:r>
            <a:r>
              <a:rPr sz="2000" spc="-114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CDAFF"/>
                </a:solidFill>
                <a:latin typeface="Verdana"/>
                <a:cs typeface="Verdana"/>
              </a:rPr>
              <a:t>en</a:t>
            </a:r>
            <a:r>
              <a:rPr sz="2000" spc="-6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85" dirty="0">
                <a:solidFill>
                  <a:srgbClr val="2CDAFF"/>
                </a:solidFill>
                <a:latin typeface="Verdana"/>
                <a:cs typeface="Verdana"/>
              </a:rPr>
              <a:t>un</a:t>
            </a:r>
            <a:r>
              <a:rPr sz="2000" spc="-65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10" dirty="0">
                <a:solidFill>
                  <a:srgbClr val="2CDAFF"/>
                </a:solidFill>
                <a:latin typeface="Verdana"/>
                <a:cs typeface="Verdana"/>
              </a:rPr>
              <a:t>ciclo</a:t>
            </a:r>
            <a:r>
              <a:rPr sz="2000" spc="-9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60" dirty="0">
                <a:solidFill>
                  <a:srgbClr val="2CDAFF"/>
                </a:solidFill>
                <a:latin typeface="Verdana"/>
                <a:cs typeface="Verdana"/>
              </a:rPr>
              <a:t>de</a:t>
            </a:r>
            <a:r>
              <a:rPr sz="2000" spc="-75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45" dirty="0">
                <a:solidFill>
                  <a:srgbClr val="2CDAFF"/>
                </a:solidFill>
                <a:latin typeface="Verdana"/>
                <a:cs typeface="Verdana"/>
              </a:rPr>
              <a:t>implementación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45"/>
              </a:spcBef>
            </a:pPr>
            <a:endParaRPr sz="2000">
              <a:latin typeface="Verdana"/>
              <a:cs typeface="Verdana"/>
            </a:endParaRPr>
          </a:p>
          <a:p>
            <a:pPr marL="2019935" marR="5468620" indent="-2007870">
              <a:lnSpc>
                <a:spcPct val="100000"/>
              </a:lnSpc>
              <a:spcBef>
                <a:spcPts val="5"/>
              </a:spcBef>
            </a:pP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Necesidad: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FFFFFF"/>
                </a:solidFill>
                <a:latin typeface="Verdana"/>
                <a:cs typeface="Verdana"/>
              </a:rPr>
              <a:t>Pregunta</a:t>
            </a:r>
            <a:r>
              <a:rPr sz="1800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negocio</a:t>
            </a:r>
            <a:r>
              <a:rPr sz="1800" spc="-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20" dirty="0">
                <a:solidFill>
                  <a:srgbClr val="FFFFFF"/>
                </a:solidFill>
                <a:latin typeface="Verdana"/>
                <a:cs typeface="Verdana"/>
              </a:rPr>
              <a:t>/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Proceso</a:t>
            </a:r>
            <a:r>
              <a:rPr sz="1800" spc="-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a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impactar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800">
              <a:latin typeface="Verdana"/>
              <a:cs typeface="Verdana"/>
            </a:endParaRPr>
          </a:p>
          <a:p>
            <a:pPr marL="409575" marR="4545965" indent="12065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Identificación</a:t>
            </a:r>
            <a:r>
              <a:rPr sz="18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8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Verdana"/>
                <a:cs typeface="Verdana"/>
              </a:rPr>
              <a:t>las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fuentes</a:t>
            </a:r>
            <a:r>
              <a:rPr sz="18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800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Verdana"/>
                <a:cs typeface="Verdana"/>
              </a:rPr>
              <a:t>datos,</a:t>
            </a:r>
            <a:r>
              <a:rPr sz="18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calidad</a:t>
            </a:r>
            <a:r>
              <a:rPr sz="1800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de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información,</a:t>
            </a:r>
            <a:r>
              <a:rPr sz="1800" spc="-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conceptos</a:t>
            </a:r>
            <a:r>
              <a:rPr sz="1800" spc="-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1800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transformaciones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(ETL)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1800">
              <a:latin typeface="Verdana"/>
              <a:cs typeface="Verdana"/>
            </a:endParaRPr>
          </a:p>
          <a:p>
            <a:pPr marL="2012314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Modelación</a:t>
            </a: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validación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445" dirty="0">
                <a:solidFill>
                  <a:srgbClr val="FFFFFF"/>
                </a:solidFill>
                <a:latin typeface="Verdana"/>
                <a:cs typeface="Verdana"/>
              </a:rPr>
              <a:t>+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Mapeos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800">
              <a:latin typeface="Verdana"/>
              <a:cs typeface="Verdana"/>
            </a:endParaRPr>
          </a:p>
          <a:p>
            <a:pPr marL="3533140" marR="3145790" indent="-1069975">
              <a:lnSpc>
                <a:spcPct val="100000"/>
              </a:lnSpc>
            </a:pPr>
            <a:r>
              <a:rPr sz="1800" spc="-20" dirty="0">
                <a:solidFill>
                  <a:srgbClr val="FFFFFF"/>
                </a:solidFill>
                <a:latin typeface="Verdana"/>
                <a:cs typeface="Verdana"/>
              </a:rPr>
              <a:t>Reportes/Tableros</a:t>
            </a:r>
            <a:r>
              <a:rPr sz="1800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Base</a:t>
            </a:r>
            <a:r>
              <a:rPr sz="180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Habilitación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8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la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capacidad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en</a:t>
            </a:r>
            <a:r>
              <a:rPr sz="1800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el</a:t>
            </a:r>
            <a:r>
              <a:rPr sz="18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negocio</a:t>
            </a:r>
            <a:endParaRPr sz="1800">
              <a:latin typeface="Verdana"/>
              <a:cs typeface="Verdana"/>
            </a:endParaRPr>
          </a:p>
          <a:p>
            <a:pPr marL="3269615">
              <a:lnSpc>
                <a:spcPct val="100000"/>
              </a:lnSpc>
              <a:spcBef>
                <a:spcPts val="1090"/>
              </a:spcBef>
            </a:pP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Automatización,</a:t>
            </a:r>
            <a:r>
              <a:rPr sz="1800" spc="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puesta</a:t>
            </a:r>
            <a:r>
              <a:rPr sz="1800" spc="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en</a:t>
            </a:r>
            <a:r>
              <a:rPr sz="1800" spc="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producción</a:t>
            </a:r>
            <a:r>
              <a:rPr sz="1800" spc="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495" dirty="0">
                <a:solidFill>
                  <a:srgbClr val="FFFFFF"/>
                </a:solidFill>
                <a:latin typeface="Verdana"/>
                <a:cs typeface="Verdana"/>
              </a:rPr>
              <a:t>+</a:t>
            </a:r>
            <a:endParaRPr sz="1800">
              <a:latin typeface="Verdana"/>
              <a:cs typeface="Verdana"/>
            </a:endParaRPr>
          </a:p>
          <a:p>
            <a:pPr marL="3368675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Validación</a:t>
            </a:r>
            <a:r>
              <a:rPr sz="1800" spc="-4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uso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18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cambios</a:t>
            </a:r>
            <a:r>
              <a:rPr sz="18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800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definición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668771" y="2893567"/>
            <a:ext cx="43491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60" dirty="0"/>
              <a:t>Preguntémonos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68771" y="3612260"/>
            <a:ext cx="4661535" cy="2372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2CDAFF"/>
                </a:solidFill>
                <a:latin typeface="Verdana"/>
                <a:cs typeface="Verdana"/>
                <a:hlinkClick r:id="rId2"/>
              </a:rPr>
              <a:t>https://miro.com/welcomeonboa </a:t>
            </a:r>
            <a:r>
              <a:rPr sz="2200" spc="-20" dirty="0">
                <a:solidFill>
                  <a:srgbClr val="2CDAFF"/>
                </a:solidFill>
                <a:latin typeface="Verdana"/>
                <a:cs typeface="Verdana"/>
                <a:hlinkClick r:id="rId2"/>
              </a:rPr>
              <a:t>rd/TFd1YTJzSEdmTDFGN20za3oz</a:t>
            </a:r>
            <a:r>
              <a:rPr sz="2200" spc="-2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200" spc="45" dirty="0">
                <a:solidFill>
                  <a:srgbClr val="2CDAFF"/>
                </a:solidFill>
                <a:latin typeface="Verdana"/>
                <a:cs typeface="Verdana"/>
              </a:rPr>
              <a:t>MjJIdDNoaWVUUFMwRFZoYjFlb </a:t>
            </a:r>
            <a:r>
              <a:rPr sz="2200" spc="-10" dirty="0">
                <a:solidFill>
                  <a:srgbClr val="2CDAFF"/>
                </a:solidFill>
                <a:latin typeface="Verdana"/>
                <a:cs typeface="Verdana"/>
              </a:rPr>
              <a:t>nNnM3o0ZTJUa1pzbERiaFBxRkN 2UWxiMHFyY3wzNDU4NzY0NTI</a:t>
            </a:r>
            <a:endParaRPr sz="2200">
              <a:latin typeface="Verdana"/>
              <a:cs typeface="Verdana"/>
            </a:endParaRPr>
          </a:p>
          <a:p>
            <a:pPr marL="12700" marR="146050">
              <a:lnSpc>
                <a:spcPct val="100000"/>
              </a:lnSpc>
            </a:pPr>
            <a:r>
              <a:rPr sz="2200" spc="-30" dirty="0">
                <a:solidFill>
                  <a:srgbClr val="2CDAFF"/>
                </a:solidFill>
                <a:latin typeface="Verdana"/>
                <a:cs typeface="Verdana"/>
              </a:rPr>
              <a:t>wMjAyNjQ0NTcy?share_link_id= </a:t>
            </a:r>
            <a:r>
              <a:rPr sz="2200" spc="-40" dirty="0">
                <a:solidFill>
                  <a:srgbClr val="2CDAFF"/>
                </a:solidFill>
                <a:latin typeface="Verdana"/>
                <a:cs typeface="Verdana"/>
              </a:rPr>
              <a:t>822644236781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4583" y="2618232"/>
            <a:ext cx="3378708" cy="3378708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935351" y="3478529"/>
            <a:ext cx="61163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65" dirty="0"/>
              <a:t>¿y</a:t>
            </a:r>
            <a:r>
              <a:rPr spc="-40" dirty="0"/>
              <a:t> </a:t>
            </a:r>
            <a:r>
              <a:rPr spc="215" dirty="0"/>
              <a:t>como</a:t>
            </a:r>
            <a:r>
              <a:rPr spc="-5" dirty="0"/>
              <a:t> </a:t>
            </a:r>
            <a:r>
              <a:rPr spc="55" dirty="0"/>
              <a:t>lo</a:t>
            </a:r>
            <a:r>
              <a:rPr spc="-40" dirty="0"/>
              <a:t> </a:t>
            </a:r>
            <a:r>
              <a:rPr spc="50" dirty="0"/>
              <a:t>logramos..?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35" dirty="0"/>
              <a:t>Es</a:t>
            </a:r>
            <a:r>
              <a:rPr spc="-30" dirty="0"/>
              <a:t> </a:t>
            </a:r>
            <a:r>
              <a:rPr spc="-10" dirty="0"/>
              <a:t>necesario…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819400" y="2668523"/>
            <a:ext cx="4072254" cy="2261870"/>
            <a:chOff x="2819400" y="2668523"/>
            <a:chExt cx="4072254" cy="2261870"/>
          </a:xfrm>
        </p:grpSpPr>
        <p:pic>
          <p:nvPicPr>
            <p:cNvPr id="4" name="object 4" descr="Imagen que contiene objeto  Descripción generada con confianza muy alta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19400" y="3934967"/>
              <a:ext cx="1110996" cy="91287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08347" y="2668523"/>
              <a:ext cx="1110996" cy="110642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07023" y="3934967"/>
              <a:ext cx="984503" cy="99517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873246" y="3562349"/>
              <a:ext cx="1914525" cy="970280"/>
            </a:xfrm>
            <a:custGeom>
              <a:avLst/>
              <a:gdLst/>
              <a:ahLst/>
              <a:cxnLst/>
              <a:rect l="l" t="t" r="r" b="b"/>
              <a:pathLst>
                <a:path w="1914525" h="970279">
                  <a:moveTo>
                    <a:pt x="360299" y="0"/>
                  </a:moveTo>
                  <a:lnTo>
                    <a:pt x="223393" y="59055"/>
                  </a:lnTo>
                  <a:lnTo>
                    <a:pt x="257390" y="87680"/>
                  </a:lnTo>
                  <a:lnTo>
                    <a:pt x="68783" y="311797"/>
                  </a:lnTo>
                  <a:lnTo>
                    <a:pt x="34798" y="283210"/>
                  </a:lnTo>
                  <a:lnTo>
                    <a:pt x="0" y="428117"/>
                  </a:lnTo>
                  <a:lnTo>
                    <a:pt x="136906" y="369062"/>
                  </a:lnTo>
                  <a:lnTo>
                    <a:pt x="122999" y="357378"/>
                  </a:lnTo>
                  <a:lnTo>
                    <a:pt x="102806" y="340398"/>
                  </a:lnTo>
                  <a:lnTo>
                    <a:pt x="291388" y="116306"/>
                  </a:lnTo>
                  <a:lnTo>
                    <a:pt x="325374" y="144907"/>
                  </a:lnTo>
                  <a:lnTo>
                    <a:pt x="343242" y="70739"/>
                  </a:lnTo>
                  <a:lnTo>
                    <a:pt x="360299" y="0"/>
                  </a:lnTo>
                  <a:close/>
                </a:path>
                <a:path w="1914525" h="970279">
                  <a:moveTo>
                    <a:pt x="1446403" y="894588"/>
                  </a:moveTo>
                  <a:lnTo>
                    <a:pt x="1403261" y="873633"/>
                  </a:lnTo>
                  <a:lnTo>
                    <a:pt x="1312291" y="829437"/>
                  </a:lnTo>
                  <a:lnTo>
                    <a:pt x="1312786" y="873633"/>
                  </a:lnTo>
                  <a:lnTo>
                    <a:pt x="1312786" y="873887"/>
                  </a:lnTo>
                  <a:lnTo>
                    <a:pt x="669544" y="881011"/>
                  </a:lnTo>
                  <a:lnTo>
                    <a:pt x="669036" y="836549"/>
                  </a:lnTo>
                  <a:lnTo>
                    <a:pt x="536448" y="904748"/>
                  </a:lnTo>
                  <a:lnTo>
                    <a:pt x="670560" y="969899"/>
                  </a:lnTo>
                  <a:lnTo>
                    <a:pt x="670052" y="925703"/>
                  </a:lnTo>
                  <a:lnTo>
                    <a:pt x="670052" y="925461"/>
                  </a:lnTo>
                  <a:lnTo>
                    <a:pt x="1313294" y="918337"/>
                  </a:lnTo>
                  <a:lnTo>
                    <a:pt x="1313116" y="903211"/>
                  </a:lnTo>
                  <a:lnTo>
                    <a:pt x="1313294" y="918083"/>
                  </a:lnTo>
                  <a:lnTo>
                    <a:pt x="1313294" y="918337"/>
                  </a:lnTo>
                  <a:lnTo>
                    <a:pt x="1313815" y="962787"/>
                  </a:lnTo>
                  <a:lnTo>
                    <a:pt x="1446403" y="894588"/>
                  </a:lnTo>
                  <a:close/>
                </a:path>
                <a:path w="1914525" h="970279">
                  <a:moveTo>
                    <a:pt x="1914398" y="428117"/>
                  </a:moveTo>
                  <a:lnTo>
                    <a:pt x="1904238" y="348234"/>
                  </a:lnTo>
                  <a:lnTo>
                    <a:pt x="1895602" y="280289"/>
                  </a:lnTo>
                  <a:lnTo>
                    <a:pt x="1858606" y="305041"/>
                  </a:lnTo>
                  <a:lnTo>
                    <a:pt x="1720253" y="98488"/>
                  </a:lnTo>
                  <a:lnTo>
                    <a:pt x="1747812" y="80010"/>
                  </a:lnTo>
                  <a:lnTo>
                    <a:pt x="1757299" y="73660"/>
                  </a:lnTo>
                  <a:lnTo>
                    <a:pt x="1627632" y="0"/>
                  </a:lnTo>
                  <a:lnTo>
                    <a:pt x="1646428" y="147955"/>
                  </a:lnTo>
                  <a:lnTo>
                    <a:pt x="1683448" y="123151"/>
                  </a:lnTo>
                  <a:lnTo>
                    <a:pt x="1821726" y="329717"/>
                  </a:lnTo>
                  <a:lnTo>
                    <a:pt x="1784731" y="354457"/>
                  </a:lnTo>
                  <a:lnTo>
                    <a:pt x="1914398" y="428117"/>
                  </a:lnTo>
                  <a:close/>
                </a:path>
              </a:pathLst>
            </a:custGeom>
            <a:solidFill>
              <a:srgbClr val="3B78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744717" y="2692349"/>
            <a:ext cx="3309620" cy="4845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121F54"/>
                </a:solidFill>
                <a:latin typeface="Tahoma"/>
                <a:cs typeface="Tahoma"/>
              </a:rPr>
              <a:t>Personas</a:t>
            </a:r>
            <a:r>
              <a:rPr sz="1600" b="1" spc="105" dirty="0">
                <a:solidFill>
                  <a:srgbClr val="121F54"/>
                </a:solidFill>
                <a:latin typeface="Tahoma"/>
                <a:cs typeface="Tahoma"/>
              </a:rPr>
              <a:t> </a:t>
            </a:r>
            <a:r>
              <a:rPr sz="1600" b="1" spc="-310" dirty="0">
                <a:solidFill>
                  <a:srgbClr val="121F54"/>
                </a:solidFill>
                <a:latin typeface="Tahoma"/>
                <a:cs typeface="Tahoma"/>
              </a:rPr>
              <a:t>/</a:t>
            </a:r>
            <a:r>
              <a:rPr sz="1600" b="1" spc="95" dirty="0">
                <a:solidFill>
                  <a:srgbClr val="121F54"/>
                </a:solidFill>
                <a:latin typeface="Tahoma"/>
                <a:cs typeface="Tahoma"/>
              </a:rPr>
              <a:t> </a:t>
            </a:r>
            <a:r>
              <a:rPr sz="1600" b="1" spc="55" dirty="0">
                <a:solidFill>
                  <a:srgbClr val="121F54"/>
                </a:solidFill>
                <a:latin typeface="Tahoma"/>
                <a:cs typeface="Tahoma"/>
              </a:rPr>
              <a:t>Equipos</a:t>
            </a:r>
            <a:r>
              <a:rPr sz="1600" b="1" spc="110" dirty="0">
                <a:solidFill>
                  <a:srgbClr val="121F54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121F54"/>
                </a:solidFill>
                <a:latin typeface="Verdana"/>
                <a:cs typeface="Verdana"/>
              </a:rPr>
              <a:t>desarrollados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400" spc="-10" dirty="0">
                <a:solidFill>
                  <a:srgbClr val="121F54"/>
                </a:solidFill>
                <a:latin typeface="Verdana"/>
                <a:cs typeface="Verdana"/>
              </a:rPr>
              <a:t>para</a:t>
            </a:r>
            <a:r>
              <a:rPr sz="1400" spc="-110" dirty="0">
                <a:solidFill>
                  <a:srgbClr val="121F54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121F54"/>
                </a:solidFill>
                <a:latin typeface="Verdana"/>
                <a:cs typeface="Verdana"/>
              </a:rPr>
              <a:t>usar</a:t>
            </a:r>
            <a:r>
              <a:rPr sz="1400" spc="-120" dirty="0">
                <a:solidFill>
                  <a:srgbClr val="121F5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21F54"/>
                </a:solidFill>
                <a:latin typeface="Verdana"/>
                <a:cs typeface="Verdana"/>
              </a:rPr>
              <a:t>analítica</a:t>
            </a:r>
            <a:r>
              <a:rPr sz="1400" spc="-114" dirty="0">
                <a:solidFill>
                  <a:srgbClr val="121F5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21F54"/>
                </a:solidFill>
                <a:latin typeface="Verdana"/>
                <a:cs typeface="Verdana"/>
              </a:rPr>
              <a:t>en</a:t>
            </a:r>
            <a:r>
              <a:rPr sz="1400" spc="-110" dirty="0">
                <a:solidFill>
                  <a:srgbClr val="121F5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21F54"/>
                </a:solidFill>
                <a:latin typeface="Verdana"/>
                <a:cs typeface="Verdana"/>
              </a:rPr>
              <a:t>el</a:t>
            </a:r>
            <a:r>
              <a:rPr sz="1400" spc="-105" dirty="0">
                <a:solidFill>
                  <a:srgbClr val="121F5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21F54"/>
                </a:solidFill>
                <a:latin typeface="Verdana"/>
                <a:cs typeface="Verdana"/>
              </a:rPr>
              <a:t>día</a:t>
            </a:r>
            <a:r>
              <a:rPr sz="1400" spc="-100" dirty="0">
                <a:solidFill>
                  <a:srgbClr val="121F54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21F54"/>
                </a:solidFill>
                <a:latin typeface="Verdana"/>
                <a:cs typeface="Verdana"/>
              </a:rPr>
              <a:t>a</a:t>
            </a:r>
            <a:r>
              <a:rPr sz="1400" spc="-100" dirty="0">
                <a:solidFill>
                  <a:srgbClr val="121F54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21F54"/>
                </a:solidFill>
                <a:latin typeface="Verdana"/>
                <a:cs typeface="Verdana"/>
              </a:rPr>
              <a:t>día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62040" y="5081396"/>
            <a:ext cx="3519804" cy="6972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121F54"/>
                </a:solidFill>
                <a:latin typeface="Tahoma"/>
                <a:cs typeface="Tahoma"/>
              </a:rPr>
              <a:t>Tecnología</a:t>
            </a:r>
            <a:r>
              <a:rPr sz="1600" b="1" spc="270" dirty="0">
                <a:solidFill>
                  <a:srgbClr val="121F54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121F54"/>
                </a:solidFill>
                <a:latin typeface="Verdana"/>
                <a:cs typeface="Verdana"/>
              </a:rPr>
              <a:t>de</a:t>
            </a:r>
            <a:r>
              <a:rPr sz="1400" spc="50" dirty="0">
                <a:solidFill>
                  <a:srgbClr val="121F5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21F54"/>
                </a:solidFill>
                <a:latin typeface="Verdana"/>
                <a:cs typeface="Verdana"/>
              </a:rPr>
              <a:t>nueva</a:t>
            </a:r>
            <a:r>
              <a:rPr sz="1400" spc="45" dirty="0">
                <a:solidFill>
                  <a:srgbClr val="121F5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21F54"/>
                </a:solidFill>
                <a:latin typeface="Verdana"/>
                <a:cs typeface="Verdana"/>
              </a:rPr>
              <a:t>generación</a:t>
            </a:r>
            <a:r>
              <a:rPr sz="1400" spc="40" dirty="0">
                <a:solidFill>
                  <a:srgbClr val="121F54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21F54"/>
                </a:solidFill>
                <a:latin typeface="Verdana"/>
                <a:cs typeface="Verdana"/>
              </a:rPr>
              <a:t>con </a:t>
            </a:r>
            <a:r>
              <a:rPr sz="1400" dirty="0">
                <a:solidFill>
                  <a:srgbClr val="121F54"/>
                </a:solidFill>
                <a:latin typeface="Verdana"/>
                <a:cs typeface="Verdana"/>
              </a:rPr>
              <a:t>aplicaciones</a:t>
            </a:r>
            <a:r>
              <a:rPr sz="1400" spc="-25" dirty="0">
                <a:solidFill>
                  <a:srgbClr val="121F5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21F54"/>
                </a:solidFill>
                <a:latin typeface="Verdana"/>
                <a:cs typeface="Verdana"/>
              </a:rPr>
              <a:t>prácticas</a:t>
            </a:r>
            <a:r>
              <a:rPr sz="1400" spc="-35" dirty="0">
                <a:solidFill>
                  <a:srgbClr val="121F5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21F54"/>
                </a:solidFill>
                <a:latin typeface="Verdana"/>
                <a:cs typeface="Verdana"/>
              </a:rPr>
              <a:t>que</a:t>
            </a:r>
            <a:r>
              <a:rPr sz="1400" spc="-20" dirty="0">
                <a:solidFill>
                  <a:srgbClr val="121F54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121F54"/>
                </a:solidFill>
                <a:latin typeface="Verdana"/>
                <a:cs typeface="Verdana"/>
              </a:rPr>
              <a:t>permita materializar</a:t>
            </a:r>
            <a:r>
              <a:rPr sz="1400" spc="-125" dirty="0">
                <a:solidFill>
                  <a:srgbClr val="121F5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21F54"/>
                </a:solidFill>
                <a:latin typeface="Verdana"/>
                <a:cs typeface="Verdana"/>
              </a:rPr>
              <a:t>el</a:t>
            </a:r>
            <a:r>
              <a:rPr sz="1400" spc="-105" dirty="0">
                <a:solidFill>
                  <a:srgbClr val="121F54"/>
                </a:solidFill>
                <a:latin typeface="Verdana"/>
                <a:cs typeface="Verdana"/>
              </a:rPr>
              <a:t> </a:t>
            </a:r>
            <a:r>
              <a:rPr sz="1400" spc="-35" dirty="0">
                <a:solidFill>
                  <a:srgbClr val="121F54"/>
                </a:solidFill>
                <a:latin typeface="Verdana"/>
                <a:cs typeface="Verdana"/>
              </a:rPr>
              <a:t>valor</a:t>
            </a:r>
            <a:r>
              <a:rPr sz="1400" spc="-85" dirty="0">
                <a:solidFill>
                  <a:srgbClr val="121F5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21F54"/>
                </a:solidFill>
                <a:latin typeface="Verdana"/>
                <a:cs typeface="Verdana"/>
              </a:rPr>
              <a:t>en</a:t>
            </a:r>
            <a:r>
              <a:rPr sz="1400" spc="-105" dirty="0">
                <a:solidFill>
                  <a:srgbClr val="121F5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21F54"/>
                </a:solidFill>
                <a:latin typeface="Verdana"/>
                <a:cs typeface="Verdana"/>
              </a:rPr>
              <a:t>el</a:t>
            </a:r>
            <a:r>
              <a:rPr sz="1400" spc="-100" dirty="0">
                <a:solidFill>
                  <a:srgbClr val="121F5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21F54"/>
                </a:solidFill>
                <a:latin typeface="Verdana"/>
                <a:cs typeface="Verdana"/>
              </a:rPr>
              <a:t>día</a:t>
            </a:r>
            <a:r>
              <a:rPr sz="1400" spc="-95" dirty="0">
                <a:solidFill>
                  <a:srgbClr val="121F54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21F54"/>
                </a:solidFill>
                <a:latin typeface="Verdana"/>
                <a:cs typeface="Verdana"/>
              </a:rPr>
              <a:t>a</a:t>
            </a:r>
            <a:r>
              <a:rPr sz="1400" spc="-95" dirty="0">
                <a:solidFill>
                  <a:srgbClr val="121F54"/>
                </a:solidFill>
                <a:latin typeface="Verdana"/>
                <a:cs typeface="Verdana"/>
              </a:rPr>
              <a:t> </a:t>
            </a:r>
            <a:r>
              <a:rPr sz="1400" spc="-20" dirty="0">
                <a:solidFill>
                  <a:srgbClr val="121F54"/>
                </a:solidFill>
                <a:latin typeface="Verdana"/>
                <a:cs typeface="Verdana"/>
              </a:rPr>
              <a:t>día.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01164" y="5069204"/>
            <a:ext cx="3109595" cy="696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121F54"/>
                </a:solidFill>
                <a:latin typeface="Tahoma"/>
                <a:cs typeface="Tahoma"/>
              </a:rPr>
              <a:t>(Big)</a:t>
            </a:r>
            <a:r>
              <a:rPr sz="1600" b="1" spc="60" dirty="0">
                <a:solidFill>
                  <a:srgbClr val="121F54"/>
                </a:solidFill>
                <a:latin typeface="Tahoma"/>
                <a:cs typeface="Tahoma"/>
              </a:rPr>
              <a:t> </a:t>
            </a:r>
            <a:r>
              <a:rPr sz="1600" b="1" dirty="0">
                <a:solidFill>
                  <a:srgbClr val="121F54"/>
                </a:solidFill>
                <a:latin typeface="Tahoma"/>
                <a:cs typeface="Tahoma"/>
              </a:rPr>
              <a:t>Data</a:t>
            </a:r>
            <a:r>
              <a:rPr sz="1600" b="1" spc="25" dirty="0">
                <a:solidFill>
                  <a:srgbClr val="121F54"/>
                </a:solidFill>
                <a:latin typeface="Tahoma"/>
                <a:cs typeface="Tahoma"/>
              </a:rPr>
              <a:t> </a:t>
            </a:r>
            <a:r>
              <a:rPr sz="1400" spc="-25" dirty="0">
                <a:solidFill>
                  <a:srgbClr val="121F54"/>
                </a:solidFill>
                <a:latin typeface="Verdana"/>
                <a:cs typeface="Verdana"/>
              </a:rPr>
              <a:t>acceso,</a:t>
            </a:r>
            <a:r>
              <a:rPr sz="1400" spc="-110" dirty="0">
                <a:solidFill>
                  <a:srgbClr val="121F54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121F54"/>
                </a:solidFill>
                <a:latin typeface="Verdana"/>
                <a:cs typeface="Verdana"/>
              </a:rPr>
              <a:t>disponibilidad </a:t>
            </a:r>
            <a:r>
              <a:rPr sz="1400" spc="-75" dirty="0">
                <a:solidFill>
                  <a:srgbClr val="121F54"/>
                </a:solidFill>
                <a:latin typeface="Verdana"/>
                <a:cs typeface="Verdana"/>
              </a:rPr>
              <a:t>y</a:t>
            </a:r>
            <a:r>
              <a:rPr sz="1400" spc="-10" dirty="0">
                <a:solidFill>
                  <a:srgbClr val="121F5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21F54"/>
                </a:solidFill>
                <a:latin typeface="Verdana"/>
                <a:cs typeface="Verdana"/>
              </a:rPr>
              <a:t>calidad</a:t>
            </a:r>
            <a:r>
              <a:rPr sz="1400" spc="-25" dirty="0">
                <a:solidFill>
                  <a:srgbClr val="121F5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21F54"/>
                </a:solidFill>
                <a:latin typeface="Verdana"/>
                <a:cs typeface="Verdana"/>
              </a:rPr>
              <a:t>adecuada</a:t>
            </a:r>
            <a:r>
              <a:rPr sz="1400" spc="-45" dirty="0">
                <a:solidFill>
                  <a:srgbClr val="121F54"/>
                </a:solidFill>
                <a:latin typeface="Verdana"/>
                <a:cs typeface="Verdana"/>
              </a:rPr>
              <a:t> </a:t>
            </a:r>
            <a:r>
              <a:rPr sz="1400" spc="-20" dirty="0">
                <a:solidFill>
                  <a:srgbClr val="121F54"/>
                </a:solidFill>
                <a:latin typeface="Verdana"/>
                <a:cs typeface="Verdana"/>
              </a:rPr>
              <a:t>para</a:t>
            </a:r>
            <a:r>
              <a:rPr sz="1400" spc="500" dirty="0">
                <a:solidFill>
                  <a:srgbClr val="121F5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21F54"/>
                </a:solidFill>
                <a:latin typeface="Verdana"/>
                <a:cs typeface="Verdana"/>
              </a:rPr>
              <a:t>responder</a:t>
            </a:r>
            <a:r>
              <a:rPr sz="1400" spc="-95" dirty="0">
                <a:solidFill>
                  <a:srgbClr val="121F54"/>
                </a:solidFill>
                <a:latin typeface="Verdana"/>
                <a:cs typeface="Verdana"/>
              </a:rPr>
              <a:t> </a:t>
            </a:r>
            <a:r>
              <a:rPr sz="1400" spc="-25" dirty="0">
                <a:solidFill>
                  <a:srgbClr val="121F54"/>
                </a:solidFill>
                <a:latin typeface="Verdana"/>
                <a:cs typeface="Verdana"/>
              </a:rPr>
              <a:t>a</a:t>
            </a:r>
            <a:r>
              <a:rPr sz="1400" spc="-95" dirty="0">
                <a:solidFill>
                  <a:srgbClr val="121F54"/>
                </a:solidFill>
                <a:latin typeface="Verdana"/>
                <a:cs typeface="Verdana"/>
              </a:rPr>
              <a:t> </a:t>
            </a:r>
            <a:r>
              <a:rPr sz="1400" spc="-20" dirty="0">
                <a:solidFill>
                  <a:srgbClr val="121F54"/>
                </a:solidFill>
                <a:latin typeface="Verdana"/>
                <a:cs typeface="Verdana"/>
              </a:rPr>
              <a:t>los</a:t>
            </a:r>
            <a:r>
              <a:rPr sz="1400" spc="-80" dirty="0">
                <a:solidFill>
                  <a:srgbClr val="121F54"/>
                </a:solidFill>
                <a:latin typeface="Verdana"/>
                <a:cs typeface="Verdana"/>
              </a:rPr>
              <a:t> </a:t>
            </a:r>
            <a:r>
              <a:rPr sz="1400" dirty="0">
                <a:solidFill>
                  <a:srgbClr val="121F54"/>
                </a:solidFill>
                <a:latin typeface="Verdana"/>
                <a:cs typeface="Verdana"/>
              </a:rPr>
              <a:t>nuevos</a:t>
            </a:r>
            <a:r>
              <a:rPr sz="1400" spc="-95" dirty="0">
                <a:solidFill>
                  <a:srgbClr val="121F54"/>
                </a:solidFill>
                <a:latin typeface="Verdana"/>
                <a:cs typeface="Verdana"/>
              </a:rPr>
              <a:t> </a:t>
            </a:r>
            <a:r>
              <a:rPr sz="1400" spc="-10" dirty="0">
                <a:solidFill>
                  <a:srgbClr val="121F54"/>
                </a:solidFill>
                <a:latin typeface="Verdana"/>
                <a:cs typeface="Verdana"/>
              </a:rPr>
              <a:t>desafíos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7824" y="6085332"/>
            <a:ext cx="8395970" cy="440690"/>
          </a:xfrm>
          <a:prstGeom prst="rect">
            <a:avLst/>
          </a:prstGeom>
          <a:solidFill>
            <a:srgbClr val="3B78D7"/>
          </a:solidFill>
        </p:spPr>
        <p:txBody>
          <a:bodyPr vert="horz" wrap="square" lIns="0" tIns="7302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575"/>
              </a:spcBef>
            </a:pP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Interacción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y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transformación</a:t>
            </a:r>
            <a:r>
              <a:rPr sz="18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8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Verdana"/>
                <a:cs typeface="Verdana"/>
              </a:rPr>
              <a:t>los</a:t>
            </a:r>
            <a:r>
              <a:rPr sz="18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procesos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Analítica:</a:t>
            </a:r>
            <a:r>
              <a:rPr spc="365" dirty="0"/>
              <a:t> </a:t>
            </a:r>
            <a:r>
              <a:rPr spc="100" dirty="0"/>
              <a:t>datos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73777" y="2459482"/>
            <a:ext cx="644144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50" dirty="0">
                <a:solidFill>
                  <a:srgbClr val="2CDAFF"/>
                </a:solidFill>
                <a:latin typeface="Verdana"/>
                <a:cs typeface="Verdana"/>
              </a:rPr>
              <a:t>OpenData</a:t>
            </a:r>
            <a:r>
              <a:rPr sz="2000" spc="-22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-285" dirty="0">
                <a:solidFill>
                  <a:srgbClr val="2CDAFF"/>
                </a:solidFill>
                <a:latin typeface="Verdana"/>
                <a:cs typeface="Verdana"/>
              </a:rPr>
              <a:t>–</a:t>
            </a:r>
            <a:r>
              <a:rPr sz="2000" spc="-165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80" dirty="0">
                <a:solidFill>
                  <a:srgbClr val="2CDAFF"/>
                </a:solidFill>
                <a:latin typeface="Verdana"/>
                <a:cs typeface="Verdana"/>
              </a:rPr>
              <a:t>MDM/MDG</a:t>
            </a:r>
            <a:r>
              <a:rPr sz="2000" spc="-175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-285" dirty="0">
                <a:solidFill>
                  <a:srgbClr val="2CDAFF"/>
                </a:solidFill>
                <a:latin typeface="Verdana"/>
                <a:cs typeface="Verdana"/>
              </a:rPr>
              <a:t>–</a:t>
            </a:r>
            <a:r>
              <a:rPr sz="2000" spc="-18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2CDAFF"/>
                </a:solidFill>
                <a:latin typeface="Verdana"/>
                <a:cs typeface="Verdana"/>
              </a:rPr>
              <a:t>bases</a:t>
            </a:r>
            <a:r>
              <a:rPr sz="2000" spc="-20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60" dirty="0">
                <a:solidFill>
                  <a:srgbClr val="2CDAFF"/>
                </a:solidFill>
                <a:latin typeface="Verdana"/>
                <a:cs typeface="Verdana"/>
              </a:rPr>
              <a:t>de</a:t>
            </a:r>
            <a:r>
              <a:rPr sz="2000" spc="-185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50" dirty="0">
                <a:solidFill>
                  <a:srgbClr val="2CDAFF"/>
                </a:solidFill>
                <a:latin typeface="Verdana"/>
                <a:cs typeface="Verdana"/>
              </a:rPr>
              <a:t>conocimiento</a:t>
            </a:r>
            <a:r>
              <a:rPr sz="2000" spc="-20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-335" dirty="0">
                <a:solidFill>
                  <a:srgbClr val="2CDAFF"/>
                </a:solidFill>
                <a:latin typeface="Verdana"/>
                <a:cs typeface="Verdana"/>
              </a:rPr>
              <a:t>–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2CDAFF"/>
                </a:solidFill>
                <a:latin typeface="Verdana"/>
                <a:cs typeface="Verdana"/>
              </a:rPr>
              <a:t>Uso</a:t>
            </a:r>
            <a:r>
              <a:rPr sz="2000" spc="-145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-114" dirty="0">
                <a:solidFill>
                  <a:srgbClr val="2CDAFF"/>
                </a:solidFill>
                <a:latin typeface="Verdana"/>
                <a:cs typeface="Verdana"/>
              </a:rPr>
              <a:t>y </a:t>
            </a:r>
            <a:r>
              <a:rPr sz="2000" spc="-10" dirty="0">
                <a:solidFill>
                  <a:srgbClr val="2CDAFF"/>
                </a:solidFill>
                <a:latin typeface="Verdana"/>
                <a:cs typeface="Verdana"/>
              </a:rPr>
              <a:t>Admón.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3344" y="3380229"/>
            <a:ext cx="3971136" cy="347625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880361" y="3884803"/>
            <a:ext cx="11125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13A4C5"/>
                </a:solidFill>
                <a:latin typeface="Verdana"/>
                <a:cs typeface="Verdana"/>
              </a:rPr>
              <a:t>Acceso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3782" y="5191125"/>
            <a:ext cx="11830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13A4C5"/>
                </a:solidFill>
                <a:latin typeface="Verdana"/>
                <a:cs typeface="Verdana"/>
              </a:rPr>
              <a:t>Calidad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82636" y="5256657"/>
            <a:ext cx="261683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33985">
              <a:lnSpc>
                <a:spcPct val="100000"/>
              </a:lnSpc>
              <a:spcBef>
                <a:spcPts val="100"/>
              </a:spcBef>
            </a:pPr>
            <a:r>
              <a:rPr sz="2400" spc="40" dirty="0">
                <a:solidFill>
                  <a:srgbClr val="13A4C5"/>
                </a:solidFill>
                <a:latin typeface="Verdana"/>
                <a:cs typeface="Verdana"/>
              </a:rPr>
              <a:t>Entendimiento </a:t>
            </a:r>
            <a:r>
              <a:rPr sz="2400" dirty="0">
                <a:solidFill>
                  <a:srgbClr val="13A4C5"/>
                </a:solidFill>
                <a:latin typeface="Verdana"/>
                <a:cs typeface="Verdana"/>
              </a:rPr>
              <a:t>más</a:t>
            </a:r>
            <a:r>
              <a:rPr sz="2400" spc="-145" dirty="0">
                <a:solidFill>
                  <a:srgbClr val="13A4C5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13A4C5"/>
                </a:solidFill>
                <a:latin typeface="Verdana"/>
                <a:cs typeface="Verdana"/>
              </a:rPr>
              <a:t>allá</a:t>
            </a:r>
            <a:r>
              <a:rPr sz="2400" spc="-135" dirty="0">
                <a:solidFill>
                  <a:srgbClr val="13A4C5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13A4C5"/>
                </a:solidFill>
                <a:latin typeface="Verdana"/>
                <a:cs typeface="Verdana"/>
              </a:rPr>
              <a:t>del</a:t>
            </a:r>
            <a:r>
              <a:rPr sz="2400" spc="-135" dirty="0">
                <a:solidFill>
                  <a:srgbClr val="13A4C5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13A4C5"/>
                </a:solidFill>
                <a:latin typeface="Verdana"/>
                <a:cs typeface="Verdana"/>
              </a:rPr>
              <a:t>dato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99984" y="3964685"/>
            <a:ext cx="1743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13A4C5"/>
                </a:solidFill>
                <a:latin typeface="Verdana"/>
                <a:cs typeface="Verdana"/>
              </a:rPr>
              <a:t>Legislación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14798" y="4336237"/>
            <a:ext cx="100901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20" dirty="0">
                <a:latin typeface="Verdana"/>
                <a:cs typeface="Verdana"/>
              </a:rPr>
              <a:t>Data</a:t>
            </a:r>
            <a:endParaRPr sz="3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Analítica:</a:t>
            </a:r>
            <a:r>
              <a:rPr spc="365" dirty="0"/>
              <a:t> </a:t>
            </a:r>
            <a:r>
              <a:rPr spc="114" dirty="0"/>
              <a:t>tecnología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73777" y="2459482"/>
            <a:ext cx="58013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2CDAFF"/>
                </a:solidFill>
                <a:latin typeface="Verdana"/>
                <a:cs typeface="Verdana"/>
              </a:rPr>
              <a:t>Visualización</a:t>
            </a:r>
            <a:r>
              <a:rPr sz="2000" spc="-15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-285" dirty="0">
                <a:solidFill>
                  <a:srgbClr val="2CDAFF"/>
                </a:solidFill>
                <a:latin typeface="Verdana"/>
                <a:cs typeface="Verdana"/>
              </a:rPr>
              <a:t>–</a:t>
            </a:r>
            <a:r>
              <a:rPr sz="2000" spc="-95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CDAFF"/>
                </a:solidFill>
                <a:latin typeface="Verdana"/>
                <a:cs typeface="Verdana"/>
              </a:rPr>
              <a:t>Integración</a:t>
            </a:r>
            <a:r>
              <a:rPr sz="2000" spc="-155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-285" dirty="0">
                <a:solidFill>
                  <a:srgbClr val="2CDAFF"/>
                </a:solidFill>
                <a:latin typeface="Verdana"/>
                <a:cs typeface="Verdana"/>
              </a:rPr>
              <a:t>–</a:t>
            </a:r>
            <a:r>
              <a:rPr sz="2000" spc="-85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CDAFF"/>
                </a:solidFill>
                <a:latin typeface="Verdana"/>
                <a:cs typeface="Verdana"/>
              </a:rPr>
              <a:t>Cloud</a:t>
            </a:r>
            <a:r>
              <a:rPr sz="2000" spc="-13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-165" dirty="0">
                <a:solidFill>
                  <a:srgbClr val="2CDAFF"/>
                </a:solidFill>
                <a:latin typeface="Verdana"/>
                <a:cs typeface="Verdana"/>
              </a:rPr>
              <a:t>-</a:t>
            </a:r>
            <a:r>
              <a:rPr sz="2000" spc="-105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2CDAFF"/>
                </a:solidFill>
                <a:latin typeface="Verdana"/>
                <a:cs typeface="Verdana"/>
              </a:rPr>
              <a:t>Realtime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18688" y="3454908"/>
            <a:ext cx="3611879" cy="32384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774942" y="3597909"/>
            <a:ext cx="28409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45" dirty="0">
                <a:solidFill>
                  <a:srgbClr val="13A4C5"/>
                </a:solidFill>
                <a:latin typeface="Verdana"/>
                <a:cs typeface="Verdana"/>
              </a:rPr>
              <a:t>Empoderamiento </a:t>
            </a:r>
            <a:r>
              <a:rPr sz="2400" spc="-135" dirty="0">
                <a:solidFill>
                  <a:srgbClr val="13A4C5"/>
                </a:solidFill>
                <a:latin typeface="Verdana"/>
                <a:cs typeface="Verdana"/>
              </a:rPr>
              <a:t>y</a:t>
            </a:r>
            <a:r>
              <a:rPr sz="2400" spc="-220" dirty="0">
                <a:solidFill>
                  <a:srgbClr val="13A4C5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13A4C5"/>
                </a:solidFill>
                <a:latin typeface="Verdana"/>
                <a:cs typeface="Verdana"/>
              </a:rPr>
              <a:t>democratización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14094" y="3644900"/>
            <a:ext cx="179323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13A4C5"/>
                </a:solidFill>
                <a:latin typeface="Verdana"/>
                <a:cs typeface="Verdana"/>
              </a:rPr>
              <a:t>Integración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58341" y="4638547"/>
            <a:ext cx="1778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13A4C5"/>
                </a:solidFill>
                <a:latin typeface="Verdana"/>
                <a:cs typeface="Verdana"/>
              </a:rPr>
              <a:t>Flexibilidad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14094" y="5948578"/>
            <a:ext cx="16433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13A4C5"/>
                </a:solidFill>
                <a:latin typeface="Verdana"/>
                <a:cs typeface="Verdana"/>
              </a:rPr>
              <a:t>Usabilidad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49695" y="5874207"/>
            <a:ext cx="23412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13A4C5"/>
                </a:solidFill>
                <a:latin typeface="Verdana"/>
                <a:cs typeface="Verdana"/>
              </a:rPr>
              <a:t>Capacidad</a:t>
            </a:r>
            <a:r>
              <a:rPr sz="2400" spc="140" dirty="0">
                <a:solidFill>
                  <a:srgbClr val="13A4C5"/>
                </a:solidFill>
                <a:latin typeface="Verdana"/>
                <a:cs typeface="Verdana"/>
              </a:rPr>
              <a:t> </a:t>
            </a:r>
            <a:r>
              <a:rPr sz="2400" spc="45" dirty="0">
                <a:solidFill>
                  <a:srgbClr val="13A4C5"/>
                </a:solidFill>
                <a:latin typeface="Verdana"/>
                <a:cs typeface="Verdana"/>
              </a:rPr>
              <a:t>de </a:t>
            </a:r>
            <a:r>
              <a:rPr sz="2400" spc="-10" dirty="0">
                <a:solidFill>
                  <a:srgbClr val="13A4C5"/>
                </a:solidFill>
                <a:latin typeface="Verdana"/>
                <a:cs typeface="Verdana"/>
              </a:rPr>
              <a:t>procesamiento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11390" y="4972050"/>
            <a:ext cx="2240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13A4C5"/>
                </a:solidFill>
                <a:latin typeface="Verdana"/>
                <a:cs typeface="Verdana"/>
              </a:rPr>
              <a:t>Disponibilidad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Analítica:</a:t>
            </a:r>
            <a:r>
              <a:rPr spc="365" dirty="0"/>
              <a:t> </a:t>
            </a:r>
            <a:r>
              <a:rPr spc="120" dirty="0"/>
              <a:t>equipos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73777" y="2459482"/>
            <a:ext cx="70885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2CDAFF"/>
                </a:solidFill>
                <a:latin typeface="Verdana"/>
                <a:cs typeface="Verdana"/>
              </a:rPr>
              <a:t>Gestión</a:t>
            </a:r>
            <a:r>
              <a:rPr sz="2000" spc="-14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-285" dirty="0">
                <a:solidFill>
                  <a:srgbClr val="2CDAFF"/>
                </a:solidFill>
                <a:latin typeface="Verdana"/>
                <a:cs typeface="Verdana"/>
              </a:rPr>
              <a:t>–</a:t>
            </a:r>
            <a:r>
              <a:rPr sz="2000" spc="-114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50" dirty="0">
                <a:solidFill>
                  <a:srgbClr val="2CDAFF"/>
                </a:solidFill>
                <a:latin typeface="Verdana"/>
                <a:cs typeface="Verdana"/>
              </a:rPr>
              <a:t>Conocimiento</a:t>
            </a:r>
            <a:r>
              <a:rPr sz="2000" spc="-15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-285" dirty="0">
                <a:solidFill>
                  <a:srgbClr val="2CDAFF"/>
                </a:solidFill>
                <a:latin typeface="Verdana"/>
                <a:cs typeface="Verdana"/>
              </a:rPr>
              <a:t>–</a:t>
            </a:r>
            <a:r>
              <a:rPr sz="2000" spc="-114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CDAFF"/>
                </a:solidFill>
                <a:latin typeface="Verdana"/>
                <a:cs typeface="Verdana"/>
              </a:rPr>
              <a:t>Acciones</a:t>
            </a:r>
            <a:r>
              <a:rPr sz="2000" spc="-14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-165" dirty="0">
                <a:solidFill>
                  <a:srgbClr val="2CDAFF"/>
                </a:solidFill>
                <a:latin typeface="Verdana"/>
                <a:cs typeface="Verdana"/>
              </a:rPr>
              <a:t>-</a:t>
            </a:r>
            <a:r>
              <a:rPr sz="2000" spc="-114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2CDAFF"/>
                </a:solidFill>
                <a:latin typeface="Verdana"/>
                <a:cs typeface="Verdana"/>
              </a:rPr>
              <a:t>Retroalimentación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94988" y="3357371"/>
            <a:ext cx="3281171" cy="328269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053833" y="3448634"/>
            <a:ext cx="183070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13A4C5"/>
                </a:solidFill>
                <a:latin typeface="Verdana"/>
                <a:cs typeface="Verdana"/>
              </a:rPr>
              <a:t>Decisiones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solidFill>
                  <a:srgbClr val="13A4C5"/>
                </a:solidFill>
                <a:latin typeface="Verdana"/>
                <a:cs typeface="Verdana"/>
              </a:rPr>
              <a:t>accionables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37258" y="3496182"/>
            <a:ext cx="21971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13A4C5"/>
                </a:solidFill>
                <a:latin typeface="Verdana"/>
                <a:cs typeface="Verdana"/>
              </a:rPr>
              <a:t>Gestión</a:t>
            </a:r>
            <a:r>
              <a:rPr sz="2400" spc="-175" dirty="0">
                <a:solidFill>
                  <a:srgbClr val="13A4C5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13A4C5"/>
                </a:solidFill>
                <a:latin typeface="Verdana"/>
                <a:cs typeface="Verdana"/>
              </a:rPr>
              <a:t>del </a:t>
            </a:r>
            <a:r>
              <a:rPr sz="2400" spc="40" dirty="0">
                <a:solidFill>
                  <a:srgbClr val="13A4C5"/>
                </a:solidFill>
                <a:latin typeface="Verdana"/>
                <a:cs typeface="Verdana"/>
              </a:rPr>
              <a:t>Conocimiento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91869" y="4794250"/>
            <a:ext cx="27539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45" dirty="0">
                <a:solidFill>
                  <a:srgbClr val="13A4C5"/>
                </a:solidFill>
                <a:latin typeface="Verdana"/>
                <a:cs typeface="Verdana"/>
              </a:rPr>
              <a:t>Empoderamiento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37258" y="6074765"/>
            <a:ext cx="24123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13A4C5"/>
                </a:solidFill>
                <a:latin typeface="Verdana"/>
                <a:cs typeface="Verdana"/>
              </a:rPr>
              <a:t>Roles</a:t>
            </a:r>
            <a:r>
              <a:rPr sz="2400" spc="-215" dirty="0">
                <a:solidFill>
                  <a:srgbClr val="13A4C5"/>
                </a:solidFill>
                <a:latin typeface="Verdana"/>
                <a:cs typeface="Verdana"/>
              </a:rPr>
              <a:t> </a:t>
            </a:r>
            <a:r>
              <a:rPr sz="2400" spc="-135" dirty="0">
                <a:solidFill>
                  <a:srgbClr val="13A4C5"/>
                </a:solidFill>
                <a:latin typeface="Verdana"/>
                <a:cs typeface="Verdana"/>
              </a:rPr>
              <a:t>y</a:t>
            </a:r>
            <a:r>
              <a:rPr sz="2400" spc="-225" dirty="0">
                <a:solidFill>
                  <a:srgbClr val="13A4C5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13A4C5"/>
                </a:solidFill>
                <a:latin typeface="Verdana"/>
                <a:cs typeface="Verdana"/>
              </a:rPr>
              <a:t>Accesos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28206" y="5725464"/>
            <a:ext cx="23768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13A4C5"/>
                </a:solidFill>
                <a:latin typeface="Verdana"/>
                <a:cs typeface="Verdana"/>
              </a:rPr>
              <a:t>Evolución</a:t>
            </a:r>
            <a:r>
              <a:rPr sz="2400" spc="-45" dirty="0">
                <a:solidFill>
                  <a:srgbClr val="13A4C5"/>
                </a:solidFill>
                <a:latin typeface="Verdana"/>
                <a:cs typeface="Verdana"/>
              </a:rPr>
              <a:t> </a:t>
            </a:r>
            <a:r>
              <a:rPr sz="2400" spc="-50" dirty="0">
                <a:solidFill>
                  <a:srgbClr val="13A4C5"/>
                </a:solidFill>
                <a:latin typeface="Verdana"/>
                <a:cs typeface="Verdana"/>
              </a:rPr>
              <a:t>y </a:t>
            </a:r>
            <a:r>
              <a:rPr sz="2400" spc="-10" dirty="0">
                <a:solidFill>
                  <a:srgbClr val="13A4C5"/>
                </a:solidFill>
                <a:latin typeface="Verdana"/>
                <a:cs typeface="Verdana"/>
              </a:rPr>
              <a:t>transformación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16977" y="4813807"/>
            <a:ext cx="1633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13A4C5"/>
                </a:solidFill>
                <a:latin typeface="Verdana"/>
                <a:cs typeface="Verdana"/>
              </a:rPr>
              <a:t>Estructura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083302" y="2671952"/>
            <a:ext cx="23685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85" dirty="0"/>
              <a:t>Analítica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83302" y="3483102"/>
            <a:ext cx="5290185" cy="24428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5" dirty="0">
                <a:solidFill>
                  <a:srgbClr val="2CDAFF"/>
                </a:solidFill>
                <a:latin typeface="Verdana"/>
                <a:cs typeface="Verdana"/>
              </a:rPr>
              <a:t>¡A</a:t>
            </a:r>
            <a:r>
              <a:rPr sz="2000" spc="-11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CDAFF"/>
                </a:solidFill>
                <a:latin typeface="Verdana"/>
                <a:cs typeface="Verdana"/>
              </a:rPr>
              <a:t>tener</a:t>
            </a:r>
            <a:r>
              <a:rPr sz="2000" spc="-11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CDAFF"/>
                </a:solidFill>
                <a:latin typeface="Verdana"/>
                <a:cs typeface="Verdana"/>
              </a:rPr>
              <a:t>en</a:t>
            </a:r>
            <a:r>
              <a:rPr sz="2000" spc="-114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2CDAFF"/>
                </a:solidFill>
                <a:latin typeface="Verdana"/>
                <a:cs typeface="Verdana"/>
              </a:rPr>
              <a:t>cuenta!</a:t>
            </a:r>
            <a:endParaRPr sz="2000">
              <a:latin typeface="Verdana"/>
              <a:cs typeface="Verdana"/>
            </a:endParaRPr>
          </a:p>
          <a:p>
            <a:pPr marL="459740" indent="-286385">
              <a:lnSpc>
                <a:spcPct val="100000"/>
              </a:lnSpc>
              <a:spcBef>
                <a:spcPts val="2225"/>
              </a:spcBef>
              <a:buClr>
                <a:srgbClr val="2CDAFF"/>
              </a:buClr>
              <a:buFont typeface="Courier New"/>
              <a:buChar char="o"/>
              <a:tabLst>
                <a:tab pos="459740" algn="l"/>
              </a:tabLst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Confundir</a:t>
            </a:r>
            <a:r>
              <a:rPr sz="1500" spc="-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estrategia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con</a:t>
            </a:r>
            <a:r>
              <a:rPr sz="1500" spc="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aplicación.</a:t>
            </a:r>
            <a:endParaRPr sz="1500">
              <a:latin typeface="Verdana"/>
              <a:cs typeface="Verdana"/>
            </a:endParaRPr>
          </a:p>
          <a:p>
            <a:pPr marL="460375" marR="5080" indent="-287020">
              <a:lnSpc>
                <a:spcPct val="100000"/>
              </a:lnSpc>
              <a:spcBef>
                <a:spcPts val="1800"/>
              </a:spcBef>
              <a:buClr>
                <a:srgbClr val="2CDAFF"/>
              </a:buClr>
              <a:buFont typeface="Courier New"/>
              <a:buChar char="o"/>
              <a:tabLst>
                <a:tab pos="460375" algn="l"/>
              </a:tabLst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Falta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voluntad</a:t>
            </a:r>
            <a:r>
              <a:rPr sz="15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500" spc="-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entendimiento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5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estrategia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1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implementación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por</a:t>
            </a:r>
            <a:r>
              <a:rPr sz="1500" spc="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las</a:t>
            </a:r>
            <a:r>
              <a:rPr sz="1500" spc="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áreas</a:t>
            </a:r>
            <a:endParaRPr sz="1500">
              <a:latin typeface="Verdana"/>
              <a:cs typeface="Verdana"/>
            </a:endParaRPr>
          </a:p>
          <a:p>
            <a:pPr marL="459740" indent="-286385">
              <a:lnSpc>
                <a:spcPct val="100000"/>
              </a:lnSpc>
              <a:spcBef>
                <a:spcPts val="1800"/>
              </a:spcBef>
              <a:buClr>
                <a:srgbClr val="2CDAFF"/>
              </a:buClr>
              <a:buFont typeface="Courier New"/>
              <a:buChar char="o"/>
              <a:tabLst>
                <a:tab pos="459740" algn="l"/>
              </a:tabLst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responsabilidad</a:t>
            </a:r>
            <a:r>
              <a:rPr sz="1500" spc="-1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es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una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sola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área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(TI).</a:t>
            </a:r>
            <a:endParaRPr sz="1500">
              <a:latin typeface="Verdana"/>
              <a:cs typeface="Verdana"/>
            </a:endParaRPr>
          </a:p>
          <a:p>
            <a:pPr marL="459740" indent="-286385">
              <a:lnSpc>
                <a:spcPct val="100000"/>
              </a:lnSpc>
              <a:spcBef>
                <a:spcPts val="1800"/>
              </a:spcBef>
              <a:buClr>
                <a:srgbClr val="2CDAFF"/>
              </a:buClr>
              <a:buFont typeface="Courier New"/>
              <a:buChar char="o"/>
              <a:tabLst>
                <a:tab pos="459740" algn="l"/>
              </a:tabLst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Implementación</a:t>
            </a:r>
            <a:r>
              <a:rPr sz="15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solo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operativa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15" dirty="0">
                <a:solidFill>
                  <a:srgbClr val="0030B8"/>
                </a:solidFill>
                <a:latin typeface="Verdana"/>
                <a:cs typeface="Verdana"/>
              </a:rPr>
              <a:t>–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solo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gerencial</a:t>
            </a:r>
            <a:endParaRPr sz="15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3044" y="2464307"/>
            <a:ext cx="3749039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083302" y="2671952"/>
            <a:ext cx="23685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85" dirty="0"/>
              <a:t>Analítica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83302" y="3483102"/>
            <a:ext cx="5326380" cy="2213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5" dirty="0">
                <a:solidFill>
                  <a:srgbClr val="2CDAFF"/>
                </a:solidFill>
                <a:latin typeface="Verdana"/>
                <a:cs typeface="Verdana"/>
              </a:rPr>
              <a:t>¡A</a:t>
            </a:r>
            <a:r>
              <a:rPr sz="2000" spc="-11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CDAFF"/>
                </a:solidFill>
                <a:latin typeface="Verdana"/>
                <a:cs typeface="Verdana"/>
              </a:rPr>
              <a:t>tener</a:t>
            </a:r>
            <a:r>
              <a:rPr sz="2000" spc="-11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CDAFF"/>
                </a:solidFill>
                <a:latin typeface="Verdana"/>
                <a:cs typeface="Verdana"/>
              </a:rPr>
              <a:t>en</a:t>
            </a:r>
            <a:r>
              <a:rPr sz="2000" spc="-114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2CDAFF"/>
                </a:solidFill>
                <a:latin typeface="Verdana"/>
                <a:cs typeface="Verdana"/>
              </a:rPr>
              <a:t>cuenta!</a:t>
            </a:r>
            <a:endParaRPr sz="2000">
              <a:latin typeface="Verdana"/>
              <a:cs typeface="Verdana"/>
            </a:endParaRPr>
          </a:p>
          <a:p>
            <a:pPr marL="460375" marR="5080" indent="-287020">
              <a:lnSpc>
                <a:spcPct val="100000"/>
              </a:lnSpc>
              <a:spcBef>
                <a:spcPts val="2225"/>
              </a:spcBef>
              <a:buClr>
                <a:srgbClr val="2CDAFF"/>
              </a:buClr>
              <a:buFont typeface="Courier New"/>
              <a:buChar char="o"/>
              <a:tabLst>
                <a:tab pos="460375" algn="l"/>
              </a:tabLst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Selección</a:t>
            </a:r>
            <a:r>
              <a:rPr sz="15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arquitectura</a:t>
            </a:r>
            <a:r>
              <a:rPr sz="15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y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proveedores</a:t>
            </a:r>
            <a:r>
              <a:rPr sz="15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solo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por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el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costo.</a:t>
            </a:r>
            <a:endParaRPr sz="1500">
              <a:latin typeface="Verdana"/>
              <a:cs typeface="Verdana"/>
            </a:endParaRPr>
          </a:p>
          <a:p>
            <a:pPr marL="460375" marR="17145" indent="-287020">
              <a:lnSpc>
                <a:spcPct val="100000"/>
              </a:lnSpc>
              <a:spcBef>
                <a:spcPts val="1800"/>
              </a:spcBef>
              <a:buClr>
                <a:srgbClr val="2CDAFF"/>
              </a:buClr>
              <a:buFont typeface="Courier New"/>
              <a:buChar char="o"/>
              <a:tabLst>
                <a:tab pos="460375" algn="l"/>
              </a:tabLst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Implementaciones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Todo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o</a:t>
            </a:r>
            <a:r>
              <a:rPr sz="15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Nada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(con</a:t>
            </a:r>
            <a:r>
              <a:rPr sz="15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alta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inversión inicial).</a:t>
            </a:r>
            <a:endParaRPr sz="1500">
              <a:latin typeface="Verdana"/>
              <a:cs typeface="Verdana"/>
            </a:endParaRPr>
          </a:p>
          <a:p>
            <a:pPr marL="459105" indent="-285750">
              <a:lnSpc>
                <a:spcPct val="100000"/>
              </a:lnSpc>
              <a:spcBef>
                <a:spcPts val="1800"/>
              </a:spcBef>
              <a:buClr>
                <a:srgbClr val="2CDAFF"/>
              </a:buClr>
              <a:buFont typeface="Courier New"/>
              <a:buChar char="o"/>
              <a:tabLst>
                <a:tab pos="459105" algn="l"/>
              </a:tabLst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Seleccionar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tecnología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 y</a:t>
            </a:r>
            <a:r>
              <a:rPr sz="15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no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soluciones</a:t>
            </a:r>
            <a:endParaRPr sz="15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3044" y="2464307"/>
            <a:ext cx="3749039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083302" y="2671952"/>
            <a:ext cx="23685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85" dirty="0"/>
              <a:t>Analítica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83302" y="3483102"/>
            <a:ext cx="5115560" cy="24428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5" dirty="0">
                <a:solidFill>
                  <a:srgbClr val="2CDAFF"/>
                </a:solidFill>
                <a:latin typeface="Verdana"/>
                <a:cs typeface="Verdana"/>
              </a:rPr>
              <a:t>¡A</a:t>
            </a:r>
            <a:r>
              <a:rPr sz="2000" spc="-11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CDAFF"/>
                </a:solidFill>
                <a:latin typeface="Verdana"/>
                <a:cs typeface="Verdana"/>
              </a:rPr>
              <a:t>tener</a:t>
            </a:r>
            <a:r>
              <a:rPr sz="2000" spc="-11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CDAFF"/>
                </a:solidFill>
                <a:latin typeface="Verdana"/>
                <a:cs typeface="Verdana"/>
              </a:rPr>
              <a:t>en</a:t>
            </a:r>
            <a:r>
              <a:rPr sz="2000" spc="-114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2CDAFF"/>
                </a:solidFill>
                <a:latin typeface="Verdana"/>
                <a:cs typeface="Verdana"/>
              </a:rPr>
              <a:t>cuenta!</a:t>
            </a:r>
            <a:endParaRPr sz="2000">
              <a:latin typeface="Verdana"/>
              <a:cs typeface="Verdana"/>
            </a:endParaRPr>
          </a:p>
          <a:p>
            <a:pPr marL="459740" indent="-286385">
              <a:lnSpc>
                <a:spcPct val="100000"/>
              </a:lnSpc>
              <a:spcBef>
                <a:spcPts val="2225"/>
              </a:spcBef>
              <a:buClr>
                <a:srgbClr val="2CDAFF"/>
              </a:buClr>
              <a:buFont typeface="Courier New"/>
              <a:buChar char="o"/>
              <a:tabLst>
                <a:tab pos="459740" algn="l"/>
              </a:tabLst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Calidad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 y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disponibilidad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5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información</a:t>
            </a:r>
            <a:endParaRPr sz="1500">
              <a:latin typeface="Verdana"/>
              <a:cs typeface="Verdana"/>
            </a:endParaRPr>
          </a:p>
          <a:p>
            <a:pPr marL="460375" marR="86360" indent="-287020">
              <a:lnSpc>
                <a:spcPct val="100000"/>
              </a:lnSpc>
              <a:spcBef>
                <a:spcPts val="1800"/>
              </a:spcBef>
              <a:buClr>
                <a:srgbClr val="2CDAFF"/>
              </a:buClr>
              <a:buFont typeface="Courier New"/>
              <a:buChar char="o"/>
              <a:tabLst>
                <a:tab pos="460375" algn="l"/>
              </a:tabLst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Comenzar</a:t>
            </a:r>
            <a:r>
              <a:rPr sz="1500" spc="-1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por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el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tablero</a:t>
            </a:r>
            <a:r>
              <a:rPr sz="15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o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por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información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no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por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acción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o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proceso.</a:t>
            </a:r>
            <a:endParaRPr sz="1500">
              <a:latin typeface="Verdana"/>
              <a:cs typeface="Verdana"/>
            </a:endParaRPr>
          </a:p>
          <a:p>
            <a:pPr marL="459740" indent="-286385">
              <a:lnSpc>
                <a:spcPct val="100000"/>
              </a:lnSpc>
              <a:spcBef>
                <a:spcPts val="1800"/>
              </a:spcBef>
              <a:buClr>
                <a:srgbClr val="2CDAFF"/>
              </a:buClr>
              <a:buFont typeface="Courier New"/>
              <a:buChar char="o"/>
              <a:tabLst>
                <a:tab pos="459740" algn="l"/>
              </a:tabLst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Falta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una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hoja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11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ruta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al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interior</a:t>
            </a:r>
            <a:r>
              <a:rPr sz="1500" spc="-1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del</a:t>
            </a:r>
            <a:r>
              <a:rPr sz="1500" spc="-11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área</a:t>
            </a:r>
            <a:endParaRPr sz="1500">
              <a:latin typeface="Verdana"/>
              <a:cs typeface="Verdana"/>
            </a:endParaRPr>
          </a:p>
          <a:p>
            <a:pPr marL="459740" indent="-286385">
              <a:lnSpc>
                <a:spcPct val="100000"/>
              </a:lnSpc>
              <a:spcBef>
                <a:spcPts val="1800"/>
              </a:spcBef>
              <a:buClr>
                <a:srgbClr val="2CDAFF"/>
              </a:buClr>
              <a:buFont typeface="Courier New"/>
              <a:buChar char="o"/>
              <a:tabLst>
                <a:tab pos="459740" algn="l"/>
              </a:tabLst>
            </a:pPr>
            <a:r>
              <a:rPr sz="1500" spc="60" dirty="0">
                <a:solidFill>
                  <a:srgbClr val="0030B8"/>
                </a:solidFill>
                <a:latin typeface="Verdana"/>
                <a:cs typeface="Verdana"/>
              </a:rPr>
              <a:t>No</a:t>
            </a:r>
            <a:r>
              <a:rPr sz="15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asociar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5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Analítica</a:t>
            </a:r>
            <a:r>
              <a:rPr sz="1500" spc="-1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a</a:t>
            </a:r>
            <a:r>
              <a:rPr sz="15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5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cultura</a:t>
            </a:r>
            <a:r>
              <a:rPr sz="15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organizacional</a:t>
            </a:r>
            <a:endParaRPr sz="15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3044" y="2464307"/>
            <a:ext cx="3749039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083302" y="2671952"/>
            <a:ext cx="23685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85" dirty="0"/>
              <a:t>Analítica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83302" y="3483102"/>
            <a:ext cx="5022850" cy="1527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5" dirty="0">
                <a:solidFill>
                  <a:srgbClr val="2CDAFF"/>
                </a:solidFill>
                <a:latin typeface="Verdana"/>
                <a:cs typeface="Verdana"/>
              </a:rPr>
              <a:t>¡A</a:t>
            </a:r>
            <a:r>
              <a:rPr sz="2000" spc="-11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CDAFF"/>
                </a:solidFill>
                <a:latin typeface="Verdana"/>
                <a:cs typeface="Verdana"/>
              </a:rPr>
              <a:t>tener</a:t>
            </a:r>
            <a:r>
              <a:rPr sz="2000" spc="-11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CDAFF"/>
                </a:solidFill>
                <a:latin typeface="Verdana"/>
                <a:cs typeface="Verdana"/>
              </a:rPr>
              <a:t>en</a:t>
            </a:r>
            <a:r>
              <a:rPr sz="2000" spc="-114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2CDAFF"/>
                </a:solidFill>
                <a:latin typeface="Verdana"/>
                <a:cs typeface="Verdana"/>
              </a:rPr>
              <a:t>cuenta!</a:t>
            </a:r>
            <a:endParaRPr sz="2000">
              <a:latin typeface="Verdana"/>
              <a:cs typeface="Verdana"/>
            </a:endParaRPr>
          </a:p>
          <a:p>
            <a:pPr marL="460375" marR="5080" indent="-287020">
              <a:lnSpc>
                <a:spcPct val="100000"/>
              </a:lnSpc>
              <a:spcBef>
                <a:spcPts val="2225"/>
              </a:spcBef>
              <a:buClr>
                <a:srgbClr val="2CDAFF"/>
              </a:buClr>
              <a:buFont typeface="Courier New"/>
              <a:buChar char="o"/>
              <a:tabLst>
                <a:tab pos="460375" algn="l"/>
              </a:tabLst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Querer</a:t>
            </a:r>
            <a:r>
              <a:rPr sz="15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hacerlo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todo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45" dirty="0">
                <a:solidFill>
                  <a:srgbClr val="0030B8"/>
                </a:solidFill>
                <a:latin typeface="Verdana"/>
                <a:cs typeface="Verdana"/>
              </a:rPr>
              <a:t>(falta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democratización</a:t>
            </a:r>
            <a:r>
              <a:rPr sz="15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50" dirty="0">
                <a:solidFill>
                  <a:srgbClr val="0030B8"/>
                </a:solidFill>
                <a:latin typeface="Verdana"/>
                <a:cs typeface="Verdana"/>
              </a:rPr>
              <a:t>y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empoderamiento)</a:t>
            </a:r>
            <a:endParaRPr sz="1500">
              <a:latin typeface="Verdana"/>
              <a:cs typeface="Verdana"/>
            </a:endParaRPr>
          </a:p>
          <a:p>
            <a:pPr marL="459740" indent="-286385">
              <a:lnSpc>
                <a:spcPct val="100000"/>
              </a:lnSpc>
              <a:spcBef>
                <a:spcPts val="1800"/>
              </a:spcBef>
              <a:buClr>
                <a:srgbClr val="2CDAFF"/>
              </a:buClr>
              <a:buFont typeface="Courier New"/>
              <a:buChar char="o"/>
              <a:tabLst>
                <a:tab pos="459740" algn="l"/>
              </a:tabLst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Gestión</a:t>
            </a:r>
            <a:r>
              <a:rPr sz="15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del</a:t>
            </a:r>
            <a:r>
              <a:rPr sz="15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cambio.</a:t>
            </a:r>
            <a:endParaRPr sz="15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3044" y="2464307"/>
            <a:ext cx="3749039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68771" y="3420617"/>
            <a:ext cx="5836920" cy="1694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4000" b="1" spc="-10" dirty="0">
                <a:solidFill>
                  <a:srgbClr val="0030B8"/>
                </a:solidFill>
                <a:latin typeface="Tahoma"/>
                <a:cs typeface="Tahoma"/>
              </a:rPr>
              <a:t>03.</a:t>
            </a:r>
            <a:r>
              <a:rPr sz="4000" b="1" spc="-100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4000" b="1" spc="85" dirty="0">
                <a:solidFill>
                  <a:srgbClr val="0030B8"/>
                </a:solidFill>
                <a:latin typeface="Tahoma"/>
                <a:cs typeface="Tahoma"/>
              </a:rPr>
              <a:t>Minería</a:t>
            </a:r>
            <a:r>
              <a:rPr sz="4000" b="1" spc="-80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4000" b="1" spc="195" dirty="0">
                <a:solidFill>
                  <a:srgbClr val="0030B8"/>
                </a:solidFill>
                <a:latin typeface="Tahoma"/>
                <a:cs typeface="Tahoma"/>
              </a:rPr>
              <a:t>de</a:t>
            </a:r>
            <a:r>
              <a:rPr sz="4000" b="1" spc="-85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4000" b="1" spc="110" dirty="0">
                <a:solidFill>
                  <a:srgbClr val="0030B8"/>
                </a:solidFill>
                <a:latin typeface="Tahoma"/>
                <a:cs typeface="Tahoma"/>
              </a:rPr>
              <a:t>datos</a:t>
            </a:r>
            <a:r>
              <a:rPr sz="4000" b="1" spc="-85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4000" b="1" spc="15" dirty="0">
                <a:solidFill>
                  <a:srgbClr val="0030B8"/>
                </a:solidFill>
                <a:latin typeface="Tahoma"/>
                <a:cs typeface="Tahoma"/>
              </a:rPr>
              <a:t>y </a:t>
            </a:r>
            <a:r>
              <a:rPr sz="4000" b="1" spc="170" dirty="0">
                <a:solidFill>
                  <a:srgbClr val="0030B8"/>
                </a:solidFill>
                <a:latin typeface="Tahoma"/>
                <a:cs typeface="Tahoma"/>
              </a:rPr>
              <a:t>Big</a:t>
            </a:r>
            <a:r>
              <a:rPr sz="4000" b="1" spc="-40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4000" b="1" spc="95" dirty="0">
                <a:solidFill>
                  <a:srgbClr val="0030B8"/>
                </a:solidFill>
                <a:latin typeface="Tahoma"/>
                <a:cs typeface="Tahoma"/>
              </a:rPr>
              <a:t>Data</a:t>
            </a:r>
            <a:endParaRPr sz="4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2200" spc="-30" dirty="0">
                <a:solidFill>
                  <a:srgbClr val="2CDAFF"/>
                </a:solidFill>
                <a:latin typeface="Verdana"/>
                <a:cs typeface="Verdana"/>
              </a:rPr>
              <a:t>Diferencias,</a:t>
            </a:r>
            <a:r>
              <a:rPr sz="2200" spc="-155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200" spc="-20" dirty="0">
                <a:solidFill>
                  <a:srgbClr val="2CDAFF"/>
                </a:solidFill>
                <a:latin typeface="Verdana"/>
                <a:cs typeface="Verdana"/>
              </a:rPr>
              <a:t>usos</a:t>
            </a:r>
            <a:r>
              <a:rPr sz="2200" spc="-155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200" spc="-125" dirty="0">
                <a:solidFill>
                  <a:srgbClr val="2CDAFF"/>
                </a:solidFill>
                <a:latin typeface="Verdana"/>
                <a:cs typeface="Verdana"/>
              </a:rPr>
              <a:t>y</a:t>
            </a:r>
            <a:r>
              <a:rPr sz="2200" spc="-16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solidFill>
                  <a:srgbClr val="2CDAFF"/>
                </a:solidFill>
                <a:latin typeface="Verdana"/>
                <a:cs typeface="Verdana"/>
              </a:rPr>
              <a:t>aplicaciones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3" name="object 3" descr="Digitization, Transformation, Binary, Zero, On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439923"/>
            <a:ext cx="5666231" cy="3782567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073777" y="1693925"/>
            <a:ext cx="572135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pc="95" dirty="0"/>
              <a:t>Analítica</a:t>
            </a:r>
            <a:r>
              <a:rPr spc="-30" dirty="0"/>
              <a:t> </a:t>
            </a:r>
            <a:r>
              <a:rPr spc="-565" dirty="0"/>
              <a:t>–</a:t>
            </a:r>
            <a:r>
              <a:rPr spc="-25" dirty="0"/>
              <a:t> </a:t>
            </a:r>
            <a:r>
              <a:rPr spc="85" dirty="0"/>
              <a:t>Minería</a:t>
            </a:r>
            <a:r>
              <a:rPr spc="-30" dirty="0"/>
              <a:t> </a:t>
            </a:r>
            <a:r>
              <a:rPr spc="170" dirty="0"/>
              <a:t>de </a:t>
            </a:r>
            <a:r>
              <a:rPr spc="105" dirty="0"/>
              <a:t>datos</a:t>
            </a:r>
            <a:r>
              <a:rPr spc="-20" dirty="0"/>
              <a:t> </a:t>
            </a:r>
            <a:r>
              <a:rPr spc="-565" dirty="0"/>
              <a:t>–</a:t>
            </a:r>
            <a:r>
              <a:rPr spc="-35" dirty="0"/>
              <a:t> </a:t>
            </a:r>
            <a:r>
              <a:rPr spc="190" dirty="0"/>
              <a:t>Big</a:t>
            </a:r>
            <a:r>
              <a:rPr spc="-25" dirty="0"/>
              <a:t> </a:t>
            </a:r>
            <a:r>
              <a:rPr spc="95" dirty="0"/>
              <a:t>Data</a:t>
            </a:r>
          </a:p>
        </p:txBody>
      </p:sp>
      <p:sp>
        <p:nvSpPr>
          <p:cNvPr id="3" name="object 3"/>
          <p:cNvSpPr/>
          <p:nvPr/>
        </p:nvSpPr>
        <p:spPr>
          <a:xfrm>
            <a:off x="787908" y="3212592"/>
            <a:ext cx="8749665" cy="3456940"/>
          </a:xfrm>
          <a:custGeom>
            <a:avLst/>
            <a:gdLst/>
            <a:ahLst/>
            <a:cxnLst/>
            <a:rect l="l" t="t" r="r" b="b"/>
            <a:pathLst>
              <a:path w="8749665" h="3456940">
                <a:moveTo>
                  <a:pt x="8749284" y="0"/>
                </a:moveTo>
                <a:lnTo>
                  <a:pt x="0" y="0"/>
                </a:lnTo>
                <a:lnTo>
                  <a:pt x="0" y="3456432"/>
                </a:lnTo>
                <a:lnTo>
                  <a:pt x="8749284" y="3456432"/>
                </a:lnTo>
                <a:lnTo>
                  <a:pt x="8749284" y="0"/>
                </a:lnTo>
                <a:close/>
              </a:path>
            </a:pathLst>
          </a:custGeom>
          <a:solidFill>
            <a:srgbClr val="3366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00734" y="3472434"/>
            <a:ext cx="8016875" cy="57658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z="2000" b="1" dirty="0">
                <a:solidFill>
                  <a:srgbClr val="FFFFFF"/>
                </a:solidFill>
                <a:latin typeface="Tahoma"/>
                <a:cs typeface="Tahoma"/>
              </a:rPr>
              <a:t>Analítica:</a:t>
            </a:r>
            <a:r>
              <a:rPr sz="2000" b="1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/>
                <a:cs typeface="Verdana"/>
              </a:rPr>
              <a:t>Analizar</a:t>
            </a:r>
            <a:r>
              <a:rPr sz="1600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patrones</a:t>
            </a:r>
            <a:r>
              <a:rPr sz="1600" spc="-4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35" dirty="0">
                <a:solidFill>
                  <a:srgbClr val="FFFFFF"/>
                </a:solidFill>
                <a:latin typeface="Verdana"/>
                <a:cs typeface="Verdana"/>
              </a:rPr>
              <a:t>a</a:t>
            </a:r>
            <a:r>
              <a:rPr sz="16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/>
                <a:cs typeface="Verdana"/>
              </a:rPr>
              <a:t>partir</a:t>
            </a:r>
            <a:r>
              <a:rPr sz="16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6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15" dirty="0">
                <a:solidFill>
                  <a:srgbClr val="FFFFFF"/>
                </a:solidFill>
                <a:latin typeface="Verdana"/>
                <a:cs typeface="Verdana"/>
              </a:rPr>
              <a:t>los</a:t>
            </a:r>
            <a:r>
              <a:rPr sz="16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datos</a:t>
            </a:r>
            <a:r>
              <a:rPr sz="160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/>
                <a:cs typeface="Verdana"/>
              </a:rPr>
              <a:t>para</a:t>
            </a:r>
            <a:r>
              <a:rPr sz="16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generar</a:t>
            </a:r>
            <a:r>
              <a:rPr sz="16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/>
                <a:cs typeface="Verdana"/>
              </a:rPr>
              <a:t>conocimiento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6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40" dirty="0">
                <a:solidFill>
                  <a:srgbClr val="FFFFFF"/>
                </a:solidFill>
                <a:latin typeface="Verdana"/>
                <a:cs typeface="Verdana"/>
              </a:rPr>
              <a:t>valor</a:t>
            </a:r>
            <a:r>
              <a:rPr sz="16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/>
                <a:cs typeface="Verdana"/>
              </a:rPr>
              <a:t>para</a:t>
            </a:r>
            <a:r>
              <a:rPr sz="1600" spc="-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Verdana"/>
                <a:cs typeface="Verdana"/>
              </a:rPr>
              <a:t>la</a:t>
            </a:r>
            <a:r>
              <a:rPr sz="16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toma</a:t>
            </a:r>
            <a:r>
              <a:rPr sz="1600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6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/>
                <a:cs typeface="Verdana"/>
              </a:rPr>
              <a:t>decisiones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87908" y="4465320"/>
            <a:ext cx="7175500" cy="2200910"/>
          </a:xfrm>
          <a:custGeom>
            <a:avLst/>
            <a:gdLst/>
            <a:ahLst/>
            <a:cxnLst/>
            <a:rect l="l" t="t" r="r" b="b"/>
            <a:pathLst>
              <a:path w="7175500" h="2200909">
                <a:moveTo>
                  <a:pt x="7174992" y="0"/>
                </a:moveTo>
                <a:lnTo>
                  <a:pt x="0" y="0"/>
                </a:lnTo>
                <a:lnTo>
                  <a:pt x="0" y="2200655"/>
                </a:lnTo>
                <a:lnTo>
                  <a:pt x="7174992" y="2200655"/>
                </a:lnTo>
                <a:lnTo>
                  <a:pt x="7174992" y="0"/>
                </a:lnTo>
                <a:close/>
              </a:path>
            </a:pathLst>
          </a:custGeom>
          <a:solidFill>
            <a:srgbClr val="3CBB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75436" y="4772025"/>
            <a:ext cx="3271520" cy="1552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FFFFFF"/>
                </a:solidFill>
                <a:latin typeface="Tahoma"/>
                <a:cs typeface="Tahoma"/>
              </a:rPr>
              <a:t>Minería</a:t>
            </a:r>
            <a:r>
              <a:rPr sz="2000" b="1" spc="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90" dirty="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sz="2000" b="1" spc="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Tahoma"/>
                <a:cs typeface="Tahoma"/>
              </a:rPr>
              <a:t>datos:</a:t>
            </a:r>
            <a:endParaRPr sz="20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20"/>
              </a:spcBef>
            </a:pP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Algoritmos</a:t>
            </a:r>
            <a:r>
              <a:rPr sz="1600" spc="-2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95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160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técnicas</a:t>
            </a:r>
            <a:r>
              <a:rPr sz="1600" spc="-25" dirty="0">
                <a:solidFill>
                  <a:srgbClr val="FFFFFF"/>
                </a:solidFill>
                <a:latin typeface="Verdana"/>
                <a:cs typeface="Verdana"/>
              </a:rPr>
              <a:t> de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Aprendizaje</a:t>
            </a:r>
            <a:r>
              <a:rPr sz="16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60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/>
                <a:cs typeface="Verdana"/>
              </a:rPr>
              <a:t>Maquina,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estadística</a:t>
            </a:r>
            <a:r>
              <a:rPr sz="16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95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1600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/>
                <a:cs typeface="Verdana"/>
              </a:rPr>
              <a:t>otros</a:t>
            </a:r>
            <a:r>
              <a:rPr sz="16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enfocados</a:t>
            </a:r>
            <a:r>
              <a:rPr sz="1600" spc="-7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Verdana"/>
                <a:cs typeface="Verdana"/>
              </a:rPr>
              <a:t>en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el</a:t>
            </a:r>
            <a:r>
              <a:rPr sz="1600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Verdana"/>
                <a:cs typeface="Verdana"/>
              </a:rPr>
              <a:t>análisis</a:t>
            </a:r>
            <a:r>
              <a:rPr sz="160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6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patrones</a:t>
            </a:r>
            <a:r>
              <a:rPr sz="1600" spc="-7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50" dirty="0">
                <a:solidFill>
                  <a:srgbClr val="FFFFFF"/>
                </a:solidFill>
                <a:latin typeface="Verdana"/>
                <a:cs typeface="Verdana"/>
              </a:rPr>
              <a:t>y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predicción</a:t>
            </a:r>
            <a:r>
              <a:rPr sz="1600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600" spc="-20" dirty="0">
                <a:solidFill>
                  <a:srgbClr val="FFFFFF"/>
                </a:solidFill>
                <a:latin typeface="Verdana"/>
                <a:cs typeface="Verdana"/>
              </a:rPr>
              <a:t> los</a:t>
            </a:r>
            <a:r>
              <a:rPr sz="16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/>
                <a:cs typeface="Verdana"/>
              </a:rPr>
              <a:t>mismos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91811" y="4439411"/>
            <a:ext cx="5741035" cy="1819910"/>
          </a:xfrm>
          <a:custGeom>
            <a:avLst/>
            <a:gdLst/>
            <a:ahLst/>
            <a:cxnLst/>
            <a:rect l="l" t="t" r="r" b="b"/>
            <a:pathLst>
              <a:path w="5741034" h="1819910">
                <a:moveTo>
                  <a:pt x="5740908" y="0"/>
                </a:moveTo>
                <a:lnTo>
                  <a:pt x="0" y="0"/>
                </a:lnTo>
                <a:lnTo>
                  <a:pt x="0" y="1819656"/>
                </a:lnTo>
                <a:lnTo>
                  <a:pt x="5740908" y="1819656"/>
                </a:lnTo>
                <a:lnTo>
                  <a:pt x="5740908" y="0"/>
                </a:lnTo>
                <a:close/>
              </a:path>
            </a:pathLst>
          </a:custGeom>
          <a:solidFill>
            <a:srgbClr val="474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073777" y="4679060"/>
            <a:ext cx="47078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45" dirty="0">
                <a:solidFill>
                  <a:srgbClr val="FFFFFF"/>
                </a:solidFill>
                <a:latin typeface="Tahoma"/>
                <a:cs typeface="Tahoma"/>
              </a:rPr>
              <a:t>BigData:</a:t>
            </a:r>
            <a:r>
              <a:rPr sz="2000" b="1" spc="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Técnicas</a:t>
            </a:r>
            <a:r>
              <a:rPr sz="16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computacionales</a:t>
            </a:r>
            <a:r>
              <a:rPr sz="1600" spc="-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/>
                <a:cs typeface="Verdana"/>
              </a:rPr>
              <a:t>usadas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73777" y="4986909"/>
            <a:ext cx="47917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6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forma</a:t>
            </a:r>
            <a:r>
              <a:rPr sz="1600" spc="-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eficiente</a:t>
            </a:r>
            <a:r>
              <a:rPr sz="16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en</a:t>
            </a:r>
            <a:r>
              <a:rPr sz="16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datos</a:t>
            </a:r>
            <a:r>
              <a:rPr sz="16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Verdana"/>
                <a:cs typeface="Verdana"/>
              </a:rPr>
              <a:t>masivos</a:t>
            </a:r>
            <a:r>
              <a:rPr sz="160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95" dirty="0">
                <a:solidFill>
                  <a:srgbClr val="FFFFFF"/>
                </a:solidFill>
                <a:latin typeface="Verdana"/>
                <a:cs typeface="Verdana"/>
              </a:rPr>
              <a:t>y </a:t>
            </a:r>
            <a:r>
              <a:rPr sz="1600" spc="-10" dirty="0">
                <a:solidFill>
                  <a:srgbClr val="FFFFFF"/>
                </a:solidFill>
                <a:latin typeface="Verdana"/>
                <a:cs typeface="Verdana"/>
              </a:rPr>
              <a:t>distintos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73777" y="5230748"/>
            <a:ext cx="48787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Verdana"/>
                <a:cs typeface="Verdana"/>
              </a:rPr>
              <a:t>(estructurados</a:t>
            </a:r>
            <a:r>
              <a:rPr sz="160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95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1600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no</a:t>
            </a:r>
            <a:r>
              <a:rPr sz="1600" spc="-11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Verdana"/>
                <a:cs typeface="Verdana"/>
              </a:rPr>
              <a:t>estructurados)</a:t>
            </a:r>
            <a:r>
              <a:rPr sz="160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/>
                <a:cs typeface="Verdana"/>
              </a:rPr>
              <a:t>para</a:t>
            </a:r>
            <a:r>
              <a:rPr sz="16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Verdana"/>
                <a:cs typeface="Verdana"/>
              </a:rPr>
              <a:t>la</a:t>
            </a:r>
            <a:r>
              <a:rPr sz="1600" spc="-10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Verdana"/>
                <a:cs typeface="Verdana"/>
              </a:rPr>
              <a:t>toma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73777" y="5474614"/>
            <a:ext cx="14065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600" spc="-6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/>
                <a:cs typeface="Verdana"/>
              </a:rPr>
              <a:t>decisiones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03249" y="6705701"/>
            <a:ext cx="1010348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</a:rPr>
              <a:t>Rodríguez,</a:t>
            </a:r>
            <a:r>
              <a:rPr sz="800" i="1" spc="1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20" dirty="0">
                <a:solidFill>
                  <a:srgbClr val="393939"/>
                </a:solidFill>
                <a:latin typeface="Verdana"/>
                <a:cs typeface="Verdana"/>
              </a:rPr>
              <a:t>P.</a:t>
            </a:r>
            <a:r>
              <a:rPr sz="800" i="1" spc="1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et</a:t>
            </a:r>
            <a:r>
              <a:rPr sz="800" i="1" spc="3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55" dirty="0">
                <a:solidFill>
                  <a:srgbClr val="393939"/>
                </a:solidFill>
                <a:latin typeface="Verdana"/>
                <a:cs typeface="Verdana"/>
              </a:rPr>
              <a:t>al.,</a:t>
            </a:r>
            <a:r>
              <a:rPr sz="800" i="1" spc="1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100" dirty="0">
                <a:solidFill>
                  <a:srgbClr val="393939"/>
                </a:solidFill>
                <a:latin typeface="Verdana"/>
                <a:cs typeface="Verdana"/>
              </a:rPr>
              <a:t>(2017),</a:t>
            </a:r>
            <a:r>
              <a:rPr sz="800" i="1" spc="2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El</a:t>
            </a:r>
            <a:r>
              <a:rPr sz="800" i="1" spc="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uso de</a:t>
            </a:r>
            <a:r>
              <a:rPr sz="800" i="1" spc="1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datos</a:t>
            </a:r>
            <a:r>
              <a:rPr sz="800" i="1" spc="-1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masivos</a:t>
            </a: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50" dirty="0">
                <a:solidFill>
                  <a:srgbClr val="393939"/>
                </a:solidFill>
                <a:latin typeface="Verdana"/>
                <a:cs typeface="Verdana"/>
              </a:rPr>
              <a:t>y</a:t>
            </a:r>
            <a:r>
              <a:rPr sz="800" i="1" spc="1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</a:rPr>
              <a:t>sus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técnicas</a:t>
            </a:r>
            <a:r>
              <a:rPr sz="800" i="1" spc="-1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analíticas</a:t>
            </a:r>
            <a:r>
              <a:rPr sz="800" i="1" spc="-2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para</a:t>
            </a:r>
            <a:r>
              <a:rPr sz="800" i="1" spc="-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</a:rPr>
              <a:t>el</a:t>
            </a:r>
            <a:r>
              <a:rPr sz="800" i="1" spc="1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diseño e</a:t>
            </a:r>
            <a:r>
              <a:rPr sz="800" i="1" spc="1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implementación</a:t>
            </a:r>
            <a:r>
              <a:rPr sz="800" i="1" spc="-2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de</a:t>
            </a:r>
            <a:r>
              <a:rPr sz="800" i="1" spc="1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políticas</a:t>
            </a:r>
            <a:r>
              <a:rPr sz="800" i="1" spc="-2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públicas</a:t>
            </a:r>
            <a:r>
              <a:rPr sz="800" i="1" spc="-2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en</a:t>
            </a:r>
            <a:r>
              <a:rPr sz="800" i="1" spc="3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Latinoamérica</a:t>
            </a:r>
            <a:r>
              <a:rPr sz="800" i="1" spc="-2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50" dirty="0">
                <a:solidFill>
                  <a:srgbClr val="393939"/>
                </a:solidFill>
                <a:latin typeface="Verdana"/>
                <a:cs typeface="Verdana"/>
              </a:rPr>
              <a:t>y</a:t>
            </a:r>
            <a:r>
              <a:rPr sz="800" i="1" spc="1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el</a:t>
            </a:r>
            <a:r>
              <a:rPr sz="800" i="1" spc="3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</a:rPr>
              <a:t>Caribe,</a:t>
            </a:r>
            <a:r>
              <a:rPr sz="800" i="1" spc="3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Banco</a:t>
            </a:r>
            <a:r>
              <a:rPr sz="800" i="1" spc="-3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Interamericano</a:t>
            </a:r>
            <a:r>
              <a:rPr sz="800" i="1" spc="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de</a:t>
            </a:r>
            <a:r>
              <a:rPr sz="800" i="1" spc="1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</a:rPr>
              <a:t>Desarrollo.</a:t>
            </a:r>
            <a:endParaRPr sz="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73777" y="1693925"/>
            <a:ext cx="44665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85" dirty="0">
                <a:solidFill>
                  <a:srgbClr val="0030B8"/>
                </a:solidFill>
                <a:latin typeface="Tahoma"/>
                <a:cs typeface="Tahoma"/>
              </a:rPr>
              <a:t>Minería</a:t>
            </a:r>
            <a:r>
              <a:rPr sz="4000" b="1" spc="-35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4000" b="1" spc="195" dirty="0">
                <a:solidFill>
                  <a:srgbClr val="0030B8"/>
                </a:solidFill>
                <a:latin typeface="Tahoma"/>
                <a:cs typeface="Tahoma"/>
              </a:rPr>
              <a:t>de</a:t>
            </a:r>
            <a:r>
              <a:rPr sz="4000" b="1" spc="-25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4000" b="1" spc="90" dirty="0">
                <a:solidFill>
                  <a:srgbClr val="0030B8"/>
                </a:solidFill>
                <a:latin typeface="Tahoma"/>
                <a:cs typeface="Tahoma"/>
              </a:rPr>
              <a:t>datos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3249" y="6705701"/>
            <a:ext cx="483235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Clarke</a:t>
            </a:r>
            <a:r>
              <a:rPr sz="800" i="1" spc="-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70" dirty="0">
                <a:solidFill>
                  <a:srgbClr val="393939"/>
                </a:solidFill>
                <a:latin typeface="Verdana"/>
                <a:cs typeface="Verdana"/>
              </a:rPr>
              <a:t>B.,</a:t>
            </a:r>
            <a:r>
              <a:rPr sz="800" i="1" spc="2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et</a:t>
            </a:r>
            <a:r>
              <a:rPr sz="800" i="1" spc="3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30" dirty="0">
                <a:solidFill>
                  <a:srgbClr val="393939"/>
                </a:solidFill>
                <a:latin typeface="Verdana"/>
                <a:cs typeface="Verdana"/>
              </a:rPr>
              <a:t>al.</a:t>
            </a:r>
            <a:r>
              <a:rPr sz="800" i="1" spc="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60" dirty="0">
                <a:solidFill>
                  <a:srgbClr val="393939"/>
                </a:solidFill>
                <a:latin typeface="Verdana"/>
                <a:cs typeface="Verdana"/>
              </a:rPr>
              <a:t>(2009).</a:t>
            </a:r>
            <a:r>
              <a:rPr sz="800" i="1" spc="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Principles</a:t>
            </a: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and</a:t>
            </a:r>
            <a:r>
              <a:rPr sz="800" i="1" spc="-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</a:rPr>
              <a:t>Theory</a:t>
            </a:r>
            <a:r>
              <a:rPr sz="800" i="1" spc="3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</a:rPr>
              <a:t>for</a:t>
            </a:r>
            <a:r>
              <a:rPr sz="800" i="1" spc="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Data</a:t>
            </a:r>
            <a:r>
              <a:rPr sz="800" i="1" spc="1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Mining</a:t>
            </a: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and</a:t>
            </a:r>
            <a:r>
              <a:rPr sz="800" i="1" spc="-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Machine Learning,</a:t>
            </a:r>
            <a:r>
              <a:rPr sz="800" i="1" spc="2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</a:rPr>
              <a:t>Springer.</a:t>
            </a:r>
            <a:endParaRPr sz="8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260092" y="3387852"/>
            <a:ext cx="3733800" cy="1285240"/>
            <a:chOff x="2260092" y="3387852"/>
            <a:chExt cx="3733800" cy="1285240"/>
          </a:xfrm>
        </p:grpSpPr>
        <p:pic>
          <p:nvPicPr>
            <p:cNvPr id="5" name="object 5" descr="Icono  Descripción generada automáticamente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21936" y="3387852"/>
              <a:ext cx="1171956" cy="117195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60092" y="3403092"/>
              <a:ext cx="1196340" cy="119481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06852" y="4151376"/>
              <a:ext cx="525780" cy="515620"/>
            </a:xfrm>
            <a:custGeom>
              <a:avLst/>
              <a:gdLst/>
              <a:ahLst/>
              <a:cxnLst/>
              <a:rect l="l" t="t" r="r" b="b"/>
              <a:pathLst>
                <a:path w="525779" h="515620">
                  <a:moveTo>
                    <a:pt x="262889" y="0"/>
                  </a:moveTo>
                  <a:lnTo>
                    <a:pt x="215642" y="4149"/>
                  </a:lnTo>
                  <a:lnTo>
                    <a:pt x="171170" y="16113"/>
                  </a:lnTo>
                  <a:lnTo>
                    <a:pt x="130217" y="35164"/>
                  </a:lnTo>
                  <a:lnTo>
                    <a:pt x="93525" y="60575"/>
                  </a:lnTo>
                  <a:lnTo>
                    <a:pt x="61838" y="91617"/>
                  </a:lnTo>
                  <a:lnTo>
                    <a:pt x="35898" y="127564"/>
                  </a:lnTo>
                  <a:lnTo>
                    <a:pt x="16450" y="167688"/>
                  </a:lnTo>
                  <a:lnTo>
                    <a:pt x="4236" y="211261"/>
                  </a:lnTo>
                  <a:lnTo>
                    <a:pt x="0" y="257556"/>
                  </a:lnTo>
                  <a:lnTo>
                    <a:pt x="4236" y="303850"/>
                  </a:lnTo>
                  <a:lnTo>
                    <a:pt x="16450" y="347423"/>
                  </a:lnTo>
                  <a:lnTo>
                    <a:pt x="35898" y="387547"/>
                  </a:lnTo>
                  <a:lnTo>
                    <a:pt x="61838" y="423494"/>
                  </a:lnTo>
                  <a:lnTo>
                    <a:pt x="93525" y="454536"/>
                  </a:lnTo>
                  <a:lnTo>
                    <a:pt x="130217" y="479947"/>
                  </a:lnTo>
                  <a:lnTo>
                    <a:pt x="171170" y="498998"/>
                  </a:lnTo>
                  <a:lnTo>
                    <a:pt x="215642" y="510962"/>
                  </a:lnTo>
                  <a:lnTo>
                    <a:pt x="262889" y="515112"/>
                  </a:lnTo>
                  <a:lnTo>
                    <a:pt x="310137" y="510962"/>
                  </a:lnTo>
                  <a:lnTo>
                    <a:pt x="354609" y="498998"/>
                  </a:lnTo>
                  <a:lnTo>
                    <a:pt x="395562" y="479947"/>
                  </a:lnTo>
                  <a:lnTo>
                    <a:pt x="432254" y="454536"/>
                  </a:lnTo>
                  <a:lnTo>
                    <a:pt x="463941" y="423494"/>
                  </a:lnTo>
                  <a:lnTo>
                    <a:pt x="489881" y="387547"/>
                  </a:lnTo>
                  <a:lnTo>
                    <a:pt x="509329" y="347423"/>
                  </a:lnTo>
                  <a:lnTo>
                    <a:pt x="521543" y="303850"/>
                  </a:lnTo>
                  <a:lnTo>
                    <a:pt x="525780" y="257556"/>
                  </a:lnTo>
                  <a:lnTo>
                    <a:pt x="521543" y="211261"/>
                  </a:lnTo>
                  <a:lnTo>
                    <a:pt x="509329" y="167688"/>
                  </a:lnTo>
                  <a:lnTo>
                    <a:pt x="489881" y="127564"/>
                  </a:lnTo>
                  <a:lnTo>
                    <a:pt x="463941" y="91617"/>
                  </a:lnTo>
                  <a:lnTo>
                    <a:pt x="432254" y="60575"/>
                  </a:lnTo>
                  <a:lnTo>
                    <a:pt x="395562" y="35164"/>
                  </a:lnTo>
                  <a:lnTo>
                    <a:pt x="354609" y="16113"/>
                  </a:lnTo>
                  <a:lnTo>
                    <a:pt x="310137" y="4149"/>
                  </a:lnTo>
                  <a:lnTo>
                    <a:pt x="2628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06852" y="4151376"/>
              <a:ext cx="525780" cy="515620"/>
            </a:xfrm>
            <a:custGeom>
              <a:avLst/>
              <a:gdLst/>
              <a:ahLst/>
              <a:cxnLst/>
              <a:rect l="l" t="t" r="r" b="b"/>
              <a:pathLst>
                <a:path w="525779" h="515620">
                  <a:moveTo>
                    <a:pt x="0" y="257556"/>
                  </a:moveTo>
                  <a:lnTo>
                    <a:pt x="4236" y="211261"/>
                  </a:lnTo>
                  <a:lnTo>
                    <a:pt x="16450" y="167688"/>
                  </a:lnTo>
                  <a:lnTo>
                    <a:pt x="35898" y="127564"/>
                  </a:lnTo>
                  <a:lnTo>
                    <a:pt x="61838" y="91617"/>
                  </a:lnTo>
                  <a:lnTo>
                    <a:pt x="93525" y="60575"/>
                  </a:lnTo>
                  <a:lnTo>
                    <a:pt x="130217" y="35164"/>
                  </a:lnTo>
                  <a:lnTo>
                    <a:pt x="171170" y="16113"/>
                  </a:lnTo>
                  <a:lnTo>
                    <a:pt x="215642" y="4149"/>
                  </a:lnTo>
                  <a:lnTo>
                    <a:pt x="262889" y="0"/>
                  </a:lnTo>
                  <a:lnTo>
                    <a:pt x="310137" y="4149"/>
                  </a:lnTo>
                  <a:lnTo>
                    <a:pt x="354609" y="16113"/>
                  </a:lnTo>
                  <a:lnTo>
                    <a:pt x="395562" y="35164"/>
                  </a:lnTo>
                  <a:lnTo>
                    <a:pt x="432254" y="60575"/>
                  </a:lnTo>
                  <a:lnTo>
                    <a:pt x="463941" y="91617"/>
                  </a:lnTo>
                  <a:lnTo>
                    <a:pt x="489881" y="127564"/>
                  </a:lnTo>
                  <a:lnTo>
                    <a:pt x="509329" y="167688"/>
                  </a:lnTo>
                  <a:lnTo>
                    <a:pt x="521543" y="211261"/>
                  </a:lnTo>
                  <a:lnTo>
                    <a:pt x="525780" y="257556"/>
                  </a:lnTo>
                  <a:lnTo>
                    <a:pt x="521543" y="303850"/>
                  </a:lnTo>
                  <a:lnTo>
                    <a:pt x="509329" y="347423"/>
                  </a:lnTo>
                  <a:lnTo>
                    <a:pt x="489881" y="387547"/>
                  </a:lnTo>
                  <a:lnTo>
                    <a:pt x="463941" y="423494"/>
                  </a:lnTo>
                  <a:lnTo>
                    <a:pt x="432254" y="454536"/>
                  </a:lnTo>
                  <a:lnTo>
                    <a:pt x="395562" y="479947"/>
                  </a:lnTo>
                  <a:lnTo>
                    <a:pt x="354609" y="498998"/>
                  </a:lnTo>
                  <a:lnTo>
                    <a:pt x="310137" y="510962"/>
                  </a:lnTo>
                  <a:lnTo>
                    <a:pt x="262889" y="515112"/>
                  </a:lnTo>
                  <a:lnTo>
                    <a:pt x="215642" y="510962"/>
                  </a:lnTo>
                  <a:lnTo>
                    <a:pt x="171170" y="498998"/>
                  </a:lnTo>
                  <a:lnTo>
                    <a:pt x="130217" y="479947"/>
                  </a:lnTo>
                  <a:lnTo>
                    <a:pt x="93525" y="454536"/>
                  </a:lnTo>
                  <a:lnTo>
                    <a:pt x="61838" y="423494"/>
                  </a:lnTo>
                  <a:lnTo>
                    <a:pt x="35898" y="387547"/>
                  </a:lnTo>
                  <a:lnTo>
                    <a:pt x="16450" y="347423"/>
                  </a:lnTo>
                  <a:lnTo>
                    <a:pt x="4236" y="303850"/>
                  </a:lnTo>
                  <a:lnTo>
                    <a:pt x="0" y="257556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990725" y="5895847"/>
            <a:ext cx="706374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030B8"/>
                </a:solidFill>
                <a:latin typeface="Verdana"/>
                <a:cs typeface="Verdana"/>
              </a:rPr>
              <a:t>Algoritmos</a:t>
            </a:r>
            <a:r>
              <a:rPr sz="16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600" spc="-9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6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0030B8"/>
                </a:solidFill>
                <a:latin typeface="Verdana"/>
                <a:cs typeface="Verdana"/>
              </a:rPr>
              <a:t>técnicas</a:t>
            </a:r>
            <a:r>
              <a:rPr sz="16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6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0030B8"/>
                </a:solidFill>
                <a:latin typeface="Verdana"/>
                <a:cs typeface="Verdana"/>
              </a:rPr>
              <a:t>Aprendizaje</a:t>
            </a:r>
            <a:r>
              <a:rPr sz="1600" spc="-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6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0030B8"/>
                </a:solidFill>
                <a:latin typeface="Verdana"/>
                <a:cs typeface="Verdana"/>
              </a:rPr>
              <a:t>Maquina,</a:t>
            </a:r>
            <a:r>
              <a:rPr sz="16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0030B8"/>
                </a:solidFill>
                <a:latin typeface="Verdana"/>
                <a:cs typeface="Verdana"/>
              </a:rPr>
              <a:t>Estadística</a:t>
            </a:r>
            <a:r>
              <a:rPr sz="1600" spc="-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600" spc="-9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6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0030B8"/>
                </a:solidFill>
                <a:latin typeface="Verdana"/>
                <a:cs typeface="Verdana"/>
              </a:rPr>
              <a:t>otros,</a:t>
            </a:r>
            <a:endParaRPr sz="1600">
              <a:latin typeface="Verdana"/>
              <a:cs typeface="Verdana"/>
            </a:endParaRPr>
          </a:p>
          <a:p>
            <a:pPr marR="6985" algn="ctr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solidFill>
                  <a:srgbClr val="0030B8"/>
                </a:solidFill>
                <a:latin typeface="Verdana"/>
                <a:cs typeface="Verdana"/>
              </a:rPr>
              <a:t>enfocados</a:t>
            </a:r>
            <a:r>
              <a:rPr sz="1600" spc="-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16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0030B8"/>
                </a:solidFill>
                <a:latin typeface="Verdana"/>
                <a:cs typeface="Verdana"/>
              </a:rPr>
              <a:t>el</a:t>
            </a:r>
            <a:r>
              <a:rPr sz="16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0030B8"/>
                </a:solidFill>
                <a:latin typeface="Verdana"/>
                <a:cs typeface="Verdana"/>
              </a:rPr>
              <a:t>análisis</a:t>
            </a:r>
            <a:r>
              <a:rPr sz="16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6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0030B8"/>
                </a:solidFill>
                <a:latin typeface="Verdana"/>
                <a:cs typeface="Verdana"/>
              </a:rPr>
              <a:t>patrones</a:t>
            </a:r>
            <a:r>
              <a:rPr sz="1600" spc="-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600" spc="-9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6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0030B8"/>
                </a:solidFill>
                <a:latin typeface="Verdana"/>
                <a:cs typeface="Verdana"/>
              </a:rPr>
              <a:t>predicción</a:t>
            </a:r>
            <a:r>
              <a:rPr sz="16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6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6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0030B8"/>
                </a:solidFill>
                <a:latin typeface="Verdana"/>
                <a:cs typeface="Verdana"/>
              </a:rPr>
              <a:t>mismos.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23359" y="4860163"/>
            <a:ext cx="17722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265" marR="5080" indent="-2032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Procesamiento Modelación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59802" y="4858639"/>
            <a:ext cx="16548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Patrones</a:t>
            </a:r>
            <a:endParaRPr sz="18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sz="1800" spc="-10" dirty="0">
                <a:latin typeface="Verdana"/>
                <a:cs typeface="Verdana"/>
              </a:rPr>
              <a:t>Conocimiento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08885" y="4034993"/>
            <a:ext cx="965835" cy="1194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00075">
              <a:lnSpc>
                <a:spcPct val="100000"/>
              </a:lnSpc>
              <a:spcBef>
                <a:spcPts val="105"/>
              </a:spcBef>
            </a:pPr>
            <a:r>
              <a:rPr sz="4400" spc="-3235" dirty="0">
                <a:solidFill>
                  <a:srgbClr val="E7E6E6"/>
                </a:solidFill>
                <a:latin typeface="Verdana"/>
                <a:cs typeface="Verdana"/>
              </a:rPr>
              <a:t>+</a:t>
            </a:r>
            <a:r>
              <a:rPr sz="3600" spc="-610" dirty="0">
                <a:latin typeface="Verdana"/>
                <a:cs typeface="Verdana"/>
              </a:rPr>
              <a:t>+</a:t>
            </a:r>
            <a:endParaRPr sz="3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760"/>
              </a:spcBef>
            </a:pPr>
            <a:r>
              <a:rPr sz="1800" spc="-10" dirty="0">
                <a:latin typeface="Verdana"/>
                <a:cs typeface="Verdana"/>
              </a:rPr>
              <a:t>Datos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65828" y="3604386"/>
            <a:ext cx="3759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230" dirty="0">
                <a:latin typeface="Verdana"/>
                <a:cs typeface="Verdana"/>
              </a:rPr>
              <a:t>+</a:t>
            </a:r>
            <a:endParaRPr sz="4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82334" y="3604386"/>
            <a:ext cx="37592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230" dirty="0">
                <a:latin typeface="Verdana"/>
                <a:cs typeface="Verdana"/>
              </a:rPr>
              <a:t>=</a:t>
            </a:r>
            <a:endParaRPr sz="4800">
              <a:latin typeface="Verdana"/>
              <a:cs typeface="Verdan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86828" y="2819400"/>
            <a:ext cx="1999487" cy="1999488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85" dirty="0"/>
              <a:t>Minería</a:t>
            </a:r>
            <a:r>
              <a:rPr spc="-35" dirty="0"/>
              <a:t> </a:t>
            </a:r>
            <a:r>
              <a:rPr spc="195" dirty="0"/>
              <a:t>de</a:t>
            </a:r>
            <a:r>
              <a:rPr spc="-25" dirty="0"/>
              <a:t> </a:t>
            </a:r>
            <a:r>
              <a:rPr spc="90" dirty="0"/>
              <a:t>datos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33400" y="2540507"/>
            <a:ext cx="4099560" cy="4098290"/>
            <a:chOff x="533400" y="2540507"/>
            <a:chExt cx="4099560" cy="40982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3400" y="2540507"/>
              <a:ext cx="4099560" cy="409803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08476" y="4143755"/>
              <a:ext cx="563879" cy="56540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32760" y="3319271"/>
              <a:ext cx="522732" cy="52425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01923" y="5109972"/>
              <a:ext cx="582168" cy="58216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10055" y="4416551"/>
              <a:ext cx="486156" cy="48768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20239" y="5251703"/>
              <a:ext cx="496824" cy="4953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28216" y="3361943"/>
              <a:ext cx="486156" cy="48767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617725" y="3912489"/>
            <a:ext cx="701040" cy="345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Verdana"/>
                <a:cs typeface="Verdana"/>
              </a:rPr>
              <a:t>1.</a:t>
            </a:r>
            <a:endParaRPr sz="7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sz="700" spc="-10" dirty="0">
                <a:latin typeface="Verdana"/>
                <a:cs typeface="Verdana"/>
              </a:rPr>
              <a:t>Entendimiento</a:t>
            </a:r>
            <a:endParaRPr sz="700">
              <a:latin typeface="Verdana"/>
              <a:cs typeface="Verdana"/>
            </a:endParaRPr>
          </a:p>
          <a:p>
            <a:pPr marL="1270" algn="ctr">
              <a:lnSpc>
                <a:spcPct val="100000"/>
              </a:lnSpc>
              <a:spcBef>
                <a:spcPts val="5"/>
              </a:spcBef>
            </a:pPr>
            <a:r>
              <a:rPr sz="700" dirty="0">
                <a:latin typeface="Verdana"/>
                <a:cs typeface="Verdana"/>
              </a:rPr>
              <a:t>de</a:t>
            </a:r>
            <a:r>
              <a:rPr sz="700" spc="-20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negocio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96616" y="3912489"/>
            <a:ext cx="7937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700" spc="-85" dirty="0">
                <a:latin typeface="Verdana"/>
                <a:cs typeface="Verdana"/>
              </a:rPr>
              <a:t>2.</a:t>
            </a:r>
            <a:r>
              <a:rPr sz="700" spc="-55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Entendimiento</a:t>
            </a:r>
            <a:endParaRPr sz="700">
              <a:latin typeface="Verdana"/>
              <a:cs typeface="Verdana"/>
            </a:endParaRPr>
          </a:p>
          <a:p>
            <a:pPr marL="1905" algn="ctr">
              <a:lnSpc>
                <a:spcPct val="100000"/>
              </a:lnSpc>
            </a:pPr>
            <a:r>
              <a:rPr sz="700" dirty="0">
                <a:latin typeface="Verdana"/>
                <a:cs typeface="Verdana"/>
              </a:rPr>
              <a:t>de</a:t>
            </a:r>
            <a:r>
              <a:rPr sz="700" spc="-25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los</a:t>
            </a:r>
            <a:r>
              <a:rPr sz="700" spc="-55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datos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43654" y="4741290"/>
            <a:ext cx="65849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4135" marR="5080" indent="-52069">
              <a:lnSpc>
                <a:spcPct val="100000"/>
              </a:lnSpc>
              <a:spcBef>
                <a:spcPts val="95"/>
              </a:spcBef>
            </a:pPr>
            <a:r>
              <a:rPr sz="700" spc="-85" dirty="0">
                <a:latin typeface="Verdana"/>
                <a:cs typeface="Verdana"/>
              </a:rPr>
              <a:t>3.</a:t>
            </a:r>
            <a:r>
              <a:rPr sz="700" spc="-55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Preparación </a:t>
            </a:r>
            <a:r>
              <a:rPr sz="700" dirty="0">
                <a:latin typeface="Verdana"/>
                <a:cs typeface="Verdana"/>
              </a:rPr>
              <a:t>de</a:t>
            </a:r>
            <a:r>
              <a:rPr sz="700" spc="-30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los</a:t>
            </a:r>
            <a:r>
              <a:rPr sz="700" spc="-50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datos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74238" y="5732475"/>
            <a:ext cx="64452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0" dirty="0">
                <a:latin typeface="Verdana"/>
                <a:cs typeface="Verdana"/>
              </a:rPr>
              <a:t>4. </a:t>
            </a:r>
            <a:r>
              <a:rPr sz="700" spc="-10" dirty="0">
                <a:latin typeface="Verdana"/>
                <a:cs typeface="Verdana"/>
              </a:rPr>
              <a:t>Modelación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53564" y="5785205"/>
            <a:ext cx="60198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85" dirty="0">
                <a:latin typeface="Verdana"/>
                <a:cs typeface="Verdana"/>
              </a:rPr>
              <a:t>5.</a:t>
            </a:r>
            <a:r>
              <a:rPr sz="700" spc="-55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Evaluación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38529" y="4895215"/>
            <a:ext cx="62738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70" dirty="0">
                <a:latin typeface="Verdana"/>
                <a:cs typeface="Verdana"/>
              </a:rPr>
              <a:t>6.</a:t>
            </a:r>
            <a:r>
              <a:rPr sz="700" spc="-45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Despliegue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563624" y="3533775"/>
            <a:ext cx="2609215" cy="2070100"/>
          </a:xfrm>
          <a:custGeom>
            <a:avLst/>
            <a:gdLst/>
            <a:ahLst/>
            <a:cxnLst/>
            <a:rect l="l" t="t" r="r" b="b"/>
            <a:pathLst>
              <a:path w="2609215" h="2070100">
                <a:moveTo>
                  <a:pt x="275717" y="1898015"/>
                </a:moveTo>
                <a:lnTo>
                  <a:pt x="120891" y="1673669"/>
                </a:lnTo>
                <a:lnTo>
                  <a:pt x="155016" y="1650111"/>
                </a:lnTo>
                <a:lnTo>
                  <a:pt x="167894" y="1641221"/>
                </a:lnTo>
                <a:lnTo>
                  <a:pt x="0" y="1548765"/>
                </a:lnTo>
                <a:lnTo>
                  <a:pt x="26797" y="1738630"/>
                </a:lnTo>
                <a:lnTo>
                  <a:pt x="73863" y="1706130"/>
                </a:lnTo>
                <a:lnTo>
                  <a:pt x="228600" y="1930400"/>
                </a:lnTo>
                <a:lnTo>
                  <a:pt x="275717" y="1898015"/>
                </a:lnTo>
                <a:close/>
              </a:path>
              <a:path w="2609215" h="2070100">
                <a:moveTo>
                  <a:pt x="538480" y="820420"/>
                </a:moveTo>
                <a:lnTo>
                  <a:pt x="523963" y="796036"/>
                </a:lnTo>
                <a:lnTo>
                  <a:pt x="440436" y="655701"/>
                </a:lnTo>
                <a:lnTo>
                  <a:pt x="367538" y="832993"/>
                </a:lnTo>
                <a:lnTo>
                  <a:pt x="424497" y="828814"/>
                </a:lnTo>
                <a:lnTo>
                  <a:pt x="480822" y="1595247"/>
                </a:lnTo>
                <a:lnTo>
                  <a:pt x="537845" y="1591056"/>
                </a:lnTo>
                <a:lnTo>
                  <a:pt x="481520" y="824611"/>
                </a:lnTo>
                <a:lnTo>
                  <a:pt x="538480" y="820420"/>
                </a:lnTo>
                <a:close/>
              </a:path>
              <a:path w="2609215" h="2070100">
                <a:moveTo>
                  <a:pt x="1422146" y="85725"/>
                </a:moveTo>
                <a:lnTo>
                  <a:pt x="1364996" y="57150"/>
                </a:lnTo>
                <a:lnTo>
                  <a:pt x="1250696" y="0"/>
                </a:lnTo>
                <a:lnTo>
                  <a:pt x="1250696" y="57150"/>
                </a:lnTo>
                <a:lnTo>
                  <a:pt x="968502" y="57150"/>
                </a:lnTo>
                <a:lnTo>
                  <a:pt x="968502" y="0"/>
                </a:lnTo>
                <a:lnTo>
                  <a:pt x="797052" y="85725"/>
                </a:lnTo>
                <a:lnTo>
                  <a:pt x="968502" y="171450"/>
                </a:lnTo>
                <a:lnTo>
                  <a:pt x="968502" y="114300"/>
                </a:lnTo>
                <a:lnTo>
                  <a:pt x="1250696" y="114300"/>
                </a:lnTo>
                <a:lnTo>
                  <a:pt x="1250696" y="171450"/>
                </a:lnTo>
                <a:lnTo>
                  <a:pt x="1364996" y="114300"/>
                </a:lnTo>
                <a:lnTo>
                  <a:pt x="1422146" y="85725"/>
                </a:lnTo>
                <a:close/>
              </a:path>
              <a:path w="2609215" h="2070100">
                <a:moveTo>
                  <a:pt x="1473454" y="1956816"/>
                </a:moveTo>
                <a:lnTo>
                  <a:pt x="1128649" y="1955292"/>
                </a:lnTo>
                <a:lnTo>
                  <a:pt x="1128903" y="1898142"/>
                </a:lnTo>
                <a:lnTo>
                  <a:pt x="957072" y="1983105"/>
                </a:lnTo>
                <a:lnTo>
                  <a:pt x="1128141" y="2069604"/>
                </a:lnTo>
                <a:lnTo>
                  <a:pt x="1128382" y="2013966"/>
                </a:lnTo>
                <a:lnTo>
                  <a:pt x="1128395" y="2012442"/>
                </a:lnTo>
                <a:lnTo>
                  <a:pt x="1473200" y="2013966"/>
                </a:lnTo>
                <a:lnTo>
                  <a:pt x="1473327" y="1983105"/>
                </a:lnTo>
                <a:lnTo>
                  <a:pt x="1473454" y="1956816"/>
                </a:lnTo>
                <a:close/>
              </a:path>
              <a:path w="2609215" h="2070100">
                <a:moveTo>
                  <a:pt x="2527681" y="501523"/>
                </a:moveTo>
                <a:lnTo>
                  <a:pt x="2501138" y="419735"/>
                </a:lnTo>
                <a:lnTo>
                  <a:pt x="2468499" y="319151"/>
                </a:lnTo>
                <a:lnTo>
                  <a:pt x="2427757" y="359257"/>
                </a:lnTo>
                <a:lnTo>
                  <a:pt x="2138680" y="65671"/>
                </a:lnTo>
                <a:lnTo>
                  <a:pt x="2098040" y="105791"/>
                </a:lnTo>
                <a:lnTo>
                  <a:pt x="2387054" y="399326"/>
                </a:lnTo>
                <a:lnTo>
                  <a:pt x="2346325" y="439420"/>
                </a:lnTo>
                <a:lnTo>
                  <a:pt x="2527681" y="501523"/>
                </a:lnTo>
                <a:close/>
              </a:path>
              <a:path w="2609215" h="2070100">
                <a:moveTo>
                  <a:pt x="2609215" y="1484757"/>
                </a:moveTo>
                <a:lnTo>
                  <a:pt x="2443988" y="1581912"/>
                </a:lnTo>
                <a:lnTo>
                  <a:pt x="2491892" y="1613027"/>
                </a:lnTo>
                <a:lnTo>
                  <a:pt x="2366060" y="1806765"/>
                </a:lnTo>
                <a:lnTo>
                  <a:pt x="2318131" y="1775587"/>
                </a:lnTo>
                <a:lnTo>
                  <a:pt x="2296668" y="1966087"/>
                </a:lnTo>
                <a:lnTo>
                  <a:pt x="2461895" y="1869059"/>
                </a:lnTo>
                <a:lnTo>
                  <a:pt x="2450757" y="1861820"/>
                </a:lnTo>
                <a:lnTo>
                  <a:pt x="2413939" y="1837893"/>
                </a:lnTo>
                <a:lnTo>
                  <a:pt x="2539784" y="1644129"/>
                </a:lnTo>
                <a:lnTo>
                  <a:pt x="2587752" y="1675257"/>
                </a:lnTo>
                <a:lnTo>
                  <a:pt x="2597467" y="1589024"/>
                </a:lnTo>
                <a:lnTo>
                  <a:pt x="2609215" y="1484757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582672" y="4449902"/>
            <a:ext cx="5969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30" dirty="0">
                <a:latin typeface="Tahoma"/>
                <a:cs typeface="Tahoma"/>
              </a:rPr>
              <a:t>Data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073777" y="2459482"/>
            <a:ext cx="5200015" cy="8763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2CDAFF"/>
                </a:solidFill>
                <a:latin typeface="Verdana"/>
                <a:cs typeface="Verdana"/>
              </a:rPr>
              <a:t>Metodología</a:t>
            </a:r>
            <a:r>
              <a:rPr sz="2000" spc="36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rgbClr val="2CDAFF"/>
                </a:solidFill>
                <a:latin typeface="Verdana"/>
                <a:cs typeface="Verdana"/>
              </a:rPr>
              <a:t>CRISP-</a:t>
            </a:r>
            <a:r>
              <a:rPr sz="2000" spc="135" dirty="0">
                <a:solidFill>
                  <a:srgbClr val="2CDAFF"/>
                </a:solidFill>
                <a:latin typeface="Verdana"/>
                <a:cs typeface="Verdana"/>
              </a:rPr>
              <a:t>DM</a:t>
            </a:r>
            <a:endParaRPr sz="2000">
              <a:latin typeface="Verdana"/>
              <a:cs typeface="Verdana"/>
            </a:endParaRPr>
          </a:p>
          <a:p>
            <a:pPr marL="26034">
              <a:lnSpc>
                <a:spcPct val="100000"/>
              </a:lnSpc>
              <a:spcBef>
                <a:spcPts val="2370"/>
              </a:spcBef>
            </a:pPr>
            <a:r>
              <a:rPr sz="1600" b="1" dirty="0">
                <a:solidFill>
                  <a:srgbClr val="3366C4"/>
                </a:solidFill>
                <a:latin typeface="Tahoma"/>
                <a:cs typeface="Tahoma"/>
              </a:rPr>
              <a:t>Cr</a:t>
            </a:r>
            <a:r>
              <a:rPr sz="1600" b="1" dirty="0">
                <a:solidFill>
                  <a:srgbClr val="1F2021"/>
                </a:solidFill>
                <a:latin typeface="Tahoma"/>
                <a:cs typeface="Tahoma"/>
              </a:rPr>
              <a:t>oss-</a:t>
            </a:r>
            <a:r>
              <a:rPr sz="1600" b="1" dirty="0">
                <a:solidFill>
                  <a:srgbClr val="3366C4"/>
                </a:solidFill>
                <a:latin typeface="Tahoma"/>
                <a:cs typeface="Tahoma"/>
              </a:rPr>
              <a:t>i</a:t>
            </a:r>
            <a:r>
              <a:rPr sz="1600" b="1" dirty="0">
                <a:solidFill>
                  <a:srgbClr val="1F2021"/>
                </a:solidFill>
                <a:latin typeface="Tahoma"/>
                <a:cs typeface="Tahoma"/>
              </a:rPr>
              <a:t>ndustry</a:t>
            </a:r>
            <a:r>
              <a:rPr sz="1600" b="1" spc="265" dirty="0">
                <a:solidFill>
                  <a:srgbClr val="1F2021"/>
                </a:solidFill>
                <a:latin typeface="Tahoma"/>
                <a:cs typeface="Tahoma"/>
              </a:rPr>
              <a:t> </a:t>
            </a:r>
            <a:r>
              <a:rPr sz="1600" b="1" dirty="0">
                <a:solidFill>
                  <a:srgbClr val="3366C4"/>
                </a:solidFill>
                <a:latin typeface="Tahoma"/>
                <a:cs typeface="Tahoma"/>
              </a:rPr>
              <a:t>s</a:t>
            </a:r>
            <a:r>
              <a:rPr sz="1600" b="1" dirty="0">
                <a:solidFill>
                  <a:srgbClr val="1F2021"/>
                </a:solidFill>
                <a:latin typeface="Tahoma"/>
                <a:cs typeface="Tahoma"/>
              </a:rPr>
              <a:t>tandard</a:t>
            </a:r>
            <a:r>
              <a:rPr sz="1600" b="1" spc="240" dirty="0">
                <a:solidFill>
                  <a:srgbClr val="1F2021"/>
                </a:solidFill>
                <a:latin typeface="Tahoma"/>
                <a:cs typeface="Tahoma"/>
              </a:rPr>
              <a:t> </a:t>
            </a:r>
            <a:r>
              <a:rPr sz="1600" b="1" dirty="0">
                <a:solidFill>
                  <a:srgbClr val="3366C4"/>
                </a:solidFill>
                <a:latin typeface="Tahoma"/>
                <a:cs typeface="Tahoma"/>
              </a:rPr>
              <a:t>p</a:t>
            </a:r>
            <a:r>
              <a:rPr sz="1600" b="1" dirty="0">
                <a:solidFill>
                  <a:srgbClr val="1F2021"/>
                </a:solidFill>
                <a:latin typeface="Tahoma"/>
                <a:cs typeface="Tahoma"/>
              </a:rPr>
              <a:t>rocess</a:t>
            </a:r>
            <a:r>
              <a:rPr sz="1600" b="1" spc="220" dirty="0">
                <a:solidFill>
                  <a:srgbClr val="1F2021"/>
                </a:solidFill>
                <a:latin typeface="Tahoma"/>
                <a:cs typeface="Tahoma"/>
              </a:rPr>
              <a:t> </a:t>
            </a:r>
            <a:r>
              <a:rPr sz="1600" b="1" dirty="0">
                <a:solidFill>
                  <a:srgbClr val="1F2021"/>
                </a:solidFill>
                <a:latin typeface="Tahoma"/>
                <a:cs typeface="Tahoma"/>
              </a:rPr>
              <a:t>for</a:t>
            </a:r>
            <a:r>
              <a:rPr sz="1600" b="1" spc="225" dirty="0">
                <a:solidFill>
                  <a:srgbClr val="1F2021"/>
                </a:solidFill>
                <a:latin typeface="Tahoma"/>
                <a:cs typeface="Tahoma"/>
              </a:rPr>
              <a:t> </a:t>
            </a:r>
            <a:r>
              <a:rPr sz="1600" b="1" dirty="0">
                <a:solidFill>
                  <a:srgbClr val="3366C4"/>
                </a:solidFill>
                <a:latin typeface="Tahoma"/>
                <a:cs typeface="Tahoma"/>
              </a:rPr>
              <a:t>d</a:t>
            </a:r>
            <a:r>
              <a:rPr sz="1600" b="1" dirty="0">
                <a:solidFill>
                  <a:srgbClr val="1F2021"/>
                </a:solidFill>
                <a:latin typeface="Tahoma"/>
                <a:cs typeface="Tahoma"/>
              </a:rPr>
              <a:t>ata</a:t>
            </a:r>
            <a:r>
              <a:rPr sz="1600" b="1" spc="245" dirty="0">
                <a:solidFill>
                  <a:srgbClr val="1F2021"/>
                </a:solidFill>
                <a:latin typeface="Tahoma"/>
                <a:cs typeface="Tahoma"/>
              </a:rPr>
              <a:t> </a:t>
            </a:r>
            <a:r>
              <a:rPr sz="1600" b="1" spc="50" dirty="0">
                <a:solidFill>
                  <a:srgbClr val="3366C4"/>
                </a:solidFill>
                <a:latin typeface="Tahoma"/>
                <a:cs typeface="Tahoma"/>
              </a:rPr>
              <a:t>m</a:t>
            </a:r>
            <a:r>
              <a:rPr sz="1600" b="1" spc="50" dirty="0">
                <a:solidFill>
                  <a:srgbClr val="1F2021"/>
                </a:solidFill>
                <a:latin typeface="Tahoma"/>
                <a:cs typeface="Tahoma"/>
              </a:rPr>
              <a:t>ining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87239" y="3554348"/>
            <a:ext cx="607885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1F2021"/>
                </a:solidFill>
                <a:latin typeface="Verdana"/>
                <a:cs typeface="Verdana"/>
              </a:rPr>
              <a:t>Estandar</a:t>
            </a:r>
            <a:r>
              <a:rPr sz="1600" spc="-60" dirty="0">
                <a:solidFill>
                  <a:srgbClr val="1F2021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1F2021"/>
                </a:solidFill>
                <a:latin typeface="Verdana"/>
                <a:cs typeface="Verdana"/>
              </a:rPr>
              <a:t>abierto</a:t>
            </a:r>
            <a:r>
              <a:rPr sz="1600" spc="-80" dirty="0">
                <a:solidFill>
                  <a:srgbClr val="1F2021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1F2021"/>
                </a:solidFill>
                <a:latin typeface="Verdana"/>
                <a:cs typeface="Verdana"/>
              </a:rPr>
              <a:t>para</a:t>
            </a:r>
            <a:r>
              <a:rPr sz="1600" spc="-90" dirty="0">
                <a:solidFill>
                  <a:srgbClr val="1F2021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1F2021"/>
                </a:solidFill>
                <a:latin typeface="Verdana"/>
                <a:cs typeface="Verdana"/>
              </a:rPr>
              <a:t>el</a:t>
            </a:r>
            <a:r>
              <a:rPr sz="1600" spc="-105" dirty="0">
                <a:solidFill>
                  <a:srgbClr val="1F2021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1F2021"/>
                </a:solidFill>
                <a:latin typeface="Verdana"/>
                <a:cs typeface="Verdana"/>
              </a:rPr>
              <a:t>Desarrollo</a:t>
            </a:r>
            <a:r>
              <a:rPr sz="1600" spc="-100" dirty="0">
                <a:solidFill>
                  <a:srgbClr val="1F2021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1F2021"/>
                </a:solidFill>
                <a:latin typeface="Verdana"/>
                <a:cs typeface="Verdana"/>
              </a:rPr>
              <a:t>de</a:t>
            </a:r>
            <a:r>
              <a:rPr sz="1600" spc="-105" dirty="0">
                <a:solidFill>
                  <a:srgbClr val="1F2021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1F2021"/>
                </a:solidFill>
                <a:latin typeface="Verdana"/>
                <a:cs typeface="Verdana"/>
              </a:rPr>
              <a:t>proyectos</a:t>
            </a:r>
            <a:r>
              <a:rPr sz="1600" spc="-85" dirty="0">
                <a:solidFill>
                  <a:srgbClr val="1F2021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1F2021"/>
                </a:solidFill>
                <a:latin typeface="Verdana"/>
                <a:cs typeface="Verdana"/>
              </a:rPr>
              <a:t>de</a:t>
            </a:r>
            <a:r>
              <a:rPr sz="1600" spc="-114" dirty="0">
                <a:solidFill>
                  <a:srgbClr val="1F2021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1F2021"/>
                </a:solidFill>
                <a:latin typeface="Verdana"/>
                <a:cs typeface="Verdana"/>
              </a:rPr>
              <a:t>minería </a:t>
            </a:r>
            <a:r>
              <a:rPr sz="1600" dirty="0">
                <a:solidFill>
                  <a:srgbClr val="1F2021"/>
                </a:solidFill>
                <a:latin typeface="Verdana"/>
                <a:cs typeface="Verdana"/>
              </a:rPr>
              <a:t>de</a:t>
            </a:r>
            <a:r>
              <a:rPr sz="1600" spc="-65" dirty="0">
                <a:solidFill>
                  <a:srgbClr val="1F2021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1F2021"/>
                </a:solidFill>
                <a:latin typeface="Verdana"/>
                <a:cs typeface="Verdana"/>
              </a:rPr>
              <a:t>datos.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087239" y="4285869"/>
            <a:ext cx="3185160" cy="1488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354965" algn="l"/>
              </a:tabLst>
            </a:pPr>
            <a:r>
              <a:rPr sz="1600" spc="10" dirty="0">
                <a:solidFill>
                  <a:srgbClr val="1F2021"/>
                </a:solidFill>
                <a:latin typeface="Verdana"/>
                <a:cs typeface="Verdana"/>
              </a:rPr>
              <a:t>Entendimiento</a:t>
            </a:r>
            <a:r>
              <a:rPr sz="1600" spc="125" dirty="0">
                <a:solidFill>
                  <a:srgbClr val="1F2021"/>
                </a:solidFill>
                <a:latin typeface="Verdana"/>
                <a:cs typeface="Verdana"/>
              </a:rPr>
              <a:t> </a:t>
            </a:r>
            <a:r>
              <a:rPr sz="1600" spc="10" dirty="0">
                <a:solidFill>
                  <a:srgbClr val="1F2021"/>
                </a:solidFill>
                <a:latin typeface="Verdana"/>
                <a:cs typeface="Verdana"/>
              </a:rPr>
              <a:t>de</a:t>
            </a:r>
            <a:r>
              <a:rPr sz="1600" spc="70" dirty="0">
                <a:solidFill>
                  <a:srgbClr val="1F2021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1F2021"/>
                </a:solidFill>
                <a:latin typeface="Verdana"/>
                <a:cs typeface="Verdana"/>
              </a:rPr>
              <a:t>negocio</a:t>
            </a:r>
            <a:endParaRPr sz="16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1600" dirty="0">
                <a:solidFill>
                  <a:srgbClr val="1F2021"/>
                </a:solidFill>
                <a:latin typeface="Verdana"/>
                <a:cs typeface="Verdana"/>
              </a:rPr>
              <a:t>Entendimiento</a:t>
            </a:r>
            <a:r>
              <a:rPr sz="1600" spc="95" dirty="0">
                <a:solidFill>
                  <a:srgbClr val="1F2021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1F2021"/>
                </a:solidFill>
                <a:latin typeface="Verdana"/>
                <a:cs typeface="Verdana"/>
              </a:rPr>
              <a:t>de</a:t>
            </a:r>
            <a:r>
              <a:rPr sz="1600" spc="40" dirty="0">
                <a:solidFill>
                  <a:srgbClr val="1F2021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1F2021"/>
                </a:solidFill>
                <a:latin typeface="Verdana"/>
                <a:cs typeface="Verdana"/>
              </a:rPr>
              <a:t>los</a:t>
            </a:r>
            <a:r>
              <a:rPr sz="1600" spc="55" dirty="0">
                <a:solidFill>
                  <a:srgbClr val="1F2021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1F2021"/>
                </a:solidFill>
                <a:latin typeface="Verdana"/>
                <a:cs typeface="Verdana"/>
              </a:rPr>
              <a:t>datos</a:t>
            </a:r>
            <a:endParaRPr sz="16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354965" algn="l"/>
              </a:tabLst>
            </a:pPr>
            <a:r>
              <a:rPr sz="1600" dirty="0">
                <a:solidFill>
                  <a:srgbClr val="1F2021"/>
                </a:solidFill>
                <a:latin typeface="Verdana"/>
                <a:cs typeface="Verdana"/>
              </a:rPr>
              <a:t>Preparación</a:t>
            </a:r>
            <a:r>
              <a:rPr sz="1600" spc="10" dirty="0">
                <a:solidFill>
                  <a:srgbClr val="1F2021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1F2021"/>
                </a:solidFill>
                <a:latin typeface="Verdana"/>
                <a:cs typeface="Verdana"/>
              </a:rPr>
              <a:t>de</a:t>
            </a:r>
            <a:r>
              <a:rPr sz="1600" spc="-40" dirty="0">
                <a:solidFill>
                  <a:srgbClr val="1F2021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1F2021"/>
                </a:solidFill>
                <a:latin typeface="Verdana"/>
                <a:cs typeface="Verdana"/>
              </a:rPr>
              <a:t>los</a:t>
            </a:r>
            <a:r>
              <a:rPr sz="1600" spc="-40" dirty="0">
                <a:solidFill>
                  <a:srgbClr val="1F2021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1F2021"/>
                </a:solidFill>
                <a:latin typeface="Verdana"/>
                <a:cs typeface="Verdana"/>
              </a:rPr>
              <a:t>datos</a:t>
            </a:r>
            <a:endParaRPr sz="16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1600" dirty="0">
                <a:solidFill>
                  <a:srgbClr val="1F2021"/>
                </a:solidFill>
                <a:latin typeface="Verdana"/>
                <a:cs typeface="Verdana"/>
              </a:rPr>
              <a:t>Modelación</a:t>
            </a:r>
            <a:r>
              <a:rPr sz="1600" spc="229" dirty="0">
                <a:solidFill>
                  <a:srgbClr val="1F2021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1F2021"/>
                </a:solidFill>
                <a:latin typeface="Verdana"/>
                <a:cs typeface="Verdana"/>
              </a:rPr>
              <a:t>(matemática)</a:t>
            </a:r>
            <a:endParaRPr sz="16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1600" spc="-10" dirty="0">
                <a:solidFill>
                  <a:srgbClr val="1F2021"/>
                </a:solidFill>
                <a:latin typeface="Verdana"/>
                <a:cs typeface="Verdana"/>
              </a:rPr>
              <a:t>Evaluación</a:t>
            </a:r>
            <a:endParaRPr sz="16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sz="1600" spc="-10" dirty="0">
                <a:solidFill>
                  <a:srgbClr val="1F2021"/>
                </a:solidFill>
                <a:latin typeface="Verdana"/>
                <a:cs typeface="Verdana"/>
              </a:rPr>
              <a:t>Despliege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17424" y="6623710"/>
            <a:ext cx="499300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</a:rPr>
              <a:t>Shearer</a:t>
            </a:r>
            <a:r>
              <a:rPr sz="800" i="1" spc="-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55" dirty="0">
                <a:solidFill>
                  <a:srgbClr val="393939"/>
                </a:solidFill>
                <a:latin typeface="Verdana"/>
                <a:cs typeface="Verdana"/>
              </a:rPr>
              <a:t>C.</a:t>
            </a:r>
            <a:r>
              <a:rPr sz="800" i="1" spc="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55" dirty="0">
                <a:solidFill>
                  <a:srgbClr val="393939"/>
                </a:solidFill>
                <a:latin typeface="Verdana"/>
                <a:cs typeface="Verdana"/>
              </a:rPr>
              <a:t>(2000).</a:t>
            </a:r>
            <a:r>
              <a:rPr sz="800" i="1" spc="-4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The</a:t>
            </a:r>
            <a:r>
              <a:rPr sz="800" i="1" spc="1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25" dirty="0">
                <a:solidFill>
                  <a:srgbClr val="393939"/>
                </a:solidFill>
                <a:latin typeface="Verdana"/>
                <a:cs typeface="Verdana"/>
              </a:rPr>
              <a:t>CRISP-</a:t>
            </a:r>
            <a:r>
              <a:rPr sz="800" i="1" spc="65" dirty="0">
                <a:solidFill>
                  <a:srgbClr val="393939"/>
                </a:solidFill>
                <a:latin typeface="Verdana"/>
                <a:cs typeface="Verdana"/>
              </a:rPr>
              <a:t>DM</a:t>
            </a:r>
            <a:r>
              <a:rPr sz="800" i="1" spc="-3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25" dirty="0">
                <a:solidFill>
                  <a:srgbClr val="393939"/>
                </a:solidFill>
                <a:latin typeface="Verdana"/>
                <a:cs typeface="Verdana"/>
              </a:rPr>
              <a:t>model:</a:t>
            </a: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the</a:t>
            </a: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new</a:t>
            </a:r>
            <a:r>
              <a:rPr sz="800" i="1" spc="-2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blueprint</a:t>
            </a:r>
            <a:r>
              <a:rPr sz="800" i="1" spc="-2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</a:rPr>
              <a:t>for</a:t>
            </a:r>
            <a:r>
              <a:rPr sz="800" i="1" spc="-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data</a:t>
            </a:r>
            <a:r>
              <a:rPr sz="800" i="1" spc="-2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mining,</a:t>
            </a:r>
            <a:r>
              <a:rPr sz="800" i="1" spc="-2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J</a:t>
            </a:r>
            <a:r>
              <a:rPr sz="800" i="1" spc="-1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Data</a:t>
            </a:r>
            <a:r>
              <a:rPr sz="800" i="1" spc="-2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</a:rPr>
              <a:t>Warehousing.</a:t>
            </a:r>
            <a:endParaRPr sz="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85" dirty="0"/>
              <a:t>Minería</a:t>
            </a:r>
            <a:r>
              <a:rPr spc="-35" dirty="0"/>
              <a:t> </a:t>
            </a:r>
            <a:r>
              <a:rPr spc="195" dirty="0"/>
              <a:t>de</a:t>
            </a:r>
            <a:r>
              <a:rPr spc="-25" dirty="0"/>
              <a:t> </a:t>
            </a:r>
            <a:r>
              <a:rPr spc="90" dirty="0"/>
              <a:t>datos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73777" y="2459482"/>
            <a:ext cx="403732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2CDAFF"/>
                </a:solidFill>
                <a:latin typeface="Verdana"/>
                <a:cs typeface="Verdana"/>
              </a:rPr>
              <a:t>Metodología</a:t>
            </a:r>
            <a:r>
              <a:rPr sz="2000" spc="5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rgbClr val="2CDAFF"/>
                </a:solidFill>
                <a:latin typeface="Verdana"/>
                <a:cs typeface="Verdana"/>
              </a:rPr>
              <a:t>CRISP-</a:t>
            </a:r>
            <a:r>
              <a:rPr sz="2000" spc="-65" dirty="0">
                <a:solidFill>
                  <a:srgbClr val="2CDAFF"/>
                </a:solidFill>
                <a:latin typeface="Verdana"/>
                <a:cs typeface="Verdana"/>
              </a:rPr>
              <a:t>DM:</a:t>
            </a:r>
            <a:r>
              <a:rPr sz="2000" spc="15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CDAFF"/>
                </a:solidFill>
                <a:latin typeface="Verdana"/>
                <a:cs typeface="Verdana"/>
              </a:rPr>
              <a:t>etapa</a:t>
            </a:r>
            <a:r>
              <a:rPr sz="2000" spc="2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-615" dirty="0">
                <a:solidFill>
                  <a:srgbClr val="2CDAFF"/>
                </a:solidFill>
                <a:latin typeface="Verdana"/>
                <a:cs typeface="Verdana"/>
              </a:rPr>
              <a:t>1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3400" y="2540507"/>
            <a:ext cx="4099560" cy="4098290"/>
            <a:chOff x="533400" y="2540507"/>
            <a:chExt cx="4099560" cy="409829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3400" y="2540507"/>
              <a:ext cx="4099560" cy="40980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08476" y="4143755"/>
              <a:ext cx="563879" cy="56540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32760" y="3319271"/>
              <a:ext cx="522732" cy="52425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01923" y="5109972"/>
              <a:ext cx="582168" cy="58216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10055" y="4416551"/>
              <a:ext cx="486156" cy="48768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20239" y="5251703"/>
              <a:ext cx="496824" cy="4953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28216" y="3361943"/>
              <a:ext cx="486156" cy="48767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617725" y="3912489"/>
            <a:ext cx="701040" cy="345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Verdana"/>
                <a:cs typeface="Verdana"/>
              </a:rPr>
              <a:t>1.</a:t>
            </a:r>
            <a:endParaRPr sz="7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sz="700" spc="-10" dirty="0">
                <a:latin typeface="Verdana"/>
                <a:cs typeface="Verdana"/>
              </a:rPr>
              <a:t>Entendimiento</a:t>
            </a:r>
            <a:endParaRPr sz="700">
              <a:latin typeface="Verdana"/>
              <a:cs typeface="Verdana"/>
            </a:endParaRPr>
          </a:p>
          <a:p>
            <a:pPr marL="1270" algn="ctr">
              <a:lnSpc>
                <a:spcPct val="100000"/>
              </a:lnSpc>
              <a:spcBef>
                <a:spcPts val="5"/>
              </a:spcBef>
            </a:pPr>
            <a:r>
              <a:rPr sz="700" dirty="0">
                <a:latin typeface="Verdana"/>
                <a:cs typeface="Verdana"/>
              </a:rPr>
              <a:t>de</a:t>
            </a:r>
            <a:r>
              <a:rPr sz="700" spc="-20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negocio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96616" y="3912489"/>
            <a:ext cx="7937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700" spc="-85" dirty="0">
                <a:latin typeface="Verdana"/>
                <a:cs typeface="Verdana"/>
              </a:rPr>
              <a:t>2.</a:t>
            </a:r>
            <a:r>
              <a:rPr sz="700" spc="-55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Entendimiento</a:t>
            </a:r>
            <a:endParaRPr sz="700">
              <a:latin typeface="Verdana"/>
              <a:cs typeface="Verdana"/>
            </a:endParaRPr>
          </a:p>
          <a:p>
            <a:pPr marL="1905" algn="ctr">
              <a:lnSpc>
                <a:spcPct val="100000"/>
              </a:lnSpc>
            </a:pPr>
            <a:r>
              <a:rPr sz="700" dirty="0">
                <a:latin typeface="Verdana"/>
                <a:cs typeface="Verdana"/>
              </a:rPr>
              <a:t>de</a:t>
            </a:r>
            <a:r>
              <a:rPr sz="700" spc="-25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los</a:t>
            </a:r>
            <a:r>
              <a:rPr sz="700" spc="-55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datos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43654" y="4741290"/>
            <a:ext cx="65849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4135" marR="5080" indent="-52069">
              <a:lnSpc>
                <a:spcPct val="100000"/>
              </a:lnSpc>
              <a:spcBef>
                <a:spcPts val="95"/>
              </a:spcBef>
            </a:pPr>
            <a:r>
              <a:rPr sz="700" spc="-85" dirty="0">
                <a:latin typeface="Verdana"/>
                <a:cs typeface="Verdana"/>
              </a:rPr>
              <a:t>3.</a:t>
            </a:r>
            <a:r>
              <a:rPr sz="700" spc="-55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Preparación </a:t>
            </a:r>
            <a:r>
              <a:rPr sz="700" dirty="0">
                <a:latin typeface="Verdana"/>
                <a:cs typeface="Verdana"/>
              </a:rPr>
              <a:t>de</a:t>
            </a:r>
            <a:r>
              <a:rPr sz="700" spc="-30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los</a:t>
            </a:r>
            <a:r>
              <a:rPr sz="700" spc="-50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datos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74238" y="5732475"/>
            <a:ext cx="64452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0" dirty="0">
                <a:latin typeface="Verdana"/>
                <a:cs typeface="Verdana"/>
              </a:rPr>
              <a:t>4. </a:t>
            </a:r>
            <a:r>
              <a:rPr sz="700" spc="-10" dirty="0">
                <a:latin typeface="Verdana"/>
                <a:cs typeface="Verdana"/>
              </a:rPr>
              <a:t>Modelación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53564" y="5785205"/>
            <a:ext cx="60198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85" dirty="0">
                <a:latin typeface="Verdana"/>
                <a:cs typeface="Verdana"/>
              </a:rPr>
              <a:t>5.</a:t>
            </a:r>
            <a:r>
              <a:rPr sz="700" spc="-55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Evaluación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38529" y="4895215"/>
            <a:ext cx="62738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70" dirty="0">
                <a:latin typeface="Verdana"/>
                <a:cs typeface="Verdana"/>
              </a:rPr>
              <a:t>6.</a:t>
            </a:r>
            <a:r>
              <a:rPr sz="700" spc="-45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Despliegue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563624" y="3533775"/>
            <a:ext cx="2609215" cy="2070100"/>
          </a:xfrm>
          <a:custGeom>
            <a:avLst/>
            <a:gdLst/>
            <a:ahLst/>
            <a:cxnLst/>
            <a:rect l="l" t="t" r="r" b="b"/>
            <a:pathLst>
              <a:path w="2609215" h="2070100">
                <a:moveTo>
                  <a:pt x="275717" y="1898015"/>
                </a:moveTo>
                <a:lnTo>
                  <a:pt x="120891" y="1673669"/>
                </a:lnTo>
                <a:lnTo>
                  <a:pt x="155016" y="1650111"/>
                </a:lnTo>
                <a:lnTo>
                  <a:pt x="167894" y="1641221"/>
                </a:lnTo>
                <a:lnTo>
                  <a:pt x="0" y="1548765"/>
                </a:lnTo>
                <a:lnTo>
                  <a:pt x="26797" y="1738630"/>
                </a:lnTo>
                <a:lnTo>
                  <a:pt x="73863" y="1706130"/>
                </a:lnTo>
                <a:lnTo>
                  <a:pt x="228600" y="1930400"/>
                </a:lnTo>
                <a:lnTo>
                  <a:pt x="275717" y="1898015"/>
                </a:lnTo>
                <a:close/>
              </a:path>
              <a:path w="2609215" h="2070100">
                <a:moveTo>
                  <a:pt x="538480" y="820420"/>
                </a:moveTo>
                <a:lnTo>
                  <a:pt x="523963" y="796036"/>
                </a:lnTo>
                <a:lnTo>
                  <a:pt x="440436" y="655701"/>
                </a:lnTo>
                <a:lnTo>
                  <a:pt x="367538" y="832993"/>
                </a:lnTo>
                <a:lnTo>
                  <a:pt x="424497" y="828814"/>
                </a:lnTo>
                <a:lnTo>
                  <a:pt x="480822" y="1595247"/>
                </a:lnTo>
                <a:lnTo>
                  <a:pt x="537845" y="1591056"/>
                </a:lnTo>
                <a:lnTo>
                  <a:pt x="481520" y="824611"/>
                </a:lnTo>
                <a:lnTo>
                  <a:pt x="538480" y="820420"/>
                </a:lnTo>
                <a:close/>
              </a:path>
              <a:path w="2609215" h="2070100">
                <a:moveTo>
                  <a:pt x="1422146" y="85725"/>
                </a:moveTo>
                <a:lnTo>
                  <a:pt x="1364996" y="57150"/>
                </a:lnTo>
                <a:lnTo>
                  <a:pt x="1250696" y="0"/>
                </a:lnTo>
                <a:lnTo>
                  <a:pt x="1250696" y="57150"/>
                </a:lnTo>
                <a:lnTo>
                  <a:pt x="968502" y="57150"/>
                </a:lnTo>
                <a:lnTo>
                  <a:pt x="968502" y="0"/>
                </a:lnTo>
                <a:lnTo>
                  <a:pt x="797052" y="85725"/>
                </a:lnTo>
                <a:lnTo>
                  <a:pt x="968502" y="171450"/>
                </a:lnTo>
                <a:lnTo>
                  <a:pt x="968502" y="114300"/>
                </a:lnTo>
                <a:lnTo>
                  <a:pt x="1250696" y="114300"/>
                </a:lnTo>
                <a:lnTo>
                  <a:pt x="1250696" y="171450"/>
                </a:lnTo>
                <a:lnTo>
                  <a:pt x="1364996" y="114300"/>
                </a:lnTo>
                <a:lnTo>
                  <a:pt x="1422146" y="85725"/>
                </a:lnTo>
                <a:close/>
              </a:path>
              <a:path w="2609215" h="2070100">
                <a:moveTo>
                  <a:pt x="1473454" y="1956816"/>
                </a:moveTo>
                <a:lnTo>
                  <a:pt x="1128649" y="1955292"/>
                </a:lnTo>
                <a:lnTo>
                  <a:pt x="1128903" y="1898142"/>
                </a:lnTo>
                <a:lnTo>
                  <a:pt x="957072" y="1983105"/>
                </a:lnTo>
                <a:lnTo>
                  <a:pt x="1128141" y="2069604"/>
                </a:lnTo>
                <a:lnTo>
                  <a:pt x="1128382" y="2013966"/>
                </a:lnTo>
                <a:lnTo>
                  <a:pt x="1128395" y="2012442"/>
                </a:lnTo>
                <a:lnTo>
                  <a:pt x="1473200" y="2013966"/>
                </a:lnTo>
                <a:lnTo>
                  <a:pt x="1473327" y="1983105"/>
                </a:lnTo>
                <a:lnTo>
                  <a:pt x="1473454" y="1956816"/>
                </a:lnTo>
                <a:close/>
              </a:path>
              <a:path w="2609215" h="2070100">
                <a:moveTo>
                  <a:pt x="2527681" y="501523"/>
                </a:moveTo>
                <a:lnTo>
                  <a:pt x="2501138" y="419735"/>
                </a:lnTo>
                <a:lnTo>
                  <a:pt x="2468499" y="319151"/>
                </a:lnTo>
                <a:lnTo>
                  <a:pt x="2427757" y="359257"/>
                </a:lnTo>
                <a:lnTo>
                  <a:pt x="2138680" y="65671"/>
                </a:lnTo>
                <a:lnTo>
                  <a:pt x="2098040" y="105791"/>
                </a:lnTo>
                <a:lnTo>
                  <a:pt x="2387054" y="399326"/>
                </a:lnTo>
                <a:lnTo>
                  <a:pt x="2346325" y="439420"/>
                </a:lnTo>
                <a:lnTo>
                  <a:pt x="2527681" y="501523"/>
                </a:lnTo>
                <a:close/>
              </a:path>
              <a:path w="2609215" h="2070100">
                <a:moveTo>
                  <a:pt x="2609215" y="1484757"/>
                </a:moveTo>
                <a:lnTo>
                  <a:pt x="2443988" y="1581912"/>
                </a:lnTo>
                <a:lnTo>
                  <a:pt x="2491892" y="1613027"/>
                </a:lnTo>
                <a:lnTo>
                  <a:pt x="2366060" y="1806765"/>
                </a:lnTo>
                <a:lnTo>
                  <a:pt x="2318131" y="1775587"/>
                </a:lnTo>
                <a:lnTo>
                  <a:pt x="2296668" y="1966087"/>
                </a:lnTo>
                <a:lnTo>
                  <a:pt x="2461895" y="1869059"/>
                </a:lnTo>
                <a:lnTo>
                  <a:pt x="2450757" y="1861820"/>
                </a:lnTo>
                <a:lnTo>
                  <a:pt x="2413939" y="1837893"/>
                </a:lnTo>
                <a:lnTo>
                  <a:pt x="2539784" y="1644129"/>
                </a:lnTo>
                <a:lnTo>
                  <a:pt x="2587752" y="1675257"/>
                </a:lnTo>
                <a:lnTo>
                  <a:pt x="2597467" y="1589024"/>
                </a:lnTo>
                <a:lnTo>
                  <a:pt x="2609215" y="1484757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582672" y="4449902"/>
            <a:ext cx="5969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30" dirty="0">
                <a:latin typeface="Tahoma"/>
                <a:cs typeface="Tahoma"/>
              </a:rPr>
              <a:t>Data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87239" y="3066669"/>
            <a:ext cx="35598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Tahoma"/>
                <a:cs typeface="Tahoma"/>
              </a:rPr>
              <a:t>Etapa</a:t>
            </a:r>
            <a:r>
              <a:rPr sz="1500" b="1" spc="100" dirty="0">
                <a:latin typeface="Tahoma"/>
                <a:cs typeface="Tahoma"/>
              </a:rPr>
              <a:t> </a:t>
            </a:r>
            <a:r>
              <a:rPr sz="1500" b="1" spc="-265" dirty="0">
                <a:latin typeface="Tahoma"/>
                <a:cs typeface="Tahoma"/>
              </a:rPr>
              <a:t>1:</a:t>
            </a:r>
            <a:r>
              <a:rPr sz="1500" b="1" spc="70" dirty="0">
                <a:latin typeface="Tahoma"/>
                <a:cs typeface="Tahoma"/>
              </a:rPr>
              <a:t> </a:t>
            </a:r>
            <a:r>
              <a:rPr sz="1500" b="1" spc="50" dirty="0">
                <a:latin typeface="Tahoma"/>
                <a:cs typeface="Tahoma"/>
              </a:rPr>
              <a:t>Entendimiento</a:t>
            </a:r>
            <a:r>
              <a:rPr sz="1500" b="1" spc="100" dirty="0">
                <a:latin typeface="Tahoma"/>
                <a:cs typeface="Tahoma"/>
              </a:rPr>
              <a:t> </a:t>
            </a:r>
            <a:r>
              <a:rPr sz="1500" b="1" dirty="0">
                <a:latin typeface="Tahoma"/>
                <a:cs typeface="Tahoma"/>
              </a:rPr>
              <a:t>del</a:t>
            </a:r>
            <a:r>
              <a:rPr sz="1500" b="1" spc="90" dirty="0">
                <a:latin typeface="Tahoma"/>
                <a:cs typeface="Tahoma"/>
              </a:rPr>
              <a:t> </a:t>
            </a:r>
            <a:r>
              <a:rPr sz="1500" b="1" spc="50" dirty="0">
                <a:latin typeface="Tahoma"/>
                <a:cs typeface="Tahoma"/>
              </a:rPr>
              <a:t>negocio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087239" y="3523869"/>
            <a:ext cx="5912485" cy="1169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latin typeface="Verdana"/>
                <a:cs typeface="Verdana"/>
              </a:rPr>
              <a:t>Esta</a:t>
            </a:r>
            <a:r>
              <a:rPr sz="1500" spc="-80" dirty="0">
                <a:latin typeface="Verdana"/>
                <a:cs typeface="Verdana"/>
              </a:rPr>
              <a:t> </a:t>
            </a:r>
            <a:r>
              <a:rPr sz="1500" spc="-30" dirty="0">
                <a:latin typeface="Verdana"/>
                <a:cs typeface="Verdana"/>
              </a:rPr>
              <a:t>fase</a:t>
            </a:r>
            <a:r>
              <a:rPr sz="1500" spc="-8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inicial</a:t>
            </a:r>
            <a:r>
              <a:rPr sz="1500" spc="-100" dirty="0">
                <a:latin typeface="Verdana"/>
                <a:cs typeface="Verdana"/>
              </a:rPr>
              <a:t> </a:t>
            </a:r>
            <a:r>
              <a:rPr sz="1500" spc="-35" dirty="0">
                <a:latin typeface="Verdana"/>
                <a:cs typeface="Verdana"/>
              </a:rPr>
              <a:t>se</a:t>
            </a:r>
            <a:r>
              <a:rPr sz="1500" spc="-8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enfoca</a:t>
            </a:r>
            <a:r>
              <a:rPr sz="1500" spc="-8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en</a:t>
            </a:r>
            <a:r>
              <a:rPr sz="1500" spc="-90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la</a:t>
            </a:r>
            <a:r>
              <a:rPr sz="1500" spc="-7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comprensión</a:t>
            </a:r>
            <a:r>
              <a:rPr sz="1500" spc="-12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de</a:t>
            </a:r>
            <a:r>
              <a:rPr sz="1500" spc="-85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los</a:t>
            </a:r>
            <a:r>
              <a:rPr sz="1500" spc="-8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objetivos</a:t>
            </a:r>
            <a:r>
              <a:rPr sz="1500" spc="-95" dirty="0">
                <a:latin typeface="Verdana"/>
                <a:cs typeface="Verdana"/>
              </a:rPr>
              <a:t> </a:t>
            </a:r>
            <a:r>
              <a:rPr sz="1500" spc="-50" dirty="0">
                <a:latin typeface="Verdana"/>
                <a:cs typeface="Verdana"/>
              </a:rPr>
              <a:t>y </a:t>
            </a:r>
            <a:r>
              <a:rPr sz="1500" dirty="0">
                <a:latin typeface="Verdana"/>
                <a:cs typeface="Verdana"/>
              </a:rPr>
              <a:t>exigencias</a:t>
            </a:r>
            <a:r>
              <a:rPr sz="1500" spc="-9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del</a:t>
            </a:r>
            <a:r>
              <a:rPr sz="1500" spc="-8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proyecto</a:t>
            </a:r>
            <a:r>
              <a:rPr sz="1500" spc="-8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desde</a:t>
            </a:r>
            <a:r>
              <a:rPr sz="1500" spc="-8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una</a:t>
            </a:r>
            <a:r>
              <a:rPr sz="1500" spc="-5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perspectiva</a:t>
            </a:r>
            <a:r>
              <a:rPr sz="1500" spc="-9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de</a:t>
            </a:r>
            <a:r>
              <a:rPr sz="1500" spc="-65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negocio.</a:t>
            </a:r>
            <a:endParaRPr sz="1500">
              <a:latin typeface="Verdana"/>
              <a:cs typeface="Verdana"/>
            </a:endParaRPr>
          </a:p>
          <a:p>
            <a:pPr marL="12700" marR="16510">
              <a:lnSpc>
                <a:spcPct val="100000"/>
              </a:lnSpc>
            </a:pPr>
            <a:r>
              <a:rPr sz="1500" dirty="0">
                <a:latin typeface="Verdana"/>
                <a:cs typeface="Verdana"/>
              </a:rPr>
              <a:t>Posteriormente</a:t>
            </a:r>
            <a:r>
              <a:rPr sz="1500" spc="-5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convierte</a:t>
            </a:r>
            <a:r>
              <a:rPr sz="1500" spc="-50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ese</a:t>
            </a:r>
            <a:r>
              <a:rPr sz="1500" spc="-2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conocimiento</a:t>
            </a:r>
            <a:r>
              <a:rPr sz="1500" spc="-5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de</a:t>
            </a:r>
            <a:r>
              <a:rPr sz="1500" spc="-15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los</a:t>
            </a:r>
            <a:r>
              <a:rPr sz="1500" spc="-1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datos</a:t>
            </a:r>
            <a:r>
              <a:rPr sz="1500" spc="-1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en</a:t>
            </a:r>
            <a:r>
              <a:rPr sz="1500" spc="-25" dirty="0">
                <a:latin typeface="Verdana"/>
                <a:cs typeface="Verdana"/>
              </a:rPr>
              <a:t> la </a:t>
            </a:r>
            <a:r>
              <a:rPr sz="1500" dirty="0">
                <a:latin typeface="Verdana"/>
                <a:cs typeface="Verdana"/>
              </a:rPr>
              <a:t>definición</a:t>
            </a:r>
            <a:r>
              <a:rPr sz="1500" spc="-10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de</a:t>
            </a:r>
            <a:r>
              <a:rPr sz="1500" spc="-60" dirty="0">
                <a:latin typeface="Verdana"/>
                <a:cs typeface="Verdana"/>
              </a:rPr>
              <a:t> </a:t>
            </a:r>
            <a:r>
              <a:rPr sz="1500" spc="55" dirty="0">
                <a:latin typeface="Verdana"/>
                <a:cs typeface="Verdana"/>
              </a:rPr>
              <a:t>un</a:t>
            </a:r>
            <a:r>
              <a:rPr sz="1500" spc="-5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problema</a:t>
            </a:r>
            <a:r>
              <a:rPr sz="1500" spc="-8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de</a:t>
            </a:r>
            <a:r>
              <a:rPr sz="1500" spc="-7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minería</a:t>
            </a:r>
            <a:r>
              <a:rPr sz="1500" spc="-9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de</a:t>
            </a:r>
            <a:r>
              <a:rPr sz="1500" spc="-7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datos</a:t>
            </a:r>
            <a:r>
              <a:rPr sz="1500" spc="-40" dirty="0">
                <a:latin typeface="Verdana"/>
                <a:cs typeface="Verdana"/>
              </a:rPr>
              <a:t> </a:t>
            </a:r>
            <a:r>
              <a:rPr sz="1500" spc="-85" dirty="0">
                <a:latin typeface="Verdana"/>
                <a:cs typeface="Verdana"/>
              </a:rPr>
              <a:t>y</a:t>
            </a:r>
            <a:r>
              <a:rPr sz="1500" spc="-5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en</a:t>
            </a:r>
            <a:r>
              <a:rPr sz="1500" spc="-80" dirty="0">
                <a:latin typeface="Verdana"/>
                <a:cs typeface="Verdana"/>
              </a:rPr>
              <a:t> </a:t>
            </a:r>
            <a:r>
              <a:rPr sz="1500" spc="55" dirty="0">
                <a:latin typeface="Verdana"/>
                <a:cs typeface="Verdana"/>
              </a:rPr>
              <a:t>un</a:t>
            </a:r>
            <a:r>
              <a:rPr sz="1500" spc="-50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plan </a:t>
            </a:r>
            <a:r>
              <a:rPr sz="1500" dirty="0">
                <a:latin typeface="Verdana"/>
                <a:cs typeface="Verdana"/>
              </a:rPr>
              <a:t>preliminar</a:t>
            </a:r>
            <a:r>
              <a:rPr sz="1500" spc="-11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diseñado</a:t>
            </a:r>
            <a:r>
              <a:rPr sz="1500" spc="-9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para</a:t>
            </a:r>
            <a:r>
              <a:rPr sz="1500" spc="-75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alcanzar</a:t>
            </a:r>
            <a:r>
              <a:rPr sz="1500" spc="-80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los</a:t>
            </a:r>
            <a:r>
              <a:rPr sz="1500" spc="-5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objetivos.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17424" y="6623710"/>
            <a:ext cx="499300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</a:rPr>
              <a:t>Shearer</a:t>
            </a:r>
            <a:r>
              <a:rPr sz="800" i="1" spc="-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55" dirty="0">
                <a:solidFill>
                  <a:srgbClr val="393939"/>
                </a:solidFill>
                <a:latin typeface="Verdana"/>
                <a:cs typeface="Verdana"/>
              </a:rPr>
              <a:t>C.</a:t>
            </a:r>
            <a:r>
              <a:rPr sz="800" i="1" spc="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55" dirty="0">
                <a:solidFill>
                  <a:srgbClr val="393939"/>
                </a:solidFill>
                <a:latin typeface="Verdana"/>
                <a:cs typeface="Verdana"/>
              </a:rPr>
              <a:t>(2000).</a:t>
            </a:r>
            <a:r>
              <a:rPr sz="800" i="1" spc="-4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The</a:t>
            </a:r>
            <a:r>
              <a:rPr sz="800" i="1" spc="1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25" dirty="0">
                <a:solidFill>
                  <a:srgbClr val="393939"/>
                </a:solidFill>
                <a:latin typeface="Verdana"/>
                <a:cs typeface="Verdana"/>
              </a:rPr>
              <a:t>CRISP-</a:t>
            </a:r>
            <a:r>
              <a:rPr sz="800" i="1" spc="65" dirty="0">
                <a:solidFill>
                  <a:srgbClr val="393939"/>
                </a:solidFill>
                <a:latin typeface="Verdana"/>
                <a:cs typeface="Verdana"/>
              </a:rPr>
              <a:t>DM</a:t>
            </a:r>
            <a:r>
              <a:rPr sz="800" i="1" spc="-3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25" dirty="0">
                <a:solidFill>
                  <a:srgbClr val="393939"/>
                </a:solidFill>
                <a:latin typeface="Verdana"/>
                <a:cs typeface="Verdana"/>
              </a:rPr>
              <a:t>model:</a:t>
            </a: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the</a:t>
            </a: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new</a:t>
            </a:r>
            <a:r>
              <a:rPr sz="800" i="1" spc="-2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blueprint</a:t>
            </a:r>
            <a:r>
              <a:rPr sz="800" i="1" spc="-2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</a:rPr>
              <a:t>for</a:t>
            </a:r>
            <a:r>
              <a:rPr sz="800" i="1" spc="-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data</a:t>
            </a:r>
            <a:r>
              <a:rPr sz="800" i="1" spc="-2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mining,</a:t>
            </a:r>
            <a:r>
              <a:rPr sz="800" i="1" spc="-2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J</a:t>
            </a:r>
            <a:r>
              <a:rPr sz="800" i="1" spc="-1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Data</a:t>
            </a:r>
            <a:r>
              <a:rPr sz="800" i="1" spc="-2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</a:rPr>
              <a:t>Warehousing.</a:t>
            </a:r>
            <a:endParaRPr sz="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85" dirty="0"/>
              <a:t>Minería</a:t>
            </a:r>
            <a:r>
              <a:rPr spc="-35" dirty="0"/>
              <a:t> </a:t>
            </a:r>
            <a:r>
              <a:rPr spc="195" dirty="0"/>
              <a:t>de</a:t>
            </a:r>
            <a:r>
              <a:rPr spc="-25" dirty="0"/>
              <a:t> </a:t>
            </a:r>
            <a:r>
              <a:rPr spc="90" dirty="0"/>
              <a:t>datos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73777" y="2459482"/>
            <a:ext cx="40900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2CDAFF"/>
                </a:solidFill>
                <a:latin typeface="Verdana"/>
                <a:cs typeface="Verdana"/>
              </a:rPr>
              <a:t>Metodología</a:t>
            </a:r>
            <a:r>
              <a:rPr sz="2000" spc="5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rgbClr val="2CDAFF"/>
                </a:solidFill>
                <a:latin typeface="Verdana"/>
                <a:cs typeface="Verdana"/>
              </a:rPr>
              <a:t>CRISP-</a:t>
            </a:r>
            <a:r>
              <a:rPr sz="2000" spc="-65" dirty="0">
                <a:solidFill>
                  <a:srgbClr val="2CDAFF"/>
                </a:solidFill>
                <a:latin typeface="Verdana"/>
                <a:cs typeface="Verdana"/>
              </a:rPr>
              <a:t>DM:</a:t>
            </a:r>
            <a:r>
              <a:rPr sz="2000" spc="15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CDAFF"/>
                </a:solidFill>
                <a:latin typeface="Verdana"/>
                <a:cs typeface="Verdana"/>
              </a:rPr>
              <a:t>etapa</a:t>
            </a:r>
            <a:r>
              <a:rPr sz="2000" spc="2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2CDAFF"/>
                </a:solidFill>
                <a:latin typeface="Verdana"/>
                <a:cs typeface="Verdana"/>
              </a:rPr>
              <a:t>2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3400" y="2540507"/>
            <a:ext cx="4099560" cy="4098290"/>
            <a:chOff x="533400" y="2540507"/>
            <a:chExt cx="4099560" cy="409829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3400" y="2540507"/>
              <a:ext cx="4099560" cy="40980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08476" y="4143755"/>
              <a:ext cx="563879" cy="56540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32760" y="3319271"/>
              <a:ext cx="522732" cy="52425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01923" y="5109972"/>
              <a:ext cx="582168" cy="58216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10055" y="4416551"/>
              <a:ext cx="486156" cy="48768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20239" y="5251703"/>
              <a:ext cx="496824" cy="4953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28216" y="3361943"/>
              <a:ext cx="486156" cy="48767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617725" y="3912489"/>
            <a:ext cx="701040" cy="345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Verdana"/>
                <a:cs typeface="Verdana"/>
              </a:rPr>
              <a:t>1.</a:t>
            </a:r>
            <a:endParaRPr sz="7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sz="700" spc="-10" dirty="0">
                <a:latin typeface="Verdana"/>
                <a:cs typeface="Verdana"/>
              </a:rPr>
              <a:t>Entendimiento</a:t>
            </a:r>
            <a:endParaRPr sz="700">
              <a:latin typeface="Verdana"/>
              <a:cs typeface="Verdana"/>
            </a:endParaRPr>
          </a:p>
          <a:p>
            <a:pPr marL="1270" algn="ctr">
              <a:lnSpc>
                <a:spcPct val="100000"/>
              </a:lnSpc>
              <a:spcBef>
                <a:spcPts val="5"/>
              </a:spcBef>
            </a:pPr>
            <a:r>
              <a:rPr sz="700" dirty="0">
                <a:latin typeface="Verdana"/>
                <a:cs typeface="Verdana"/>
              </a:rPr>
              <a:t>de</a:t>
            </a:r>
            <a:r>
              <a:rPr sz="700" spc="-20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negocio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96616" y="3912489"/>
            <a:ext cx="7937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700" spc="-85" dirty="0">
                <a:latin typeface="Verdana"/>
                <a:cs typeface="Verdana"/>
              </a:rPr>
              <a:t>2.</a:t>
            </a:r>
            <a:r>
              <a:rPr sz="700" spc="-55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Entendimiento</a:t>
            </a:r>
            <a:endParaRPr sz="700">
              <a:latin typeface="Verdana"/>
              <a:cs typeface="Verdana"/>
            </a:endParaRPr>
          </a:p>
          <a:p>
            <a:pPr marL="1905" algn="ctr">
              <a:lnSpc>
                <a:spcPct val="100000"/>
              </a:lnSpc>
            </a:pPr>
            <a:r>
              <a:rPr sz="700" dirty="0">
                <a:latin typeface="Verdana"/>
                <a:cs typeface="Verdana"/>
              </a:rPr>
              <a:t>de</a:t>
            </a:r>
            <a:r>
              <a:rPr sz="700" spc="-25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los</a:t>
            </a:r>
            <a:r>
              <a:rPr sz="700" spc="-55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datos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43654" y="4741290"/>
            <a:ext cx="65849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4135" marR="5080" indent="-52069">
              <a:lnSpc>
                <a:spcPct val="100000"/>
              </a:lnSpc>
              <a:spcBef>
                <a:spcPts val="95"/>
              </a:spcBef>
            </a:pPr>
            <a:r>
              <a:rPr sz="700" spc="-85" dirty="0">
                <a:latin typeface="Verdana"/>
                <a:cs typeface="Verdana"/>
              </a:rPr>
              <a:t>3.</a:t>
            </a:r>
            <a:r>
              <a:rPr sz="700" spc="-55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Preparación </a:t>
            </a:r>
            <a:r>
              <a:rPr sz="700" dirty="0">
                <a:latin typeface="Verdana"/>
                <a:cs typeface="Verdana"/>
              </a:rPr>
              <a:t>de</a:t>
            </a:r>
            <a:r>
              <a:rPr sz="700" spc="-30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los</a:t>
            </a:r>
            <a:r>
              <a:rPr sz="700" spc="-50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datos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74238" y="5732475"/>
            <a:ext cx="64452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0" dirty="0">
                <a:latin typeface="Verdana"/>
                <a:cs typeface="Verdana"/>
              </a:rPr>
              <a:t>4. </a:t>
            </a:r>
            <a:r>
              <a:rPr sz="700" spc="-10" dirty="0">
                <a:latin typeface="Verdana"/>
                <a:cs typeface="Verdana"/>
              </a:rPr>
              <a:t>Modelación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53564" y="5785205"/>
            <a:ext cx="60198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85" dirty="0">
                <a:latin typeface="Verdana"/>
                <a:cs typeface="Verdana"/>
              </a:rPr>
              <a:t>5.</a:t>
            </a:r>
            <a:r>
              <a:rPr sz="700" spc="-55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Evaluación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38529" y="4895215"/>
            <a:ext cx="62738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70" dirty="0">
                <a:latin typeface="Verdana"/>
                <a:cs typeface="Verdana"/>
              </a:rPr>
              <a:t>6.</a:t>
            </a:r>
            <a:r>
              <a:rPr sz="700" spc="-45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Despliegue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563624" y="3533775"/>
            <a:ext cx="2609215" cy="2070100"/>
          </a:xfrm>
          <a:custGeom>
            <a:avLst/>
            <a:gdLst/>
            <a:ahLst/>
            <a:cxnLst/>
            <a:rect l="l" t="t" r="r" b="b"/>
            <a:pathLst>
              <a:path w="2609215" h="2070100">
                <a:moveTo>
                  <a:pt x="275717" y="1898015"/>
                </a:moveTo>
                <a:lnTo>
                  <a:pt x="120891" y="1673669"/>
                </a:lnTo>
                <a:lnTo>
                  <a:pt x="155016" y="1650111"/>
                </a:lnTo>
                <a:lnTo>
                  <a:pt x="167894" y="1641221"/>
                </a:lnTo>
                <a:lnTo>
                  <a:pt x="0" y="1548765"/>
                </a:lnTo>
                <a:lnTo>
                  <a:pt x="26797" y="1738630"/>
                </a:lnTo>
                <a:lnTo>
                  <a:pt x="73863" y="1706130"/>
                </a:lnTo>
                <a:lnTo>
                  <a:pt x="228600" y="1930400"/>
                </a:lnTo>
                <a:lnTo>
                  <a:pt x="275717" y="1898015"/>
                </a:lnTo>
                <a:close/>
              </a:path>
              <a:path w="2609215" h="2070100">
                <a:moveTo>
                  <a:pt x="538480" y="820420"/>
                </a:moveTo>
                <a:lnTo>
                  <a:pt x="523963" y="796036"/>
                </a:lnTo>
                <a:lnTo>
                  <a:pt x="440436" y="655701"/>
                </a:lnTo>
                <a:lnTo>
                  <a:pt x="367538" y="832993"/>
                </a:lnTo>
                <a:lnTo>
                  <a:pt x="424497" y="828814"/>
                </a:lnTo>
                <a:lnTo>
                  <a:pt x="480822" y="1595247"/>
                </a:lnTo>
                <a:lnTo>
                  <a:pt x="537845" y="1591056"/>
                </a:lnTo>
                <a:lnTo>
                  <a:pt x="481520" y="824611"/>
                </a:lnTo>
                <a:lnTo>
                  <a:pt x="538480" y="820420"/>
                </a:lnTo>
                <a:close/>
              </a:path>
              <a:path w="2609215" h="2070100">
                <a:moveTo>
                  <a:pt x="1422146" y="85725"/>
                </a:moveTo>
                <a:lnTo>
                  <a:pt x="1364996" y="57150"/>
                </a:lnTo>
                <a:lnTo>
                  <a:pt x="1250696" y="0"/>
                </a:lnTo>
                <a:lnTo>
                  <a:pt x="1250696" y="57150"/>
                </a:lnTo>
                <a:lnTo>
                  <a:pt x="968502" y="57150"/>
                </a:lnTo>
                <a:lnTo>
                  <a:pt x="968502" y="0"/>
                </a:lnTo>
                <a:lnTo>
                  <a:pt x="797052" y="85725"/>
                </a:lnTo>
                <a:lnTo>
                  <a:pt x="968502" y="171450"/>
                </a:lnTo>
                <a:lnTo>
                  <a:pt x="968502" y="114300"/>
                </a:lnTo>
                <a:lnTo>
                  <a:pt x="1250696" y="114300"/>
                </a:lnTo>
                <a:lnTo>
                  <a:pt x="1250696" y="171450"/>
                </a:lnTo>
                <a:lnTo>
                  <a:pt x="1364996" y="114300"/>
                </a:lnTo>
                <a:lnTo>
                  <a:pt x="1422146" y="85725"/>
                </a:lnTo>
                <a:close/>
              </a:path>
              <a:path w="2609215" h="2070100">
                <a:moveTo>
                  <a:pt x="1473454" y="1956816"/>
                </a:moveTo>
                <a:lnTo>
                  <a:pt x="1128649" y="1955292"/>
                </a:lnTo>
                <a:lnTo>
                  <a:pt x="1128903" y="1898142"/>
                </a:lnTo>
                <a:lnTo>
                  <a:pt x="957072" y="1983105"/>
                </a:lnTo>
                <a:lnTo>
                  <a:pt x="1128141" y="2069604"/>
                </a:lnTo>
                <a:lnTo>
                  <a:pt x="1128382" y="2013966"/>
                </a:lnTo>
                <a:lnTo>
                  <a:pt x="1128395" y="2012442"/>
                </a:lnTo>
                <a:lnTo>
                  <a:pt x="1473200" y="2013966"/>
                </a:lnTo>
                <a:lnTo>
                  <a:pt x="1473327" y="1983105"/>
                </a:lnTo>
                <a:lnTo>
                  <a:pt x="1473454" y="1956816"/>
                </a:lnTo>
                <a:close/>
              </a:path>
              <a:path w="2609215" h="2070100">
                <a:moveTo>
                  <a:pt x="2527681" y="501523"/>
                </a:moveTo>
                <a:lnTo>
                  <a:pt x="2501138" y="419735"/>
                </a:lnTo>
                <a:lnTo>
                  <a:pt x="2468499" y="319151"/>
                </a:lnTo>
                <a:lnTo>
                  <a:pt x="2427757" y="359257"/>
                </a:lnTo>
                <a:lnTo>
                  <a:pt x="2138680" y="65671"/>
                </a:lnTo>
                <a:lnTo>
                  <a:pt x="2098040" y="105791"/>
                </a:lnTo>
                <a:lnTo>
                  <a:pt x="2387054" y="399326"/>
                </a:lnTo>
                <a:lnTo>
                  <a:pt x="2346325" y="439420"/>
                </a:lnTo>
                <a:lnTo>
                  <a:pt x="2527681" y="501523"/>
                </a:lnTo>
                <a:close/>
              </a:path>
              <a:path w="2609215" h="2070100">
                <a:moveTo>
                  <a:pt x="2609215" y="1484757"/>
                </a:moveTo>
                <a:lnTo>
                  <a:pt x="2443988" y="1581912"/>
                </a:lnTo>
                <a:lnTo>
                  <a:pt x="2491892" y="1613027"/>
                </a:lnTo>
                <a:lnTo>
                  <a:pt x="2366060" y="1806765"/>
                </a:lnTo>
                <a:lnTo>
                  <a:pt x="2318131" y="1775587"/>
                </a:lnTo>
                <a:lnTo>
                  <a:pt x="2296668" y="1966087"/>
                </a:lnTo>
                <a:lnTo>
                  <a:pt x="2461895" y="1869059"/>
                </a:lnTo>
                <a:lnTo>
                  <a:pt x="2450757" y="1861820"/>
                </a:lnTo>
                <a:lnTo>
                  <a:pt x="2413939" y="1837893"/>
                </a:lnTo>
                <a:lnTo>
                  <a:pt x="2539784" y="1644129"/>
                </a:lnTo>
                <a:lnTo>
                  <a:pt x="2587752" y="1675257"/>
                </a:lnTo>
                <a:lnTo>
                  <a:pt x="2597467" y="1589024"/>
                </a:lnTo>
                <a:lnTo>
                  <a:pt x="2609215" y="1484757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582672" y="4449902"/>
            <a:ext cx="5969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30" dirty="0">
                <a:latin typeface="Tahoma"/>
                <a:cs typeface="Tahoma"/>
              </a:rPr>
              <a:t>Data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87239" y="3066669"/>
            <a:ext cx="36302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Tahoma"/>
                <a:cs typeface="Tahoma"/>
              </a:rPr>
              <a:t>Etapa</a:t>
            </a:r>
            <a:r>
              <a:rPr sz="1500" b="1" spc="65" dirty="0">
                <a:latin typeface="Tahoma"/>
                <a:cs typeface="Tahoma"/>
              </a:rPr>
              <a:t> </a:t>
            </a:r>
            <a:r>
              <a:rPr sz="1500" b="1" spc="-114" dirty="0">
                <a:latin typeface="Tahoma"/>
                <a:cs typeface="Tahoma"/>
              </a:rPr>
              <a:t>2:</a:t>
            </a:r>
            <a:r>
              <a:rPr sz="1500" b="1" spc="35" dirty="0">
                <a:latin typeface="Tahoma"/>
                <a:cs typeface="Tahoma"/>
              </a:rPr>
              <a:t> </a:t>
            </a:r>
            <a:r>
              <a:rPr sz="1500" b="1" spc="50" dirty="0">
                <a:latin typeface="Tahoma"/>
                <a:cs typeface="Tahoma"/>
              </a:rPr>
              <a:t>Entendimiento</a:t>
            </a:r>
            <a:r>
              <a:rPr sz="1500" b="1" spc="70" dirty="0">
                <a:latin typeface="Tahoma"/>
                <a:cs typeface="Tahoma"/>
              </a:rPr>
              <a:t> </a:t>
            </a:r>
            <a:r>
              <a:rPr sz="1500" b="1" spc="65" dirty="0">
                <a:latin typeface="Tahoma"/>
                <a:cs typeface="Tahoma"/>
              </a:rPr>
              <a:t>de</a:t>
            </a:r>
            <a:r>
              <a:rPr sz="1500" b="1" spc="55" dirty="0">
                <a:latin typeface="Tahoma"/>
                <a:cs typeface="Tahoma"/>
              </a:rPr>
              <a:t> </a:t>
            </a:r>
            <a:r>
              <a:rPr sz="1500" b="1" dirty="0">
                <a:latin typeface="Tahoma"/>
                <a:cs typeface="Tahoma"/>
              </a:rPr>
              <a:t>los</a:t>
            </a:r>
            <a:r>
              <a:rPr sz="1500" b="1" spc="50" dirty="0">
                <a:latin typeface="Tahoma"/>
                <a:cs typeface="Tahoma"/>
              </a:rPr>
              <a:t> </a:t>
            </a:r>
            <a:r>
              <a:rPr sz="1500" b="1" spc="-10" dirty="0">
                <a:latin typeface="Tahoma"/>
                <a:cs typeface="Tahoma"/>
              </a:rPr>
              <a:t>datos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087239" y="3523869"/>
            <a:ext cx="6187440" cy="1626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Verdana"/>
                <a:cs typeface="Verdana"/>
              </a:rPr>
              <a:t>La</a:t>
            </a:r>
            <a:r>
              <a:rPr sz="1500" spc="-5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comprensión</a:t>
            </a:r>
            <a:r>
              <a:rPr sz="1500" spc="-7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de</a:t>
            </a:r>
            <a:r>
              <a:rPr sz="1500" spc="-70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los</a:t>
            </a:r>
            <a:r>
              <a:rPr sz="1500" spc="-3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datos</a:t>
            </a:r>
            <a:r>
              <a:rPr sz="1500" spc="-50" dirty="0">
                <a:latin typeface="Verdana"/>
                <a:cs typeface="Verdana"/>
              </a:rPr>
              <a:t> </a:t>
            </a:r>
            <a:r>
              <a:rPr sz="1500" spc="-35" dirty="0">
                <a:latin typeface="Verdana"/>
                <a:cs typeface="Verdana"/>
              </a:rPr>
              <a:t>se</a:t>
            </a:r>
            <a:r>
              <a:rPr sz="1500" spc="-4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encarga</a:t>
            </a:r>
            <a:r>
              <a:rPr sz="1500" spc="-6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de</a:t>
            </a:r>
            <a:r>
              <a:rPr sz="1500" spc="-65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la</a:t>
            </a:r>
            <a:r>
              <a:rPr sz="1500" spc="-4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recolección</a:t>
            </a:r>
            <a:r>
              <a:rPr sz="1500" spc="-60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de </a:t>
            </a:r>
            <a:r>
              <a:rPr sz="1500" dirty="0">
                <a:latin typeface="Verdana"/>
                <a:cs typeface="Verdana"/>
              </a:rPr>
              <a:t>datos</a:t>
            </a:r>
            <a:r>
              <a:rPr sz="1500" spc="-6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inicial</a:t>
            </a:r>
            <a:r>
              <a:rPr sz="1500" spc="-85" dirty="0">
                <a:latin typeface="Verdana"/>
                <a:cs typeface="Verdana"/>
              </a:rPr>
              <a:t> y</a:t>
            </a:r>
            <a:r>
              <a:rPr sz="1500" spc="-5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continúa</a:t>
            </a:r>
            <a:r>
              <a:rPr sz="1500" spc="-5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con</a:t>
            </a:r>
            <a:r>
              <a:rPr sz="1500" spc="-60" dirty="0">
                <a:latin typeface="Verdana"/>
                <a:cs typeface="Verdana"/>
              </a:rPr>
              <a:t> </a:t>
            </a:r>
            <a:r>
              <a:rPr sz="1500" spc="-35" dirty="0">
                <a:latin typeface="Verdana"/>
                <a:cs typeface="Verdana"/>
              </a:rPr>
              <a:t>las</a:t>
            </a:r>
            <a:r>
              <a:rPr sz="1500" spc="-5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actividades</a:t>
            </a:r>
            <a:r>
              <a:rPr sz="1500" spc="-9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que</a:t>
            </a:r>
            <a:r>
              <a:rPr sz="1500" spc="-65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permiten </a:t>
            </a:r>
            <a:r>
              <a:rPr sz="1500" spc="-20" dirty="0">
                <a:latin typeface="Verdana"/>
                <a:cs typeface="Verdana"/>
              </a:rPr>
              <a:t>familiarizarse</a:t>
            </a:r>
            <a:r>
              <a:rPr sz="1500" spc="-10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primero</a:t>
            </a:r>
            <a:r>
              <a:rPr sz="1500" spc="-8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con</a:t>
            </a:r>
            <a:r>
              <a:rPr sz="1500" spc="-35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los</a:t>
            </a:r>
            <a:r>
              <a:rPr sz="1500" spc="-45" dirty="0">
                <a:latin typeface="Verdana"/>
                <a:cs typeface="Verdana"/>
              </a:rPr>
              <a:t> </a:t>
            </a:r>
            <a:r>
              <a:rPr sz="1500" spc="-40" dirty="0">
                <a:latin typeface="Verdana"/>
                <a:cs typeface="Verdana"/>
              </a:rPr>
              <a:t>datos,</a:t>
            </a:r>
            <a:r>
              <a:rPr sz="1500" spc="-6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identificar</a:t>
            </a:r>
            <a:r>
              <a:rPr sz="1500" spc="-80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sus</a:t>
            </a:r>
            <a:r>
              <a:rPr sz="1500" spc="-3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problemas</a:t>
            </a:r>
            <a:r>
              <a:rPr sz="1500" spc="-90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de </a:t>
            </a:r>
            <a:r>
              <a:rPr sz="1500" spc="-10" dirty="0">
                <a:latin typeface="Verdana"/>
                <a:cs typeface="Verdana"/>
              </a:rPr>
              <a:t>calidad,</a:t>
            </a:r>
            <a:r>
              <a:rPr sz="1500" spc="-6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descubrir</a:t>
            </a:r>
            <a:r>
              <a:rPr sz="1500" spc="-2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conocimiento</a:t>
            </a:r>
            <a:r>
              <a:rPr sz="1500" spc="-5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preliminar</a:t>
            </a:r>
            <a:r>
              <a:rPr sz="1500" spc="-7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en</a:t>
            </a:r>
            <a:r>
              <a:rPr sz="1500" spc="-35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los</a:t>
            </a:r>
            <a:r>
              <a:rPr sz="1500" spc="-25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mismos,</a:t>
            </a:r>
            <a:r>
              <a:rPr sz="1500" spc="-50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y/o </a:t>
            </a:r>
            <a:r>
              <a:rPr sz="1500" dirty="0">
                <a:latin typeface="Verdana"/>
                <a:cs typeface="Verdana"/>
              </a:rPr>
              <a:t>descubrir</a:t>
            </a:r>
            <a:r>
              <a:rPr sz="1500" spc="-13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subconjuntos</a:t>
            </a:r>
            <a:r>
              <a:rPr sz="1500" spc="-8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interesantes</a:t>
            </a:r>
            <a:r>
              <a:rPr sz="1500" spc="-14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para</a:t>
            </a:r>
            <a:r>
              <a:rPr sz="1500" spc="-11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formular</a:t>
            </a:r>
            <a:r>
              <a:rPr sz="1500" spc="-11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hipótesis.</a:t>
            </a:r>
            <a:r>
              <a:rPr sz="1500" spc="275" dirty="0">
                <a:latin typeface="Verdana"/>
                <a:cs typeface="Verdana"/>
              </a:rPr>
              <a:t> </a:t>
            </a:r>
            <a:r>
              <a:rPr sz="1500" spc="30" dirty="0">
                <a:latin typeface="Verdana"/>
                <a:cs typeface="Verdana"/>
              </a:rPr>
              <a:t>En </a:t>
            </a:r>
            <a:r>
              <a:rPr sz="1500" spc="-20" dirty="0">
                <a:latin typeface="Verdana"/>
                <a:cs typeface="Verdana"/>
              </a:rPr>
              <a:t>esta</a:t>
            </a:r>
            <a:r>
              <a:rPr sz="1500" spc="-55" dirty="0">
                <a:latin typeface="Verdana"/>
                <a:cs typeface="Verdana"/>
              </a:rPr>
              <a:t> </a:t>
            </a:r>
            <a:r>
              <a:rPr sz="1500" spc="-30" dirty="0">
                <a:latin typeface="Verdana"/>
                <a:cs typeface="Verdana"/>
              </a:rPr>
              <a:t>fase</a:t>
            </a:r>
            <a:r>
              <a:rPr sz="1500" spc="-55" dirty="0">
                <a:latin typeface="Verdana"/>
                <a:cs typeface="Verdana"/>
              </a:rPr>
              <a:t> </a:t>
            </a:r>
            <a:r>
              <a:rPr sz="1500" spc="-35" dirty="0">
                <a:latin typeface="Verdana"/>
                <a:cs typeface="Verdana"/>
              </a:rPr>
              <a:t>se</a:t>
            </a:r>
            <a:r>
              <a:rPr sz="1500" spc="-5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tienen</a:t>
            </a:r>
            <a:r>
              <a:rPr sz="1500" spc="-11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en</a:t>
            </a:r>
            <a:r>
              <a:rPr sz="1500" spc="-6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cuenta</a:t>
            </a:r>
            <a:r>
              <a:rPr sz="1500" spc="-5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también</a:t>
            </a:r>
            <a:r>
              <a:rPr sz="1500" spc="-90" dirty="0">
                <a:latin typeface="Verdana"/>
                <a:cs typeface="Verdana"/>
              </a:rPr>
              <a:t> </a:t>
            </a:r>
            <a:r>
              <a:rPr sz="1500" spc="-35" dirty="0">
                <a:latin typeface="Verdana"/>
                <a:cs typeface="Verdana"/>
              </a:rPr>
              <a:t>las</a:t>
            </a:r>
            <a:r>
              <a:rPr sz="1500" spc="-5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fuentes</a:t>
            </a:r>
            <a:r>
              <a:rPr sz="1500" spc="-7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de</a:t>
            </a:r>
            <a:r>
              <a:rPr sz="1500" spc="-5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datos</a:t>
            </a:r>
            <a:r>
              <a:rPr sz="1500" spc="-60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que </a:t>
            </a:r>
            <a:r>
              <a:rPr sz="1500" spc="-10" dirty="0">
                <a:latin typeface="Verdana"/>
                <a:cs typeface="Verdana"/>
              </a:rPr>
              <a:t>hasta</a:t>
            </a:r>
            <a:r>
              <a:rPr sz="1500" spc="-9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el</a:t>
            </a:r>
            <a:r>
              <a:rPr sz="1500" spc="-100" dirty="0">
                <a:latin typeface="Verdana"/>
                <a:cs typeface="Verdana"/>
              </a:rPr>
              <a:t> </a:t>
            </a:r>
            <a:r>
              <a:rPr sz="1500" spc="50" dirty="0">
                <a:latin typeface="Verdana"/>
                <a:cs typeface="Verdana"/>
              </a:rPr>
              <a:t>momento</a:t>
            </a:r>
            <a:r>
              <a:rPr sz="1500" spc="-13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no</a:t>
            </a:r>
            <a:r>
              <a:rPr sz="1500" spc="-95" dirty="0">
                <a:latin typeface="Verdana"/>
                <a:cs typeface="Verdana"/>
              </a:rPr>
              <a:t> </a:t>
            </a:r>
            <a:r>
              <a:rPr sz="1500" spc="-35" dirty="0">
                <a:latin typeface="Verdana"/>
                <a:cs typeface="Verdana"/>
              </a:rPr>
              <a:t>se</a:t>
            </a:r>
            <a:r>
              <a:rPr sz="1500" spc="-9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estaban</a:t>
            </a:r>
            <a:r>
              <a:rPr sz="1500" spc="-11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utilizando</a:t>
            </a:r>
            <a:r>
              <a:rPr sz="1500" spc="-135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(fuentes</a:t>
            </a:r>
            <a:r>
              <a:rPr sz="1500" spc="-105" dirty="0">
                <a:latin typeface="Verdana"/>
                <a:cs typeface="Verdana"/>
              </a:rPr>
              <a:t> </a:t>
            </a:r>
            <a:r>
              <a:rPr sz="1500" spc="-45" dirty="0">
                <a:latin typeface="Verdana"/>
                <a:cs typeface="Verdana"/>
              </a:rPr>
              <a:t>externas,</a:t>
            </a:r>
            <a:r>
              <a:rPr sz="1500" spc="-130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…).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17424" y="6623710"/>
            <a:ext cx="499300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</a:rPr>
              <a:t>Shearer</a:t>
            </a:r>
            <a:r>
              <a:rPr sz="800" i="1" spc="-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55" dirty="0">
                <a:solidFill>
                  <a:srgbClr val="393939"/>
                </a:solidFill>
                <a:latin typeface="Verdana"/>
                <a:cs typeface="Verdana"/>
              </a:rPr>
              <a:t>C.</a:t>
            </a:r>
            <a:r>
              <a:rPr sz="800" i="1" spc="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55" dirty="0">
                <a:solidFill>
                  <a:srgbClr val="393939"/>
                </a:solidFill>
                <a:latin typeface="Verdana"/>
                <a:cs typeface="Verdana"/>
              </a:rPr>
              <a:t>(2000).</a:t>
            </a:r>
            <a:r>
              <a:rPr sz="800" i="1" spc="-4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The</a:t>
            </a:r>
            <a:r>
              <a:rPr sz="800" i="1" spc="1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25" dirty="0">
                <a:solidFill>
                  <a:srgbClr val="393939"/>
                </a:solidFill>
                <a:latin typeface="Verdana"/>
                <a:cs typeface="Verdana"/>
              </a:rPr>
              <a:t>CRISP-</a:t>
            </a:r>
            <a:r>
              <a:rPr sz="800" i="1" spc="65" dirty="0">
                <a:solidFill>
                  <a:srgbClr val="393939"/>
                </a:solidFill>
                <a:latin typeface="Verdana"/>
                <a:cs typeface="Verdana"/>
              </a:rPr>
              <a:t>DM</a:t>
            </a:r>
            <a:r>
              <a:rPr sz="800" i="1" spc="-3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25" dirty="0">
                <a:solidFill>
                  <a:srgbClr val="393939"/>
                </a:solidFill>
                <a:latin typeface="Verdana"/>
                <a:cs typeface="Verdana"/>
              </a:rPr>
              <a:t>model:</a:t>
            </a: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the</a:t>
            </a: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new</a:t>
            </a:r>
            <a:r>
              <a:rPr sz="800" i="1" spc="-2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blueprint</a:t>
            </a:r>
            <a:r>
              <a:rPr sz="800" i="1" spc="-2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</a:rPr>
              <a:t>for</a:t>
            </a:r>
            <a:r>
              <a:rPr sz="800" i="1" spc="-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data</a:t>
            </a:r>
            <a:r>
              <a:rPr sz="800" i="1" spc="-2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mining,</a:t>
            </a:r>
            <a:r>
              <a:rPr sz="800" i="1" spc="-2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J</a:t>
            </a:r>
            <a:r>
              <a:rPr sz="800" i="1" spc="-1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Data</a:t>
            </a:r>
            <a:r>
              <a:rPr sz="800" i="1" spc="-2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</a:rPr>
              <a:t>Warehousing.</a:t>
            </a:r>
            <a:endParaRPr sz="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85" dirty="0"/>
              <a:t>Minería</a:t>
            </a:r>
            <a:r>
              <a:rPr spc="-35" dirty="0"/>
              <a:t> </a:t>
            </a:r>
            <a:r>
              <a:rPr spc="195" dirty="0"/>
              <a:t>de</a:t>
            </a:r>
            <a:r>
              <a:rPr spc="-25" dirty="0"/>
              <a:t> </a:t>
            </a:r>
            <a:r>
              <a:rPr spc="90" dirty="0"/>
              <a:t>datos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73777" y="2459482"/>
            <a:ext cx="40887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2CDAFF"/>
                </a:solidFill>
                <a:latin typeface="Verdana"/>
                <a:cs typeface="Verdana"/>
              </a:rPr>
              <a:t>Metodología</a:t>
            </a:r>
            <a:r>
              <a:rPr sz="2000" spc="5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rgbClr val="2CDAFF"/>
                </a:solidFill>
                <a:latin typeface="Verdana"/>
                <a:cs typeface="Verdana"/>
              </a:rPr>
              <a:t>CRISP-</a:t>
            </a:r>
            <a:r>
              <a:rPr sz="2000" spc="-65" dirty="0">
                <a:solidFill>
                  <a:srgbClr val="2CDAFF"/>
                </a:solidFill>
                <a:latin typeface="Verdana"/>
                <a:cs typeface="Verdana"/>
              </a:rPr>
              <a:t>DM:</a:t>
            </a:r>
            <a:r>
              <a:rPr sz="2000" spc="15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CDAFF"/>
                </a:solidFill>
                <a:latin typeface="Verdana"/>
                <a:cs typeface="Verdana"/>
              </a:rPr>
              <a:t>etapa</a:t>
            </a:r>
            <a:r>
              <a:rPr sz="2000" spc="2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2CDAFF"/>
                </a:solidFill>
                <a:latin typeface="Verdana"/>
                <a:cs typeface="Verdana"/>
              </a:rPr>
              <a:t>3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3400" y="2540507"/>
            <a:ext cx="4099560" cy="4098290"/>
            <a:chOff x="533400" y="2540507"/>
            <a:chExt cx="4099560" cy="409829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3400" y="2540507"/>
              <a:ext cx="4099560" cy="40980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08476" y="4143755"/>
              <a:ext cx="563879" cy="56540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32760" y="3319271"/>
              <a:ext cx="522732" cy="52425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01923" y="5109972"/>
              <a:ext cx="582168" cy="58216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10055" y="4416551"/>
              <a:ext cx="486156" cy="48768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20239" y="5251703"/>
              <a:ext cx="496824" cy="4953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28216" y="3361943"/>
              <a:ext cx="486156" cy="48767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617725" y="3912489"/>
            <a:ext cx="701040" cy="345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Verdana"/>
                <a:cs typeface="Verdana"/>
              </a:rPr>
              <a:t>1.</a:t>
            </a:r>
            <a:endParaRPr sz="7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sz="700" spc="-10" dirty="0">
                <a:latin typeface="Verdana"/>
                <a:cs typeface="Verdana"/>
              </a:rPr>
              <a:t>Entendimiento</a:t>
            </a:r>
            <a:endParaRPr sz="700">
              <a:latin typeface="Verdana"/>
              <a:cs typeface="Verdana"/>
            </a:endParaRPr>
          </a:p>
          <a:p>
            <a:pPr marL="1270" algn="ctr">
              <a:lnSpc>
                <a:spcPct val="100000"/>
              </a:lnSpc>
              <a:spcBef>
                <a:spcPts val="5"/>
              </a:spcBef>
            </a:pPr>
            <a:r>
              <a:rPr sz="700" dirty="0">
                <a:latin typeface="Verdana"/>
                <a:cs typeface="Verdana"/>
              </a:rPr>
              <a:t>de</a:t>
            </a:r>
            <a:r>
              <a:rPr sz="700" spc="-20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negocio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96616" y="3912489"/>
            <a:ext cx="7937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700" spc="-85" dirty="0">
                <a:latin typeface="Verdana"/>
                <a:cs typeface="Verdana"/>
              </a:rPr>
              <a:t>2.</a:t>
            </a:r>
            <a:r>
              <a:rPr sz="700" spc="-55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Entendimiento</a:t>
            </a:r>
            <a:endParaRPr sz="700">
              <a:latin typeface="Verdana"/>
              <a:cs typeface="Verdana"/>
            </a:endParaRPr>
          </a:p>
          <a:p>
            <a:pPr marL="1905" algn="ctr">
              <a:lnSpc>
                <a:spcPct val="100000"/>
              </a:lnSpc>
            </a:pPr>
            <a:r>
              <a:rPr sz="700" dirty="0">
                <a:latin typeface="Verdana"/>
                <a:cs typeface="Verdana"/>
              </a:rPr>
              <a:t>de</a:t>
            </a:r>
            <a:r>
              <a:rPr sz="700" spc="-25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los</a:t>
            </a:r>
            <a:r>
              <a:rPr sz="700" spc="-55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datos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43654" y="4741290"/>
            <a:ext cx="65849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4135" marR="5080" indent="-52069">
              <a:lnSpc>
                <a:spcPct val="100000"/>
              </a:lnSpc>
              <a:spcBef>
                <a:spcPts val="95"/>
              </a:spcBef>
            </a:pPr>
            <a:r>
              <a:rPr sz="700" spc="-85" dirty="0">
                <a:latin typeface="Verdana"/>
                <a:cs typeface="Verdana"/>
              </a:rPr>
              <a:t>3.</a:t>
            </a:r>
            <a:r>
              <a:rPr sz="700" spc="-55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Preparación </a:t>
            </a:r>
            <a:r>
              <a:rPr sz="700" dirty="0">
                <a:latin typeface="Verdana"/>
                <a:cs typeface="Verdana"/>
              </a:rPr>
              <a:t>de</a:t>
            </a:r>
            <a:r>
              <a:rPr sz="700" spc="-30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los</a:t>
            </a:r>
            <a:r>
              <a:rPr sz="700" spc="-50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datos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74238" y="5732475"/>
            <a:ext cx="64452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0" dirty="0">
                <a:latin typeface="Verdana"/>
                <a:cs typeface="Verdana"/>
              </a:rPr>
              <a:t>4. </a:t>
            </a:r>
            <a:r>
              <a:rPr sz="700" spc="-10" dirty="0">
                <a:latin typeface="Verdana"/>
                <a:cs typeface="Verdana"/>
              </a:rPr>
              <a:t>Modelación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53564" y="5785205"/>
            <a:ext cx="60198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85" dirty="0">
                <a:latin typeface="Verdana"/>
                <a:cs typeface="Verdana"/>
              </a:rPr>
              <a:t>5.</a:t>
            </a:r>
            <a:r>
              <a:rPr sz="700" spc="-55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Evaluación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38529" y="4895215"/>
            <a:ext cx="62738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70" dirty="0">
                <a:latin typeface="Verdana"/>
                <a:cs typeface="Verdana"/>
              </a:rPr>
              <a:t>6.</a:t>
            </a:r>
            <a:r>
              <a:rPr sz="700" spc="-45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Despliegue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563624" y="3533775"/>
            <a:ext cx="2609215" cy="2070100"/>
          </a:xfrm>
          <a:custGeom>
            <a:avLst/>
            <a:gdLst/>
            <a:ahLst/>
            <a:cxnLst/>
            <a:rect l="l" t="t" r="r" b="b"/>
            <a:pathLst>
              <a:path w="2609215" h="2070100">
                <a:moveTo>
                  <a:pt x="275717" y="1898015"/>
                </a:moveTo>
                <a:lnTo>
                  <a:pt x="120891" y="1673669"/>
                </a:lnTo>
                <a:lnTo>
                  <a:pt x="155016" y="1650111"/>
                </a:lnTo>
                <a:lnTo>
                  <a:pt x="167894" y="1641221"/>
                </a:lnTo>
                <a:lnTo>
                  <a:pt x="0" y="1548765"/>
                </a:lnTo>
                <a:lnTo>
                  <a:pt x="26797" y="1738630"/>
                </a:lnTo>
                <a:lnTo>
                  <a:pt x="73863" y="1706130"/>
                </a:lnTo>
                <a:lnTo>
                  <a:pt x="228600" y="1930400"/>
                </a:lnTo>
                <a:lnTo>
                  <a:pt x="275717" y="1898015"/>
                </a:lnTo>
                <a:close/>
              </a:path>
              <a:path w="2609215" h="2070100">
                <a:moveTo>
                  <a:pt x="538480" y="820420"/>
                </a:moveTo>
                <a:lnTo>
                  <a:pt x="523963" y="796036"/>
                </a:lnTo>
                <a:lnTo>
                  <a:pt x="440436" y="655701"/>
                </a:lnTo>
                <a:lnTo>
                  <a:pt x="367538" y="832993"/>
                </a:lnTo>
                <a:lnTo>
                  <a:pt x="424497" y="828814"/>
                </a:lnTo>
                <a:lnTo>
                  <a:pt x="480822" y="1595247"/>
                </a:lnTo>
                <a:lnTo>
                  <a:pt x="537845" y="1591056"/>
                </a:lnTo>
                <a:lnTo>
                  <a:pt x="481520" y="824611"/>
                </a:lnTo>
                <a:lnTo>
                  <a:pt x="538480" y="820420"/>
                </a:lnTo>
                <a:close/>
              </a:path>
              <a:path w="2609215" h="2070100">
                <a:moveTo>
                  <a:pt x="1422146" y="85725"/>
                </a:moveTo>
                <a:lnTo>
                  <a:pt x="1364996" y="57150"/>
                </a:lnTo>
                <a:lnTo>
                  <a:pt x="1250696" y="0"/>
                </a:lnTo>
                <a:lnTo>
                  <a:pt x="1250696" y="57150"/>
                </a:lnTo>
                <a:lnTo>
                  <a:pt x="968502" y="57150"/>
                </a:lnTo>
                <a:lnTo>
                  <a:pt x="968502" y="0"/>
                </a:lnTo>
                <a:lnTo>
                  <a:pt x="797052" y="85725"/>
                </a:lnTo>
                <a:lnTo>
                  <a:pt x="968502" y="171450"/>
                </a:lnTo>
                <a:lnTo>
                  <a:pt x="968502" y="114300"/>
                </a:lnTo>
                <a:lnTo>
                  <a:pt x="1250696" y="114300"/>
                </a:lnTo>
                <a:lnTo>
                  <a:pt x="1250696" y="171450"/>
                </a:lnTo>
                <a:lnTo>
                  <a:pt x="1364996" y="114300"/>
                </a:lnTo>
                <a:lnTo>
                  <a:pt x="1422146" y="85725"/>
                </a:lnTo>
                <a:close/>
              </a:path>
              <a:path w="2609215" h="2070100">
                <a:moveTo>
                  <a:pt x="1473454" y="1956816"/>
                </a:moveTo>
                <a:lnTo>
                  <a:pt x="1128649" y="1955292"/>
                </a:lnTo>
                <a:lnTo>
                  <a:pt x="1128903" y="1898142"/>
                </a:lnTo>
                <a:lnTo>
                  <a:pt x="957072" y="1983105"/>
                </a:lnTo>
                <a:lnTo>
                  <a:pt x="1128141" y="2069604"/>
                </a:lnTo>
                <a:lnTo>
                  <a:pt x="1128382" y="2013966"/>
                </a:lnTo>
                <a:lnTo>
                  <a:pt x="1128395" y="2012442"/>
                </a:lnTo>
                <a:lnTo>
                  <a:pt x="1473200" y="2013966"/>
                </a:lnTo>
                <a:lnTo>
                  <a:pt x="1473327" y="1983105"/>
                </a:lnTo>
                <a:lnTo>
                  <a:pt x="1473454" y="1956816"/>
                </a:lnTo>
                <a:close/>
              </a:path>
              <a:path w="2609215" h="2070100">
                <a:moveTo>
                  <a:pt x="2527681" y="501523"/>
                </a:moveTo>
                <a:lnTo>
                  <a:pt x="2501138" y="419735"/>
                </a:lnTo>
                <a:lnTo>
                  <a:pt x="2468499" y="319151"/>
                </a:lnTo>
                <a:lnTo>
                  <a:pt x="2427757" y="359257"/>
                </a:lnTo>
                <a:lnTo>
                  <a:pt x="2138680" y="65671"/>
                </a:lnTo>
                <a:lnTo>
                  <a:pt x="2098040" y="105791"/>
                </a:lnTo>
                <a:lnTo>
                  <a:pt x="2387054" y="399326"/>
                </a:lnTo>
                <a:lnTo>
                  <a:pt x="2346325" y="439420"/>
                </a:lnTo>
                <a:lnTo>
                  <a:pt x="2527681" y="501523"/>
                </a:lnTo>
                <a:close/>
              </a:path>
              <a:path w="2609215" h="2070100">
                <a:moveTo>
                  <a:pt x="2609215" y="1484757"/>
                </a:moveTo>
                <a:lnTo>
                  <a:pt x="2443988" y="1581912"/>
                </a:lnTo>
                <a:lnTo>
                  <a:pt x="2491892" y="1613027"/>
                </a:lnTo>
                <a:lnTo>
                  <a:pt x="2366060" y="1806765"/>
                </a:lnTo>
                <a:lnTo>
                  <a:pt x="2318131" y="1775587"/>
                </a:lnTo>
                <a:lnTo>
                  <a:pt x="2296668" y="1966087"/>
                </a:lnTo>
                <a:lnTo>
                  <a:pt x="2461895" y="1869059"/>
                </a:lnTo>
                <a:lnTo>
                  <a:pt x="2450757" y="1861820"/>
                </a:lnTo>
                <a:lnTo>
                  <a:pt x="2413939" y="1837893"/>
                </a:lnTo>
                <a:lnTo>
                  <a:pt x="2539784" y="1644129"/>
                </a:lnTo>
                <a:lnTo>
                  <a:pt x="2587752" y="1675257"/>
                </a:lnTo>
                <a:lnTo>
                  <a:pt x="2597467" y="1589024"/>
                </a:lnTo>
                <a:lnTo>
                  <a:pt x="2609215" y="1484757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582672" y="4449902"/>
            <a:ext cx="5969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30" dirty="0">
                <a:latin typeface="Tahoma"/>
                <a:cs typeface="Tahoma"/>
              </a:rPr>
              <a:t>Data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87239" y="3066669"/>
            <a:ext cx="3348354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Tahoma"/>
                <a:cs typeface="Tahoma"/>
              </a:rPr>
              <a:t>Etapa</a:t>
            </a:r>
            <a:r>
              <a:rPr sz="1500" b="1" spc="155" dirty="0">
                <a:latin typeface="Tahoma"/>
                <a:cs typeface="Tahoma"/>
              </a:rPr>
              <a:t> </a:t>
            </a:r>
            <a:r>
              <a:rPr sz="1500" b="1" spc="-114" dirty="0">
                <a:latin typeface="Tahoma"/>
                <a:cs typeface="Tahoma"/>
              </a:rPr>
              <a:t>3:</a:t>
            </a:r>
            <a:r>
              <a:rPr sz="1500" b="1" spc="114" dirty="0">
                <a:latin typeface="Tahoma"/>
                <a:cs typeface="Tahoma"/>
              </a:rPr>
              <a:t> </a:t>
            </a:r>
            <a:r>
              <a:rPr sz="1500" b="1" dirty="0">
                <a:latin typeface="Tahoma"/>
                <a:cs typeface="Tahoma"/>
              </a:rPr>
              <a:t>Preparación</a:t>
            </a:r>
            <a:r>
              <a:rPr sz="1500" b="1" spc="155" dirty="0">
                <a:latin typeface="Tahoma"/>
                <a:cs typeface="Tahoma"/>
              </a:rPr>
              <a:t> </a:t>
            </a:r>
            <a:r>
              <a:rPr sz="1500" b="1" spc="65" dirty="0">
                <a:latin typeface="Tahoma"/>
                <a:cs typeface="Tahoma"/>
              </a:rPr>
              <a:t>de</a:t>
            </a:r>
            <a:r>
              <a:rPr sz="1500" b="1" spc="135" dirty="0">
                <a:latin typeface="Tahoma"/>
                <a:cs typeface="Tahoma"/>
              </a:rPr>
              <a:t> </a:t>
            </a:r>
            <a:r>
              <a:rPr sz="1500" b="1" dirty="0">
                <a:latin typeface="Tahoma"/>
                <a:cs typeface="Tahoma"/>
              </a:rPr>
              <a:t>los</a:t>
            </a:r>
            <a:r>
              <a:rPr sz="1500" b="1" spc="135" dirty="0">
                <a:latin typeface="Tahoma"/>
                <a:cs typeface="Tahoma"/>
              </a:rPr>
              <a:t> </a:t>
            </a:r>
            <a:r>
              <a:rPr sz="1500" b="1" spc="-20" dirty="0">
                <a:latin typeface="Tahoma"/>
                <a:cs typeface="Tahoma"/>
              </a:rPr>
              <a:t>datos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087239" y="3523869"/>
            <a:ext cx="624903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Verdana"/>
                <a:cs typeface="Verdana"/>
              </a:rPr>
              <a:t>La</a:t>
            </a:r>
            <a:r>
              <a:rPr sz="1500" spc="-80" dirty="0">
                <a:latin typeface="Verdana"/>
                <a:cs typeface="Verdana"/>
              </a:rPr>
              <a:t> </a:t>
            </a:r>
            <a:r>
              <a:rPr sz="1500" spc="-30" dirty="0">
                <a:latin typeface="Verdana"/>
                <a:cs typeface="Verdana"/>
              </a:rPr>
              <a:t>fase</a:t>
            </a:r>
            <a:r>
              <a:rPr sz="1500" spc="-6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de</a:t>
            </a:r>
            <a:r>
              <a:rPr sz="1500" spc="-9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preparación</a:t>
            </a:r>
            <a:r>
              <a:rPr sz="1500" spc="-11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de</a:t>
            </a:r>
            <a:r>
              <a:rPr sz="1500" spc="-85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los</a:t>
            </a:r>
            <a:r>
              <a:rPr sz="1500" spc="-7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datos</a:t>
            </a:r>
            <a:r>
              <a:rPr sz="1500" spc="-8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cubre</a:t>
            </a:r>
            <a:r>
              <a:rPr sz="1500" spc="-7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todas</a:t>
            </a:r>
            <a:r>
              <a:rPr sz="1500" spc="-80" dirty="0">
                <a:latin typeface="Verdana"/>
                <a:cs typeface="Verdana"/>
              </a:rPr>
              <a:t> </a:t>
            </a:r>
            <a:r>
              <a:rPr sz="1500" spc="-35" dirty="0">
                <a:latin typeface="Verdana"/>
                <a:cs typeface="Verdana"/>
              </a:rPr>
              <a:t>las</a:t>
            </a:r>
            <a:r>
              <a:rPr sz="1500" spc="-8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actividades necesarias</a:t>
            </a:r>
            <a:r>
              <a:rPr sz="1500" spc="-114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para</a:t>
            </a:r>
            <a:r>
              <a:rPr sz="1500" spc="-10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construir</a:t>
            </a:r>
            <a:r>
              <a:rPr sz="1500" spc="-8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el</a:t>
            </a:r>
            <a:r>
              <a:rPr sz="1500" spc="-10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conjunto</a:t>
            </a:r>
            <a:r>
              <a:rPr sz="1500" spc="-8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de</a:t>
            </a:r>
            <a:r>
              <a:rPr sz="1500" spc="-114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datos</a:t>
            </a:r>
            <a:r>
              <a:rPr sz="1500" spc="-8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final</a:t>
            </a:r>
            <a:r>
              <a:rPr sz="1500" spc="-100" dirty="0">
                <a:latin typeface="Verdana"/>
                <a:cs typeface="Verdana"/>
              </a:rPr>
              <a:t> </a:t>
            </a:r>
            <a:r>
              <a:rPr sz="1500" spc="-65" dirty="0">
                <a:latin typeface="Verdana"/>
                <a:cs typeface="Verdana"/>
              </a:rPr>
              <a:t>(los</a:t>
            </a:r>
            <a:r>
              <a:rPr sz="1500" spc="-11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datos</a:t>
            </a:r>
            <a:r>
              <a:rPr sz="1500" spc="-80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que </a:t>
            </a:r>
            <a:r>
              <a:rPr sz="1500" spc="-20" dirty="0">
                <a:latin typeface="Verdana"/>
                <a:cs typeface="Verdana"/>
              </a:rPr>
              <a:t>serán</a:t>
            </a:r>
            <a:r>
              <a:rPr sz="1500" spc="-125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provistos</a:t>
            </a:r>
            <a:r>
              <a:rPr sz="1500" spc="-12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por</a:t>
            </a:r>
            <a:r>
              <a:rPr sz="1500" spc="-114" dirty="0">
                <a:latin typeface="Verdana"/>
                <a:cs typeface="Verdana"/>
              </a:rPr>
              <a:t> </a:t>
            </a:r>
            <a:r>
              <a:rPr sz="1500" spc="-35" dirty="0">
                <a:latin typeface="Verdana"/>
                <a:cs typeface="Verdana"/>
              </a:rPr>
              <a:t>las</a:t>
            </a:r>
            <a:r>
              <a:rPr sz="1500" spc="-114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herramientas</a:t>
            </a:r>
            <a:r>
              <a:rPr sz="1500" spc="-13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de</a:t>
            </a:r>
            <a:r>
              <a:rPr sz="1500" spc="-12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modelado).</a:t>
            </a:r>
            <a:r>
              <a:rPr sz="1500" spc="270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Las</a:t>
            </a:r>
            <a:r>
              <a:rPr sz="1500" spc="-114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tareas</a:t>
            </a:r>
            <a:r>
              <a:rPr sz="1500" spc="-110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de </a:t>
            </a:r>
            <a:r>
              <a:rPr sz="1500" dirty="0">
                <a:latin typeface="Verdana"/>
                <a:cs typeface="Verdana"/>
              </a:rPr>
              <a:t>preparación</a:t>
            </a:r>
            <a:r>
              <a:rPr sz="1500" spc="-9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incluyen</a:t>
            </a:r>
            <a:r>
              <a:rPr sz="1500" spc="-105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la</a:t>
            </a:r>
            <a:r>
              <a:rPr sz="1500" spc="-6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selección</a:t>
            </a:r>
            <a:r>
              <a:rPr sz="1500" spc="-8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de</a:t>
            </a:r>
            <a:r>
              <a:rPr sz="1500" spc="-70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los</a:t>
            </a:r>
            <a:r>
              <a:rPr sz="1500" spc="-65" dirty="0">
                <a:latin typeface="Verdana"/>
                <a:cs typeface="Verdana"/>
              </a:rPr>
              <a:t> </a:t>
            </a:r>
            <a:r>
              <a:rPr sz="1500" spc="-40" dirty="0">
                <a:latin typeface="Verdana"/>
                <a:cs typeface="Verdana"/>
              </a:rPr>
              <a:t>datos,</a:t>
            </a:r>
            <a:r>
              <a:rPr sz="1500" spc="-60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la</a:t>
            </a:r>
            <a:r>
              <a:rPr sz="1500" spc="-7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limpieza</a:t>
            </a:r>
            <a:r>
              <a:rPr sz="1500" spc="-85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de </a:t>
            </a:r>
            <a:r>
              <a:rPr sz="1500" spc="-60" dirty="0">
                <a:latin typeface="Verdana"/>
                <a:cs typeface="Verdana"/>
              </a:rPr>
              <a:t>éstos,</a:t>
            </a:r>
            <a:r>
              <a:rPr sz="1500" spc="-65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la</a:t>
            </a:r>
            <a:r>
              <a:rPr sz="1500" spc="-4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construcción</a:t>
            </a:r>
            <a:r>
              <a:rPr sz="1500" spc="-2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de</a:t>
            </a:r>
            <a:r>
              <a:rPr sz="1500" spc="-6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nuevas</a:t>
            </a:r>
            <a:r>
              <a:rPr sz="1500" spc="-65" dirty="0">
                <a:latin typeface="Verdana"/>
                <a:cs typeface="Verdana"/>
              </a:rPr>
              <a:t> </a:t>
            </a:r>
            <a:r>
              <a:rPr sz="1500" spc="-45" dirty="0">
                <a:latin typeface="Verdana"/>
                <a:cs typeface="Verdana"/>
              </a:rPr>
              <a:t>variables,</a:t>
            </a:r>
            <a:r>
              <a:rPr sz="1500" spc="-105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la</a:t>
            </a:r>
            <a:r>
              <a:rPr sz="1500" spc="-4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integración</a:t>
            </a:r>
            <a:r>
              <a:rPr sz="1500" spc="-9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de</a:t>
            </a:r>
            <a:r>
              <a:rPr sz="1500" spc="-60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los </a:t>
            </a:r>
            <a:r>
              <a:rPr sz="1500" dirty="0">
                <a:latin typeface="Verdana"/>
                <a:cs typeface="Verdana"/>
              </a:rPr>
              <a:t>datos</a:t>
            </a:r>
            <a:r>
              <a:rPr sz="1500" spc="-110" dirty="0">
                <a:latin typeface="Verdana"/>
                <a:cs typeface="Verdana"/>
              </a:rPr>
              <a:t> </a:t>
            </a:r>
            <a:r>
              <a:rPr sz="1500" spc="-85" dirty="0">
                <a:latin typeface="Verdana"/>
                <a:cs typeface="Verdana"/>
              </a:rPr>
              <a:t>y</a:t>
            </a:r>
            <a:r>
              <a:rPr sz="1500" spc="-10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el</a:t>
            </a:r>
            <a:r>
              <a:rPr sz="1500" spc="-11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formateo</a:t>
            </a:r>
            <a:r>
              <a:rPr sz="1500" spc="-114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de</a:t>
            </a:r>
            <a:r>
              <a:rPr sz="1500" spc="-110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los</a:t>
            </a:r>
            <a:r>
              <a:rPr sz="1500" spc="-10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mismos.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17424" y="6623710"/>
            <a:ext cx="499300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</a:rPr>
              <a:t>Shearer</a:t>
            </a:r>
            <a:r>
              <a:rPr sz="800" i="1" spc="-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55" dirty="0">
                <a:solidFill>
                  <a:srgbClr val="393939"/>
                </a:solidFill>
                <a:latin typeface="Verdana"/>
                <a:cs typeface="Verdana"/>
              </a:rPr>
              <a:t>C.</a:t>
            </a:r>
            <a:r>
              <a:rPr sz="800" i="1" spc="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55" dirty="0">
                <a:solidFill>
                  <a:srgbClr val="393939"/>
                </a:solidFill>
                <a:latin typeface="Verdana"/>
                <a:cs typeface="Verdana"/>
              </a:rPr>
              <a:t>(2000).</a:t>
            </a:r>
            <a:r>
              <a:rPr sz="800" i="1" spc="-4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The</a:t>
            </a:r>
            <a:r>
              <a:rPr sz="800" i="1" spc="1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25" dirty="0">
                <a:solidFill>
                  <a:srgbClr val="393939"/>
                </a:solidFill>
                <a:latin typeface="Verdana"/>
                <a:cs typeface="Verdana"/>
              </a:rPr>
              <a:t>CRISP-</a:t>
            </a:r>
            <a:r>
              <a:rPr sz="800" i="1" spc="65" dirty="0">
                <a:solidFill>
                  <a:srgbClr val="393939"/>
                </a:solidFill>
                <a:latin typeface="Verdana"/>
                <a:cs typeface="Verdana"/>
              </a:rPr>
              <a:t>DM</a:t>
            </a:r>
            <a:r>
              <a:rPr sz="800" i="1" spc="-3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25" dirty="0">
                <a:solidFill>
                  <a:srgbClr val="393939"/>
                </a:solidFill>
                <a:latin typeface="Verdana"/>
                <a:cs typeface="Verdana"/>
              </a:rPr>
              <a:t>model:</a:t>
            </a: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the</a:t>
            </a: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new</a:t>
            </a:r>
            <a:r>
              <a:rPr sz="800" i="1" spc="-2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blueprint</a:t>
            </a:r>
            <a:r>
              <a:rPr sz="800" i="1" spc="-2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</a:rPr>
              <a:t>for</a:t>
            </a:r>
            <a:r>
              <a:rPr sz="800" i="1" spc="-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data</a:t>
            </a:r>
            <a:r>
              <a:rPr sz="800" i="1" spc="-2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mining,</a:t>
            </a:r>
            <a:r>
              <a:rPr sz="800" i="1" spc="-2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J</a:t>
            </a:r>
            <a:r>
              <a:rPr sz="800" i="1" spc="-1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Data</a:t>
            </a:r>
            <a:r>
              <a:rPr sz="800" i="1" spc="-2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</a:rPr>
              <a:t>Warehousing.</a:t>
            </a:r>
            <a:endParaRPr sz="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85" dirty="0"/>
              <a:t>Minería</a:t>
            </a:r>
            <a:r>
              <a:rPr spc="-35" dirty="0"/>
              <a:t> </a:t>
            </a:r>
            <a:r>
              <a:rPr spc="195" dirty="0"/>
              <a:t>de</a:t>
            </a:r>
            <a:r>
              <a:rPr spc="-25" dirty="0"/>
              <a:t> </a:t>
            </a:r>
            <a:r>
              <a:rPr spc="90" dirty="0"/>
              <a:t>datos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73777" y="2459482"/>
            <a:ext cx="411352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2CDAFF"/>
                </a:solidFill>
                <a:latin typeface="Verdana"/>
                <a:cs typeface="Verdana"/>
              </a:rPr>
              <a:t>Metodología</a:t>
            </a:r>
            <a:r>
              <a:rPr sz="2000" spc="5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rgbClr val="2CDAFF"/>
                </a:solidFill>
                <a:latin typeface="Verdana"/>
                <a:cs typeface="Verdana"/>
              </a:rPr>
              <a:t>CRISP-</a:t>
            </a:r>
            <a:r>
              <a:rPr sz="2000" spc="-65" dirty="0">
                <a:solidFill>
                  <a:srgbClr val="2CDAFF"/>
                </a:solidFill>
                <a:latin typeface="Verdana"/>
                <a:cs typeface="Verdana"/>
              </a:rPr>
              <a:t>DM:</a:t>
            </a:r>
            <a:r>
              <a:rPr sz="2000" spc="15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CDAFF"/>
                </a:solidFill>
                <a:latin typeface="Verdana"/>
                <a:cs typeface="Verdana"/>
              </a:rPr>
              <a:t>etapa</a:t>
            </a:r>
            <a:r>
              <a:rPr sz="2000" spc="2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2CDAFF"/>
                </a:solidFill>
                <a:latin typeface="Verdana"/>
                <a:cs typeface="Verdana"/>
              </a:rPr>
              <a:t>4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3400" y="2540507"/>
            <a:ext cx="4099560" cy="4098290"/>
            <a:chOff x="533400" y="2540507"/>
            <a:chExt cx="4099560" cy="409829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3400" y="2540507"/>
              <a:ext cx="4099560" cy="40980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08476" y="4143755"/>
              <a:ext cx="563879" cy="56540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32760" y="3319271"/>
              <a:ext cx="522732" cy="52425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01923" y="5109972"/>
              <a:ext cx="582168" cy="58216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10055" y="4416551"/>
              <a:ext cx="486156" cy="48768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20239" y="5251703"/>
              <a:ext cx="496824" cy="4953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28216" y="3361943"/>
              <a:ext cx="486156" cy="48767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617725" y="3912489"/>
            <a:ext cx="701040" cy="345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Verdana"/>
                <a:cs typeface="Verdana"/>
              </a:rPr>
              <a:t>1.</a:t>
            </a:r>
            <a:endParaRPr sz="7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sz="700" spc="-10" dirty="0">
                <a:latin typeface="Verdana"/>
                <a:cs typeface="Verdana"/>
              </a:rPr>
              <a:t>Entendimiento</a:t>
            </a:r>
            <a:endParaRPr sz="700">
              <a:latin typeface="Verdana"/>
              <a:cs typeface="Verdana"/>
            </a:endParaRPr>
          </a:p>
          <a:p>
            <a:pPr marL="1270" algn="ctr">
              <a:lnSpc>
                <a:spcPct val="100000"/>
              </a:lnSpc>
              <a:spcBef>
                <a:spcPts val="5"/>
              </a:spcBef>
            </a:pPr>
            <a:r>
              <a:rPr sz="700" dirty="0">
                <a:latin typeface="Verdana"/>
                <a:cs typeface="Verdana"/>
              </a:rPr>
              <a:t>de</a:t>
            </a:r>
            <a:r>
              <a:rPr sz="700" spc="-20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negocio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96616" y="3912489"/>
            <a:ext cx="7937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700" spc="-85" dirty="0">
                <a:latin typeface="Verdana"/>
                <a:cs typeface="Verdana"/>
              </a:rPr>
              <a:t>2.</a:t>
            </a:r>
            <a:r>
              <a:rPr sz="700" spc="-55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Entendimiento</a:t>
            </a:r>
            <a:endParaRPr sz="700">
              <a:latin typeface="Verdana"/>
              <a:cs typeface="Verdana"/>
            </a:endParaRPr>
          </a:p>
          <a:p>
            <a:pPr marL="1905" algn="ctr">
              <a:lnSpc>
                <a:spcPct val="100000"/>
              </a:lnSpc>
            </a:pPr>
            <a:r>
              <a:rPr sz="700" dirty="0">
                <a:latin typeface="Verdana"/>
                <a:cs typeface="Verdana"/>
              </a:rPr>
              <a:t>de</a:t>
            </a:r>
            <a:r>
              <a:rPr sz="700" spc="-25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los</a:t>
            </a:r>
            <a:r>
              <a:rPr sz="700" spc="-55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datos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43654" y="4741290"/>
            <a:ext cx="65849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4135" marR="5080" indent="-52069">
              <a:lnSpc>
                <a:spcPct val="100000"/>
              </a:lnSpc>
              <a:spcBef>
                <a:spcPts val="95"/>
              </a:spcBef>
            </a:pPr>
            <a:r>
              <a:rPr sz="700" spc="-85" dirty="0">
                <a:latin typeface="Verdana"/>
                <a:cs typeface="Verdana"/>
              </a:rPr>
              <a:t>3.</a:t>
            </a:r>
            <a:r>
              <a:rPr sz="700" spc="-55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Preparación </a:t>
            </a:r>
            <a:r>
              <a:rPr sz="700" dirty="0">
                <a:latin typeface="Verdana"/>
                <a:cs typeface="Verdana"/>
              </a:rPr>
              <a:t>de</a:t>
            </a:r>
            <a:r>
              <a:rPr sz="700" spc="-30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los</a:t>
            </a:r>
            <a:r>
              <a:rPr sz="700" spc="-50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datos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74238" y="5732475"/>
            <a:ext cx="64452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0" dirty="0">
                <a:latin typeface="Verdana"/>
                <a:cs typeface="Verdana"/>
              </a:rPr>
              <a:t>4. </a:t>
            </a:r>
            <a:r>
              <a:rPr sz="700" spc="-10" dirty="0">
                <a:latin typeface="Verdana"/>
                <a:cs typeface="Verdana"/>
              </a:rPr>
              <a:t>Modelación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53564" y="5785205"/>
            <a:ext cx="60198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85" dirty="0">
                <a:latin typeface="Verdana"/>
                <a:cs typeface="Verdana"/>
              </a:rPr>
              <a:t>5.</a:t>
            </a:r>
            <a:r>
              <a:rPr sz="700" spc="-55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Evaluación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38529" y="4895215"/>
            <a:ext cx="62738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70" dirty="0">
                <a:latin typeface="Verdana"/>
                <a:cs typeface="Verdana"/>
              </a:rPr>
              <a:t>6.</a:t>
            </a:r>
            <a:r>
              <a:rPr sz="700" spc="-45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Despliegue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563624" y="3533775"/>
            <a:ext cx="2609215" cy="2070100"/>
          </a:xfrm>
          <a:custGeom>
            <a:avLst/>
            <a:gdLst/>
            <a:ahLst/>
            <a:cxnLst/>
            <a:rect l="l" t="t" r="r" b="b"/>
            <a:pathLst>
              <a:path w="2609215" h="2070100">
                <a:moveTo>
                  <a:pt x="275717" y="1898015"/>
                </a:moveTo>
                <a:lnTo>
                  <a:pt x="120891" y="1673669"/>
                </a:lnTo>
                <a:lnTo>
                  <a:pt x="155016" y="1650111"/>
                </a:lnTo>
                <a:lnTo>
                  <a:pt x="167894" y="1641221"/>
                </a:lnTo>
                <a:lnTo>
                  <a:pt x="0" y="1548765"/>
                </a:lnTo>
                <a:lnTo>
                  <a:pt x="26797" y="1738630"/>
                </a:lnTo>
                <a:lnTo>
                  <a:pt x="73863" y="1706130"/>
                </a:lnTo>
                <a:lnTo>
                  <a:pt x="228600" y="1930400"/>
                </a:lnTo>
                <a:lnTo>
                  <a:pt x="275717" y="1898015"/>
                </a:lnTo>
                <a:close/>
              </a:path>
              <a:path w="2609215" h="2070100">
                <a:moveTo>
                  <a:pt x="538480" y="820420"/>
                </a:moveTo>
                <a:lnTo>
                  <a:pt x="523963" y="796036"/>
                </a:lnTo>
                <a:lnTo>
                  <a:pt x="440436" y="655701"/>
                </a:lnTo>
                <a:lnTo>
                  <a:pt x="367538" y="832993"/>
                </a:lnTo>
                <a:lnTo>
                  <a:pt x="424497" y="828814"/>
                </a:lnTo>
                <a:lnTo>
                  <a:pt x="480822" y="1595247"/>
                </a:lnTo>
                <a:lnTo>
                  <a:pt x="537845" y="1591056"/>
                </a:lnTo>
                <a:lnTo>
                  <a:pt x="481520" y="824611"/>
                </a:lnTo>
                <a:lnTo>
                  <a:pt x="538480" y="820420"/>
                </a:lnTo>
                <a:close/>
              </a:path>
              <a:path w="2609215" h="2070100">
                <a:moveTo>
                  <a:pt x="1422146" y="85725"/>
                </a:moveTo>
                <a:lnTo>
                  <a:pt x="1364996" y="57150"/>
                </a:lnTo>
                <a:lnTo>
                  <a:pt x="1250696" y="0"/>
                </a:lnTo>
                <a:lnTo>
                  <a:pt x="1250696" y="57150"/>
                </a:lnTo>
                <a:lnTo>
                  <a:pt x="968502" y="57150"/>
                </a:lnTo>
                <a:lnTo>
                  <a:pt x="968502" y="0"/>
                </a:lnTo>
                <a:lnTo>
                  <a:pt x="797052" y="85725"/>
                </a:lnTo>
                <a:lnTo>
                  <a:pt x="968502" y="171450"/>
                </a:lnTo>
                <a:lnTo>
                  <a:pt x="968502" y="114300"/>
                </a:lnTo>
                <a:lnTo>
                  <a:pt x="1250696" y="114300"/>
                </a:lnTo>
                <a:lnTo>
                  <a:pt x="1250696" y="171450"/>
                </a:lnTo>
                <a:lnTo>
                  <a:pt x="1364996" y="114300"/>
                </a:lnTo>
                <a:lnTo>
                  <a:pt x="1422146" y="85725"/>
                </a:lnTo>
                <a:close/>
              </a:path>
              <a:path w="2609215" h="2070100">
                <a:moveTo>
                  <a:pt x="1473454" y="1956816"/>
                </a:moveTo>
                <a:lnTo>
                  <a:pt x="1128649" y="1955292"/>
                </a:lnTo>
                <a:lnTo>
                  <a:pt x="1128903" y="1898142"/>
                </a:lnTo>
                <a:lnTo>
                  <a:pt x="957072" y="1983105"/>
                </a:lnTo>
                <a:lnTo>
                  <a:pt x="1128141" y="2069604"/>
                </a:lnTo>
                <a:lnTo>
                  <a:pt x="1128382" y="2013966"/>
                </a:lnTo>
                <a:lnTo>
                  <a:pt x="1128395" y="2012442"/>
                </a:lnTo>
                <a:lnTo>
                  <a:pt x="1473200" y="2013966"/>
                </a:lnTo>
                <a:lnTo>
                  <a:pt x="1473327" y="1983105"/>
                </a:lnTo>
                <a:lnTo>
                  <a:pt x="1473454" y="1956816"/>
                </a:lnTo>
                <a:close/>
              </a:path>
              <a:path w="2609215" h="2070100">
                <a:moveTo>
                  <a:pt x="2527681" y="501523"/>
                </a:moveTo>
                <a:lnTo>
                  <a:pt x="2501138" y="419735"/>
                </a:lnTo>
                <a:lnTo>
                  <a:pt x="2468499" y="319151"/>
                </a:lnTo>
                <a:lnTo>
                  <a:pt x="2427757" y="359257"/>
                </a:lnTo>
                <a:lnTo>
                  <a:pt x="2138680" y="65671"/>
                </a:lnTo>
                <a:lnTo>
                  <a:pt x="2098040" y="105791"/>
                </a:lnTo>
                <a:lnTo>
                  <a:pt x="2387054" y="399326"/>
                </a:lnTo>
                <a:lnTo>
                  <a:pt x="2346325" y="439420"/>
                </a:lnTo>
                <a:lnTo>
                  <a:pt x="2527681" y="501523"/>
                </a:lnTo>
                <a:close/>
              </a:path>
              <a:path w="2609215" h="2070100">
                <a:moveTo>
                  <a:pt x="2609215" y="1484757"/>
                </a:moveTo>
                <a:lnTo>
                  <a:pt x="2443988" y="1581912"/>
                </a:lnTo>
                <a:lnTo>
                  <a:pt x="2491892" y="1613027"/>
                </a:lnTo>
                <a:lnTo>
                  <a:pt x="2366060" y="1806765"/>
                </a:lnTo>
                <a:lnTo>
                  <a:pt x="2318131" y="1775587"/>
                </a:lnTo>
                <a:lnTo>
                  <a:pt x="2296668" y="1966087"/>
                </a:lnTo>
                <a:lnTo>
                  <a:pt x="2461895" y="1869059"/>
                </a:lnTo>
                <a:lnTo>
                  <a:pt x="2450757" y="1861820"/>
                </a:lnTo>
                <a:lnTo>
                  <a:pt x="2413939" y="1837893"/>
                </a:lnTo>
                <a:lnTo>
                  <a:pt x="2539784" y="1644129"/>
                </a:lnTo>
                <a:lnTo>
                  <a:pt x="2587752" y="1675257"/>
                </a:lnTo>
                <a:lnTo>
                  <a:pt x="2597467" y="1589024"/>
                </a:lnTo>
                <a:lnTo>
                  <a:pt x="2609215" y="1484757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582672" y="4449902"/>
            <a:ext cx="5969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30" dirty="0">
                <a:latin typeface="Tahoma"/>
                <a:cs typeface="Tahoma"/>
              </a:rPr>
              <a:t>Data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87239" y="3066669"/>
            <a:ext cx="18840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Tahoma"/>
                <a:cs typeface="Tahoma"/>
              </a:rPr>
              <a:t>Etapa</a:t>
            </a:r>
            <a:r>
              <a:rPr sz="1500" b="1" spc="65" dirty="0">
                <a:latin typeface="Tahoma"/>
                <a:cs typeface="Tahoma"/>
              </a:rPr>
              <a:t> </a:t>
            </a:r>
            <a:r>
              <a:rPr sz="1500" b="1" dirty="0">
                <a:latin typeface="Tahoma"/>
                <a:cs typeface="Tahoma"/>
              </a:rPr>
              <a:t>4:</a:t>
            </a:r>
            <a:r>
              <a:rPr sz="1500" b="1" spc="55" dirty="0">
                <a:latin typeface="Tahoma"/>
                <a:cs typeface="Tahoma"/>
              </a:rPr>
              <a:t> </a:t>
            </a:r>
            <a:r>
              <a:rPr sz="1500" b="1" spc="45" dirty="0">
                <a:latin typeface="Tahoma"/>
                <a:cs typeface="Tahoma"/>
              </a:rPr>
              <a:t>Modelado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087239" y="3523869"/>
            <a:ext cx="608330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Verdana"/>
                <a:cs typeface="Verdana"/>
              </a:rPr>
              <a:t>Durante</a:t>
            </a:r>
            <a:r>
              <a:rPr sz="1500" spc="-75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esta</a:t>
            </a:r>
            <a:r>
              <a:rPr sz="1500" spc="-65" dirty="0">
                <a:latin typeface="Verdana"/>
                <a:cs typeface="Verdana"/>
              </a:rPr>
              <a:t> </a:t>
            </a:r>
            <a:r>
              <a:rPr sz="1500" spc="-75" dirty="0">
                <a:latin typeface="Verdana"/>
                <a:cs typeface="Verdana"/>
              </a:rPr>
              <a:t>fase,</a:t>
            </a:r>
            <a:r>
              <a:rPr sz="1500" spc="-70" dirty="0">
                <a:latin typeface="Verdana"/>
                <a:cs typeface="Verdana"/>
              </a:rPr>
              <a:t> </a:t>
            </a:r>
            <a:r>
              <a:rPr sz="1500" spc="-35" dirty="0">
                <a:latin typeface="Verdana"/>
                <a:cs typeface="Verdana"/>
              </a:rPr>
              <a:t>se</a:t>
            </a:r>
            <a:r>
              <a:rPr sz="1500" spc="-6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aplican</a:t>
            </a:r>
            <a:r>
              <a:rPr sz="1500" spc="-70" dirty="0">
                <a:latin typeface="Verdana"/>
                <a:cs typeface="Verdana"/>
              </a:rPr>
              <a:t> </a:t>
            </a:r>
            <a:r>
              <a:rPr sz="1500" spc="-35" dirty="0">
                <a:latin typeface="Verdana"/>
                <a:cs typeface="Verdana"/>
              </a:rPr>
              <a:t>las</a:t>
            </a:r>
            <a:r>
              <a:rPr sz="1500" spc="-7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técnicas</a:t>
            </a:r>
            <a:r>
              <a:rPr sz="1500" spc="-6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de</a:t>
            </a:r>
            <a:r>
              <a:rPr sz="1500" spc="-8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minería</a:t>
            </a:r>
            <a:r>
              <a:rPr sz="1500" spc="-10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de</a:t>
            </a:r>
            <a:r>
              <a:rPr sz="1500" spc="-7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datos</a:t>
            </a:r>
            <a:r>
              <a:rPr sz="1500" spc="-70" dirty="0">
                <a:latin typeface="Verdana"/>
                <a:cs typeface="Verdana"/>
              </a:rPr>
              <a:t> </a:t>
            </a:r>
            <a:r>
              <a:rPr sz="1500" spc="-50" dirty="0">
                <a:latin typeface="Verdana"/>
                <a:cs typeface="Verdana"/>
              </a:rPr>
              <a:t>a </a:t>
            </a:r>
            <a:r>
              <a:rPr sz="1500" dirty="0">
                <a:latin typeface="Verdana"/>
                <a:cs typeface="Verdana"/>
              </a:rPr>
              <a:t>nuestros</a:t>
            </a:r>
            <a:r>
              <a:rPr sz="1500" spc="-60" dirty="0">
                <a:latin typeface="Verdana"/>
                <a:cs typeface="Verdana"/>
              </a:rPr>
              <a:t> </a:t>
            </a:r>
            <a:r>
              <a:rPr sz="1500" spc="-40" dirty="0">
                <a:latin typeface="Verdana"/>
                <a:cs typeface="Verdana"/>
              </a:rPr>
              <a:t>datos.</a:t>
            </a:r>
            <a:r>
              <a:rPr sz="1500" spc="-70" dirty="0">
                <a:latin typeface="Verdana"/>
                <a:cs typeface="Verdana"/>
              </a:rPr>
              <a:t> </a:t>
            </a:r>
            <a:r>
              <a:rPr sz="1500" spc="-55" dirty="0">
                <a:latin typeface="Verdana"/>
                <a:cs typeface="Verdana"/>
              </a:rPr>
              <a:t>Se </a:t>
            </a:r>
            <a:r>
              <a:rPr sz="1500" dirty="0">
                <a:latin typeface="Verdana"/>
                <a:cs typeface="Verdana"/>
              </a:rPr>
              <a:t>aplican</a:t>
            </a:r>
            <a:r>
              <a:rPr sz="1500" spc="-85" dirty="0">
                <a:latin typeface="Verdana"/>
                <a:cs typeface="Verdana"/>
              </a:rPr>
              <a:t> </a:t>
            </a:r>
            <a:r>
              <a:rPr sz="1500" spc="-50" dirty="0">
                <a:latin typeface="Verdana"/>
                <a:cs typeface="Verdana"/>
              </a:rPr>
              <a:t>varias</a:t>
            </a:r>
            <a:r>
              <a:rPr sz="1500" spc="-5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técnicas</a:t>
            </a:r>
            <a:r>
              <a:rPr sz="1500" spc="-6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de</a:t>
            </a:r>
            <a:r>
              <a:rPr sz="1500" spc="-6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modelado</a:t>
            </a:r>
            <a:r>
              <a:rPr sz="1500" spc="-95" dirty="0">
                <a:latin typeface="Verdana"/>
                <a:cs typeface="Verdana"/>
              </a:rPr>
              <a:t> </a:t>
            </a:r>
            <a:r>
              <a:rPr sz="1500" spc="-85" dirty="0">
                <a:latin typeface="Verdana"/>
                <a:cs typeface="Verdana"/>
              </a:rPr>
              <a:t>y</a:t>
            </a:r>
            <a:r>
              <a:rPr sz="1500" spc="-60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los </a:t>
            </a:r>
            <a:r>
              <a:rPr sz="1500" dirty="0">
                <a:latin typeface="Verdana"/>
                <a:cs typeface="Verdana"/>
              </a:rPr>
              <a:t>parámetros</a:t>
            </a:r>
            <a:r>
              <a:rPr sz="1500" spc="-12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de</a:t>
            </a:r>
            <a:r>
              <a:rPr sz="1500" spc="-9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uso</a:t>
            </a:r>
            <a:r>
              <a:rPr sz="1500" spc="-9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de</a:t>
            </a:r>
            <a:r>
              <a:rPr sz="1500" spc="-100" dirty="0">
                <a:latin typeface="Verdana"/>
                <a:cs typeface="Verdana"/>
              </a:rPr>
              <a:t> </a:t>
            </a:r>
            <a:r>
              <a:rPr sz="1500" spc="-35" dirty="0">
                <a:latin typeface="Verdana"/>
                <a:cs typeface="Verdana"/>
              </a:rPr>
              <a:t>las</a:t>
            </a:r>
            <a:r>
              <a:rPr sz="1500" spc="-9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mismas</a:t>
            </a:r>
            <a:r>
              <a:rPr sz="1500" spc="-100" dirty="0">
                <a:latin typeface="Verdana"/>
                <a:cs typeface="Verdana"/>
              </a:rPr>
              <a:t> </a:t>
            </a:r>
            <a:r>
              <a:rPr sz="1500" spc="-35" dirty="0">
                <a:latin typeface="Verdana"/>
                <a:cs typeface="Verdana"/>
              </a:rPr>
              <a:t>se</a:t>
            </a:r>
            <a:r>
              <a:rPr sz="1500" spc="-9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afinan</a:t>
            </a:r>
            <a:r>
              <a:rPr sz="1500" spc="-95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hasta</a:t>
            </a:r>
            <a:r>
              <a:rPr sz="1500" spc="-85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alcanzar</a:t>
            </a:r>
            <a:r>
              <a:rPr sz="1500" spc="-110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los </a:t>
            </a:r>
            <a:r>
              <a:rPr sz="1500" spc="-35" dirty="0">
                <a:latin typeface="Verdana"/>
                <a:cs typeface="Verdana"/>
              </a:rPr>
              <a:t>valores</a:t>
            </a:r>
            <a:r>
              <a:rPr sz="1500" spc="-25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óptimos.</a:t>
            </a:r>
            <a:r>
              <a:rPr sz="1500" spc="-4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Algunas</a:t>
            </a:r>
            <a:r>
              <a:rPr sz="1500" spc="-3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técnicas</a:t>
            </a:r>
            <a:r>
              <a:rPr sz="1500" spc="-1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de</a:t>
            </a:r>
            <a:r>
              <a:rPr sz="1500" spc="-1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modelado</a:t>
            </a:r>
            <a:r>
              <a:rPr sz="1500" spc="-65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necesitan </a:t>
            </a:r>
            <a:r>
              <a:rPr sz="1500" dirty="0">
                <a:latin typeface="Verdana"/>
                <a:cs typeface="Verdana"/>
              </a:rPr>
              <a:t>requerimientos</a:t>
            </a:r>
            <a:r>
              <a:rPr sz="1500" spc="-114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específicos</a:t>
            </a:r>
            <a:r>
              <a:rPr sz="1500" spc="-8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sobre</a:t>
            </a:r>
            <a:r>
              <a:rPr sz="1500" spc="-8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el</a:t>
            </a:r>
            <a:r>
              <a:rPr sz="1500" spc="-9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formato</a:t>
            </a:r>
            <a:r>
              <a:rPr sz="1500" spc="-8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de</a:t>
            </a:r>
            <a:r>
              <a:rPr sz="1500" spc="-85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los</a:t>
            </a:r>
            <a:r>
              <a:rPr sz="1500" spc="-85" dirty="0">
                <a:latin typeface="Verdana"/>
                <a:cs typeface="Verdana"/>
              </a:rPr>
              <a:t> </a:t>
            </a:r>
            <a:r>
              <a:rPr sz="1500" spc="-40" dirty="0">
                <a:latin typeface="Verdana"/>
                <a:cs typeface="Verdana"/>
              </a:rPr>
              <a:t>datos,</a:t>
            </a:r>
            <a:r>
              <a:rPr sz="1500" spc="-85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que </a:t>
            </a:r>
            <a:r>
              <a:rPr sz="1500" dirty="0">
                <a:latin typeface="Verdana"/>
                <a:cs typeface="Verdana"/>
              </a:rPr>
              <a:t>podrán</a:t>
            </a:r>
            <a:r>
              <a:rPr sz="1500" spc="-95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llevarnos</a:t>
            </a:r>
            <a:r>
              <a:rPr sz="1500" spc="-11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de</a:t>
            </a:r>
            <a:r>
              <a:rPr sz="1500" spc="-75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nuevo</a:t>
            </a:r>
            <a:r>
              <a:rPr sz="1500" spc="-90" dirty="0">
                <a:latin typeface="Verdana"/>
                <a:cs typeface="Verdana"/>
              </a:rPr>
              <a:t> </a:t>
            </a:r>
            <a:r>
              <a:rPr sz="1500" spc="-25" dirty="0">
                <a:latin typeface="Verdana"/>
                <a:cs typeface="Verdana"/>
              </a:rPr>
              <a:t>a</a:t>
            </a:r>
            <a:r>
              <a:rPr sz="1500" spc="-70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la</a:t>
            </a:r>
            <a:r>
              <a:rPr sz="1500" spc="-75" dirty="0">
                <a:latin typeface="Verdana"/>
                <a:cs typeface="Verdana"/>
              </a:rPr>
              <a:t> </a:t>
            </a:r>
            <a:r>
              <a:rPr sz="1500" spc="-30" dirty="0">
                <a:latin typeface="Verdana"/>
                <a:cs typeface="Verdana"/>
              </a:rPr>
              <a:t>fase</a:t>
            </a:r>
            <a:r>
              <a:rPr sz="1500" spc="-5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de</a:t>
            </a:r>
            <a:r>
              <a:rPr sz="1500" spc="-8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preparación</a:t>
            </a:r>
            <a:r>
              <a:rPr sz="1500" spc="-110" dirty="0">
                <a:latin typeface="Verdana"/>
                <a:cs typeface="Verdana"/>
              </a:rPr>
              <a:t> </a:t>
            </a:r>
            <a:r>
              <a:rPr sz="1500" dirty="0">
                <a:latin typeface="Verdana"/>
                <a:cs typeface="Verdana"/>
              </a:rPr>
              <a:t>de</a:t>
            </a:r>
            <a:r>
              <a:rPr sz="1500" spc="-75" dirty="0">
                <a:latin typeface="Verdana"/>
                <a:cs typeface="Verdana"/>
              </a:rPr>
              <a:t> </a:t>
            </a:r>
            <a:r>
              <a:rPr sz="1500" spc="-20" dirty="0">
                <a:latin typeface="Verdana"/>
                <a:cs typeface="Verdana"/>
              </a:rPr>
              <a:t>los</a:t>
            </a:r>
            <a:r>
              <a:rPr sz="1500" spc="-70" dirty="0">
                <a:latin typeface="Verdana"/>
                <a:cs typeface="Verdana"/>
              </a:rPr>
              <a:t> </a:t>
            </a:r>
            <a:r>
              <a:rPr sz="1500" spc="-10" dirty="0">
                <a:latin typeface="Verdana"/>
                <a:cs typeface="Verdana"/>
              </a:rPr>
              <a:t>datos.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17424" y="6623710"/>
            <a:ext cx="499300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</a:rPr>
              <a:t>Shearer</a:t>
            </a:r>
            <a:r>
              <a:rPr sz="800" i="1" spc="-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55" dirty="0">
                <a:solidFill>
                  <a:srgbClr val="393939"/>
                </a:solidFill>
                <a:latin typeface="Verdana"/>
                <a:cs typeface="Verdana"/>
              </a:rPr>
              <a:t>C.</a:t>
            </a:r>
            <a:r>
              <a:rPr sz="800" i="1" spc="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55" dirty="0">
                <a:solidFill>
                  <a:srgbClr val="393939"/>
                </a:solidFill>
                <a:latin typeface="Verdana"/>
                <a:cs typeface="Verdana"/>
              </a:rPr>
              <a:t>(2000).</a:t>
            </a:r>
            <a:r>
              <a:rPr sz="800" i="1" spc="-4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The</a:t>
            </a:r>
            <a:r>
              <a:rPr sz="800" i="1" spc="1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25" dirty="0">
                <a:solidFill>
                  <a:srgbClr val="393939"/>
                </a:solidFill>
                <a:latin typeface="Verdana"/>
                <a:cs typeface="Verdana"/>
              </a:rPr>
              <a:t>CRISP-</a:t>
            </a:r>
            <a:r>
              <a:rPr sz="800" i="1" spc="65" dirty="0">
                <a:solidFill>
                  <a:srgbClr val="393939"/>
                </a:solidFill>
                <a:latin typeface="Verdana"/>
                <a:cs typeface="Verdana"/>
              </a:rPr>
              <a:t>DM</a:t>
            </a:r>
            <a:r>
              <a:rPr sz="800" i="1" spc="-3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25" dirty="0">
                <a:solidFill>
                  <a:srgbClr val="393939"/>
                </a:solidFill>
                <a:latin typeface="Verdana"/>
                <a:cs typeface="Verdana"/>
              </a:rPr>
              <a:t>model:</a:t>
            </a: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the</a:t>
            </a: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new</a:t>
            </a:r>
            <a:r>
              <a:rPr sz="800" i="1" spc="-2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blueprint</a:t>
            </a:r>
            <a:r>
              <a:rPr sz="800" i="1" spc="-2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</a:rPr>
              <a:t>for</a:t>
            </a:r>
            <a:r>
              <a:rPr sz="800" i="1" spc="-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data</a:t>
            </a:r>
            <a:r>
              <a:rPr sz="800" i="1" spc="-2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mining,</a:t>
            </a:r>
            <a:r>
              <a:rPr sz="800" i="1" spc="-2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J</a:t>
            </a:r>
            <a:r>
              <a:rPr sz="800" i="1" spc="-1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Data</a:t>
            </a:r>
            <a:r>
              <a:rPr sz="800" i="1" spc="-2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</a:rPr>
              <a:t>Warehousing.</a:t>
            </a:r>
            <a:endParaRPr sz="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85" dirty="0"/>
              <a:t>Minería</a:t>
            </a:r>
            <a:r>
              <a:rPr spc="-35" dirty="0"/>
              <a:t> </a:t>
            </a:r>
            <a:r>
              <a:rPr spc="195" dirty="0"/>
              <a:t>de</a:t>
            </a:r>
            <a:r>
              <a:rPr spc="-25" dirty="0"/>
              <a:t> </a:t>
            </a:r>
            <a:r>
              <a:rPr spc="90" dirty="0"/>
              <a:t>datos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73777" y="2459482"/>
            <a:ext cx="40894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2CDAFF"/>
                </a:solidFill>
                <a:latin typeface="Verdana"/>
                <a:cs typeface="Verdana"/>
              </a:rPr>
              <a:t>Metodología</a:t>
            </a:r>
            <a:r>
              <a:rPr sz="2000" spc="5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rgbClr val="2CDAFF"/>
                </a:solidFill>
                <a:latin typeface="Verdana"/>
                <a:cs typeface="Verdana"/>
              </a:rPr>
              <a:t>CRISP-</a:t>
            </a:r>
            <a:r>
              <a:rPr sz="2000" spc="-65" dirty="0">
                <a:solidFill>
                  <a:srgbClr val="2CDAFF"/>
                </a:solidFill>
                <a:latin typeface="Verdana"/>
                <a:cs typeface="Verdana"/>
              </a:rPr>
              <a:t>DM:</a:t>
            </a:r>
            <a:r>
              <a:rPr sz="2000" spc="15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CDAFF"/>
                </a:solidFill>
                <a:latin typeface="Verdana"/>
                <a:cs typeface="Verdana"/>
              </a:rPr>
              <a:t>etapa</a:t>
            </a:r>
            <a:r>
              <a:rPr sz="2000" spc="2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2CDAFF"/>
                </a:solidFill>
                <a:latin typeface="Verdana"/>
                <a:cs typeface="Verdana"/>
              </a:rPr>
              <a:t>5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3400" y="2540507"/>
            <a:ext cx="4099560" cy="4098290"/>
            <a:chOff x="533400" y="2540507"/>
            <a:chExt cx="4099560" cy="409829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3400" y="2540507"/>
              <a:ext cx="4099560" cy="40980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08476" y="4143755"/>
              <a:ext cx="563879" cy="56540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32760" y="3319271"/>
              <a:ext cx="522732" cy="52425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01923" y="5109972"/>
              <a:ext cx="582168" cy="58216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10055" y="4416551"/>
              <a:ext cx="486156" cy="48768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20239" y="5251703"/>
              <a:ext cx="496824" cy="4953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28216" y="3361943"/>
              <a:ext cx="486156" cy="48767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617725" y="3912489"/>
            <a:ext cx="701040" cy="345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Verdana"/>
                <a:cs typeface="Verdana"/>
              </a:rPr>
              <a:t>1.</a:t>
            </a:r>
            <a:endParaRPr sz="7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sz="700" spc="-10" dirty="0">
                <a:latin typeface="Verdana"/>
                <a:cs typeface="Verdana"/>
              </a:rPr>
              <a:t>Entendimiento</a:t>
            </a:r>
            <a:endParaRPr sz="700">
              <a:latin typeface="Verdana"/>
              <a:cs typeface="Verdana"/>
            </a:endParaRPr>
          </a:p>
          <a:p>
            <a:pPr marL="1270" algn="ctr">
              <a:lnSpc>
                <a:spcPct val="100000"/>
              </a:lnSpc>
              <a:spcBef>
                <a:spcPts val="5"/>
              </a:spcBef>
            </a:pPr>
            <a:r>
              <a:rPr sz="700" dirty="0">
                <a:latin typeface="Verdana"/>
                <a:cs typeface="Verdana"/>
              </a:rPr>
              <a:t>de</a:t>
            </a:r>
            <a:r>
              <a:rPr sz="700" spc="-20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negocio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96616" y="3912489"/>
            <a:ext cx="7937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700" spc="-85" dirty="0">
                <a:latin typeface="Verdana"/>
                <a:cs typeface="Verdana"/>
              </a:rPr>
              <a:t>2.</a:t>
            </a:r>
            <a:r>
              <a:rPr sz="700" spc="-55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Entendimiento</a:t>
            </a:r>
            <a:endParaRPr sz="700">
              <a:latin typeface="Verdana"/>
              <a:cs typeface="Verdana"/>
            </a:endParaRPr>
          </a:p>
          <a:p>
            <a:pPr marL="1905" algn="ctr">
              <a:lnSpc>
                <a:spcPct val="100000"/>
              </a:lnSpc>
            </a:pPr>
            <a:r>
              <a:rPr sz="700" dirty="0">
                <a:latin typeface="Verdana"/>
                <a:cs typeface="Verdana"/>
              </a:rPr>
              <a:t>de</a:t>
            </a:r>
            <a:r>
              <a:rPr sz="700" spc="-25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los</a:t>
            </a:r>
            <a:r>
              <a:rPr sz="700" spc="-55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datos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43654" y="4741290"/>
            <a:ext cx="65849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4135" marR="5080" indent="-52069">
              <a:lnSpc>
                <a:spcPct val="100000"/>
              </a:lnSpc>
              <a:spcBef>
                <a:spcPts val="95"/>
              </a:spcBef>
            </a:pPr>
            <a:r>
              <a:rPr sz="700" spc="-85" dirty="0">
                <a:latin typeface="Verdana"/>
                <a:cs typeface="Verdana"/>
              </a:rPr>
              <a:t>3.</a:t>
            </a:r>
            <a:r>
              <a:rPr sz="700" spc="-55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Preparación </a:t>
            </a:r>
            <a:r>
              <a:rPr sz="700" dirty="0">
                <a:latin typeface="Verdana"/>
                <a:cs typeface="Verdana"/>
              </a:rPr>
              <a:t>de</a:t>
            </a:r>
            <a:r>
              <a:rPr sz="700" spc="-30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los</a:t>
            </a:r>
            <a:r>
              <a:rPr sz="700" spc="-50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datos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74238" y="5732475"/>
            <a:ext cx="64452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0" dirty="0">
                <a:latin typeface="Verdana"/>
                <a:cs typeface="Verdana"/>
              </a:rPr>
              <a:t>4. </a:t>
            </a:r>
            <a:r>
              <a:rPr sz="700" spc="-10" dirty="0">
                <a:latin typeface="Verdana"/>
                <a:cs typeface="Verdana"/>
              </a:rPr>
              <a:t>Modelación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53564" y="5785205"/>
            <a:ext cx="60198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85" dirty="0">
                <a:latin typeface="Verdana"/>
                <a:cs typeface="Verdana"/>
              </a:rPr>
              <a:t>5.</a:t>
            </a:r>
            <a:r>
              <a:rPr sz="700" spc="-55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Evaluación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38529" y="4895215"/>
            <a:ext cx="62738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70" dirty="0">
                <a:latin typeface="Verdana"/>
                <a:cs typeface="Verdana"/>
              </a:rPr>
              <a:t>6.</a:t>
            </a:r>
            <a:r>
              <a:rPr sz="700" spc="-45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Despliegue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563624" y="3533775"/>
            <a:ext cx="2609215" cy="2070100"/>
          </a:xfrm>
          <a:custGeom>
            <a:avLst/>
            <a:gdLst/>
            <a:ahLst/>
            <a:cxnLst/>
            <a:rect l="l" t="t" r="r" b="b"/>
            <a:pathLst>
              <a:path w="2609215" h="2070100">
                <a:moveTo>
                  <a:pt x="275717" y="1898015"/>
                </a:moveTo>
                <a:lnTo>
                  <a:pt x="120891" y="1673669"/>
                </a:lnTo>
                <a:lnTo>
                  <a:pt x="155016" y="1650111"/>
                </a:lnTo>
                <a:lnTo>
                  <a:pt x="167894" y="1641221"/>
                </a:lnTo>
                <a:lnTo>
                  <a:pt x="0" y="1548765"/>
                </a:lnTo>
                <a:lnTo>
                  <a:pt x="26797" y="1738630"/>
                </a:lnTo>
                <a:lnTo>
                  <a:pt x="73863" y="1706130"/>
                </a:lnTo>
                <a:lnTo>
                  <a:pt x="228600" y="1930400"/>
                </a:lnTo>
                <a:lnTo>
                  <a:pt x="275717" y="1898015"/>
                </a:lnTo>
                <a:close/>
              </a:path>
              <a:path w="2609215" h="2070100">
                <a:moveTo>
                  <a:pt x="538480" y="820420"/>
                </a:moveTo>
                <a:lnTo>
                  <a:pt x="523963" y="796036"/>
                </a:lnTo>
                <a:lnTo>
                  <a:pt x="440436" y="655701"/>
                </a:lnTo>
                <a:lnTo>
                  <a:pt x="367538" y="832993"/>
                </a:lnTo>
                <a:lnTo>
                  <a:pt x="424497" y="828814"/>
                </a:lnTo>
                <a:lnTo>
                  <a:pt x="480822" y="1595247"/>
                </a:lnTo>
                <a:lnTo>
                  <a:pt x="537845" y="1591056"/>
                </a:lnTo>
                <a:lnTo>
                  <a:pt x="481520" y="824611"/>
                </a:lnTo>
                <a:lnTo>
                  <a:pt x="538480" y="820420"/>
                </a:lnTo>
                <a:close/>
              </a:path>
              <a:path w="2609215" h="2070100">
                <a:moveTo>
                  <a:pt x="1422146" y="85725"/>
                </a:moveTo>
                <a:lnTo>
                  <a:pt x="1364996" y="57150"/>
                </a:lnTo>
                <a:lnTo>
                  <a:pt x="1250696" y="0"/>
                </a:lnTo>
                <a:lnTo>
                  <a:pt x="1250696" y="57150"/>
                </a:lnTo>
                <a:lnTo>
                  <a:pt x="968502" y="57150"/>
                </a:lnTo>
                <a:lnTo>
                  <a:pt x="968502" y="0"/>
                </a:lnTo>
                <a:lnTo>
                  <a:pt x="797052" y="85725"/>
                </a:lnTo>
                <a:lnTo>
                  <a:pt x="968502" y="171450"/>
                </a:lnTo>
                <a:lnTo>
                  <a:pt x="968502" y="114300"/>
                </a:lnTo>
                <a:lnTo>
                  <a:pt x="1250696" y="114300"/>
                </a:lnTo>
                <a:lnTo>
                  <a:pt x="1250696" y="171450"/>
                </a:lnTo>
                <a:lnTo>
                  <a:pt x="1364996" y="114300"/>
                </a:lnTo>
                <a:lnTo>
                  <a:pt x="1422146" y="85725"/>
                </a:lnTo>
                <a:close/>
              </a:path>
              <a:path w="2609215" h="2070100">
                <a:moveTo>
                  <a:pt x="1473454" y="1956816"/>
                </a:moveTo>
                <a:lnTo>
                  <a:pt x="1128649" y="1955292"/>
                </a:lnTo>
                <a:lnTo>
                  <a:pt x="1128903" y="1898142"/>
                </a:lnTo>
                <a:lnTo>
                  <a:pt x="957072" y="1983105"/>
                </a:lnTo>
                <a:lnTo>
                  <a:pt x="1128141" y="2069604"/>
                </a:lnTo>
                <a:lnTo>
                  <a:pt x="1128382" y="2013966"/>
                </a:lnTo>
                <a:lnTo>
                  <a:pt x="1128395" y="2012442"/>
                </a:lnTo>
                <a:lnTo>
                  <a:pt x="1473200" y="2013966"/>
                </a:lnTo>
                <a:lnTo>
                  <a:pt x="1473327" y="1983105"/>
                </a:lnTo>
                <a:lnTo>
                  <a:pt x="1473454" y="1956816"/>
                </a:lnTo>
                <a:close/>
              </a:path>
              <a:path w="2609215" h="2070100">
                <a:moveTo>
                  <a:pt x="2527681" y="501523"/>
                </a:moveTo>
                <a:lnTo>
                  <a:pt x="2501138" y="419735"/>
                </a:lnTo>
                <a:lnTo>
                  <a:pt x="2468499" y="319151"/>
                </a:lnTo>
                <a:lnTo>
                  <a:pt x="2427757" y="359257"/>
                </a:lnTo>
                <a:lnTo>
                  <a:pt x="2138680" y="65671"/>
                </a:lnTo>
                <a:lnTo>
                  <a:pt x="2098040" y="105791"/>
                </a:lnTo>
                <a:lnTo>
                  <a:pt x="2387054" y="399326"/>
                </a:lnTo>
                <a:lnTo>
                  <a:pt x="2346325" y="439420"/>
                </a:lnTo>
                <a:lnTo>
                  <a:pt x="2527681" y="501523"/>
                </a:lnTo>
                <a:close/>
              </a:path>
              <a:path w="2609215" h="2070100">
                <a:moveTo>
                  <a:pt x="2609215" y="1484757"/>
                </a:moveTo>
                <a:lnTo>
                  <a:pt x="2443988" y="1581912"/>
                </a:lnTo>
                <a:lnTo>
                  <a:pt x="2491892" y="1613027"/>
                </a:lnTo>
                <a:lnTo>
                  <a:pt x="2366060" y="1806765"/>
                </a:lnTo>
                <a:lnTo>
                  <a:pt x="2318131" y="1775587"/>
                </a:lnTo>
                <a:lnTo>
                  <a:pt x="2296668" y="1966087"/>
                </a:lnTo>
                <a:lnTo>
                  <a:pt x="2461895" y="1869059"/>
                </a:lnTo>
                <a:lnTo>
                  <a:pt x="2450757" y="1861820"/>
                </a:lnTo>
                <a:lnTo>
                  <a:pt x="2413939" y="1837893"/>
                </a:lnTo>
                <a:lnTo>
                  <a:pt x="2539784" y="1644129"/>
                </a:lnTo>
                <a:lnTo>
                  <a:pt x="2587752" y="1675257"/>
                </a:lnTo>
                <a:lnTo>
                  <a:pt x="2597467" y="1589024"/>
                </a:lnTo>
                <a:lnTo>
                  <a:pt x="2609215" y="1484757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582672" y="4449902"/>
            <a:ext cx="5969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30" dirty="0">
                <a:latin typeface="Tahoma"/>
                <a:cs typeface="Tahoma"/>
              </a:rPr>
              <a:t>Data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87239" y="3066669"/>
            <a:ext cx="196532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Tahoma"/>
                <a:cs typeface="Tahoma"/>
              </a:rPr>
              <a:t>Etapa</a:t>
            </a:r>
            <a:r>
              <a:rPr sz="1500" b="1" spc="110" dirty="0">
                <a:latin typeface="Tahoma"/>
                <a:cs typeface="Tahoma"/>
              </a:rPr>
              <a:t> </a:t>
            </a:r>
            <a:r>
              <a:rPr sz="1500" b="1" spc="-120" dirty="0">
                <a:latin typeface="Tahoma"/>
                <a:cs typeface="Tahoma"/>
              </a:rPr>
              <a:t>5:</a:t>
            </a:r>
            <a:r>
              <a:rPr sz="1500" b="1" spc="80" dirty="0">
                <a:latin typeface="Tahoma"/>
                <a:cs typeface="Tahoma"/>
              </a:rPr>
              <a:t> </a:t>
            </a:r>
            <a:r>
              <a:rPr sz="1500" b="1" spc="-10" dirty="0">
                <a:latin typeface="Tahoma"/>
                <a:cs typeface="Tahoma"/>
              </a:rPr>
              <a:t>Evaluación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087239" y="3523869"/>
            <a:ext cx="627253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spc="55" dirty="0">
                <a:solidFill>
                  <a:srgbClr val="242424"/>
                </a:solidFill>
                <a:latin typeface="Verdana"/>
                <a:cs typeface="Verdana"/>
              </a:rPr>
              <a:t>En</a:t>
            </a:r>
            <a:r>
              <a:rPr sz="1500" spc="-85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242424"/>
                </a:solidFill>
                <a:latin typeface="Verdana"/>
                <a:cs typeface="Verdana"/>
              </a:rPr>
              <a:t>este</a:t>
            </a:r>
            <a:r>
              <a:rPr sz="1500" spc="-85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242424"/>
                </a:solidFill>
                <a:latin typeface="Verdana"/>
                <a:cs typeface="Verdana"/>
              </a:rPr>
              <a:t>caso</a:t>
            </a:r>
            <a:r>
              <a:rPr sz="1500" spc="-65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spc="-35" dirty="0">
                <a:solidFill>
                  <a:srgbClr val="242424"/>
                </a:solidFill>
                <a:latin typeface="Verdana"/>
                <a:cs typeface="Verdana"/>
              </a:rPr>
              <a:t>se</a:t>
            </a:r>
            <a:r>
              <a:rPr sz="1500" spc="-80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242424"/>
                </a:solidFill>
                <a:latin typeface="Verdana"/>
                <a:cs typeface="Verdana"/>
              </a:rPr>
              <a:t>evalúan</a:t>
            </a:r>
            <a:r>
              <a:rPr sz="1500" spc="-100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242424"/>
                </a:solidFill>
                <a:latin typeface="Verdana"/>
                <a:cs typeface="Verdana"/>
              </a:rPr>
              <a:t>los</a:t>
            </a:r>
            <a:r>
              <a:rPr sz="1500" spc="-75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42424"/>
                </a:solidFill>
                <a:latin typeface="Verdana"/>
                <a:cs typeface="Verdana"/>
              </a:rPr>
              <a:t>modelos</a:t>
            </a:r>
            <a:r>
              <a:rPr sz="1500" spc="-110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242424"/>
                </a:solidFill>
                <a:latin typeface="Verdana"/>
                <a:cs typeface="Verdana"/>
              </a:rPr>
              <a:t>anteriores</a:t>
            </a:r>
            <a:r>
              <a:rPr sz="1500" spc="-105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242424"/>
                </a:solidFill>
                <a:latin typeface="Verdana"/>
                <a:cs typeface="Verdana"/>
              </a:rPr>
              <a:t>para</a:t>
            </a:r>
            <a:r>
              <a:rPr sz="1500" spc="-80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42424"/>
                </a:solidFill>
                <a:latin typeface="Verdana"/>
                <a:cs typeface="Verdana"/>
              </a:rPr>
              <a:t>determinar</a:t>
            </a:r>
            <a:r>
              <a:rPr sz="1500" spc="-125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242424"/>
                </a:solidFill>
                <a:latin typeface="Verdana"/>
                <a:cs typeface="Verdana"/>
              </a:rPr>
              <a:t>si </a:t>
            </a:r>
            <a:r>
              <a:rPr sz="1500" dirty="0">
                <a:solidFill>
                  <a:srgbClr val="242424"/>
                </a:solidFill>
                <a:latin typeface="Verdana"/>
                <a:cs typeface="Verdana"/>
              </a:rPr>
              <a:t>son</a:t>
            </a:r>
            <a:r>
              <a:rPr sz="1500" spc="-110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42424"/>
                </a:solidFill>
                <a:latin typeface="Verdana"/>
                <a:cs typeface="Verdana"/>
              </a:rPr>
              <a:t>útiles</a:t>
            </a:r>
            <a:r>
              <a:rPr sz="1500" spc="-125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242424"/>
                </a:solidFill>
                <a:latin typeface="Verdana"/>
                <a:cs typeface="Verdana"/>
              </a:rPr>
              <a:t>a</a:t>
            </a:r>
            <a:r>
              <a:rPr sz="1500" spc="-105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spc="-35" dirty="0">
                <a:solidFill>
                  <a:srgbClr val="242424"/>
                </a:solidFill>
                <a:latin typeface="Verdana"/>
                <a:cs typeface="Verdana"/>
              </a:rPr>
              <a:t>las</a:t>
            </a:r>
            <a:r>
              <a:rPr sz="1500" spc="-110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42424"/>
                </a:solidFill>
                <a:latin typeface="Verdana"/>
                <a:cs typeface="Verdana"/>
              </a:rPr>
              <a:t>necesidades</a:t>
            </a:r>
            <a:r>
              <a:rPr sz="1500" spc="-135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42424"/>
                </a:solidFill>
                <a:latin typeface="Verdana"/>
                <a:cs typeface="Verdana"/>
              </a:rPr>
              <a:t>de</a:t>
            </a:r>
            <a:r>
              <a:rPr sz="1500" spc="-114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42424"/>
                </a:solidFill>
                <a:latin typeface="Verdana"/>
                <a:cs typeface="Verdana"/>
              </a:rPr>
              <a:t>negocio.</a:t>
            </a:r>
            <a:r>
              <a:rPr sz="1500" spc="320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spc="55" dirty="0">
                <a:solidFill>
                  <a:srgbClr val="242424"/>
                </a:solidFill>
                <a:latin typeface="Verdana"/>
                <a:cs typeface="Verdana"/>
              </a:rPr>
              <a:t>En</a:t>
            </a:r>
            <a:r>
              <a:rPr sz="1500" spc="-125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242424"/>
                </a:solidFill>
                <a:latin typeface="Verdana"/>
                <a:cs typeface="Verdana"/>
              </a:rPr>
              <a:t>esta</a:t>
            </a:r>
            <a:r>
              <a:rPr sz="1500" spc="-105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42424"/>
                </a:solidFill>
                <a:latin typeface="Verdana"/>
                <a:cs typeface="Verdana"/>
              </a:rPr>
              <a:t>etapa</a:t>
            </a:r>
            <a:r>
              <a:rPr sz="1500" spc="-120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242424"/>
                </a:solidFill>
                <a:latin typeface="Verdana"/>
                <a:cs typeface="Verdana"/>
              </a:rPr>
              <a:t>los </a:t>
            </a:r>
            <a:r>
              <a:rPr sz="1500" dirty="0">
                <a:solidFill>
                  <a:srgbClr val="242424"/>
                </a:solidFill>
                <a:latin typeface="Verdana"/>
                <a:cs typeface="Verdana"/>
              </a:rPr>
              <a:t>modelos</a:t>
            </a:r>
            <a:r>
              <a:rPr sz="1500" spc="-90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spc="-60" dirty="0">
                <a:solidFill>
                  <a:srgbClr val="242424"/>
                </a:solidFill>
                <a:latin typeface="Verdana"/>
                <a:cs typeface="Verdana"/>
              </a:rPr>
              <a:t>ya</a:t>
            </a:r>
            <a:r>
              <a:rPr sz="1500" spc="-50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42424"/>
                </a:solidFill>
                <a:latin typeface="Verdana"/>
                <a:cs typeface="Verdana"/>
              </a:rPr>
              <a:t>están</a:t>
            </a:r>
            <a:r>
              <a:rPr sz="1500" spc="-70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42424"/>
                </a:solidFill>
                <a:latin typeface="Verdana"/>
                <a:cs typeface="Verdana"/>
              </a:rPr>
              <a:t>construidos</a:t>
            </a:r>
            <a:r>
              <a:rPr sz="1500" spc="-40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spc="-85" dirty="0">
                <a:solidFill>
                  <a:srgbClr val="242424"/>
                </a:solidFill>
                <a:latin typeface="Verdana"/>
                <a:cs typeface="Verdana"/>
              </a:rPr>
              <a:t>y</a:t>
            </a:r>
            <a:r>
              <a:rPr sz="1500" spc="-60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42424"/>
                </a:solidFill>
                <a:latin typeface="Verdana"/>
                <a:cs typeface="Verdana"/>
              </a:rPr>
              <a:t>deben</a:t>
            </a:r>
            <a:r>
              <a:rPr sz="1500" spc="-110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42424"/>
                </a:solidFill>
                <a:latin typeface="Verdana"/>
                <a:cs typeface="Verdana"/>
              </a:rPr>
              <a:t>tener</a:t>
            </a:r>
            <a:r>
              <a:rPr sz="1500" spc="-85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42424"/>
                </a:solidFill>
                <a:latin typeface="Verdana"/>
                <a:cs typeface="Verdana"/>
              </a:rPr>
              <a:t>una</a:t>
            </a:r>
            <a:r>
              <a:rPr sz="1500" spc="-50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242424"/>
                </a:solidFill>
                <a:latin typeface="Verdana"/>
                <a:cs typeface="Verdana"/>
              </a:rPr>
              <a:t>alta</a:t>
            </a:r>
            <a:r>
              <a:rPr sz="1500" spc="-50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242424"/>
                </a:solidFill>
                <a:latin typeface="Verdana"/>
                <a:cs typeface="Verdana"/>
              </a:rPr>
              <a:t>calidad </a:t>
            </a:r>
            <a:r>
              <a:rPr sz="1500" dirty="0">
                <a:solidFill>
                  <a:srgbClr val="242424"/>
                </a:solidFill>
                <a:latin typeface="Verdana"/>
                <a:cs typeface="Verdana"/>
              </a:rPr>
              <a:t>desde</a:t>
            </a:r>
            <a:r>
              <a:rPr sz="1500" spc="-100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42424"/>
                </a:solidFill>
                <a:latin typeface="Verdana"/>
                <a:cs typeface="Verdana"/>
              </a:rPr>
              <a:t>una</a:t>
            </a:r>
            <a:r>
              <a:rPr sz="1500" spc="-55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42424"/>
                </a:solidFill>
                <a:latin typeface="Verdana"/>
                <a:cs typeface="Verdana"/>
              </a:rPr>
              <a:t>perspectiva</a:t>
            </a:r>
            <a:r>
              <a:rPr sz="1500" spc="-80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42424"/>
                </a:solidFill>
                <a:latin typeface="Verdana"/>
                <a:cs typeface="Verdana"/>
              </a:rPr>
              <a:t>de</a:t>
            </a:r>
            <a:r>
              <a:rPr sz="1500" spc="-70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242424"/>
                </a:solidFill>
                <a:latin typeface="Verdana"/>
                <a:cs typeface="Verdana"/>
              </a:rPr>
              <a:t>análisis</a:t>
            </a:r>
            <a:r>
              <a:rPr sz="1500" spc="-90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42424"/>
                </a:solidFill>
                <a:latin typeface="Verdana"/>
                <a:cs typeface="Verdana"/>
              </a:rPr>
              <a:t>de</a:t>
            </a:r>
            <a:r>
              <a:rPr sz="1500" spc="-65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242424"/>
                </a:solidFill>
                <a:latin typeface="Verdana"/>
                <a:cs typeface="Verdana"/>
              </a:rPr>
              <a:t>datos.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17424" y="6623710"/>
            <a:ext cx="499300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</a:rPr>
              <a:t>Shearer</a:t>
            </a:r>
            <a:r>
              <a:rPr sz="800" i="1" spc="-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55" dirty="0">
                <a:solidFill>
                  <a:srgbClr val="393939"/>
                </a:solidFill>
                <a:latin typeface="Verdana"/>
                <a:cs typeface="Verdana"/>
              </a:rPr>
              <a:t>C.</a:t>
            </a:r>
            <a:r>
              <a:rPr sz="800" i="1" spc="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55" dirty="0">
                <a:solidFill>
                  <a:srgbClr val="393939"/>
                </a:solidFill>
                <a:latin typeface="Verdana"/>
                <a:cs typeface="Verdana"/>
              </a:rPr>
              <a:t>(2000).</a:t>
            </a:r>
            <a:r>
              <a:rPr sz="800" i="1" spc="-4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The</a:t>
            </a:r>
            <a:r>
              <a:rPr sz="800" i="1" spc="1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25" dirty="0">
                <a:solidFill>
                  <a:srgbClr val="393939"/>
                </a:solidFill>
                <a:latin typeface="Verdana"/>
                <a:cs typeface="Verdana"/>
              </a:rPr>
              <a:t>CRISP-</a:t>
            </a:r>
            <a:r>
              <a:rPr sz="800" i="1" spc="65" dirty="0">
                <a:solidFill>
                  <a:srgbClr val="393939"/>
                </a:solidFill>
                <a:latin typeface="Verdana"/>
                <a:cs typeface="Verdana"/>
              </a:rPr>
              <a:t>DM</a:t>
            </a:r>
            <a:r>
              <a:rPr sz="800" i="1" spc="-3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25" dirty="0">
                <a:solidFill>
                  <a:srgbClr val="393939"/>
                </a:solidFill>
                <a:latin typeface="Verdana"/>
                <a:cs typeface="Verdana"/>
              </a:rPr>
              <a:t>model:</a:t>
            </a: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the</a:t>
            </a: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new</a:t>
            </a:r>
            <a:r>
              <a:rPr sz="800" i="1" spc="-2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blueprint</a:t>
            </a:r>
            <a:r>
              <a:rPr sz="800" i="1" spc="-2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</a:rPr>
              <a:t>for</a:t>
            </a:r>
            <a:r>
              <a:rPr sz="800" i="1" spc="-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data</a:t>
            </a:r>
            <a:r>
              <a:rPr sz="800" i="1" spc="-2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mining,</a:t>
            </a:r>
            <a:r>
              <a:rPr sz="800" i="1" spc="-2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J</a:t>
            </a:r>
            <a:r>
              <a:rPr sz="800" i="1" spc="-1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Data</a:t>
            </a:r>
            <a:r>
              <a:rPr sz="800" i="1" spc="-2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</a:rPr>
              <a:t>Warehousing.</a:t>
            </a:r>
            <a:endParaRPr sz="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85" dirty="0"/>
              <a:t>Minería</a:t>
            </a:r>
            <a:r>
              <a:rPr spc="-35" dirty="0"/>
              <a:t> </a:t>
            </a:r>
            <a:r>
              <a:rPr spc="195" dirty="0"/>
              <a:t>de</a:t>
            </a:r>
            <a:r>
              <a:rPr spc="-25" dirty="0"/>
              <a:t> </a:t>
            </a:r>
            <a:r>
              <a:rPr spc="90" dirty="0"/>
              <a:t>datos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73777" y="2459482"/>
            <a:ext cx="41001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2CDAFF"/>
                </a:solidFill>
                <a:latin typeface="Verdana"/>
                <a:cs typeface="Verdana"/>
              </a:rPr>
              <a:t>Metodología</a:t>
            </a:r>
            <a:r>
              <a:rPr sz="2000" spc="5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-45" dirty="0">
                <a:solidFill>
                  <a:srgbClr val="2CDAFF"/>
                </a:solidFill>
                <a:latin typeface="Verdana"/>
                <a:cs typeface="Verdana"/>
              </a:rPr>
              <a:t>CRISP-</a:t>
            </a:r>
            <a:r>
              <a:rPr sz="2000" spc="-65" dirty="0">
                <a:solidFill>
                  <a:srgbClr val="2CDAFF"/>
                </a:solidFill>
                <a:latin typeface="Verdana"/>
                <a:cs typeface="Verdana"/>
              </a:rPr>
              <a:t>DM:</a:t>
            </a:r>
            <a:r>
              <a:rPr sz="2000" spc="15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2CDAFF"/>
                </a:solidFill>
                <a:latin typeface="Verdana"/>
                <a:cs typeface="Verdana"/>
              </a:rPr>
              <a:t>etapa</a:t>
            </a:r>
            <a:r>
              <a:rPr sz="2000" spc="2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-50" dirty="0">
                <a:solidFill>
                  <a:srgbClr val="2CDAFF"/>
                </a:solidFill>
                <a:latin typeface="Verdana"/>
                <a:cs typeface="Verdana"/>
              </a:rPr>
              <a:t>6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3400" y="2540507"/>
            <a:ext cx="4099560" cy="4098290"/>
            <a:chOff x="533400" y="2540507"/>
            <a:chExt cx="4099560" cy="409829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3400" y="2540507"/>
              <a:ext cx="4099560" cy="40980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08476" y="4143755"/>
              <a:ext cx="563879" cy="56540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32760" y="3319271"/>
              <a:ext cx="522732" cy="52425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01923" y="5109972"/>
              <a:ext cx="582168" cy="58216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10055" y="4416551"/>
              <a:ext cx="486156" cy="48768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20239" y="5251703"/>
              <a:ext cx="496824" cy="4953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28216" y="3361943"/>
              <a:ext cx="486156" cy="48767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617725" y="3912489"/>
            <a:ext cx="701040" cy="345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Verdana"/>
                <a:cs typeface="Verdana"/>
              </a:rPr>
              <a:t>1.</a:t>
            </a:r>
            <a:endParaRPr sz="7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sz="700" spc="-10" dirty="0">
                <a:latin typeface="Verdana"/>
                <a:cs typeface="Verdana"/>
              </a:rPr>
              <a:t>Entendimiento</a:t>
            </a:r>
            <a:endParaRPr sz="700">
              <a:latin typeface="Verdana"/>
              <a:cs typeface="Verdana"/>
            </a:endParaRPr>
          </a:p>
          <a:p>
            <a:pPr marL="1270" algn="ctr">
              <a:lnSpc>
                <a:spcPct val="100000"/>
              </a:lnSpc>
              <a:spcBef>
                <a:spcPts val="5"/>
              </a:spcBef>
            </a:pPr>
            <a:r>
              <a:rPr sz="700" dirty="0">
                <a:latin typeface="Verdana"/>
                <a:cs typeface="Verdana"/>
              </a:rPr>
              <a:t>de</a:t>
            </a:r>
            <a:r>
              <a:rPr sz="700" spc="-20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negocio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96616" y="3912489"/>
            <a:ext cx="793750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700" spc="-85" dirty="0">
                <a:latin typeface="Verdana"/>
                <a:cs typeface="Verdana"/>
              </a:rPr>
              <a:t>2.</a:t>
            </a:r>
            <a:r>
              <a:rPr sz="700" spc="-55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Entendimiento</a:t>
            </a:r>
            <a:endParaRPr sz="700">
              <a:latin typeface="Verdana"/>
              <a:cs typeface="Verdana"/>
            </a:endParaRPr>
          </a:p>
          <a:p>
            <a:pPr marL="1905" algn="ctr">
              <a:lnSpc>
                <a:spcPct val="100000"/>
              </a:lnSpc>
            </a:pPr>
            <a:r>
              <a:rPr sz="700" dirty="0">
                <a:latin typeface="Verdana"/>
                <a:cs typeface="Verdana"/>
              </a:rPr>
              <a:t>de</a:t>
            </a:r>
            <a:r>
              <a:rPr sz="700" spc="-25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los</a:t>
            </a:r>
            <a:r>
              <a:rPr sz="700" spc="-55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datos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43654" y="4741290"/>
            <a:ext cx="658495" cy="238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4135" marR="5080" indent="-52069">
              <a:lnSpc>
                <a:spcPct val="100000"/>
              </a:lnSpc>
              <a:spcBef>
                <a:spcPts val="95"/>
              </a:spcBef>
            </a:pPr>
            <a:r>
              <a:rPr sz="700" spc="-85" dirty="0">
                <a:latin typeface="Verdana"/>
                <a:cs typeface="Verdana"/>
              </a:rPr>
              <a:t>3.</a:t>
            </a:r>
            <a:r>
              <a:rPr sz="700" spc="-55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Preparación </a:t>
            </a:r>
            <a:r>
              <a:rPr sz="700" dirty="0">
                <a:latin typeface="Verdana"/>
                <a:cs typeface="Verdana"/>
              </a:rPr>
              <a:t>de</a:t>
            </a:r>
            <a:r>
              <a:rPr sz="700" spc="-30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los</a:t>
            </a:r>
            <a:r>
              <a:rPr sz="700" spc="-50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datos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74238" y="5732475"/>
            <a:ext cx="64452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0" dirty="0">
                <a:latin typeface="Verdana"/>
                <a:cs typeface="Verdana"/>
              </a:rPr>
              <a:t>4. </a:t>
            </a:r>
            <a:r>
              <a:rPr sz="700" spc="-10" dirty="0">
                <a:latin typeface="Verdana"/>
                <a:cs typeface="Verdana"/>
              </a:rPr>
              <a:t>Modelación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53564" y="5785205"/>
            <a:ext cx="60198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85" dirty="0">
                <a:latin typeface="Verdana"/>
                <a:cs typeface="Verdana"/>
              </a:rPr>
              <a:t>5.</a:t>
            </a:r>
            <a:r>
              <a:rPr sz="700" spc="-55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Evaluación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38529" y="4895215"/>
            <a:ext cx="62738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70" dirty="0">
                <a:latin typeface="Verdana"/>
                <a:cs typeface="Verdana"/>
              </a:rPr>
              <a:t>6.</a:t>
            </a:r>
            <a:r>
              <a:rPr sz="700" spc="-45" dirty="0">
                <a:latin typeface="Verdana"/>
                <a:cs typeface="Verdana"/>
              </a:rPr>
              <a:t> </a:t>
            </a:r>
            <a:r>
              <a:rPr sz="700" spc="-10" dirty="0">
                <a:latin typeface="Verdana"/>
                <a:cs typeface="Verdana"/>
              </a:rPr>
              <a:t>Despliegue</a:t>
            </a:r>
            <a:endParaRPr sz="700">
              <a:latin typeface="Verdana"/>
              <a:cs typeface="Verdan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563624" y="3533775"/>
            <a:ext cx="2609215" cy="2070100"/>
          </a:xfrm>
          <a:custGeom>
            <a:avLst/>
            <a:gdLst/>
            <a:ahLst/>
            <a:cxnLst/>
            <a:rect l="l" t="t" r="r" b="b"/>
            <a:pathLst>
              <a:path w="2609215" h="2070100">
                <a:moveTo>
                  <a:pt x="275717" y="1898015"/>
                </a:moveTo>
                <a:lnTo>
                  <a:pt x="120891" y="1673669"/>
                </a:lnTo>
                <a:lnTo>
                  <a:pt x="155016" y="1650111"/>
                </a:lnTo>
                <a:lnTo>
                  <a:pt x="167894" y="1641221"/>
                </a:lnTo>
                <a:lnTo>
                  <a:pt x="0" y="1548765"/>
                </a:lnTo>
                <a:lnTo>
                  <a:pt x="26797" y="1738630"/>
                </a:lnTo>
                <a:lnTo>
                  <a:pt x="73863" y="1706130"/>
                </a:lnTo>
                <a:lnTo>
                  <a:pt x="228600" y="1930400"/>
                </a:lnTo>
                <a:lnTo>
                  <a:pt x="275717" y="1898015"/>
                </a:lnTo>
                <a:close/>
              </a:path>
              <a:path w="2609215" h="2070100">
                <a:moveTo>
                  <a:pt x="538480" y="820420"/>
                </a:moveTo>
                <a:lnTo>
                  <a:pt x="523963" y="796036"/>
                </a:lnTo>
                <a:lnTo>
                  <a:pt x="440436" y="655701"/>
                </a:lnTo>
                <a:lnTo>
                  <a:pt x="367538" y="832993"/>
                </a:lnTo>
                <a:lnTo>
                  <a:pt x="424497" y="828814"/>
                </a:lnTo>
                <a:lnTo>
                  <a:pt x="480822" y="1595247"/>
                </a:lnTo>
                <a:lnTo>
                  <a:pt x="537845" y="1591056"/>
                </a:lnTo>
                <a:lnTo>
                  <a:pt x="481520" y="824611"/>
                </a:lnTo>
                <a:lnTo>
                  <a:pt x="538480" y="820420"/>
                </a:lnTo>
                <a:close/>
              </a:path>
              <a:path w="2609215" h="2070100">
                <a:moveTo>
                  <a:pt x="1422146" y="85725"/>
                </a:moveTo>
                <a:lnTo>
                  <a:pt x="1364996" y="57150"/>
                </a:lnTo>
                <a:lnTo>
                  <a:pt x="1250696" y="0"/>
                </a:lnTo>
                <a:lnTo>
                  <a:pt x="1250696" y="57150"/>
                </a:lnTo>
                <a:lnTo>
                  <a:pt x="968502" y="57150"/>
                </a:lnTo>
                <a:lnTo>
                  <a:pt x="968502" y="0"/>
                </a:lnTo>
                <a:lnTo>
                  <a:pt x="797052" y="85725"/>
                </a:lnTo>
                <a:lnTo>
                  <a:pt x="968502" y="171450"/>
                </a:lnTo>
                <a:lnTo>
                  <a:pt x="968502" y="114300"/>
                </a:lnTo>
                <a:lnTo>
                  <a:pt x="1250696" y="114300"/>
                </a:lnTo>
                <a:lnTo>
                  <a:pt x="1250696" y="171450"/>
                </a:lnTo>
                <a:lnTo>
                  <a:pt x="1364996" y="114300"/>
                </a:lnTo>
                <a:lnTo>
                  <a:pt x="1422146" y="85725"/>
                </a:lnTo>
                <a:close/>
              </a:path>
              <a:path w="2609215" h="2070100">
                <a:moveTo>
                  <a:pt x="1473454" y="1956816"/>
                </a:moveTo>
                <a:lnTo>
                  <a:pt x="1128649" y="1955292"/>
                </a:lnTo>
                <a:lnTo>
                  <a:pt x="1128903" y="1898142"/>
                </a:lnTo>
                <a:lnTo>
                  <a:pt x="957072" y="1983105"/>
                </a:lnTo>
                <a:lnTo>
                  <a:pt x="1128141" y="2069604"/>
                </a:lnTo>
                <a:lnTo>
                  <a:pt x="1128382" y="2013966"/>
                </a:lnTo>
                <a:lnTo>
                  <a:pt x="1128395" y="2012442"/>
                </a:lnTo>
                <a:lnTo>
                  <a:pt x="1473200" y="2013966"/>
                </a:lnTo>
                <a:lnTo>
                  <a:pt x="1473327" y="1983105"/>
                </a:lnTo>
                <a:lnTo>
                  <a:pt x="1473454" y="1956816"/>
                </a:lnTo>
                <a:close/>
              </a:path>
              <a:path w="2609215" h="2070100">
                <a:moveTo>
                  <a:pt x="2527681" y="501523"/>
                </a:moveTo>
                <a:lnTo>
                  <a:pt x="2501138" y="419735"/>
                </a:lnTo>
                <a:lnTo>
                  <a:pt x="2468499" y="319151"/>
                </a:lnTo>
                <a:lnTo>
                  <a:pt x="2427757" y="359257"/>
                </a:lnTo>
                <a:lnTo>
                  <a:pt x="2138680" y="65671"/>
                </a:lnTo>
                <a:lnTo>
                  <a:pt x="2098040" y="105791"/>
                </a:lnTo>
                <a:lnTo>
                  <a:pt x="2387054" y="399326"/>
                </a:lnTo>
                <a:lnTo>
                  <a:pt x="2346325" y="439420"/>
                </a:lnTo>
                <a:lnTo>
                  <a:pt x="2527681" y="501523"/>
                </a:lnTo>
                <a:close/>
              </a:path>
              <a:path w="2609215" h="2070100">
                <a:moveTo>
                  <a:pt x="2609215" y="1484757"/>
                </a:moveTo>
                <a:lnTo>
                  <a:pt x="2443988" y="1581912"/>
                </a:lnTo>
                <a:lnTo>
                  <a:pt x="2491892" y="1613027"/>
                </a:lnTo>
                <a:lnTo>
                  <a:pt x="2366060" y="1806765"/>
                </a:lnTo>
                <a:lnTo>
                  <a:pt x="2318131" y="1775587"/>
                </a:lnTo>
                <a:lnTo>
                  <a:pt x="2296668" y="1966087"/>
                </a:lnTo>
                <a:lnTo>
                  <a:pt x="2461895" y="1869059"/>
                </a:lnTo>
                <a:lnTo>
                  <a:pt x="2450757" y="1861820"/>
                </a:lnTo>
                <a:lnTo>
                  <a:pt x="2413939" y="1837893"/>
                </a:lnTo>
                <a:lnTo>
                  <a:pt x="2539784" y="1644129"/>
                </a:lnTo>
                <a:lnTo>
                  <a:pt x="2587752" y="1675257"/>
                </a:lnTo>
                <a:lnTo>
                  <a:pt x="2597467" y="1589024"/>
                </a:lnTo>
                <a:lnTo>
                  <a:pt x="2609215" y="1484757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582672" y="4449902"/>
            <a:ext cx="5969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30" dirty="0">
                <a:latin typeface="Tahoma"/>
                <a:cs typeface="Tahoma"/>
              </a:rPr>
              <a:t>Data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87239" y="3066669"/>
            <a:ext cx="20104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Tahoma"/>
                <a:cs typeface="Tahoma"/>
              </a:rPr>
              <a:t>Etapa</a:t>
            </a:r>
            <a:r>
              <a:rPr sz="1500" b="1" spc="110" dirty="0">
                <a:latin typeface="Tahoma"/>
                <a:cs typeface="Tahoma"/>
              </a:rPr>
              <a:t> </a:t>
            </a:r>
            <a:r>
              <a:rPr sz="1500" b="1" spc="-80" dirty="0">
                <a:latin typeface="Tahoma"/>
                <a:cs typeface="Tahoma"/>
              </a:rPr>
              <a:t>6:</a:t>
            </a:r>
            <a:r>
              <a:rPr sz="1500" b="1" spc="55" dirty="0">
                <a:latin typeface="Tahoma"/>
                <a:cs typeface="Tahoma"/>
              </a:rPr>
              <a:t> </a:t>
            </a:r>
            <a:r>
              <a:rPr sz="1500" b="1" spc="35" dirty="0">
                <a:latin typeface="Tahoma"/>
                <a:cs typeface="Tahoma"/>
              </a:rPr>
              <a:t>Despliegue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087239" y="3523869"/>
            <a:ext cx="627697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242424"/>
                </a:solidFill>
                <a:latin typeface="Verdana"/>
                <a:cs typeface="Verdana"/>
              </a:rPr>
              <a:t>La</a:t>
            </a:r>
            <a:r>
              <a:rPr sz="1500" spc="-50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spc="-30" dirty="0">
                <a:solidFill>
                  <a:srgbClr val="242424"/>
                </a:solidFill>
                <a:latin typeface="Verdana"/>
                <a:cs typeface="Verdana"/>
              </a:rPr>
              <a:t>fase </a:t>
            </a:r>
            <a:r>
              <a:rPr sz="1500" dirty="0">
                <a:solidFill>
                  <a:srgbClr val="242424"/>
                </a:solidFill>
                <a:latin typeface="Verdana"/>
                <a:cs typeface="Verdana"/>
              </a:rPr>
              <a:t>de</a:t>
            </a:r>
            <a:r>
              <a:rPr sz="1500" spc="-65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42424"/>
                </a:solidFill>
                <a:latin typeface="Verdana"/>
                <a:cs typeface="Verdana"/>
              </a:rPr>
              <a:t>despliegue</a:t>
            </a:r>
            <a:r>
              <a:rPr sz="1500" spc="-105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42424"/>
                </a:solidFill>
                <a:latin typeface="Verdana"/>
                <a:cs typeface="Verdana"/>
              </a:rPr>
              <a:t>implica</a:t>
            </a:r>
            <a:r>
              <a:rPr sz="1500" spc="-70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242424"/>
                </a:solidFill>
                <a:latin typeface="Verdana"/>
                <a:cs typeface="Verdana"/>
              </a:rPr>
              <a:t>la</a:t>
            </a:r>
            <a:r>
              <a:rPr sz="1500" spc="-40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42424"/>
                </a:solidFill>
                <a:latin typeface="Verdana"/>
                <a:cs typeface="Verdana"/>
              </a:rPr>
              <a:t>explotación</a:t>
            </a:r>
            <a:r>
              <a:rPr sz="1500" spc="-95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42424"/>
                </a:solidFill>
                <a:latin typeface="Verdana"/>
                <a:cs typeface="Verdana"/>
              </a:rPr>
              <a:t>de</a:t>
            </a:r>
            <a:r>
              <a:rPr sz="1500" spc="-50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242424"/>
                </a:solidFill>
                <a:latin typeface="Verdana"/>
                <a:cs typeface="Verdana"/>
              </a:rPr>
              <a:t>los</a:t>
            </a:r>
            <a:r>
              <a:rPr sz="1500" spc="-50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242424"/>
                </a:solidFill>
                <a:latin typeface="Verdana"/>
                <a:cs typeface="Verdana"/>
              </a:rPr>
              <a:t>modelos </a:t>
            </a:r>
            <a:r>
              <a:rPr sz="1500" dirty="0">
                <a:solidFill>
                  <a:srgbClr val="242424"/>
                </a:solidFill>
                <a:latin typeface="Verdana"/>
                <a:cs typeface="Verdana"/>
              </a:rPr>
              <a:t>dentro</a:t>
            </a:r>
            <a:r>
              <a:rPr sz="1500" spc="-95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42424"/>
                </a:solidFill>
                <a:latin typeface="Verdana"/>
                <a:cs typeface="Verdana"/>
              </a:rPr>
              <a:t>de</a:t>
            </a:r>
            <a:r>
              <a:rPr sz="1500" spc="-70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spc="55" dirty="0">
                <a:solidFill>
                  <a:srgbClr val="242424"/>
                </a:solidFill>
                <a:latin typeface="Verdana"/>
                <a:cs typeface="Verdana"/>
              </a:rPr>
              <a:t>un</a:t>
            </a:r>
            <a:r>
              <a:rPr sz="1500" spc="-65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42424"/>
                </a:solidFill>
                <a:latin typeface="Verdana"/>
                <a:cs typeface="Verdana"/>
              </a:rPr>
              <a:t>entorno</a:t>
            </a:r>
            <a:r>
              <a:rPr sz="1500" spc="-100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42424"/>
                </a:solidFill>
                <a:latin typeface="Verdana"/>
                <a:cs typeface="Verdana"/>
              </a:rPr>
              <a:t>de</a:t>
            </a:r>
            <a:r>
              <a:rPr sz="1500" spc="-70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42424"/>
                </a:solidFill>
                <a:latin typeface="Verdana"/>
                <a:cs typeface="Verdana"/>
              </a:rPr>
              <a:t>producción.</a:t>
            </a:r>
            <a:r>
              <a:rPr sz="1500" spc="420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42424"/>
                </a:solidFill>
                <a:latin typeface="Verdana"/>
                <a:cs typeface="Verdana"/>
              </a:rPr>
              <a:t>La</a:t>
            </a:r>
            <a:r>
              <a:rPr sz="1500" spc="-60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42424"/>
                </a:solidFill>
                <a:latin typeface="Verdana"/>
                <a:cs typeface="Verdana"/>
              </a:rPr>
              <a:t>creación</a:t>
            </a:r>
            <a:r>
              <a:rPr sz="1500" spc="-75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42424"/>
                </a:solidFill>
                <a:latin typeface="Verdana"/>
                <a:cs typeface="Verdana"/>
              </a:rPr>
              <a:t>de</a:t>
            </a:r>
            <a:r>
              <a:rPr sz="1500" spc="-70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spc="55" dirty="0">
                <a:solidFill>
                  <a:srgbClr val="242424"/>
                </a:solidFill>
                <a:latin typeface="Verdana"/>
                <a:cs typeface="Verdana"/>
              </a:rPr>
              <a:t>un</a:t>
            </a:r>
            <a:r>
              <a:rPr sz="1500" spc="-65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242424"/>
                </a:solidFill>
                <a:latin typeface="Verdana"/>
                <a:cs typeface="Verdana"/>
              </a:rPr>
              <a:t>modelo </a:t>
            </a:r>
            <a:r>
              <a:rPr sz="1500" dirty="0">
                <a:solidFill>
                  <a:srgbClr val="242424"/>
                </a:solidFill>
                <a:latin typeface="Verdana"/>
                <a:cs typeface="Verdana"/>
              </a:rPr>
              <a:t>no</a:t>
            </a:r>
            <a:r>
              <a:rPr sz="1500" spc="-80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242424"/>
                </a:solidFill>
                <a:latin typeface="Verdana"/>
                <a:cs typeface="Verdana"/>
              </a:rPr>
              <a:t>es</a:t>
            </a:r>
            <a:r>
              <a:rPr sz="1500" spc="-75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42424"/>
                </a:solidFill>
                <a:latin typeface="Verdana"/>
                <a:cs typeface="Verdana"/>
              </a:rPr>
              <a:t>generalmente</a:t>
            </a:r>
            <a:r>
              <a:rPr sz="1500" spc="-110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42424"/>
                </a:solidFill>
                <a:latin typeface="Verdana"/>
                <a:cs typeface="Verdana"/>
              </a:rPr>
              <a:t>el</a:t>
            </a:r>
            <a:r>
              <a:rPr sz="1500" spc="-95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42424"/>
                </a:solidFill>
                <a:latin typeface="Verdana"/>
                <a:cs typeface="Verdana"/>
              </a:rPr>
              <a:t>final</a:t>
            </a:r>
            <a:r>
              <a:rPr sz="1500" spc="-80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42424"/>
                </a:solidFill>
                <a:latin typeface="Verdana"/>
                <a:cs typeface="Verdana"/>
              </a:rPr>
              <a:t>del</a:t>
            </a:r>
            <a:r>
              <a:rPr sz="1500" spc="-100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242424"/>
                </a:solidFill>
                <a:latin typeface="Verdana"/>
                <a:cs typeface="Verdana"/>
              </a:rPr>
              <a:t>proyecto,</a:t>
            </a:r>
            <a:r>
              <a:rPr sz="1500" spc="-85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spc="-60" dirty="0">
                <a:solidFill>
                  <a:srgbClr val="242424"/>
                </a:solidFill>
                <a:latin typeface="Verdana"/>
                <a:cs typeface="Verdana"/>
              </a:rPr>
              <a:t>ya</a:t>
            </a:r>
            <a:r>
              <a:rPr sz="1500" spc="-70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42424"/>
                </a:solidFill>
                <a:latin typeface="Verdana"/>
                <a:cs typeface="Verdana"/>
              </a:rPr>
              <a:t>que</a:t>
            </a:r>
            <a:r>
              <a:rPr sz="1500" spc="-75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42424"/>
                </a:solidFill>
                <a:latin typeface="Verdana"/>
                <a:cs typeface="Verdana"/>
              </a:rPr>
              <a:t>su</a:t>
            </a:r>
            <a:r>
              <a:rPr sz="1500" spc="-65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42424"/>
                </a:solidFill>
                <a:latin typeface="Verdana"/>
                <a:cs typeface="Verdana"/>
              </a:rPr>
              <a:t>creación</a:t>
            </a:r>
            <a:r>
              <a:rPr sz="1500" spc="-70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242424"/>
                </a:solidFill>
                <a:latin typeface="Verdana"/>
                <a:cs typeface="Verdana"/>
              </a:rPr>
              <a:t>es</a:t>
            </a:r>
            <a:r>
              <a:rPr sz="1500" spc="-95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spc="30" dirty="0">
                <a:solidFill>
                  <a:srgbClr val="242424"/>
                </a:solidFill>
                <a:latin typeface="Verdana"/>
                <a:cs typeface="Verdana"/>
              </a:rPr>
              <a:t>un </a:t>
            </a:r>
            <a:r>
              <a:rPr sz="1500" dirty="0">
                <a:solidFill>
                  <a:srgbClr val="242424"/>
                </a:solidFill>
                <a:latin typeface="Verdana"/>
                <a:cs typeface="Verdana"/>
              </a:rPr>
              <a:t>proceso</a:t>
            </a:r>
            <a:r>
              <a:rPr sz="1500" spc="-65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spc="-35" dirty="0">
                <a:solidFill>
                  <a:srgbClr val="242424"/>
                </a:solidFill>
                <a:latin typeface="Verdana"/>
                <a:cs typeface="Verdana"/>
              </a:rPr>
              <a:t>vivo</a:t>
            </a:r>
            <a:r>
              <a:rPr sz="1500" spc="-75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42424"/>
                </a:solidFill>
                <a:latin typeface="Verdana"/>
                <a:cs typeface="Verdana"/>
              </a:rPr>
              <a:t>dentro</a:t>
            </a:r>
            <a:r>
              <a:rPr sz="1500" spc="-80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42424"/>
                </a:solidFill>
                <a:latin typeface="Verdana"/>
                <a:cs typeface="Verdana"/>
              </a:rPr>
              <a:t>del</a:t>
            </a:r>
            <a:r>
              <a:rPr sz="1500" spc="-80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42424"/>
                </a:solidFill>
                <a:latin typeface="Verdana"/>
                <a:cs typeface="Verdana"/>
              </a:rPr>
              <a:t>proceso</a:t>
            </a:r>
            <a:r>
              <a:rPr sz="1500" spc="-65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42424"/>
                </a:solidFill>
                <a:latin typeface="Verdana"/>
                <a:cs typeface="Verdana"/>
              </a:rPr>
              <a:t>de</a:t>
            </a:r>
            <a:r>
              <a:rPr sz="1500" spc="-75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42424"/>
                </a:solidFill>
                <a:latin typeface="Verdana"/>
                <a:cs typeface="Verdana"/>
              </a:rPr>
              <a:t>decisiones</a:t>
            </a:r>
            <a:r>
              <a:rPr sz="1500" spc="-85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42424"/>
                </a:solidFill>
                <a:latin typeface="Verdana"/>
                <a:cs typeface="Verdana"/>
              </a:rPr>
              <a:t>de</a:t>
            </a:r>
            <a:r>
              <a:rPr sz="1500" spc="-65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242424"/>
                </a:solidFill>
                <a:latin typeface="Verdana"/>
                <a:cs typeface="Verdana"/>
              </a:rPr>
              <a:t>una </a:t>
            </a:r>
            <a:r>
              <a:rPr sz="1500" dirty="0">
                <a:solidFill>
                  <a:srgbClr val="242424"/>
                </a:solidFill>
                <a:latin typeface="Verdana"/>
                <a:cs typeface="Verdana"/>
              </a:rPr>
              <a:t>organización</a:t>
            </a:r>
            <a:r>
              <a:rPr sz="1500" spc="-90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242424"/>
                </a:solidFill>
                <a:latin typeface="Verdana"/>
                <a:cs typeface="Verdana"/>
              </a:rPr>
              <a:t>(podría</a:t>
            </a:r>
            <a:r>
              <a:rPr sz="1500" spc="-90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spc="-30" dirty="0">
                <a:solidFill>
                  <a:srgbClr val="242424"/>
                </a:solidFill>
                <a:latin typeface="Verdana"/>
                <a:cs typeface="Verdana"/>
              </a:rPr>
              <a:t>ser</a:t>
            </a:r>
            <a:r>
              <a:rPr sz="1500" spc="-65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42424"/>
                </a:solidFill>
                <a:latin typeface="Verdana"/>
                <a:cs typeface="Verdana"/>
              </a:rPr>
              <a:t>necesario</a:t>
            </a:r>
            <a:r>
              <a:rPr sz="1500" spc="-100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42424"/>
                </a:solidFill>
                <a:latin typeface="Verdana"/>
                <a:cs typeface="Verdana"/>
              </a:rPr>
              <a:t>rehacer</a:t>
            </a:r>
            <a:r>
              <a:rPr sz="1500" spc="-95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42424"/>
                </a:solidFill>
                <a:latin typeface="Verdana"/>
                <a:cs typeface="Verdana"/>
              </a:rPr>
              <a:t>el</a:t>
            </a:r>
            <a:r>
              <a:rPr sz="1500" spc="-75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42424"/>
                </a:solidFill>
                <a:latin typeface="Verdana"/>
                <a:cs typeface="Verdana"/>
              </a:rPr>
              <a:t>modelo</a:t>
            </a:r>
            <a:r>
              <a:rPr sz="1500" spc="-105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42424"/>
                </a:solidFill>
                <a:latin typeface="Verdana"/>
                <a:cs typeface="Verdana"/>
              </a:rPr>
              <a:t>para</a:t>
            </a:r>
            <a:r>
              <a:rPr sz="1500" spc="-75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242424"/>
                </a:solidFill>
                <a:latin typeface="Verdana"/>
                <a:cs typeface="Verdana"/>
              </a:rPr>
              <a:t>tener </a:t>
            </a:r>
            <a:r>
              <a:rPr sz="1500" spc="10" dirty="0">
                <a:solidFill>
                  <a:srgbClr val="242424"/>
                </a:solidFill>
                <a:latin typeface="Verdana"/>
                <a:cs typeface="Verdana"/>
              </a:rPr>
              <a:t>en</a:t>
            </a:r>
            <a:r>
              <a:rPr sz="1500" spc="-60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spc="10" dirty="0">
                <a:solidFill>
                  <a:srgbClr val="242424"/>
                </a:solidFill>
                <a:latin typeface="Verdana"/>
                <a:cs typeface="Verdana"/>
              </a:rPr>
              <a:t>cuenta</a:t>
            </a:r>
            <a:r>
              <a:rPr sz="1500" spc="-45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spc="10" dirty="0">
                <a:solidFill>
                  <a:srgbClr val="242424"/>
                </a:solidFill>
                <a:latin typeface="Verdana"/>
                <a:cs typeface="Verdana"/>
              </a:rPr>
              <a:t>nuevo</a:t>
            </a:r>
            <a:r>
              <a:rPr sz="1500" spc="-75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spc="10" dirty="0">
                <a:solidFill>
                  <a:srgbClr val="242424"/>
                </a:solidFill>
                <a:latin typeface="Verdana"/>
                <a:cs typeface="Verdana"/>
              </a:rPr>
              <a:t>conocimiento</a:t>
            </a:r>
            <a:r>
              <a:rPr sz="1500" spc="-65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spc="10" dirty="0">
                <a:solidFill>
                  <a:srgbClr val="242424"/>
                </a:solidFill>
                <a:latin typeface="Verdana"/>
                <a:cs typeface="Verdana"/>
              </a:rPr>
              <a:t>en</a:t>
            </a:r>
            <a:r>
              <a:rPr sz="1500" spc="-75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242424"/>
                </a:solidFill>
                <a:latin typeface="Verdana"/>
                <a:cs typeface="Verdana"/>
              </a:rPr>
              <a:t>el</a:t>
            </a:r>
            <a:r>
              <a:rPr sz="1500" spc="-60" dirty="0">
                <a:solidFill>
                  <a:srgbClr val="242424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242424"/>
                </a:solidFill>
                <a:latin typeface="Verdana"/>
                <a:cs typeface="Verdana"/>
              </a:rPr>
              <a:t>futuro).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17424" y="6623710"/>
            <a:ext cx="499300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</a:rPr>
              <a:t>Shearer</a:t>
            </a:r>
            <a:r>
              <a:rPr sz="800" i="1" spc="-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55" dirty="0">
                <a:solidFill>
                  <a:srgbClr val="393939"/>
                </a:solidFill>
                <a:latin typeface="Verdana"/>
                <a:cs typeface="Verdana"/>
              </a:rPr>
              <a:t>C.</a:t>
            </a:r>
            <a:r>
              <a:rPr sz="800" i="1" spc="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55" dirty="0">
                <a:solidFill>
                  <a:srgbClr val="393939"/>
                </a:solidFill>
                <a:latin typeface="Verdana"/>
                <a:cs typeface="Verdana"/>
              </a:rPr>
              <a:t>(2000).</a:t>
            </a:r>
            <a:r>
              <a:rPr sz="800" i="1" spc="-4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The</a:t>
            </a:r>
            <a:r>
              <a:rPr sz="800" i="1" spc="1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25" dirty="0">
                <a:solidFill>
                  <a:srgbClr val="393939"/>
                </a:solidFill>
                <a:latin typeface="Verdana"/>
                <a:cs typeface="Verdana"/>
              </a:rPr>
              <a:t>CRISP-</a:t>
            </a:r>
            <a:r>
              <a:rPr sz="800" i="1" spc="65" dirty="0">
                <a:solidFill>
                  <a:srgbClr val="393939"/>
                </a:solidFill>
                <a:latin typeface="Verdana"/>
                <a:cs typeface="Verdana"/>
              </a:rPr>
              <a:t>DM</a:t>
            </a:r>
            <a:r>
              <a:rPr sz="800" i="1" spc="-3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25" dirty="0">
                <a:solidFill>
                  <a:srgbClr val="393939"/>
                </a:solidFill>
                <a:latin typeface="Verdana"/>
                <a:cs typeface="Verdana"/>
              </a:rPr>
              <a:t>model:</a:t>
            </a: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the</a:t>
            </a: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new</a:t>
            </a:r>
            <a:r>
              <a:rPr sz="800" i="1" spc="-2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blueprint</a:t>
            </a:r>
            <a:r>
              <a:rPr sz="800" i="1" spc="-2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</a:rPr>
              <a:t>for</a:t>
            </a:r>
            <a:r>
              <a:rPr sz="800" i="1" spc="-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data</a:t>
            </a:r>
            <a:r>
              <a:rPr sz="800" i="1" spc="-2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mining,</a:t>
            </a:r>
            <a:r>
              <a:rPr sz="800" i="1" spc="-2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J</a:t>
            </a:r>
            <a:r>
              <a:rPr sz="800" i="1" spc="-1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Data</a:t>
            </a:r>
            <a:r>
              <a:rPr sz="800" i="1" spc="-2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</a:rPr>
              <a:t>Warehousing.</a:t>
            </a:r>
            <a:endParaRPr sz="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70" dirty="0"/>
              <a:t>Big</a:t>
            </a:r>
            <a:r>
              <a:rPr spc="-40" dirty="0"/>
              <a:t> </a:t>
            </a:r>
            <a:r>
              <a:rPr spc="95"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3249" y="6000699"/>
            <a:ext cx="10103485" cy="853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98065" marR="506730" indent="-998219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030B8"/>
                </a:solidFill>
                <a:latin typeface="Verdana"/>
                <a:cs typeface="Verdana"/>
              </a:rPr>
              <a:t>Técnicas</a:t>
            </a:r>
            <a:r>
              <a:rPr sz="16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0030B8"/>
                </a:solidFill>
                <a:latin typeface="Verdana"/>
                <a:cs typeface="Verdana"/>
              </a:rPr>
              <a:t>computacionales</a:t>
            </a:r>
            <a:r>
              <a:rPr sz="1600" spc="-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0030B8"/>
                </a:solidFill>
                <a:latin typeface="Verdana"/>
                <a:cs typeface="Verdana"/>
              </a:rPr>
              <a:t>usadas</a:t>
            </a:r>
            <a:r>
              <a:rPr sz="1600" spc="-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6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0030B8"/>
                </a:solidFill>
                <a:latin typeface="Verdana"/>
                <a:cs typeface="Verdana"/>
              </a:rPr>
              <a:t>forma</a:t>
            </a:r>
            <a:r>
              <a:rPr sz="16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0030B8"/>
                </a:solidFill>
                <a:latin typeface="Verdana"/>
                <a:cs typeface="Verdana"/>
              </a:rPr>
              <a:t>eficiente</a:t>
            </a:r>
            <a:r>
              <a:rPr sz="16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16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0030B8"/>
                </a:solidFill>
                <a:latin typeface="Verdana"/>
                <a:cs typeface="Verdana"/>
              </a:rPr>
              <a:t>datos</a:t>
            </a:r>
            <a:r>
              <a:rPr sz="16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0030B8"/>
                </a:solidFill>
                <a:latin typeface="Verdana"/>
                <a:cs typeface="Verdana"/>
              </a:rPr>
              <a:t>masivos</a:t>
            </a:r>
            <a:r>
              <a:rPr sz="16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600" spc="-9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6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0030B8"/>
                </a:solidFill>
                <a:latin typeface="Verdana"/>
                <a:cs typeface="Verdana"/>
              </a:rPr>
              <a:t>distintos (estructurados</a:t>
            </a:r>
            <a:r>
              <a:rPr sz="16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600" spc="-9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6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0030B8"/>
                </a:solidFill>
                <a:latin typeface="Verdana"/>
                <a:cs typeface="Verdana"/>
              </a:rPr>
              <a:t>no</a:t>
            </a:r>
            <a:r>
              <a:rPr sz="16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0030B8"/>
                </a:solidFill>
                <a:latin typeface="Verdana"/>
                <a:cs typeface="Verdana"/>
              </a:rPr>
              <a:t>estructurados)</a:t>
            </a:r>
            <a:r>
              <a:rPr sz="16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0030B8"/>
                </a:solidFill>
                <a:latin typeface="Verdana"/>
                <a:cs typeface="Verdana"/>
              </a:rPr>
              <a:t>para</a:t>
            </a:r>
            <a:r>
              <a:rPr sz="16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600" spc="-25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6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0030B8"/>
                </a:solidFill>
                <a:latin typeface="Verdana"/>
                <a:cs typeface="Verdana"/>
              </a:rPr>
              <a:t>toma</a:t>
            </a:r>
            <a:r>
              <a:rPr sz="16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6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0030B8"/>
                </a:solidFill>
                <a:latin typeface="Verdana"/>
                <a:cs typeface="Verdana"/>
              </a:rPr>
              <a:t>decisiones</a:t>
            </a:r>
            <a:endParaRPr sz="1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720"/>
              </a:spcBef>
            </a:pP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</a:rPr>
              <a:t>Rodríguez,</a:t>
            </a:r>
            <a:r>
              <a:rPr sz="800" i="1" spc="1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20" dirty="0">
                <a:solidFill>
                  <a:srgbClr val="393939"/>
                </a:solidFill>
                <a:latin typeface="Verdana"/>
                <a:cs typeface="Verdana"/>
              </a:rPr>
              <a:t>P.</a:t>
            </a:r>
            <a:r>
              <a:rPr sz="800" i="1" spc="1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et</a:t>
            </a:r>
            <a:r>
              <a:rPr sz="800" i="1" spc="3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55" dirty="0">
                <a:solidFill>
                  <a:srgbClr val="393939"/>
                </a:solidFill>
                <a:latin typeface="Verdana"/>
                <a:cs typeface="Verdana"/>
              </a:rPr>
              <a:t>al.,</a:t>
            </a:r>
            <a:r>
              <a:rPr sz="800" i="1" spc="2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100" dirty="0">
                <a:solidFill>
                  <a:srgbClr val="393939"/>
                </a:solidFill>
                <a:latin typeface="Verdana"/>
                <a:cs typeface="Verdana"/>
              </a:rPr>
              <a:t>(2017),</a:t>
            </a:r>
            <a:r>
              <a:rPr sz="800" i="1" spc="1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El uso</a:t>
            </a:r>
            <a:r>
              <a:rPr sz="800" i="1" spc="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de</a:t>
            </a:r>
            <a:r>
              <a:rPr sz="800" i="1" spc="1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datos</a:t>
            </a: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masivos</a:t>
            </a:r>
            <a:r>
              <a:rPr sz="800" i="1" spc="-1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50" dirty="0">
                <a:solidFill>
                  <a:srgbClr val="393939"/>
                </a:solidFill>
                <a:latin typeface="Verdana"/>
                <a:cs typeface="Verdana"/>
              </a:rPr>
              <a:t>y</a:t>
            </a:r>
            <a:r>
              <a:rPr sz="800" i="1" spc="2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</a:rPr>
              <a:t>sus</a:t>
            </a:r>
            <a:r>
              <a:rPr sz="800" i="1" spc="-1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técnicas</a:t>
            </a: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analíticas</a:t>
            </a:r>
            <a:r>
              <a:rPr sz="800" i="1" spc="-2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para</a:t>
            </a:r>
            <a:r>
              <a:rPr sz="800" i="1" spc="-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</a:rPr>
              <a:t>el</a:t>
            </a:r>
            <a:r>
              <a:rPr sz="800" i="1" spc="2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diseño e</a:t>
            </a:r>
            <a:r>
              <a:rPr sz="800" i="1" spc="1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implementación</a:t>
            </a:r>
            <a:r>
              <a:rPr sz="800" i="1" spc="-2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de</a:t>
            </a:r>
            <a:r>
              <a:rPr sz="800" i="1" spc="1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políticas</a:t>
            </a:r>
            <a:r>
              <a:rPr sz="800" i="1" spc="-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públicas</a:t>
            </a:r>
            <a:r>
              <a:rPr sz="800" i="1" spc="-2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en</a:t>
            </a:r>
            <a:r>
              <a:rPr sz="800" i="1" spc="3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Latinoamérica</a:t>
            </a:r>
            <a:r>
              <a:rPr sz="800" i="1" spc="-1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50" dirty="0">
                <a:solidFill>
                  <a:srgbClr val="393939"/>
                </a:solidFill>
                <a:latin typeface="Verdana"/>
                <a:cs typeface="Verdana"/>
              </a:rPr>
              <a:t>y</a:t>
            </a:r>
            <a:r>
              <a:rPr sz="800" i="1" spc="1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</a:rPr>
              <a:t>el</a:t>
            </a:r>
            <a:r>
              <a:rPr sz="800" i="1" spc="1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</a:rPr>
              <a:t>Caribe,</a:t>
            </a:r>
            <a:r>
              <a:rPr sz="800" i="1" spc="3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Banco</a:t>
            </a:r>
            <a:r>
              <a:rPr sz="800" i="1" spc="-3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Interamericano</a:t>
            </a:r>
            <a:r>
              <a:rPr sz="800" i="1" spc="5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dirty="0">
                <a:solidFill>
                  <a:srgbClr val="393939"/>
                </a:solidFill>
                <a:latin typeface="Verdana"/>
                <a:cs typeface="Verdana"/>
              </a:rPr>
              <a:t>de</a:t>
            </a:r>
            <a:r>
              <a:rPr sz="800" i="1" spc="10" dirty="0">
                <a:solidFill>
                  <a:srgbClr val="393939"/>
                </a:solidFill>
                <a:latin typeface="Verdana"/>
                <a:cs typeface="Verdana"/>
              </a:rPr>
              <a:t> </a:t>
            </a:r>
            <a:r>
              <a:rPr sz="800" i="1" spc="-10" dirty="0">
                <a:solidFill>
                  <a:srgbClr val="393939"/>
                </a:solidFill>
                <a:latin typeface="Verdana"/>
                <a:cs typeface="Verdana"/>
              </a:rPr>
              <a:t>Desarrollo.</a:t>
            </a:r>
            <a:endParaRPr sz="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68085" y="2553080"/>
            <a:ext cx="101409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90" dirty="0">
                <a:latin typeface="Trebuchet MS"/>
                <a:cs typeface="Trebuchet MS"/>
              </a:rPr>
              <a:t>Volumen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27272" y="3974972"/>
            <a:ext cx="11334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0" dirty="0">
                <a:latin typeface="Trebuchet MS"/>
                <a:cs typeface="Trebuchet MS"/>
              </a:rPr>
              <a:t>Veracidad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57625" y="5387136"/>
            <a:ext cx="1118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0" dirty="0">
                <a:latin typeface="Trebuchet MS"/>
                <a:cs typeface="Trebuchet MS"/>
              </a:rPr>
              <a:t>Velocidad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00238" y="3950334"/>
            <a:ext cx="10052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0" dirty="0">
                <a:latin typeface="Trebuchet MS"/>
                <a:cs typeface="Trebuchet MS"/>
              </a:rPr>
              <a:t>Variedad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15808" y="5349951"/>
            <a:ext cx="60452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5" dirty="0">
                <a:latin typeface="Trebuchet MS"/>
                <a:cs typeface="Trebuchet MS"/>
              </a:rPr>
              <a:t>Valor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99076" y="2880360"/>
            <a:ext cx="2898648" cy="289864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687948" y="4239259"/>
            <a:ext cx="11696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90" dirty="0">
                <a:latin typeface="Trebuchet MS"/>
                <a:cs typeface="Trebuchet MS"/>
              </a:rPr>
              <a:t>Bigdata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70" dirty="0"/>
              <a:t>Big</a:t>
            </a:r>
            <a:r>
              <a:rPr spc="-45" dirty="0"/>
              <a:t> </a:t>
            </a:r>
            <a:r>
              <a:rPr dirty="0"/>
              <a:t>Data:</a:t>
            </a:r>
            <a:r>
              <a:rPr spc="-25" dirty="0"/>
              <a:t> </a:t>
            </a:r>
            <a:r>
              <a:rPr spc="85" dirty="0"/>
              <a:t>arquitectura</a:t>
            </a:r>
          </a:p>
        </p:txBody>
      </p:sp>
      <p:sp>
        <p:nvSpPr>
          <p:cNvPr id="3" name="object 3"/>
          <p:cNvSpPr/>
          <p:nvPr/>
        </p:nvSpPr>
        <p:spPr>
          <a:xfrm>
            <a:off x="1744979" y="2958083"/>
            <a:ext cx="1252855" cy="3583304"/>
          </a:xfrm>
          <a:custGeom>
            <a:avLst/>
            <a:gdLst/>
            <a:ahLst/>
            <a:cxnLst/>
            <a:rect l="l" t="t" r="r" b="b"/>
            <a:pathLst>
              <a:path w="1252855" h="3583304">
                <a:moveTo>
                  <a:pt x="0" y="3582924"/>
                </a:moveTo>
                <a:lnTo>
                  <a:pt x="1252728" y="3582924"/>
                </a:lnTo>
                <a:lnTo>
                  <a:pt x="1252728" y="0"/>
                </a:lnTo>
                <a:lnTo>
                  <a:pt x="0" y="0"/>
                </a:lnTo>
                <a:lnTo>
                  <a:pt x="0" y="3582924"/>
                </a:lnTo>
                <a:close/>
              </a:path>
            </a:pathLst>
          </a:custGeom>
          <a:ln w="60325">
            <a:solidFill>
              <a:srgbClr val="172F1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069338" y="2687192"/>
            <a:ext cx="6731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7E7E7E"/>
                </a:solidFill>
                <a:latin typeface="Tahoma"/>
                <a:cs typeface="Tahoma"/>
              </a:rPr>
              <a:t>Fuentes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005583" y="3241548"/>
            <a:ext cx="6130290" cy="3191510"/>
            <a:chOff x="2005583" y="3241548"/>
            <a:chExt cx="6130290" cy="3191510"/>
          </a:xfrm>
        </p:grpSpPr>
        <p:pic>
          <p:nvPicPr>
            <p:cNvPr id="6" name="object 6" descr="Resultado de imagen para database table icon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54351" y="3241548"/>
              <a:ext cx="719327" cy="748283"/>
            </a:xfrm>
            <a:prstGeom prst="rect">
              <a:avLst/>
            </a:prstGeom>
          </p:spPr>
        </p:pic>
        <p:pic>
          <p:nvPicPr>
            <p:cNvPr id="7" name="object 7" descr="Resultado de imagen para database flat icon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54351" y="4079748"/>
              <a:ext cx="710184" cy="740663"/>
            </a:xfrm>
            <a:prstGeom prst="rect">
              <a:avLst/>
            </a:prstGeom>
          </p:spPr>
        </p:pic>
        <p:pic>
          <p:nvPicPr>
            <p:cNvPr id="8" name="object 8" descr="Resultado de imagen para ERP icon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37587" y="4817364"/>
              <a:ext cx="845819" cy="880872"/>
            </a:xfrm>
            <a:prstGeom prst="rect">
              <a:avLst/>
            </a:prstGeom>
          </p:spPr>
        </p:pic>
        <p:pic>
          <p:nvPicPr>
            <p:cNvPr id="9" name="object 9" descr="Resultado de imagen para cloud icon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05583" y="5519927"/>
              <a:ext cx="877824" cy="91287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26663" y="4072128"/>
              <a:ext cx="1331976" cy="138684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171943" y="4460748"/>
              <a:ext cx="957580" cy="544195"/>
            </a:xfrm>
            <a:custGeom>
              <a:avLst/>
              <a:gdLst/>
              <a:ahLst/>
              <a:cxnLst/>
              <a:rect l="l" t="t" r="r" b="b"/>
              <a:pathLst>
                <a:path w="957579" h="544195">
                  <a:moveTo>
                    <a:pt x="685037" y="0"/>
                  </a:moveTo>
                  <a:lnTo>
                    <a:pt x="685037" y="136016"/>
                  </a:lnTo>
                  <a:lnTo>
                    <a:pt x="0" y="136016"/>
                  </a:lnTo>
                  <a:lnTo>
                    <a:pt x="0" y="408050"/>
                  </a:lnTo>
                  <a:lnTo>
                    <a:pt x="685037" y="408050"/>
                  </a:lnTo>
                  <a:lnTo>
                    <a:pt x="685037" y="544068"/>
                  </a:lnTo>
                  <a:lnTo>
                    <a:pt x="957072" y="272033"/>
                  </a:lnTo>
                  <a:lnTo>
                    <a:pt x="685037" y="0"/>
                  </a:lnTo>
                  <a:close/>
                </a:path>
              </a:pathLst>
            </a:custGeom>
            <a:solidFill>
              <a:srgbClr val="8484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171943" y="4460748"/>
              <a:ext cx="957580" cy="544195"/>
            </a:xfrm>
            <a:custGeom>
              <a:avLst/>
              <a:gdLst/>
              <a:ahLst/>
              <a:cxnLst/>
              <a:rect l="l" t="t" r="r" b="b"/>
              <a:pathLst>
                <a:path w="957579" h="544195">
                  <a:moveTo>
                    <a:pt x="0" y="136016"/>
                  </a:moveTo>
                  <a:lnTo>
                    <a:pt x="685037" y="136016"/>
                  </a:lnTo>
                  <a:lnTo>
                    <a:pt x="685037" y="0"/>
                  </a:lnTo>
                  <a:lnTo>
                    <a:pt x="957072" y="272033"/>
                  </a:lnTo>
                  <a:lnTo>
                    <a:pt x="685037" y="544068"/>
                  </a:lnTo>
                  <a:lnTo>
                    <a:pt x="685037" y="408050"/>
                  </a:lnTo>
                  <a:lnTo>
                    <a:pt x="0" y="408050"/>
                  </a:lnTo>
                  <a:lnTo>
                    <a:pt x="0" y="136016"/>
                  </a:lnTo>
                  <a:close/>
                </a:path>
              </a:pathLst>
            </a:custGeom>
            <a:ln w="12700">
              <a:solidFill>
                <a:srgbClr val="84848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392804" y="3641852"/>
            <a:ext cx="6254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7E7E7E"/>
                </a:solidFill>
                <a:latin typeface="Tahoma"/>
                <a:cs typeface="Tahoma"/>
              </a:rPr>
              <a:t>Ingesta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800847" y="2708528"/>
            <a:ext cx="20135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55" dirty="0">
                <a:solidFill>
                  <a:srgbClr val="7E7E7E"/>
                </a:solidFill>
                <a:latin typeface="Tahoma"/>
                <a:cs typeface="Tahoma"/>
              </a:rPr>
              <a:t>Consumo</a:t>
            </a:r>
            <a:r>
              <a:rPr sz="1200" b="1" dirty="0">
                <a:solidFill>
                  <a:srgbClr val="7E7E7E"/>
                </a:solidFill>
                <a:latin typeface="Tahoma"/>
                <a:cs typeface="Tahoma"/>
              </a:rPr>
              <a:t> y</a:t>
            </a:r>
            <a:r>
              <a:rPr sz="1200" b="1" spc="10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1200" b="1" spc="-10" dirty="0">
                <a:solidFill>
                  <a:srgbClr val="7E7E7E"/>
                </a:solidFill>
                <a:latin typeface="Tahoma"/>
                <a:cs typeface="Tahoma"/>
              </a:rPr>
              <a:t>Visualización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175053" y="2927921"/>
            <a:ext cx="1315085" cy="3643629"/>
            <a:chOff x="8175053" y="2927921"/>
            <a:chExt cx="1315085" cy="3643629"/>
          </a:xfrm>
        </p:grpSpPr>
        <p:sp>
          <p:nvSpPr>
            <p:cNvPr id="16" name="object 16"/>
            <p:cNvSpPr/>
            <p:nvPr/>
          </p:nvSpPr>
          <p:spPr>
            <a:xfrm>
              <a:off x="8205216" y="2958083"/>
              <a:ext cx="1254760" cy="3583304"/>
            </a:xfrm>
            <a:custGeom>
              <a:avLst/>
              <a:gdLst/>
              <a:ahLst/>
              <a:cxnLst/>
              <a:rect l="l" t="t" r="r" b="b"/>
              <a:pathLst>
                <a:path w="1254759" h="3583304">
                  <a:moveTo>
                    <a:pt x="0" y="3582924"/>
                  </a:moveTo>
                  <a:lnTo>
                    <a:pt x="1254252" y="3582924"/>
                  </a:lnTo>
                  <a:lnTo>
                    <a:pt x="1254252" y="0"/>
                  </a:lnTo>
                  <a:lnTo>
                    <a:pt x="0" y="0"/>
                  </a:lnTo>
                  <a:lnTo>
                    <a:pt x="0" y="3582924"/>
                  </a:lnTo>
                  <a:close/>
                </a:path>
              </a:pathLst>
            </a:custGeom>
            <a:ln w="60325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 descr="Resultado de imagen para database flat icon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11540" y="3415283"/>
              <a:ext cx="789431" cy="824483"/>
            </a:xfrm>
            <a:prstGeom prst="rect">
              <a:avLst/>
            </a:prstGeom>
          </p:spPr>
        </p:pic>
        <p:pic>
          <p:nvPicPr>
            <p:cNvPr id="18" name="object 18" descr="Resultado de imagen para cloud icon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348472" y="4471416"/>
              <a:ext cx="1014983" cy="740663"/>
            </a:xfrm>
            <a:prstGeom prst="rect">
              <a:avLst/>
            </a:prstGeom>
          </p:spPr>
        </p:pic>
        <p:pic>
          <p:nvPicPr>
            <p:cNvPr id="19" name="object 19" descr="Resultado de imagen para analytics icon white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386572" y="5468111"/>
              <a:ext cx="902207" cy="938783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4650994" y="6500266"/>
            <a:ext cx="22891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30" dirty="0">
                <a:solidFill>
                  <a:srgbClr val="7E7E7E"/>
                </a:solidFill>
                <a:latin typeface="Tahoma"/>
                <a:cs typeface="Tahoma"/>
              </a:rPr>
              <a:t>Almacenamiento</a:t>
            </a:r>
            <a:r>
              <a:rPr sz="1200" b="1" spc="125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1200" b="1" spc="30" dirty="0">
                <a:solidFill>
                  <a:srgbClr val="7E7E7E"/>
                </a:solidFill>
                <a:latin typeface="Tahoma"/>
                <a:cs typeface="Tahoma"/>
              </a:rPr>
              <a:t>y</a:t>
            </a:r>
            <a:r>
              <a:rPr sz="1200" b="1" spc="105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1200" b="1" spc="-10" dirty="0">
                <a:solidFill>
                  <a:srgbClr val="7E7E7E"/>
                </a:solidFill>
                <a:latin typeface="Tahoma"/>
                <a:cs typeface="Tahoma"/>
              </a:rPr>
              <a:t>Consulta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339145" y="2927921"/>
            <a:ext cx="2740025" cy="3541395"/>
            <a:chOff x="4339145" y="2927921"/>
            <a:chExt cx="2740025" cy="3541395"/>
          </a:xfrm>
        </p:grpSpPr>
        <p:sp>
          <p:nvSpPr>
            <p:cNvPr id="22" name="object 22"/>
            <p:cNvSpPr/>
            <p:nvPr/>
          </p:nvSpPr>
          <p:spPr>
            <a:xfrm>
              <a:off x="4369308" y="5079491"/>
              <a:ext cx="2679700" cy="1359535"/>
            </a:xfrm>
            <a:custGeom>
              <a:avLst/>
              <a:gdLst/>
              <a:ahLst/>
              <a:cxnLst/>
              <a:rect l="l" t="t" r="r" b="b"/>
              <a:pathLst>
                <a:path w="2679700" h="1359535">
                  <a:moveTo>
                    <a:pt x="0" y="1359408"/>
                  </a:moveTo>
                  <a:lnTo>
                    <a:pt x="2679191" y="1359408"/>
                  </a:lnTo>
                  <a:lnTo>
                    <a:pt x="2679191" y="0"/>
                  </a:lnTo>
                  <a:lnTo>
                    <a:pt x="0" y="0"/>
                  </a:lnTo>
                  <a:lnTo>
                    <a:pt x="0" y="1359408"/>
                  </a:lnTo>
                  <a:close/>
                </a:path>
              </a:pathLst>
            </a:custGeom>
            <a:ln w="60324">
              <a:solidFill>
                <a:srgbClr val="FFAB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72228" y="5391911"/>
              <a:ext cx="771144" cy="784860"/>
            </a:xfrm>
            <a:prstGeom prst="rect">
              <a:avLst/>
            </a:prstGeom>
          </p:spPr>
        </p:pic>
        <p:pic>
          <p:nvPicPr>
            <p:cNvPr id="24" name="object 24" descr="Resultado de imagen para database flat icon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59424" y="5414772"/>
              <a:ext cx="615696" cy="64008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395216" y="2958083"/>
              <a:ext cx="2646045" cy="1531620"/>
            </a:xfrm>
            <a:custGeom>
              <a:avLst/>
              <a:gdLst/>
              <a:ahLst/>
              <a:cxnLst/>
              <a:rect l="l" t="t" r="r" b="b"/>
              <a:pathLst>
                <a:path w="2646045" h="1531620">
                  <a:moveTo>
                    <a:pt x="0" y="1531620"/>
                  </a:moveTo>
                  <a:lnTo>
                    <a:pt x="2645664" y="1531620"/>
                  </a:lnTo>
                  <a:lnTo>
                    <a:pt x="2645664" y="0"/>
                  </a:lnTo>
                  <a:lnTo>
                    <a:pt x="0" y="0"/>
                  </a:lnTo>
                  <a:lnTo>
                    <a:pt x="0" y="1531620"/>
                  </a:lnTo>
                  <a:close/>
                </a:path>
              </a:pathLst>
            </a:custGeom>
            <a:ln w="60325">
              <a:solidFill>
                <a:srgbClr val="37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413250" y="2717038"/>
            <a:ext cx="26460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20" dirty="0">
                <a:solidFill>
                  <a:srgbClr val="7E7E7E"/>
                </a:solidFill>
                <a:latin typeface="Tahoma"/>
                <a:cs typeface="Tahoma"/>
              </a:rPr>
              <a:t>Modelación</a:t>
            </a:r>
            <a:r>
              <a:rPr sz="1200" b="1" spc="75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1200" b="1" spc="20" dirty="0">
                <a:solidFill>
                  <a:srgbClr val="7E7E7E"/>
                </a:solidFill>
                <a:latin typeface="Tahoma"/>
                <a:cs typeface="Tahoma"/>
              </a:rPr>
              <a:t>y</a:t>
            </a:r>
            <a:r>
              <a:rPr sz="1200" b="1" spc="95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1200" b="1" spc="20" dirty="0">
                <a:solidFill>
                  <a:srgbClr val="7E7E7E"/>
                </a:solidFill>
                <a:latin typeface="Tahoma"/>
                <a:cs typeface="Tahoma"/>
              </a:rPr>
              <a:t>respuesta</a:t>
            </a:r>
            <a:r>
              <a:rPr sz="1200" b="1" spc="100" dirty="0">
                <a:solidFill>
                  <a:srgbClr val="7E7E7E"/>
                </a:solidFill>
                <a:latin typeface="Tahoma"/>
                <a:cs typeface="Tahoma"/>
              </a:rPr>
              <a:t> </a:t>
            </a:r>
            <a:r>
              <a:rPr sz="1200" b="1" spc="-10" dirty="0">
                <a:solidFill>
                  <a:srgbClr val="7E7E7E"/>
                </a:solidFill>
                <a:latin typeface="Tahoma"/>
                <a:cs typeface="Tahoma"/>
              </a:rPr>
              <a:t>analítica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501896" y="3240023"/>
            <a:ext cx="2392680" cy="1737995"/>
            <a:chOff x="4501896" y="3240023"/>
            <a:chExt cx="2392680" cy="1737995"/>
          </a:xfrm>
        </p:grpSpPr>
        <p:sp>
          <p:nvSpPr>
            <p:cNvPr id="28" name="object 28"/>
            <p:cNvSpPr/>
            <p:nvPr/>
          </p:nvSpPr>
          <p:spPr>
            <a:xfrm>
              <a:off x="5629656" y="4530851"/>
              <a:ext cx="238125" cy="440690"/>
            </a:xfrm>
            <a:custGeom>
              <a:avLst/>
              <a:gdLst/>
              <a:ahLst/>
              <a:cxnLst/>
              <a:rect l="l" t="t" r="r" b="b"/>
              <a:pathLst>
                <a:path w="238125" h="440689">
                  <a:moveTo>
                    <a:pt x="118872" y="0"/>
                  </a:moveTo>
                  <a:lnTo>
                    <a:pt x="0" y="118872"/>
                  </a:lnTo>
                  <a:lnTo>
                    <a:pt x="59436" y="118872"/>
                  </a:lnTo>
                  <a:lnTo>
                    <a:pt x="59436" y="321564"/>
                  </a:lnTo>
                  <a:lnTo>
                    <a:pt x="0" y="321564"/>
                  </a:lnTo>
                  <a:lnTo>
                    <a:pt x="118872" y="440436"/>
                  </a:lnTo>
                  <a:lnTo>
                    <a:pt x="237744" y="321564"/>
                  </a:lnTo>
                  <a:lnTo>
                    <a:pt x="178308" y="321564"/>
                  </a:lnTo>
                  <a:lnTo>
                    <a:pt x="178308" y="118872"/>
                  </a:lnTo>
                  <a:lnTo>
                    <a:pt x="237744" y="118872"/>
                  </a:lnTo>
                  <a:lnTo>
                    <a:pt x="118872" y="0"/>
                  </a:lnTo>
                  <a:close/>
                </a:path>
              </a:pathLst>
            </a:custGeom>
            <a:solidFill>
              <a:srgbClr val="8484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629656" y="4530851"/>
              <a:ext cx="238125" cy="440690"/>
            </a:xfrm>
            <a:custGeom>
              <a:avLst/>
              <a:gdLst/>
              <a:ahLst/>
              <a:cxnLst/>
              <a:rect l="l" t="t" r="r" b="b"/>
              <a:pathLst>
                <a:path w="238125" h="440689">
                  <a:moveTo>
                    <a:pt x="0" y="118872"/>
                  </a:moveTo>
                  <a:lnTo>
                    <a:pt x="118872" y="0"/>
                  </a:lnTo>
                  <a:lnTo>
                    <a:pt x="237744" y="118872"/>
                  </a:lnTo>
                  <a:lnTo>
                    <a:pt x="178308" y="118872"/>
                  </a:lnTo>
                  <a:lnTo>
                    <a:pt x="178308" y="321564"/>
                  </a:lnTo>
                  <a:lnTo>
                    <a:pt x="237744" y="321564"/>
                  </a:lnTo>
                  <a:lnTo>
                    <a:pt x="118872" y="440436"/>
                  </a:lnTo>
                  <a:lnTo>
                    <a:pt x="0" y="321564"/>
                  </a:lnTo>
                  <a:lnTo>
                    <a:pt x="59436" y="321564"/>
                  </a:lnTo>
                  <a:lnTo>
                    <a:pt x="59436" y="118872"/>
                  </a:lnTo>
                  <a:lnTo>
                    <a:pt x="0" y="118872"/>
                  </a:lnTo>
                  <a:close/>
                </a:path>
              </a:pathLst>
            </a:custGeom>
            <a:ln w="12700">
              <a:solidFill>
                <a:srgbClr val="84848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099048" y="3240023"/>
              <a:ext cx="795527" cy="755903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501896" y="3255263"/>
              <a:ext cx="749808" cy="794004"/>
            </a:xfrm>
            <a:prstGeom prst="rect">
              <a:avLst/>
            </a:prstGeom>
          </p:spPr>
        </p:pic>
        <p:pic>
          <p:nvPicPr>
            <p:cNvPr id="32" name="object 32" descr="Imagen relacionada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340096" y="3311651"/>
              <a:ext cx="678179" cy="70713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70" dirty="0"/>
              <a:t>Big</a:t>
            </a:r>
            <a:r>
              <a:rPr spc="-45" dirty="0"/>
              <a:t> </a:t>
            </a:r>
            <a:r>
              <a:rPr dirty="0"/>
              <a:t>Data:</a:t>
            </a:r>
            <a:r>
              <a:rPr spc="-25" dirty="0"/>
              <a:t> </a:t>
            </a:r>
            <a:r>
              <a:rPr spc="105" dirty="0"/>
              <a:t>lago</a:t>
            </a:r>
            <a:r>
              <a:rPr spc="-40" dirty="0"/>
              <a:t> </a:t>
            </a:r>
            <a:r>
              <a:rPr spc="195" dirty="0"/>
              <a:t>de</a:t>
            </a:r>
            <a:r>
              <a:rPr spc="-30" dirty="0"/>
              <a:t> </a:t>
            </a:r>
            <a:r>
              <a:rPr spc="100" dirty="0"/>
              <a:t>datos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73777" y="2459482"/>
            <a:ext cx="18243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2CDAFF"/>
                </a:solidFill>
                <a:latin typeface="Verdana"/>
                <a:cs typeface="Verdana"/>
              </a:rPr>
              <a:t>Flujo</a:t>
            </a:r>
            <a:r>
              <a:rPr sz="2000" spc="-155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60" dirty="0">
                <a:solidFill>
                  <a:srgbClr val="2CDAFF"/>
                </a:solidFill>
                <a:latin typeface="Verdana"/>
                <a:cs typeface="Verdana"/>
              </a:rPr>
              <a:t>de</a:t>
            </a:r>
            <a:r>
              <a:rPr sz="2000" spc="-13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2CDAFF"/>
                </a:solidFill>
                <a:latin typeface="Verdana"/>
                <a:cs typeface="Verdana"/>
              </a:rPr>
              <a:t>datos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62454" y="5442305"/>
            <a:ext cx="9613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Verdana"/>
                <a:cs typeface="Verdana"/>
              </a:rPr>
              <a:t>Fuentes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44617" y="5480405"/>
            <a:ext cx="46380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10915" algn="l"/>
              </a:tabLst>
            </a:pPr>
            <a:r>
              <a:rPr sz="1800" dirty="0">
                <a:latin typeface="Verdana"/>
                <a:cs typeface="Verdana"/>
              </a:rPr>
              <a:t>Lago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</a:t>
            </a:r>
            <a:r>
              <a:rPr sz="1800" spc="-7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Datos</a:t>
            </a:r>
            <a:r>
              <a:rPr sz="1800" spc="-100" dirty="0">
                <a:latin typeface="Verdana"/>
                <a:cs typeface="Verdana"/>
              </a:rPr>
              <a:t> </a:t>
            </a:r>
            <a:r>
              <a:rPr sz="1800" spc="-130" dirty="0">
                <a:latin typeface="Verdana"/>
                <a:cs typeface="Verdana"/>
              </a:rPr>
              <a:t>-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spc="-20" dirty="0">
                <a:latin typeface="Verdana"/>
                <a:cs typeface="Verdana"/>
              </a:rPr>
              <a:t>Zonas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35" dirty="0">
                <a:latin typeface="Verdana"/>
                <a:cs typeface="Verdana"/>
              </a:rPr>
              <a:t>Consumo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24939" y="5835396"/>
            <a:ext cx="8437245" cy="523240"/>
          </a:xfrm>
          <a:prstGeom prst="rect">
            <a:avLst/>
          </a:prstGeom>
          <a:solidFill>
            <a:srgbClr val="474537"/>
          </a:solidFill>
        </p:spPr>
        <p:txBody>
          <a:bodyPr vert="horz" wrap="square" lIns="0" tIns="131445" rIns="0" bIns="0" rtlCol="0">
            <a:spAutoFit/>
          </a:bodyPr>
          <a:lstStyle/>
          <a:p>
            <a:pPr marL="426720">
              <a:lnSpc>
                <a:spcPct val="100000"/>
              </a:lnSpc>
              <a:spcBef>
                <a:spcPts val="1035"/>
              </a:spcBef>
            </a:pPr>
            <a:r>
              <a:rPr sz="1600" spc="-40" dirty="0">
                <a:solidFill>
                  <a:srgbClr val="FFFFFF"/>
                </a:solidFill>
                <a:latin typeface="Verdana"/>
                <a:cs typeface="Verdana"/>
              </a:rPr>
              <a:t>Gobierno:</a:t>
            </a:r>
            <a:r>
              <a:rPr sz="1600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/>
                <a:cs typeface="Verdana"/>
              </a:rPr>
              <a:t>Metadata,</a:t>
            </a:r>
            <a:r>
              <a:rPr sz="1600" spc="-1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Verdana"/>
                <a:cs typeface="Verdana"/>
              </a:rPr>
              <a:t>Seguridad,</a:t>
            </a:r>
            <a:r>
              <a:rPr sz="1600" spc="-6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Segregación</a:t>
            </a:r>
            <a:r>
              <a:rPr sz="1600" spc="-5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FFFFFF"/>
                </a:solidFill>
                <a:latin typeface="Verdana"/>
                <a:cs typeface="Verdana"/>
              </a:rPr>
              <a:t>de</a:t>
            </a:r>
            <a:r>
              <a:rPr sz="1600" spc="-9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30" dirty="0">
                <a:solidFill>
                  <a:srgbClr val="FFFFFF"/>
                </a:solidFill>
                <a:latin typeface="Verdana"/>
                <a:cs typeface="Verdana"/>
              </a:rPr>
              <a:t>roles</a:t>
            </a:r>
            <a:r>
              <a:rPr sz="1600" spc="-8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95" dirty="0">
                <a:solidFill>
                  <a:srgbClr val="FFFFFF"/>
                </a:solidFill>
                <a:latin typeface="Verdana"/>
                <a:cs typeface="Verdana"/>
              </a:rPr>
              <a:t>y</a:t>
            </a:r>
            <a:r>
              <a:rPr sz="16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/>
                <a:cs typeface="Verdana"/>
              </a:rPr>
              <a:t>funciones,</a:t>
            </a:r>
            <a:r>
              <a:rPr sz="1600" spc="-8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Verdana"/>
                <a:cs typeface="Verdana"/>
              </a:rPr>
              <a:t>Accesos.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921764" y="3326891"/>
            <a:ext cx="582295" cy="1902460"/>
            <a:chOff x="1921764" y="3326891"/>
            <a:chExt cx="582295" cy="190246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1764" y="4687823"/>
              <a:ext cx="541019" cy="5410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38528" y="4009643"/>
              <a:ext cx="524256" cy="52273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38528" y="3326891"/>
              <a:ext cx="565404" cy="56540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953255" y="3331464"/>
            <a:ext cx="1009015" cy="2040889"/>
          </a:xfrm>
          <a:prstGeom prst="rect">
            <a:avLst/>
          </a:prstGeom>
          <a:solidFill>
            <a:srgbClr val="CDD6D5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1000">
              <a:latin typeface="Times New Roman"/>
              <a:cs typeface="Times New Roman"/>
            </a:endParaRPr>
          </a:p>
          <a:p>
            <a:pPr marL="137795">
              <a:lnSpc>
                <a:spcPct val="100000"/>
              </a:lnSpc>
            </a:pPr>
            <a:r>
              <a:rPr sz="1000" spc="-10" dirty="0">
                <a:solidFill>
                  <a:srgbClr val="FFFFFF"/>
                </a:solidFill>
                <a:latin typeface="Verdana"/>
                <a:cs typeface="Verdana"/>
              </a:rPr>
              <a:t>TRANSIENT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40452" y="3322320"/>
            <a:ext cx="911860" cy="1369060"/>
          </a:xfrm>
          <a:prstGeom prst="rect">
            <a:avLst/>
          </a:prstGeom>
          <a:solidFill>
            <a:srgbClr val="FFAB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Times New Roman"/>
              <a:cs typeface="Times New Roman"/>
            </a:endParaRPr>
          </a:p>
          <a:p>
            <a:pPr marL="163195">
              <a:lnSpc>
                <a:spcPct val="100000"/>
              </a:lnSpc>
              <a:spcBef>
                <a:spcPts val="5"/>
              </a:spcBef>
            </a:pPr>
            <a:r>
              <a:rPr sz="1800" spc="85" dirty="0">
                <a:solidFill>
                  <a:srgbClr val="FFFFFF"/>
                </a:solidFill>
                <a:latin typeface="Verdana"/>
                <a:cs typeface="Verdana"/>
              </a:rPr>
              <a:t>RAW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23076" y="4061459"/>
            <a:ext cx="1580515" cy="597535"/>
          </a:xfrm>
          <a:prstGeom prst="rect">
            <a:avLst/>
          </a:prstGeom>
          <a:solidFill>
            <a:srgbClr val="3366C4"/>
          </a:solidFill>
        </p:spPr>
        <p:txBody>
          <a:bodyPr vert="horz" wrap="square" lIns="0" tIns="151765" rIns="0" bIns="0" rtlCol="0">
            <a:spAutoFit/>
          </a:bodyPr>
          <a:lstStyle/>
          <a:p>
            <a:pPr marL="245110">
              <a:lnSpc>
                <a:spcPct val="100000"/>
              </a:lnSpc>
              <a:spcBef>
                <a:spcPts val="1195"/>
              </a:spcBef>
            </a:pP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TRUSTED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23076" y="3331464"/>
            <a:ext cx="1580515" cy="584200"/>
          </a:xfrm>
          <a:prstGeom prst="rect">
            <a:avLst/>
          </a:prstGeom>
          <a:solidFill>
            <a:srgbClr val="3366C4"/>
          </a:solidFill>
        </p:spPr>
        <p:txBody>
          <a:bodyPr vert="horz" wrap="square" lIns="0" tIns="144145" rIns="0" bIns="0" rtlCol="0">
            <a:spAutoFit/>
          </a:bodyPr>
          <a:lstStyle/>
          <a:p>
            <a:pPr marL="262255">
              <a:lnSpc>
                <a:spcPct val="100000"/>
              </a:lnSpc>
              <a:spcBef>
                <a:spcPts val="1135"/>
              </a:spcBef>
            </a:pP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REFINED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40452" y="4866132"/>
            <a:ext cx="2776855" cy="532130"/>
          </a:xfrm>
          <a:prstGeom prst="rect">
            <a:avLst/>
          </a:prstGeom>
          <a:solidFill>
            <a:srgbClr val="3CBBA3"/>
          </a:solidFill>
        </p:spPr>
        <p:txBody>
          <a:bodyPr vert="horz" wrap="square" lIns="0" tIns="118745" rIns="0" bIns="0" rtlCol="0">
            <a:spAutoFit/>
          </a:bodyPr>
          <a:lstStyle/>
          <a:p>
            <a:pPr marL="791845">
              <a:lnSpc>
                <a:spcPct val="100000"/>
              </a:lnSpc>
              <a:spcBef>
                <a:spcPts val="935"/>
              </a:spcBef>
            </a:pPr>
            <a:r>
              <a:rPr sz="1800" spc="-10" dirty="0">
                <a:solidFill>
                  <a:srgbClr val="FFFFFF"/>
                </a:solidFill>
                <a:latin typeface="Verdana"/>
                <a:cs typeface="Verdana"/>
              </a:rPr>
              <a:t>SANDBOX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590800" y="3276600"/>
            <a:ext cx="6764020" cy="2051685"/>
            <a:chOff x="2590800" y="3276600"/>
            <a:chExt cx="6764020" cy="2051685"/>
          </a:xfrm>
        </p:grpSpPr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97467" y="3276600"/>
              <a:ext cx="638555" cy="63855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23376" y="4030980"/>
              <a:ext cx="630935" cy="63093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6235" y="4786883"/>
              <a:ext cx="541020" cy="54102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90800" y="3727704"/>
              <a:ext cx="1296924" cy="138988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62905" y="4309872"/>
              <a:ext cx="178181" cy="11430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043803" y="3905123"/>
              <a:ext cx="271780" cy="161925"/>
            </a:xfrm>
            <a:custGeom>
              <a:avLst/>
              <a:gdLst/>
              <a:ahLst/>
              <a:cxnLst/>
              <a:rect l="l" t="t" r="r" b="b"/>
              <a:pathLst>
                <a:path w="271779" h="161925">
                  <a:moveTo>
                    <a:pt x="113030" y="0"/>
                  </a:moveTo>
                  <a:lnTo>
                    <a:pt x="110746" y="53879"/>
                  </a:lnTo>
                  <a:lnTo>
                    <a:pt x="137668" y="54990"/>
                  </a:lnTo>
                  <a:lnTo>
                    <a:pt x="135430" y="107829"/>
                  </a:lnTo>
                  <a:lnTo>
                    <a:pt x="135382" y="108965"/>
                  </a:lnTo>
                  <a:lnTo>
                    <a:pt x="108411" y="108965"/>
                  </a:lnTo>
                  <a:lnTo>
                    <a:pt x="106172" y="161797"/>
                  </a:lnTo>
                  <a:lnTo>
                    <a:pt x="223867" y="108965"/>
                  </a:lnTo>
                  <a:lnTo>
                    <a:pt x="135382" y="108965"/>
                  </a:lnTo>
                  <a:lnTo>
                    <a:pt x="108459" y="107829"/>
                  </a:lnTo>
                  <a:lnTo>
                    <a:pt x="226399" y="107829"/>
                  </a:lnTo>
                  <a:lnTo>
                    <a:pt x="271399" y="87629"/>
                  </a:lnTo>
                  <a:lnTo>
                    <a:pt x="113030" y="0"/>
                  </a:lnTo>
                  <a:close/>
                </a:path>
                <a:path w="271779" h="161925">
                  <a:moveTo>
                    <a:pt x="110746" y="53879"/>
                  </a:moveTo>
                  <a:lnTo>
                    <a:pt x="108459" y="107829"/>
                  </a:lnTo>
                  <a:lnTo>
                    <a:pt x="135382" y="108965"/>
                  </a:lnTo>
                  <a:lnTo>
                    <a:pt x="137668" y="54990"/>
                  </a:lnTo>
                  <a:lnTo>
                    <a:pt x="110746" y="53879"/>
                  </a:lnTo>
                  <a:close/>
                </a:path>
                <a:path w="271779" h="161925">
                  <a:moveTo>
                    <a:pt x="2286" y="49402"/>
                  </a:moveTo>
                  <a:lnTo>
                    <a:pt x="0" y="103250"/>
                  </a:lnTo>
                  <a:lnTo>
                    <a:pt x="108459" y="107829"/>
                  </a:lnTo>
                  <a:lnTo>
                    <a:pt x="110699" y="54990"/>
                  </a:lnTo>
                  <a:lnTo>
                    <a:pt x="110746" y="53879"/>
                  </a:lnTo>
                  <a:lnTo>
                    <a:pt x="2286" y="49402"/>
                  </a:lnTo>
                  <a:close/>
                </a:path>
              </a:pathLst>
            </a:custGeom>
            <a:solidFill>
              <a:srgbClr val="8484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44998" y="4706874"/>
              <a:ext cx="123825" cy="18326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078217" y="4659630"/>
              <a:ext cx="76200" cy="19634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052817" y="3915918"/>
              <a:ext cx="123825" cy="145542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2992373" y="3297428"/>
            <a:ext cx="52133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10" dirty="0">
                <a:solidFill>
                  <a:srgbClr val="7E7E7E"/>
                </a:solidFill>
                <a:latin typeface="Tahoma"/>
                <a:cs typeface="Tahoma"/>
              </a:rPr>
              <a:t>Ingesta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404619" y="6556959"/>
            <a:ext cx="501269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5" dirty="0">
                <a:latin typeface="Verdana"/>
                <a:cs typeface="Verdana"/>
              </a:rPr>
              <a:t>Thusso,</a:t>
            </a:r>
            <a:r>
              <a:rPr sz="800" spc="-30" dirty="0">
                <a:latin typeface="Verdana"/>
                <a:cs typeface="Verdana"/>
              </a:rPr>
              <a:t> </a:t>
            </a:r>
            <a:r>
              <a:rPr sz="800" spc="-55" dirty="0">
                <a:latin typeface="Verdana"/>
                <a:cs typeface="Verdana"/>
              </a:rPr>
              <a:t>A.</a:t>
            </a:r>
            <a:r>
              <a:rPr sz="800" spc="-20" dirty="0">
                <a:latin typeface="Verdana"/>
                <a:cs typeface="Verdana"/>
              </a:rPr>
              <a:t> </a:t>
            </a:r>
            <a:r>
              <a:rPr sz="800" spc="-60" dirty="0">
                <a:latin typeface="Verdana"/>
                <a:cs typeface="Verdana"/>
              </a:rPr>
              <a:t>&amp;</a:t>
            </a:r>
            <a:r>
              <a:rPr sz="800" spc="-25" dirty="0">
                <a:latin typeface="Verdana"/>
                <a:cs typeface="Verdana"/>
              </a:rPr>
              <a:t> Sharma,</a:t>
            </a:r>
            <a:r>
              <a:rPr sz="800" spc="-3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B.</a:t>
            </a:r>
            <a:r>
              <a:rPr sz="800" spc="-30" dirty="0">
                <a:latin typeface="Verdana"/>
                <a:cs typeface="Verdana"/>
              </a:rPr>
              <a:t> </a:t>
            </a:r>
            <a:r>
              <a:rPr sz="800" spc="-100" dirty="0">
                <a:latin typeface="Verdana"/>
                <a:cs typeface="Verdana"/>
              </a:rPr>
              <a:t>(2015).</a:t>
            </a:r>
            <a:r>
              <a:rPr sz="800" spc="-35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Architecting</a:t>
            </a:r>
            <a:r>
              <a:rPr sz="800" spc="-30" dirty="0">
                <a:latin typeface="Verdana"/>
                <a:cs typeface="Verdana"/>
              </a:rPr>
              <a:t> </a:t>
            </a:r>
            <a:r>
              <a:rPr sz="800" dirty="0">
                <a:latin typeface="Verdana"/>
                <a:cs typeface="Verdana"/>
              </a:rPr>
              <a:t>Data</a:t>
            </a:r>
            <a:r>
              <a:rPr sz="800" spc="-20" dirty="0">
                <a:latin typeface="Verdana"/>
                <a:cs typeface="Verdana"/>
              </a:rPr>
              <a:t> </a:t>
            </a:r>
            <a:r>
              <a:rPr sz="800" spc="-30" dirty="0">
                <a:latin typeface="Verdana"/>
                <a:cs typeface="Verdana"/>
              </a:rPr>
              <a:t>Lakes,</a:t>
            </a:r>
            <a:r>
              <a:rPr sz="800" spc="-15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O'Reilly</a:t>
            </a:r>
            <a:r>
              <a:rPr sz="800" spc="-35" dirty="0">
                <a:latin typeface="Verdana"/>
                <a:cs typeface="Verdana"/>
              </a:rPr>
              <a:t> </a:t>
            </a:r>
            <a:r>
              <a:rPr sz="800" spc="-10" dirty="0">
                <a:latin typeface="Verdana"/>
                <a:cs typeface="Verdana"/>
              </a:rPr>
              <a:t>Media,</a:t>
            </a:r>
            <a:r>
              <a:rPr sz="800" spc="-20" dirty="0">
                <a:latin typeface="Verdana"/>
                <a:cs typeface="Verdana"/>
              </a:rPr>
              <a:t> </a:t>
            </a:r>
            <a:r>
              <a:rPr sz="800" spc="-60" dirty="0">
                <a:latin typeface="Verdana"/>
                <a:cs typeface="Verdana"/>
              </a:rPr>
              <a:t>Inc.,</a:t>
            </a:r>
            <a:r>
              <a:rPr sz="800" spc="5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isbn:</a:t>
            </a:r>
            <a:r>
              <a:rPr sz="800" spc="-30" dirty="0">
                <a:latin typeface="Verdana"/>
                <a:cs typeface="Verdana"/>
              </a:rPr>
              <a:t> </a:t>
            </a:r>
            <a:r>
              <a:rPr sz="800" spc="-40" dirty="0">
                <a:latin typeface="Verdana"/>
                <a:cs typeface="Verdana"/>
              </a:rPr>
              <a:t>978-</a:t>
            </a:r>
            <a:r>
              <a:rPr sz="800" spc="-150" dirty="0">
                <a:latin typeface="Verdana"/>
                <a:cs typeface="Verdana"/>
              </a:rPr>
              <a:t>1-</a:t>
            </a:r>
            <a:r>
              <a:rPr sz="800" spc="-35" dirty="0">
                <a:latin typeface="Verdana"/>
                <a:cs typeface="Verdana"/>
              </a:rPr>
              <a:t>49-</a:t>
            </a:r>
            <a:r>
              <a:rPr sz="800" spc="-85" dirty="0">
                <a:latin typeface="Verdana"/>
                <a:cs typeface="Verdana"/>
              </a:rPr>
              <a:t>195259-</a:t>
            </a:r>
            <a:r>
              <a:rPr sz="800" spc="-25" dirty="0">
                <a:latin typeface="Verdana"/>
                <a:cs typeface="Verdana"/>
              </a:rPr>
              <a:t>7.</a:t>
            </a:r>
            <a:endParaRPr sz="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668771" y="2893567"/>
            <a:ext cx="21964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85" dirty="0"/>
              <a:t>Modelar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68771" y="3612260"/>
            <a:ext cx="4661535" cy="2372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2CDAFF"/>
                </a:solidFill>
                <a:latin typeface="Verdana"/>
                <a:cs typeface="Verdana"/>
                <a:hlinkClick r:id="rId2"/>
              </a:rPr>
              <a:t>https://miro.com/welcomeonboa </a:t>
            </a:r>
            <a:r>
              <a:rPr sz="2200" spc="-20" dirty="0">
                <a:solidFill>
                  <a:srgbClr val="2CDAFF"/>
                </a:solidFill>
                <a:latin typeface="Verdana"/>
                <a:cs typeface="Verdana"/>
                <a:hlinkClick r:id="rId2"/>
              </a:rPr>
              <a:t>rd/TFd1YTJzSEdmTDFGN20za3oz</a:t>
            </a:r>
            <a:r>
              <a:rPr sz="2200" spc="-2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200" spc="45" dirty="0">
                <a:solidFill>
                  <a:srgbClr val="2CDAFF"/>
                </a:solidFill>
                <a:latin typeface="Verdana"/>
                <a:cs typeface="Verdana"/>
              </a:rPr>
              <a:t>MjJIdDNoaWVUUFMwRFZoYjFlb </a:t>
            </a:r>
            <a:r>
              <a:rPr sz="2200" spc="-10" dirty="0">
                <a:solidFill>
                  <a:srgbClr val="2CDAFF"/>
                </a:solidFill>
                <a:latin typeface="Verdana"/>
                <a:cs typeface="Verdana"/>
              </a:rPr>
              <a:t>nNnM3o0ZTJUa1pzbERiaFBxRkN 2UWxiMHFyY3wzNDU4NzY0NTI</a:t>
            </a:r>
            <a:endParaRPr sz="2200">
              <a:latin typeface="Verdana"/>
              <a:cs typeface="Verdana"/>
            </a:endParaRPr>
          </a:p>
          <a:p>
            <a:pPr marL="12700" marR="146050">
              <a:lnSpc>
                <a:spcPct val="100000"/>
              </a:lnSpc>
            </a:pPr>
            <a:r>
              <a:rPr sz="2200" spc="-30" dirty="0">
                <a:solidFill>
                  <a:srgbClr val="2CDAFF"/>
                </a:solidFill>
                <a:latin typeface="Verdana"/>
                <a:cs typeface="Verdana"/>
              </a:rPr>
              <a:t>wMjAyNjQ0NTcy?share_link_id= </a:t>
            </a:r>
            <a:r>
              <a:rPr sz="2200" spc="-40" dirty="0">
                <a:solidFill>
                  <a:srgbClr val="2CDAFF"/>
                </a:solidFill>
                <a:latin typeface="Verdana"/>
                <a:cs typeface="Verdana"/>
              </a:rPr>
              <a:t>822644236781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73480" y="2593848"/>
            <a:ext cx="38862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68771" y="3189477"/>
            <a:ext cx="397256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4000" b="1" spc="114" dirty="0">
                <a:solidFill>
                  <a:srgbClr val="0030B8"/>
                </a:solidFill>
                <a:latin typeface="Tahoma"/>
                <a:cs typeface="Tahoma"/>
              </a:rPr>
              <a:t>Validemos </a:t>
            </a:r>
            <a:r>
              <a:rPr sz="4000" b="1" spc="135" dirty="0">
                <a:solidFill>
                  <a:srgbClr val="0030B8"/>
                </a:solidFill>
                <a:latin typeface="Tahoma"/>
                <a:cs typeface="Tahoma"/>
              </a:rPr>
              <a:t>conocimientos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68771" y="4654041"/>
            <a:ext cx="1726564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65" dirty="0">
                <a:solidFill>
                  <a:srgbClr val="2CDAFF"/>
                </a:solidFill>
                <a:latin typeface="Verdana"/>
                <a:cs typeface="Verdana"/>
              </a:rPr>
              <a:t>Juguemos</a:t>
            </a:r>
            <a:r>
              <a:rPr sz="2200" spc="-20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200" spc="-320" dirty="0">
                <a:solidFill>
                  <a:srgbClr val="2CDAFF"/>
                </a:solidFill>
                <a:latin typeface="Verdana"/>
                <a:cs typeface="Verdana"/>
              </a:rPr>
              <a:t>!!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9324" y="2919983"/>
            <a:ext cx="3680460" cy="3678936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9930" y="2857957"/>
            <a:ext cx="8885555" cy="2586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El</a:t>
            </a:r>
            <a:r>
              <a:rPr sz="2400" spc="-1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60" dirty="0">
                <a:solidFill>
                  <a:srgbClr val="0030B8"/>
                </a:solidFill>
                <a:latin typeface="Verdana"/>
                <a:cs typeface="Verdana"/>
              </a:rPr>
              <a:t>municipio</a:t>
            </a:r>
            <a:r>
              <a:rPr sz="2400" spc="-20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130" dirty="0">
                <a:solidFill>
                  <a:srgbClr val="0030B8"/>
                </a:solidFill>
                <a:latin typeface="Verdana"/>
                <a:cs typeface="Verdana"/>
              </a:rPr>
              <a:t>SIO</a:t>
            </a:r>
            <a:r>
              <a:rPr sz="2400" spc="-1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0030B8"/>
                </a:solidFill>
                <a:latin typeface="Verdana"/>
                <a:cs typeface="Verdana"/>
              </a:rPr>
              <a:t>está</a:t>
            </a:r>
            <a:r>
              <a:rPr sz="2400" spc="-1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55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2400" spc="-1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proceso</a:t>
            </a:r>
            <a:r>
              <a:rPr sz="2400" spc="-2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7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2400" spc="-1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apoyo</a:t>
            </a:r>
            <a:r>
              <a:rPr sz="2400" spc="-20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0030B8"/>
                </a:solidFill>
                <a:latin typeface="Verdana"/>
                <a:cs typeface="Verdana"/>
              </a:rPr>
              <a:t>a</a:t>
            </a:r>
            <a:r>
              <a:rPr sz="2400" spc="-1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0030B8"/>
                </a:solidFill>
                <a:latin typeface="Verdana"/>
                <a:cs typeface="Verdana"/>
              </a:rPr>
              <a:t>los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campesinos</a:t>
            </a:r>
            <a:r>
              <a:rPr sz="2400" spc="-1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7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2400" spc="-1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2400" spc="-1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0030B8"/>
                </a:solidFill>
                <a:latin typeface="Verdana"/>
                <a:cs typeface="Verdana"/>
              </a:rPr>
              <a:t>región,</a:t>
            </a:r>
            <a:r>
              <a:rPr sz="2400" spc="-1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para</a:t>
            </a:r>
            <a:r>
              <a:rPr sz="2400" spc="-1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lo</a:t>
            </a:r>
            <a:r>
              <a:rPr sz="2400" spc="-1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cual</a:t>
            </a:r>
            <a:r>
              <a:rPr sz="2400" spc="-1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0030B8"/>
                </a:solidFill>
                <a:latin typeface="Verdana"/>
                <a:cs typeface="Verdana"/>
              </a:rPr>
              <a:t>realizó</a:t>
            </a:r>
            <a:r>
              <a:rPr sz="2400" spc="-1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una</a:t>
            </a:r>
            <a:r>
              <a:rPr sz="2400" spc="-1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0030B8"/>
                </a:solidFill>
                <a:latin typeface="Verdana"/>
                <a:cs typeface="Verdana"/>
              </a:rPr>
              <a:t>encuesta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para</a:t>
            </a:r>
            <a:r>
              <a:rPr sz="2400" spc="-1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0030B8"/>
                </a:solidFill>
                <a:latin typeface="Verdana"/>
                <a:cs typeface="Verdana"/>
              </a:rPr>
              <a:t>caracterizar</a:t>
            </a:r>
            <a:r>
              <a:rPr sz="2400" spc="-1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50" dirty="0">
                <a:solidFill>
                  <a:srgbClr val="0030B8"/>
                </a:solidFill>
                <a:latin typeface="Verdana"/>
                <a:cs typeface="Verdana"/>
              </a:rPr>
              <a:t>las</a:t>
            </a:r>
            <a:r>
              <a:rPr sz="2400" spc="-1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necesidades</a:t>
            </a:r>
            <a:r>
              <a:rPr sz="2400" spc="-1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7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2400" spc="-1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apoyo</a:t>
            </a:r>
            <a:r>
              <a:rPr sz="2400" spc="-1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0030B8"/>
                </a:solidFill>
                <a:latin typeface="Verdana"/>
                <a:cs typeface="Verdana"/>
              </a:rPr>
              <a:t>económico, </a:t>
            </a:r>
            <a:r>
              <a:rPr sz="2400" spc="55" dirty="0">
                <a:solidFill>
                  <a:srgbClr val="0030B8"/>
                </a:solidFill>
                <a:latin typeface="Verdana"/>
                <a:cs typeface="Verdana"/>
              </a:rPr>
              <a:t>conocimiento</a:t>
            </a:r>
            <a:r>
              <a:rPr sz="2400" spc="-1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e</a:t>
            </a:r>
            <a:r>
              <a:rPr sz="2400" spc="-1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0030B8"/>
                </a:solidFill>
                <a:latin typeface="Verdana"/>
                <a:cs typeface="Verdana"/>
              </a:rPr>
              <a:t>infraestructura</a:t>
            </a:r>
            <a:r>
              <a:rPr sz="2400" spc="-20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55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2400" spc="-1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0030B8"/>
                </a:solidFill>
                <a:latin typeface="Verdana"/>
                <a:cs typeface="Verdana"/>
              </a:rPr>
              <a:t>sus</a:t>
            </a:r>
            <a:r>
              <a:rPr sz="2400" spc="-2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70" dirty="0">
                <a:solidFill>
                  <a:srgbClr val="0030B8"/>
                </a:solidFill>
                <a:latin typeface="Verdana"/>
                <a:cs typeface="Verdana"/>
              </a:rPr>
              <a:t>veredas.</a:t>
            </a:r>
            <a:r>
              <a:rPr sz="2400" spc="-1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70" dirty="0">
                <a:solidFill>
                  <a:srgbClr val="0030B8"/>
                </a:solidFill>
                <a:latin typeface="Verdana"/>
                <a:cs typeface="Verdana"/>
              </a:rPr>
              <a:t>Luego</a:t>
            </a:r>
            <a:r>
              <a:rPr sz="2400" spc="-1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45" dirty="0">
                <a:solidFill>
                  <a:srgbClr val="0030B8"/>
                </a:solidFill>
                <a:latin typeface="Verdana"/>
                <a:cs typeface="Verdana"/>
              </a:rPr>
              <a:t>de </a:t>
            </a:r>
            <a:r>
              <a:rPr sz="2400" spc="-40" dirty="0">
                <a:solidFill>
                  <a:srgbClr val="0030B8"/>
                </a:solidFill>
                <a:latin typeface="Verdana"/>
                <a:cs typeface="Verdana"/>
              </a:rPr>
              <a:t>realizar</a:t>
            </a:r>
            <a:r>
              <a:rPr sz="24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el</a:t>
            </a:r>
            <a:r>
              <a:rPr sz="24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estudio</a:t>
            </a:r>
            <a:r>
              <a:rPr sz="2400" spc="-1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surgió</a:t>
            </a:r>
            <a:r>
              <a:rPr sz="24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24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pregunta</a:t>
            </a:r>
            <a:r>
              <a:rPr sz="2400" spc="-1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7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24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¿Cuál</a:t>
            </a:r>
            <a:r>
              <a:rPr sz="2400" spc="-1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debería</a:t>
            </a:r>
            <a:r>
              <a:rPr sz="2400" spc="-1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0030B8"/>
                </a:solidFill>
                <a:latin typeface="Verdana"/>
                <a:cs typeface="Verdana"/>
              </a:rPr>
              <a:t>ser </a:t>
            </a:r>
            <a:r>
              <a:rPr sz="2400" spc="-3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24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necesidad</a:t>
            </a:r>
            <a:r>
              <a:rPr sz="2400" spc="-1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priorizada</a:t>
            </a:r>
            <a:r>
              <a:rPr sz="2400" spc="-1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por</a:t>
            </a:r>
            <a:r>
              <a:rPr sz="24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2400" spc="-11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alcaldía?</a:t>
            </a:r>
            <a:r>
              <a:rPr sz="2400" spc="-1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65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24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acuerdo</a:t>
            </a:r>
            <a:r>
              <a:rPr sz="2400" spc="-1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45" dirty="0">
                <a:solidFill>
                  <a:srgbClr val="0030B8"/>
                </a:solidFill>
                <a:latin typeface="Verdana"/>
                <a:cs typeface="Verdana"/>
              </a:rPr>
              <a:t>con </a:t>
            </a:r>
            <a:r>
              <a:rPr sz="2400" spc="-80" dirty="0">
                <a:solidFill>
                  <a:srgbClr val="0030B8"/>
                </a:solidFill>
                <a:latin typeface="Verdana"/>
                <a:cs typeface="Verdana"/>
              </a:rPr>
              <a:t>ello,</a:t>
            </a:r>
            <a:r>
              <a:rPr sz="2400" spc="-1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¿Cuál</a:t>
            </a:r>
            <a:r>
              <a:rPr sz="2400" spc="-1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0030B8"/>
                </a:solidFill>
                <a:latin typeface="Verdana"/>
                <a:cs typeface="Verdana"/>
              </a:rPr>
              <a:t>es</a:t>
            </a:r>
            <a:r>
              <a:rPr sz="2400" spc="-1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2400" spc="-1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analítica</a:t>
            </a:r>
            <a:r>
              <a:rPr sz="2400" spc="-1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70" dirty="0">
                <a:solidFill>
                  <a:srgbClr val="0030B8"/>
                </a:solidFill>
                <a:latin typeface="Verdana"/>
                <a:cs typeface="Verdana"/>
              </a:rPr>
              <a:t>que</a:t>
            </a:r>
            <a:r>
              <a:rPr sz="2400" spc="-1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respondería</a:t>
            </a:r>
            <a:r>
              <a:rPr sz="2400" spc="-1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0030B8"/>
                </a:solidFill>
                <a:latin typeface="Verdana"/>
                <a:cs typeface="Verdana"/>
              </a:rPr>
              <a:t>a</a:t>
            </a:r>
            <a:r>
              <a:rPr sz="2400" spc="-1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0030B8"/>
                </a:solidFill>
                <a:latin typeface="Verdana"/>
                <a:cs typeface="Verdana"/>
              </a:rPr>
              <a:t>esa</a:t>
            </a:r>
            <a:r>
              <a:rPr sz="2400" spc="-1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0030B8"/>
                </a:solidFill>
                <a:latin typeface="Verdana"/>
                <a:cs typeface="Verdana"/>
              </a:rPr>
              <a:t>pregunta?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492630" y="5743955"/>
            <a:ext cx="2438400" cy="0"/>
          </a:xfrm>
          <a:custGeom>
            <a:avLst/>
            <a:gdLst/>
            <a:ahLst/>
            <a:cxnLst/>
            <a:rect l="l" t="t" r="r" b="b"/>
            <a:pathLst>
              <a:path w="2438400">
                <a:moveTo>
                  <a:pt x="0" y="0"/>
                </a:moveTo>
                <a:lnTo>
                  <a:pt x="2438400" y="0"/>
                </a:lnTo>
              </a:path>
            </a:pathLst>
          </a:custGeom>
          <a:ln w="14630">
            <a:solidFill>
              <a:srgbClr val="002FB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79930" y="2857957"/>
            <a:ext cx="884618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3950970" algn="l"/>
              </a:tabLst>
            </a:pPr>
            <a:r>
              <a:rPr sz="2400" b="0" spc="70" dirty="0">
                <a:latin typeface="Verdana"/>
                <a:cs typeface="Verdana"/>
              </a:rPr>
              <a:t>Luego</a:t>
            </a:r>
            <a:r>
              <a:rPr sz="2400" b="0" spc="-170" dirty="0">
                <a:latin typeface="Verdana"/>
                <a:cs typeface="Verdana"/>
              </a:rPr>
              <a:t> </a:t>
            </a:r>
            <a:r>
              <a:rPr sz="2400" b="0" spc="70" dirty="0">
                <a:latin typeface="Verdana"/>
                <a:cs typeface="Verdana"/>
              </a:rPr>
              <a:t>de</a:t>
            </a:r>
            <a:r>
              <a:rPr sz="2400" b="0" spc="-140" dirty="0">
                <a:latin typeface="Verdana"/>
                <a:cs typeface="Verdana"/>
              </a:rPr>
              <a:t> </a:t>
            </a:r>
            <a:r>
              <a:rPr sz="2400" b="0" dirty="0">
                <a:latin typeface="Verdana"/>
                <a:cs typeface="Verdana"/>
              </a:rPr>
              <a:t>tabular</a:t>
            </a:r>
            <a:r>
              <a:rPr sz="2400" b="0" spc="-160" dirty="0">
                <a:latin typeface="Verdana"/>
                <a:cs typeface="Verdana"/>
              </a:rPr>
              <a:t> </a:t>
            </a:r>
            <a:r>
              <a:rPr sz="2400" b="0" spc="-30" dirty="0">
                <a:latin typeface="Verdana"/>
                <a:cs typeface="Verdana"/>
              </a:rPr>
              <a:t>los</a:t>
            </a:r>
            <a:r>
              <a:rPr sz="2400" b="0" spc="-155" dirty="0">
                <a:latin typeface="Verdana"/>
                <a:cs typeface="Verdana"/>
              </a:rPr>
              <a:t> </a:t>
            </a:r>
            <a:r>
              <a:rPr sz="2400" b="0" spc="-55" dirty="0">
                <a:latin typeface="Verdana"/>
                <a:cs typeface="Verdana"/>
              </a:rPr>
              <a:t>datos,</a:t>
            </a:r>
            <a:r>
              <a:rPr sz="2400" b="0" spc="-150" dirty="0">
                <a:latin typeface="Verdana"/>
                <a:cs typeface="Verdana"/>
              </a:rPr>
              <a:t> </a:t>
            </a:r>
            <a:r>
              <a:rPr sz="2400" b="0" spc="-35" dirty="0">
                <a:latin typeface="Verdana"/>
                <a:cs typeface="Verdana"/>
              </a:rPr>
              <a:t>se</a:t>
            </a:r>
            <a:r>
              <a:rPr sz="2400" b="0" spc="-140" dirty="0">
                <a:latin typeface="Verdana"/>
                <a:cs typeface="Verdana"/>
              </a:rPr>
              <a:t> </a:t>
            </a:r>
            <a:r>
              <a:rPr sz="2400" b="0" dirty="0">
                <a:latin typeface="Verdana"/>
                <a:cs typeface="Verdana"/>
              </a:rPr>
              <a:t>requiere</a:t>
            </a:r>
            <a:r>
              <a:rPr sz="2400" b="0" spc="-160" dirty="0">
                <a:latin typeface="Verdana"/>
                <a:cs typeface="Verdana"/>
              </a:rPr>
              <a:t> </a:t>
            </a:r>
            <a:r>
              <a:rPr sz="2400" b="0" dirty="0">
                <a:latin typeface="Verdana"/>
                <a:cs typeface="Verdana"/>
              </a:rPr>
              <a:t>entender</a:t>
            </a:r>
            <a:r>
              <a:rPr sz="2400" b="0" spc="-150" dirty="0">
                <a:latin typeface="Verdana"/>
                <a:cs typeface="Verdana"/>
              </a:rPr>
              <a:t> </a:t>
            </a:r>
            <a:r>
              <a:rPr sz="2400" b="0" spc="-25" dirty="0">
                <a:latin typeface="Verdana"/>
                <a:cs typeface="Verdana"/>
              </a:rPr>
              <a:t>la </a:t>
            </a:r>
            <a:r>
              <a:rPr sz="2400" b="0" dirty="0">
                <a:latin typeface="Verdana"/>
                <a:cs typeface="Verdana"/>
              </a:rPr>
              <a:t>distribución</a:t>
            </a:r>
            <a:r>
              <a:rPr sz="2400" b="0" spc="-160" dirty="0">
                <a:latin typeface="Verdana"/>
                <a:cs typeface="Verdana"/>
              </a:rPr>
              <a:t> </a:t>
            </a:r>
            <a:r>
              <a:rPr sz="2400" b="0" spc="70" dirty="0">
                <a:latin typeface="Verdana"/>
                <a:cs typeface="Verdana"/>
              </a:rPr>
              <a:t>de</a:t>
            </a:r>
            <a:r>
              <a:rPr sz="2400" b="0" spc="-145" dirty="0">
                <a:latin typeface="Verdana"/>
                <a:cs typeface="Verdana"/>
              </a:rPr>
              <a:t> </a:t>
            </a:r>
            <a:r>
              <a:rPr sz="2400" b="0" spc="-20" dirty="0">
                <a:latin typeface="Verdana"/>
                <a:cs typeface="Verdana"/>
              </a:rPr>
              <a:t>ayudas</a:t>
            </a:r>
            <a:r>
              <a:rPr sz="2400" b="0" spc="-140" dirty="0">
                <a:latin typeface="Verdana"/>
                <a:cs typeface="Verdana"/>
              </a:rPr>
              <a:t> </a:t>
            </a:r>
            <a:r>
              <a:rPr sz="2400" b="0" dirty="0">
                <a:latin typeface="Verdana"/>
                <a:cs typeface="Verdana"/>
              </a:rPr>
              <a:t>por</a:t>
            </a:r>
            <a:r>
              <a:rPr sz="2400" b="0" spc="-125" dirty="0">
                <a:latin typeface="Verdana"/>
                <a:cs typeface="Verdana"/>
              </a:rPr>
              <a:t> </a:t>
            </a:r>
            <a:r>
              <a:rPr sz="2400" b="0" dirty="0">
                <a:latin typeface="Verdana"/>
                <a:cs typeface="Verdana"/>
              </a:rPr>
              <a:t>cada</a:t>
            </a:r>
            <a:r>
              <a:rPr sz="2400" b="0" spc="-160" dirty="0">
                <a:latin typeface="Verdana"/>
                <a:cs typeface="Verdana"/>
              </a:rPr>
              <a:t> </a:t>
            </a:r>
            <a:r>
              <a:rPr sz="2400" b="0" dirty="0">
                <a:latin typeface="Verdana"/>
                <a:cs typeface="Verdana"/>
              </a:rPr>
              <a:t>una</a:t>
            </a:r>
            <a:r>
              <a:rPr sz="2400" b="0" spc="-125" dirty="0">
                <a:latin typeface="Verdana"/>
                <a:cs typeface="Verdana"/>
              </a:rPr>
              <a:t> </a:t>
            </a:r>
            <a:r>
              <a:rPr sz="2400" b="0" spc="70" dirty="0">
                <a:latin typeface="Verdana"/>
                <a:cs typeface="Verdana"/>
              </a:rPr>
              <a:t>de</a:t>
            </a:r>
            <a:r>
              <a:rPr sz="2400" b="0" spc="-140" dirty="0">
                <a:latin typeface="Verdana"/>
                <a:cs typeface="Verdana"/>
              </a:rPr>
              <a:t> </a:t>
            </a:r>
            <a:r>
              <a:rPr sz="2400" b="0" spc="-50" dirty="0">
                <a:latin typeface="Verdana"/>
                <a:cs typeface="Verdana"/>
              </a:rPr>
              <a:t>las</a:t>
            </a:r>
            <a:r>
              <a:rPr sz="2400" b="0" spc="-125" dirty="0">
                <a:latin typeface="Verdana"/>
                <a:cs typeface="Verdana"/>
              </a:rPr>
              <a:t> </a:t>
            </a:r>
            <a:r>
              <a:rPr sz="2400" b="0" spc="-35" dirty="0">
                <a:latin typeface="Verdana"/>
                <a:cs typeface="Verdana"/>
              </a:rPr>
              <a:t>veredas</a:t>
            </a:r>
            <a:r>
              <a:rPr sz="2400" b="0" spc="-140" dirty="0">
                <a:latin typeface="Verdana"/>
                <a:cs typeface="Verdana"/>
              </a:rPr>
              <a:t> </a:t>
            </a:r>
            <a:r>
              <a:rPr sz="2400" b="0" spc="55" dirty="0">
                <a:latin typeface="Verdana"/>
                <a:cs typeface="Verdana"/>
              </a:rPr>
              <a:t>en</a:t>
            </a:r>
            <a:r>
              <a:rPr sz="2400" b="0" spc="-125" dirty="0">
                <a:latin typeface="Verdana"/>
                <a:cs typeface="Verdana"/>
              </a:rPr>
              <a:t> </a:t>
            </a:r>
            <a:r>
              <a:rPr sz="2400" b="0" spc="-25" dirty="0">
                <a:latin typeface="Verdana"/>
                <a:cs typeface="Verdana"/>
              </a:rPr>
              <a:t>los </a:t>
            </a:r>
            <a:r>
              <a:rPr sz="2400" b="0" dirty="0">
                <a:latin typeface="Verdana"/>
                <a:cs typeface="Verdana"/>
              </a:rPr>
              <a:t>últimos</a:t>
            </a:r>
            <a:r>
              <a:rPr sz="2400" b="0" spc="-155" dirty="0">
                <a:latin typeface="Verdana"/>
                <a:cs typeface="Verdana"/>
              </a:rPr>
              <a:t> </a:t>
            </a:r>
            <a:r>
              <a:rPr sz="2400" b="0" spc="-415" dirty="0">
                <a:latin typeface="Verdana"/>
                <a:cs typeface="Verdana"/>
              </a:rPr>
              <a:t>12</a:t>
            </a:r>
            <a:r>
              <a:rPr sz="2400" b="0" spc="-150" dirty="0">
                <a:latin typeface="Verdana"/>
                <a:cs typeface="Verdana"/>
              </a:rPr>
              <a:t> </a:t>
            </a:r>
            <a:r>
              <a:rPr sz="2400" b="0" spc="-60" dirty="0">
                <a:latin typeface="Verdana"/>
                <a:cs typeface="Verdana"/>
              </a:rPr>
              <a:t>meses,</a:t>
            </a:r>
            <a:r>
              <a:rPr sz="2400" b="0" spc="-150" dirty="0">
                <a:latin typeface="Verdana"/>
                <a:cs typeface="Verdana"/>
              </a:rPr>
              <a:t> </a:t>
            </a:r>
            <a:r>
              <a:rPr sz="2400" b="0" dirty="0">
                <a:latin typeface="Verdana"/>
                <a:cs typeface="Verdana"/>
              </a:rPr>
              <a:t>¿Cuál</a:t>
            </a:r>
            <a:r>
              <a:rPr sz="2400" b="0" spc="-170" dirty="0">
                <a:latin typeface="Verdana"/>
                <a:cs typeface="Verdana"/>
              </a:rPr>
              <a:t> </a:t>
            </a:r>
            <a:r>
              <a:rPr sz="2400" b="0" spc="-40" dirty="0">
                <a:latin typeface="Verdana"/>
                <a:cs typeface="Verdana"/>
              </a:rPr>
              <a:t>sería</a:t>
            </a:r>
            <a:r>
              <a:rPr sz="2400" b="0" spc="-150" dirty="0">
                <a:latin typeface="Verdana"/>
                <a:cs typeface="Verdana"/>
              </a:rPr>
              <a:t> </a:t>
            </a:r>
            <a:r>
              <a:rPr sz="2400" b="0" spc="-30" dirty="0">
                <a:latin typeface="Verdana"/>
                <a:cs typeface="Verdana"/>
              </a:rPr>
              <a:t>la</a:t>
            </a:r>
            <a:r>
              <a:rPr sz="2400" b="0" spc="-150" dirty="0">
                <a:latin typeface="Verdana"/>
                <a:cs typeface="Verdana"/>
              </a:rPr>
              <a:t> </a:t>
            </a:r>
            <a:r>
              <a:rPr sz="2400" b="0" dirty="0">
                <a:latin typeface="Verdana"/>
                <a:cs typeface="Verdana"/>
              </a:rPr>
              <a:t>analítica</a:t>
            </a:r>
            <a:r>
              <a:rPr sz="2400" b="0" spc="-150" dirty="0">
                <a:latin typeface="Verdana"/>
                <a:cs typeface="Verdana"/>
              </a:rPr>
              <a:t> </a:t>
            </a:r>
            <a:r>
              <a:rPr sz="2400" b="0" spc="70" dirty="0">
                <a:latin typeface="Verdana"/>
                <a:cs typeface="Verdana"/>
              </a:rPr>
              <a:t>que</a:t>
            </a:r>
            <a:r>
              <a:rPr sz="2400" b="0" spc="-165" dirty="0">
                <a:latin typeface="Verdana"/>
                <a:cs typeface="Verdana"/>
              </a:rPr>
              <a:t> </a:t>
            </a:r>
            <a:r>
              <a:rPr sz="2400" b="0" dirty="0">
                <a:latin typeface="Verdana"/>
                <a:cs typeface="Verdana"/>
              </a:rPr>
              <a:t>da</a:t>
            </a:r>
            <a:r>
              <a:rPr sz="2400" b="0" spc="-165" dirty="0">
                <a:latin typeface="Verdana"/>
                <a:cs typeface="Verdana"/>
              </a:rPr>
              <a:t> </a:t>
            </a:r>
            <a:r>
              <a:rPr sz="2400" b="0" spc="-10" dirty="0">
                <a:latin typeface="Verdana"/>
                <a:cs typeface="Verdana"/>
              </a:rPr>
              <a:t>respuesta </a:t>
            </a:r>
            <a:r>
              <a:rPr sz="2400" b="0" spc="-35" dirty="0">
                <a:latin typeface="Verdana"/>
                <a:cs typeface="Verdana"/>
              </a:rPr>
              <a:t>a</a:t>
            </a:r>
            <a:r>
              <a:rPr sz="2400" b="0" spc="-70" dirty="0">
                <a:latin typeface="Verdana"/>
                <a:cs typeface="Verdana"/>
              </a:rPr>
              <a:t> </a:t>
            </a:r>
            <a:r>
              <a:rPr sz="2400" b="0" spc="-20" dirty="0">
                <a:latin typeface="Verdana"/>
                <a:cs typeface="Verdana"/>
              </a:rPr>
              <a:t>esta</a:t>
            </a:r>
            <a:r>
              <a:rPr sz="2400" b="0" spc="-70" dirty="0">
                <a:latin typeface="Verdana"/>
                <a:cs typeface="Verdana"/>
              </a:rPr>
              <a:t> </a:t>
            </a:r>
            <a:r>
              <a:rPr sz="2400" b="0" dirty="0">
                <a:latin typeface="Verdana"/>
                <a:cs typeface="Verdana"/>
              </a:rPr>
              <a:t>necesidad?</a:t>
            </a:r>
            <a:r>
              <a:rPr sz="2400" b="0" spc="-114" dirty="0">
                <a:latin typeface="Verdana"/>
                <a:cs typeface="Verdana"/>
              </a:rPr>
              <a:t> </a:t>
            </a:r>
            <a:r>
              <a:rPr sz="2400" b="0" u="sng" dirty="0">
                <a:uFill>
                  <a:solidFill>
                    <a:srgbClr val="002FB7"/>
                  </a:solidFill>
                </a:uFill>
                <a:latin typeface="Verdana"/>
                <a:cs typeface="Verdana"/>
              </a:rPr>
              <a:t>	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79930" y="2857957"/>
            <a:ext cx="8948420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3163570" algn="l"/>
                <a:tab pos="4673600" algn="l"/>
              </a:tabLst>
            </a:pPr>
            <a:r>
              <a:rPr sz="2400" b="0" spc="45" dirty="0">
                <a:latin typeface="Verdana"/>
                <a:cs typeface="Verdana"/>
              </a:rPr>
              <a:t>Adicionalmente</a:t>
            </a:r>
            <a:r>
              <a:rPr sz="2400" b="0" spc="-140" dirty="0">
                <a:latin typeface="Verdana"/>
                <a:cs typeface="Verdana"/>
              </a:rPr>
              <a:t> </a:t>
            </a:r>
            <a:r>
              <a:rPr sz="2400" b="0" spc="-35" dirty="0">
                <a:latin typeface="Verdana"/>
                <a:cs typeface="Verdana"/>
              </a:rPr>
              <a:t>se</a:t>
            </a:r>
            <a:r>
              <a:rPr sz="2400" b="0" spc="-140" dirty="0">
                <a:latin typeface="Verdana"/>
                <a:cs typeface="Verdana"/>
              </a:rPr>
              <a:t> </a:t>
            </a:r>
            <a:r>
              <a:rPr sz="2400" b="0" dirty="0">
                <a:latin typeface="Verdana"/>
                <a:cs typeface="Verdana"/>
              </a:rPr>
              <a:t>identificó</a:t>
            </a:r>
            <a:r>
              <a:rPr sz="2400" b="0" spc="-140" dirty="0">
                <a:latin typeface="Verdana"/>
                <a:cs typeface="Verdana"/>
              </a:rPr>
              <a:t> </a:t>
            </a:r>
            <a:r>
              <a:rPr sz="2400" b="0" spc="-45" dirty="0">
                <a:latin typeface="Verdana"/>
                <a:cs typeface="Verdana"/>
              </a:rPr>
              <a:t>que,</a:t>
            </a:r>
            <a:r>
              <a:rPr sz="2400" b="0" spc="-170" dirty="0">
                <a:latin typeface="Verdana"/>
                <a:cs typeface="Verdana"/>
              </a:rPr>
              <a:t> </a:t>
            </a:r>
            <a:r>
              <a:rPr sz="2400" b="0" spc="55" dirty="0">
                <a:latin typeface="Verdana"/>
                <a:cs typeface="Verdana"/>
              </a:rPr>
              <a:t>en</a:t>
            </a:r>
            <a:r>
              <a:rPr sz="2400" b="0" spc="-140" dirty="0">
                <a:latin typeface="Verdana"/>
                <a:cs typeface="Verdana"/>
              </a:rPr>
              <a:t> </a:t>
            </a:r>
            <a:r>
              <a:rPr sz="2400" b="0" dirty="0">
                <a:latin typeface="Verdana"/>
                <a:cs typeface="Verdana"/>
              </a:rPr>
              <a:t>una</a:t>
            </a:r>
            <a:r>
              <a:rPr sz="2400" b="0" spc="-165" dirty="0">
                <a:latin typeface="Verdana"/>
                <a:cs typeface="Verdana"/>
              </a:rPr>
              <a:t> </a:t>
            </a:r>
            <a:r>
              <a:rPr sz="2400" b="0" spc="-20" dirty="0">
                <a:latin typeface="Verdana"/>
                <a:cs typeface="Verdana"/>
              </a:rPr>
              <a:t>vereda</a:t>
            </a:r>
            <a:r>
              <a:rPr sz="2400" b="0" spc="-140" dirty="0">
                <a:latin typeface="Verdana"/>
                <a:cs typeface="Verdana"/>
              </a:rPr>
              <a:t> </a:t>
            </a:r>
            <a:r>
              <a:rPr sz="2400" b="0" dirty="0">
                <a:latin typeface="Verdana"/>
                <a:cs typeface="Verdana"/>
              </a:rPr>
              <a:t>el</a:t>
            </a:r>
            <a:r>
              <a:rPr sz="2400" b="0" spc="-140" dirty="0">
                <a:latin typeface="Verdana"/>
                <a:cs typeface="Verdana"/>
              </a:rPr>
              <a:t> </a:t>
            </a:r>
            <a:r>
              <a:rPr sz="2400" b="0" spc="-25" dirty="0">
                <a:latin typeface="Verdana"/>
                <a:cs typeface="Verdana"/>
              </a:rPr>
              <a:t>80% </a:t>
            </a:r>
            <a:r>
              <a:rPr sz="2400" b="0" dirty="0">
                <a:latin typeface="Verdana"/>
                <a:cs typeface="Verdana"/>
              </a:rPr>
              <a:t>del</a:t>
            </a:r>
            <a:r>
              <a:rPr sz="2400" b="0" spc="-140" dirty="0">
                <a:latin typeface="Verdana"/>
                <a:cs typeface="Verdana"/>
              </a:rPr>
              <a:t> </a:t>
            </a:r>
            <a:r>
              <a:rPr sz="2400" b="0" dirty="0">
                <a:latin typeface="Verdana"/>
                <a:cs typeface="Verdana"/>
              </a:rPr>
              <a:t>total</a:t>
            </a:r>
            <a:r>
              <a:rPr sz="2400" b="0" spc="-125" dirty="0">
                <a:latin typeface="Verdana"/>
                <a:cs typeface="Verdana"/>
              </a:rPr>
              <a:t> </a:t>
            </a:r>
            <a:r>
              <a:rPr sz="2400" b="0" spc="70" dirty="0">
                <a:latin typeface="Verdana"/>
                <a:cs typeface="Verdana"/>
              </a:rPr>
              <a:t>de</a:t>
            </a:r>
            <a:r>
              <a:rPr sz="2400" b="0" spc="-135" dirty="0">
                <a:latin typeface="Verdana"/>
                <a:cs typeface="Verdana"/>
              </a:rPr>
              <a:t> </a:t>
            </a:r>
            <a:r>
              <a:rPr sz="2400" b="0" dirty="0">
                <a:latin typeface="Verdana"/>
                <a:cs typeface="Verdana"/>
              </a:rPr>
              <a:t>habitantes</a:t>
            </a:r>
            <a:r>
              <a:rPr sz="2400" b="0" spc="-135" dirty="0">
                <a:latin typeface="Verdana"/>
                <a:cs typeface="Verdana"/>
              </a:rPr>
              <a:t> </a:t>
            </a:r>
            <a:r>
              <a:rPr sz="2400" b="0" spc="-35" dirty="0">
                <a:latin typeface="Verdana"/>
                <a:cs typeface="Verdana"/>
              </a:rPr>
              <a:t>se</a:t>
            </a:r>
            <a:r>
              <a:rPr sz="2400" b="0" spc="-120" dirty="0">
                <a:latin typeface="Verdana"/>
                <a:cs typeface="Verdana"/>
              </a:rPr>
              <a:t> </a:t>
            </a:r>
            <a:r>
              <a:rPr sz="2400" b="0" dirty="0">
                <a:latin typeface="Verdana"/>
                <a:cs typeface="Verdana"/>
              </a:rPr>
              <a:t>llamaban</a:t>
            </a:r>
            <a:r>
              <a:rPr sz="2400" b="0" spc="-135" dirty="0">
                <a:latin typeface="Verdana"/>
                <a:cs typeface="Verdana"/>
              </a:rPr>
              <a:t> </a:t>
            </a:r>
            <a:r>
              <a:rPr sz="2400" b="0" spc="65" dirty="0">
                <a:latin typeface="Verdana"/>
                <a:cs typeface="Verdana"/>
              </a:rPr>
              <a:t>Juan</a:t>
            </a:r>
            <a:r>
              <a:rPr sz="2400" b="0" spc="-135" dirty="0">
                <a:latin typeface="Verdana"/>
                <a:cs typeface="Verdana"/>
              </a:rPr>
              <a:t> y</a:t>
            </a:r>
            <a:r>
              <a:rPr sz="2400" b="0" spc="-130" dirty="0">
                <a:latin typeface="Verdana"/>
                <a:cs typeface="Verdana"/>
              </a:rPr>
              <a:t> </a:t>
            </a:r>
            <a:r>
              <a:rPr sz="2400" b="0" spc="-10" dirty="0">
                <a:latin typeface="Verdana"/>
                <a:cs typeface="Verdana"/>
              </a:rPr>
              <a:t>adicionalmente </a:t>
            </a:r>
            <a:r>
              <a:rPr sz="2400" b="0" dirty="0">
                <a:latin typeface="Verdana"/>
                <a:cs typeface="Verdana"/>
              </a:rPr>
              <a:t>requerían</a:t>
            </a:r>
            <a:r>
              <a:rPr sz="2400" b="0" spc="-175" dirty="0">
                <a:latin typeface="Verdana"/>
                <a:cs typeface="Verdana"/>
              </a:rPr>
              <a:t> </a:t>
            </a:r>
            <a:r>
              <a:rPr sz="2400" b="0" dirty="0">
                <a:latin typeface="Verdana"/>
                <a:cs typeface="Verdana"/>
              </a:rPr>
              <a:t>apoyo</a:t>
            </a:r>
            <a:r>
              <a:rPr sz="2400" b="0" spc="-160" dirty="0">
                <a:latin typeface="Verdana"/>
                <a:cs typeface="Verdana"/>
              </a:rPr>
              <a:t> </a:t>
            </a:r>
            <a:r>
              <a:rPr sz="2400" b="0" dirty="0">
                <a:latin typeface="Verdana"/>
                <a:cs typeface="Verdana"/>
              </a:rPr>
              <a:t>económico,</a:t>
            </a:r>
            <a:r>
              <a:rPr sz="2400" b="0" spc="-150" dirty="0">
                <a:latin typeface="Verdana"/>
                <a:cs typeface="Verdana"/>
              </a:rPr>
              <a:t> </a:t>
            </a:r>
            <a:r>
              <a:rPr sz="2400" b="0" spc="-35" dirty="0">
                <a:latin typeface="Verdana"/>
                <a:cs typeface="Verdana"/>
              </a:rPr>
              <a:t>se</a:t>
            </a:r>
            <a:r>
              <a:rPr sz="2400" b="0" spc="-165" dirty="0">
                <a:latin typeface="Verdana"/>
                <a:cs typeface="Verdana"/>
              </a:rPr>
              <a:t> </a:t>
            </a:r>
            <a:r>
              <a:rPr sz="2400" b="0" spc="75" dirty="0">
                <a:latin typeface="Verdana"/>
                <a:cs typeface="Verdana"/>
              </a:rPr>
              <a:t>puede</a:t>
            </a:r>
            <a:r>
              <a:rPr sz="2400" b="0" spc="-185" dirty="0">
                <a:latin typeface="Verdana"/>
                <a:cs typeface="Verdana"/>
              </a:rPr>
              <a:t> </a:t>
            </a:r>
            <a:r>
              <a:rPr sz="2400" b="0" spc="-20" dirty="0">
                <a:latin typeface="Verdana"/>
                <a:cs typeface="Verdana"/>
              </a:rPr>
              <a:t>afirmar</a:t>
            </a:r>
            <a:r>
              <a:rPr sz="2400" b="0" spc="-145" dirty="0">
                <a:latin typeface="Verdana"/>
                <a:cs typeface="Verdana"/>
              </a:rPr>
              <a:t> </a:t>
            </a:r>
            <a:r>
              <a:rPr sz="2400" b="0" spc="70" dirty="0">
                <a:latin typeface="Verdana"/>
                <a:cs typeface="Verdana"/>
              </a:rPr>
              <a:t>que</a:t>
            </a:r>
            <a:r>
              <a:rPr sz="2400" b="0" spc="-180" dirty="0">
                <a:latin typeface="Verdana"/>
                <a:cs typeface="Verdana"/>
              </a:rPr>
              <a:t> </a:t>
            </a:r>
            <a:r>
              <a:rPr sz="2400" b="0" spc="-10" dirty="0">
                <a:latin typeface="Verdana"/>
                <a:cs typeface="Verdana"/>
              </a:rPr>
              <a:t>existe </a:t>
            </a:r>
            <a:r>
              <a:rPr sz="2400" b="0" dirty="0">
                <a:latin typeface="Verdana"/>
                <a:cs typeface="Verdana"/>
              </a:rPr>
              <a:t>una</a:t>
            </a:r>
            <a:r>
              <a:rPr sz="2400" b="0" spc="-165" dirty="0">
                <a:latin typeface="Verdana"/>
                <a:cs typeface="Verdana"/>
              </a:rPr>
              <a:t> </a:t>
            </a:r>
            <a:r>
              <a:rPr sz="2400" b="0" spc="-20" dirty="0">
                <a:latin typeface="Verdana"/>
                <a:cs typeface="Verdana"/>
              </a:rPr>
              <a:t>alta</a:t>
            </a:r>
            <a:r>
              <a:rPr sz="2400" b="0" spc="-185" dirty="0">
                <a:latin typeface="Verdana"/>
                <a:cs typeface="Verdana"/>
              </a:rPr>
              <a:t> </a:t>
            </a:r>
            <a:r>
              <a:rPr sz="2400" b="0" dirty="0">
                <a:latin typeface="Verdana"/>
                <a:cs typeface="Verdana"/>
              </a:rPr>
              <a:t>causalidad</a:t>
            </a:r>
            <a:r>
              <a:rPr sz="2400" b="0" spc="-180" dirty="0">
                <a:latin typeface="Verdana"/>
                <a:cs typeface="Verdana"/>
              </a:rPr>
              <a:t> </a:t>
            </a:r>
            <a:r>
              <a:rPr sz="2400" b="0" dirty="0">
                <a:latin typeface="Verdana"/>
                <a:cs typeface="Verdana"/>
              </a:rPr>
              <a:t>entre</a:t>
            </a:r>
            <a:r>
              <a:rPr sz="2400" b="0" spc="-165" dirty="0">
                <a:latin typeface="Verdana"/>
                <a:cs typeface="Verdana"/>
              </a:rPr>
              <a:t> </a:t>
            </a:r>
            <a:r>
              <a:rPr sz="2400" b="0" dirty="0">
                <a:latin typeface="Verdana"/>
                <a:cs typeface="Verdana"/>
              </a:rPr>
              <a:t>llamarse</a:t>
            </a:r>
            <a:r>
              <a:rPr sz="2400" b="0" spc="-150" dirty="0">
                <a:latin typeface="Verdana"/>
                <a:cs typeface="Verdana"/>
              </a:rPr>
              <a:t> </a:t>
            </a:r>
            <a:r>
              <a:rPr sz="2400" b="0" spc="65" dirty="0">
                <a:latin typeface="Verdana"/>
                <a:cs typeface="Verdana"/>
              </a:rPr>
              <a:t>Juan</a:t>
            </a:r>
            <a:r>
              <a:rPr sz="2400" b="0" spc="-175" dirty="0">
                <a:latin typeface="Verdana"/>
                <a:cs typeface="Verdana"/>
              </a:rPr>
              <a:t> </a:t>
            </a:r>
            <a:r>
              <a:rPr sz="2400" b="0" spc="-135" dirty="0">
                <a:latin typeface="Verdana"/>
                <a:cs typeface="Verdana"/>
              </a:rPr>
              <a:t>y</a:t>
            </a:r>
            <a:r>
              <a:rPr sz="2400" b="0" spc="-155" dirty="0">
                <a:latin typeface="Verdana"/>
                <a:cs typeface="Verdana"/>
              </a:rPr>
              <a:t> </a:t>
            </a:r>
            <a:r>
              <a:rPr sz="2400" b="0" dirty="0">
                <a:latin typeface="Verdana"/>
                <a:cs typeface="Verdana"/>
              </a:rPr>
              <a:t>requerir</a:t>
            </a:r>
            <a:r>
              <a:rPr sz="2400" b="0" spc="-175" dirty="0">
                <a:latin typeface="Verdana"/>
                <a:cs typeface="Verdana"/>
              </a:rPr>
              <a:t> </a:t>
            </a:r>
            <a:r>
              <a:rPr sz="2400" b="0" spc="-10" dirty="0">
                <a:latin typeface="Verdana"/>
                <a:cs typeface="Verdana"/>
              </a:rPr>
              <a:t>apoyo </a:t>
            </a:r>
            <a:r>
              <a:rPr sz="2400" b="0" spc="55" dirty="0">
                <a:latin typeface="Verdana"/>
                <a:cs typeface="Verdana"/>
              </a:rPr>
              <a:t>económico?</a:t>
            </a:r>
            <a:r>
              <a:rPr sz="2400" b="0" spc="10" dirty="0">
                <a:latin typeface="Verdana"/>
                <a:cs typeface="Verdana"/>
              </a:rPr>
              <a:t> </a:t>
            </a:r>
            <a:r>
              <a:rPr sz="2400" b="0" dirty="0">
                <a:latin typeface="Verdana"/>
                <a:cs typeface="Verdana"/>
              </a:rPr>
              <a:t>Si </a:t>
            </a:r>
            <a:r>
              <a:rPr sz="2400" b="0" u="sng" dirty="0">
                <a:uFill>
                  <a:solidFill>
                    <a:srgbClr val="002FB7"/>
                  </a:solidFill>
                </a:uFill>
                <a:latin typeface="Verdana"/>
                <a:cs typeface="Verdana"/>
              </a:rPr>
              <a:t>	</a:t>
            </a:r>
            <a:r>
              <a:rPr sz="2400" b="0" spc="80" dirty="0">
                <a:latin typeface="Verdana"/>
                <a:cs typeface="Verdana"/>
              </a:rPr>
              <a:t>No </a:t>
            </a:r>
            <a:r>
              <a:rPr sz="2400" b="0" u="sng" dirty="0">
                <a:uFill>
                  <a:solidFill>
                    <a:srgbClr val="002FB7"/>
                  </a:solidFill>
                </a:uFill>
                <a:latin typeface="Verdana"/>
                <a:cs typeface="Verdana"/>
              </a:rPr>
              <a:t>	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9930" y="2857957"/>
            <a:ext cx="8909050" cy="2952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Dados</a:t>
            </a:r>
            <a:r>
              <a:rPr sz="2400" spc="-1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2400" spc="-1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buenos</a:t>
            </a:r>
            <a:r>
              <a:rPr sz="2400" spc="-1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45" dirty="0">
                <a:solidFill>
                  <a:srgbClr val="0030B8"/>
                </a:solidFill>
                <a:latin typeface="Verdana"/>
                <a:cs typeface="Verdana"/>
              </a:rPr>
              <a:t>resultados,</a:t>
            </a:r>
            <a:r>
              <a:rPr sz="2400" spc="-1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el</a:t>
            </a:r>
            <a:r>
              <a:rPr sz="2400" spc="-1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alcalde</a:t>
            </a:r>
            <a:r>
              <a:rPr sz="2400" spc="-1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7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2400" spc="-125" dirty="0">
                <a:solidFill>
                  <a:srgbClr val="0030B8"/>
                </a:solidFill>
                <a:latin typeface="Verdana"/>
                <a:cs typeface="Verdana"/>
              </a:rPr>
              <a:t> SIO</a:t>
            </a:r>
            <a:r>
              <a:rPr sz="2400" spc="-1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0030B8"/>
                </a:solidFill>
                <a:latin typeface="Verdana"/>
                <a:cs typeface="Verdana"/>
              </a:rPr>
              <a:t>decidió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implementar</a:t>
            </a:r>
            <a:r>
              <a:rPr sz="24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Analítica</a:t>
            </a:r>
            <a:r>
              <a:rPr sz="24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institucional</a:t>
            </a:r>
            <a:r>
              <a:rPr sz="2400" spc="-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0030B8"/>
                </a:solidFill>
                <a:latin typeface="Verdana"/>
                <a:cs typeface="Verdana"/>
              </a:rPr>
              <a:t>al</a:t>
            </a:r>
            <a:r>
              <a:rPr sz="24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0030B8"/>
                </a:solidFill>
                <a:latin typeface="Verdana"/>
                <a:cs typeface="Verdana"/>
              </a:rPr>
              <a:t>interior</a:t>
            </a:r>
            <a:r>
              <a:rPr sz="2400" spc="-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0030B8"/>
                </a:solidFill>
                <a:latin typeface="Verdana"/>
                <a:cs typeface="Verdana"/>
              </a:rPr>
              <a:t>del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municipio,</a:t>
            </a:r>
            <a:r>
              <a:rPr sz="2400" spc="-1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para</a:t>
            </a:r>
            <a:r>
              <a:rPr sz="2400" spc="-1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lo</a:t>
            </a:r>
            <a:r>
              <a:rPr sz="2400" spc="-1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cual</a:t>
            </a:r>
            <a:r>
              <a:rPr sz="2400" spc="-1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le</a:t>
            </a:r>
            <a:r>
              <a:rPr sz="2400" spc="-1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solicito</a:t>
            </a:r>
            <a:r>
              <a:rPr sz="2400" spc="-1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0030B8"/>
                </a:solidFill>
                <a:latin typeface="Verdana"/>
                <a:cs typeface="Verdana"/>
              </a:rPr>
              <a:t>al</a:t>
            </a:r>
            <a:r>
              <a:rPr sz="2400" spc="-1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0030B8"/>
                </a:solidFill>
                <a:latin typeface="Verdana"/>
                <a:cs typeface="Verdana"/>
              </a:rPr>
              <a:t>área</a:t>
            </a:r>
            <a:r>
              <a:rPr sz="2400" spc="-1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7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2400" spc="-1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tecnología</a:t>
            </a:r>
            <a:r>
              <a:rPr sz="2400" spc="-1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0030B8"/>
                </a:solidFill>
                <a:latin typeface="Verdana"/>
                <a:cs typeface="Verdana"/>
              </a:rPr>
              <a:t>que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comprase</a:t>
            </a:r>
            <a:r>
              <a:rPr sz="2400" spc="-1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24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infraestructura</a:t>
            </a:r>
            <a:r>
              <a:rPr sz="2400" spc="-135" dirty="0">
                <a:solidFill>
                  <a:srgbClr val="0030B8"/>
                </a:solidFill>
                <a:latin typeface="Verdana"/>
                <a:cs typeface="Verdana"/>
              </a:rPr>
              <a:t> y</a:t>
            </a:r>
            <a:r>
              <a:rPr sz="2400" spc="-1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programas</a:t>
            </a:r>
            <a:r>
              <a:rPr sz="24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0030B8"/>
                </a:solidFill>
                <a:latin typeface="Verdana"/>
                <a:cs typeface="Verdana"/>
              </a:rPr>
              <a:t>necesarios.</a:t>
            </a:r>
            <a:endParaRPr sz="2400">
              <a:latin typeface="Verdana"/>
              <a:cs typeface="Verdana"/>
            </a:endParaRPr>
          </a:p>
          <a:p>
            <a:pPr marL="12700" marR="58419">
              <a:lnSpc>
                <a:spcPct val="100000"/>
              </a:lnSpc>
              <a:spcBef>
                <a:spcPts val="2885"/>
              </a:spcBef>
              <a:tabLst>
                <a:tab pos="1200150" algn="l"/>
                <a:tab pos="2559685" algn="l"/>
              </a:tabLst>
            </a:pPr>
            <a:r>
              <a:rPr sz="2400" spc="60" dirty="0">
                <a:solidFill>
                  <a:srgbClr val="0030B8"/>
                </a:solidFill>
                <a:latin typeface="Verdana"/>
                <a:cs typeface="Verdana"/>
              </a:rPr>
              <a:t>Dado</a:t>
            </a:r>
            <a:r>
              <a:rPr sz="2400" spc="-1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lo</a:t>
            </a:r>
            <a:r>
              <a:rPr sz="2400" spc="-1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50" dirty="0">
                <a:solidFill>
                  <a:srgbClr val="0030B8"/>
                </a:solidFill>
                <a:latin typeface="Verdana"/>
                <a:cs typeface="Verdana"/>
              </a:rPr>
              <a:t>anterior,</a:t>
            </a:r>
            <a:r>
              <a:rPr sz="2400" spc="-1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55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2400" spc="-1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el</a:t>
            </a:r>
            <a:r>
              <a:rPr sz="2400" spc="-1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cual</a:t>
            </a:r>
            <a:r>
              <a:rPr sz="2400" spc="-1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0030B8"/>
                </a:solidFill>
                <a:latin typeface="Verdana"/>
                <a:cs typeface="Verdana"/>
              </a:rPr>
              <a:t>solo</a:t>
            </a:r>
            <a:r>
              <a:rPr sz="2400" spc="-1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0030B8"/>
                </a:solidFill>
                <a:latin typeface="Verdana"/>
                <a:cs typeface="Verdana"/>
              </a:rPr>
              <a:t>se</a:t>
            </a:r>
            <a:r>
              <a:rPr sz="2400" spc="-1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0030B8"/>
                </a:solidFill>
                <a:latin typeface="Verdana"/>
                <a:cs typeface="Verdana"/>
              </a:rPr>
              <a:t>está</a:t>
            </a:r>
            <a:r>
              <a:rPr sz="2400" spc="-1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invirtiendo</a:t>
            </a:r>
            <a:r>
              <a:rPr sz="2400" spc="-1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25" dirty="0">
                <a:solidFill>
                  <a:srgbClr val="0030B8"/>
                </a:solidFill>
                <a:latin typeface="Verdana"/>
                <a:cs typeface="Verdana"/>
              </a:rPr>
              <a:t>en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tecnología</a:t>
            </a:r>
            <a:r>
              <a:rPr sz="2400" spc="-1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13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2400" spc="-1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0030B8"/>
                </a:solidFill>
                <a:latin typeface="Verdana"/>
                <a:cs typeface="Verdana"/>
              </a:rPr>
              <a:t>equipos,</a:t>
            </a:r>
            <a:r>
              <a:rPr sz="2400" spc="-1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¿crees</a:t>
            </a:r>
            <a:r>
              <a:rPr sz="2400" spc="-1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75" dirty="0">
                <a:solidFill>
                  <a:srgbClr val="0030B8"/>
                </a:solidFill>
                <a:latin typeface="Verdana"/>
                <a:cs typeface="Verdana"/>
              </a:rPr>
              <a:t>que</a:t>
            </a:r>
            <a:r>
              <a:rPr sz="2400" spc="-1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2400" spc="-1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estrategia</a:t>
            </a:r>
            <a:r>
              <a:rPr sz="2400" spc="-1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0030B8"/>
                </a:solidFill>
                <a:latin typeface="Verdana"/>
                <a:cs typeface="Verdana"/>
              </a:rPr>
              <a:t>funcionará?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Si </a:t>
            </a:r>
            <a:r>
              <a:rPr sz="2400" u="sng" dirty="0">
                <a:solidFill>
                  <a:srgbClr val="0030B8"/>
                </a:solidFill>
                <a:uFill>
                  <a:solidFill>
                    <a:srgbClr val="002FB7"/>
                  </a:solidFill>
                </a:uFill>
                <a:latin typeface="Verdana"/>
                <a:cs typeface="Verdana"/>
              </a:rPr>
              <a:t>	</a:t>
            </a:r>
            <a:r>
              <a:rPr sz="2400" spc="80" dirty="0">
                <a:solidFill>
                  <a:srgbClr val="0030B8"/>
                </a:solidFill>
                <a:latin typeface="Verdana"/>
                <a:cs typeface="Verdana"/>
              </a:rPr>
              <a:t>No </a:t>
            </a:r>
            <a:r>
              <a:rPr sz="2400" u="sng" dirty="0">
                <a:solidFill>
                  <a:srgbClr val="0030B8"/>
                </a:solidFill>
                <a:uFill>
                  <a:solidFill>
                    <a:srgbClr val="002FB7"/>
                  </a:solidFill>
                </a:uFill>
                <a:latin typeface="Verdana"/>
                <a:cs typeface="Verdana"/>
              </a:rPr>
              <a:t>	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9930" y="2857957"/>
            <a:ext cx="7809865" cy="2586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80" dirty="0">
                <a:solidFill>
                  <a:srgbClr val="0030B8"/>
                </a:solidFill>
                <a:latin typeface="Verdana"/>
                <a:cs typeface="Verdana"/>
              </a:rPr>
              <a:t>Qué</a:t>
            </a:r>
            <a:r>
              <a:rPr sz="2400" spc="-2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0030B8"/>
                </a:solidFill>
                <a:latin typeface="Verdana"/>
                <a:cs typeface="Verdana"/>
              </a:rPr>
              <a:t>otros</a:t>
            </a:r>
            <a:r>
              <a:rPr sz="2400" spc="-1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55" dirty="0">
                <a:solidFill>
                  <a:srgbClr val="0030B8"/>
                </a:solidFill>
                <a:latin typeface="Verdana"/>
                <a:cs typeface="Verdana"/>
              </a:rPr>
              <a:t>componentes</a:t>
            </a:r>
            <a:r>
              <a:rPr sz="2400" spc="-1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faltan</a:t>
            </a:r>
            <a:r>
              <a:rPr sz="2400" spc="-1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por</a:t>
            </a:r>
            <a:r>
              <a:rPr sz="2400" spc="-20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0030B8"/>
                </a:solidFill>
                <a:latin typeface="Verdana"/>
                <a:cs typeface="Verdana"/>
              </a:rPr>
              <a:t>desarrollar</a:t>
            </a:r>
            <a:r>
              <a:rPr sz="2400" spc="-1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55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2400" spc="-1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0030B8"/>
                </a:solidFill>
                <a:latin typeface="Verdana"/>
                <a:cs typeface="Verdana"/>
              </a:rPr>
              <a:t>el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65" dirty="0">
                <a:solidFill>
                  <a:srgbClr val="0030B8"/>
                </a:solidFill>
                <a:latin typeface="Verdana"/>
                <a:cs typeface="Verdana"/>
              </a:rPr>
              <a:t>municipio</a:t>
            </a:r>
            <a:r>
              <a:rPr sz="2400" spc="-2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para</a:t>
            </a:r>
            <a:r>
              <a:rPr sz="2400" spc="-2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0030B8"/>
                </a:solidFill>
                <a:latin typeface="Verdana"/>
                <a:cs typeface="Verdana"/>
              </a:rPr>
              <a:t>lograr</a:t>
            </a:r>
            <a:r>
              <a:rPr sz="2400" spc="-1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tener</a:t>
            </a:r>
            <a:r>
              <a:rPr sz="2400" spc="-1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0030B8"/>
                </a:solidFill>
                <a:latin typeface="Verdana"/>
                <a:cs typeface="Verdana"/>
              </a:rPr>
              <a:t>analítica:</a:t>
            </a:r>
            <a:endParaRPr sz="2400">
              <a:latin typeface="Verdana"/>
              <a:cs typeface="Verdana"/>
            </a:endParaRPr>
          </a:p>
          <a:p>
            <a:pPr marL="371475" indent="-358775">
              <a:lnSpc>
                <a:spcPct val="100000"/>
              </a:lnSpc>
              <a:spcBef>
                <a:spcPts val="2880"/>
              </a:spcBef>
              <a:buAutoNum type="alphaLcParenR"/>
              <a:tabLst>
                <a:tab pos="371475" algn="l"/>
              </a:tabLst>
            </a:pPr>
            <a:r>
              <a:rPr sz="2400" spc="40" dirty="0">
                <a:solidFill>
                  <a:srgbClr val="0030B8"/>
                </a:solidFill>
                <a:latin typeface="Verdana"/>
                <a:cs typeface="Verdana"/>
              </a:rPr>
              <a:t>Cloud</a:t>
            </a:r>
            <a:endParaRPr sz="2400">
              <a:latin typeface="Verdana"/>
              <a:cs typeface="Verdana"/>
            </a:endParaRPr>
          </a:p>
          <a:p>
            <a:pPr marL="398145" indent="-385445">
              <a:lnSpc>
                <a:spcPct val="100000"/>
              </a:lnSpc>
              <a:buAutoNum type="alphaLcParenR"/>
              <a:tabLst>
                <a:tab pos="398145" algn="l"/>
              </a:tabLst>
            </a:pP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Equipos</a:t>
            </a:r>
            <a:r>
              <a:rPr sz="2400" spc="-11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295" dirty="0">
                <a:solidFill>
                  <a:srgbClr val="0030B8"/>
                </a:solidFill>
                <a:latin typeface="Verdana"/>
                <a:cs typeface="Verdana"/>
              </a:rPr>
              <a:t>/</a:t>
            </a:r>
            <a:r>
              <a:rPr sz="24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0030B8"/>
                </a:solidFill>
                <a:latin typeface="Verdana"/>
                <a:cs typeface="Verdana"/>
              </a:rPr>
              <a:t>Personas,</a:t>
            </a:r>
            <a:r>
              <a:rPr sz="24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0030B8"/>
                </a:solidFill>
                <a:latin typeface="Verdana"/>
                <a:cs typeface="Verdana"/>
              </a:rPr>
              <a:t>Datos</a:t>
            </a:r>
            <a:endParaRPr sz="2400">
              <a:latin typeface="Verdana"/>
              <a:cs typeface="Verdana"/>
            </a:endParaRPr>
          </a:p>
          <a:p>
            <a:pPr marL="363855" indent="-351155">
              <a:lnSpc>
                <a:spcPct val="100000"/>
              </a:lnSpc>
              <a:buAutoNum type="alphaLcParenR"/>
              <a:tabLst>
                <a:tab pos="363855" algn="l"/>
              </a:tabLst>
            </a:pPr>
            <a:r>
              <a:rPr sz="2400" spc="85" dirty="0">
                <a:solidFill>
                  <a:srgbClr val="0030B8"/>
                </a:solidFill>
                <a:latin typeface="Verdana"/>
                <a:cs typeface="Verdana"/>
              </a:rPr>
              <a:t>Open</a:t>
            </a:r>
            <a:r>
              <a:rPr sz="2400" spc="-2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0030B8"/>
                </a:solidFill>
                <a:latin typeface="Verdana"/>
                <a:cs typeface="Verdana"/>
              </a:rPr>
              <a:t>data</a:t>
            </a:r>
            <a:endParaRPr sz="2400">
              <a:latin typeface="Verdana"/>
              <a:cs typeface="Verdana"/>
            </a:endParaRPr>
          </a:p>
          <a:p>
            <a:pPr marL="398145" indent="-385445">
              <a:lnSpc>
                <a:spcPct val="100000"/>
              </a:lnSpc>
              <a:buAutoNum type="alphaLcParenR"/>
              <a:tabLst>
                <a:tab pos="398145" algn="l"/>
              </a:tabLst>
            </a:pPr>
            <a:r>
              <a:rPr sz="2400" spc="-10" dirty="0">
                <a:solidFill>
                  <a:srgbClr val="0030B8"/>
                </a:solidFill>
                <a:latin typeface="Verdana"/>
                <a:cs typeface="Verdana"/>
              </a:rPr>
              <a:t>Infraestructura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9930" y="2861309"/>
            <a:ext cx="8898890" cy="3592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Al</a:t>
            </a:r>
            <a:r>
              <a:rPr sz="18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0030B8"/>
                </a:solidFill>
                <a:latin typeface="Verdana"/>
                <a:cs typeface="Verdana"/>
              </a:rPr>
              <a:t>realizar</a:t>
            </a:r>
            <a:r>
              <a:rPr sz="18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8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implementación,</a:t>
            </a:r>
            <a:r>
              <a:rPr sz="18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el</a:t>
            </a:r>
            <a:r>
              <a:rPr sz="18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equipo</a:t>
            </a:r>
            <a:r>
              <a:rPr sz="18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técnico</a:t>
            </a:r>
            <a:r>
              <a:rPr sz="18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8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alcaldía</a:t>
            </a:r>
            <a:r>
              <a:rPr sz="18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hizo</a:t>
            </a:r>
            <a:r>
              <a:rPr sz="18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65" dirty="0">
                <a:solidFill>
                  <a:srgbClr val="0030B8"/>
                </a:solidFill>
                <a:latin typeface="Verdana"/>
                <a:cs typeface="Verdana"/>
              </a:rPr>
              <a:t>un</a:t>
            </a:r>
            <a:r>
              <a:rPr sz="18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llamado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para</a:t>
            </a:r>
            <a:r>
              <a:rPr sz="1800" spc="-1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0030B8"/>
                </a:solidFill>
                <a:latin typeface="Verdana"/>
                <a:cs typeface="Verdana"/>
              </a:rPr>
              <a:t>que</a:t>
            </a:r>
            <a:r>
              <a:rPr sz="1800" spc="-1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0030B8"/>
                </a:solidFill>
                <a:latin typeface="Verdana"/>
                <a:cs typeface="Verdana"/>
              </a:rPr>
              <a:t>se</a:t>
            </a:r>
            <a:r>
              <a:rPr sz="18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capacitarán</a:t>
            </a:r>
            <a:r>
              <a:rPr sz="1800" spc="-1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0030B8"/>
                </a:solidFill>
                <a:latin typeface="Verdana"/>
                <a:cs typeface="Verdana"/>
              </a:rPr>
              <a:t>a</a:t>
            </a:r>
            <a:r>
              <a:rPr sz="1800" spc="-1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0030B8"/>
                </a:solidFill>
                <a:latin typeface="Verdana"/>
                <a:cs typeface="Verdana"/>
              </a:rPr>
              <a:t>las</a:t>
            </a:r>
            <a:r>
              <a:rPr sz="1800" spc="-1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personas</a:t>
            </a:r>
            <a:r>
              <a:rPr sz="1800" spc="-1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involucradas</a:t>
            </a:r>
            <a:r>
              <a:rPr sz="1800" spc="-1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1800" spc="-1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0030B8"/>
                </a:solidFill>
                <a:latin typeface="Verdana"/>
                <a:cs typeface="Verdana"/>
              </a:rPr>
              <a:t>realizar</a:t>
            </a:r>
            <a:r>
              <a:rPr sz="18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800" spc="-11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analítica</a:t>
            </a:r>
            <a:r>
              <a:rPr sz="1800" spc="-1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0030B8"/>
                </a:solidFill>
                <a:latin typeface="Verdana"/>
                <a:cs typeface="Verdana"/>
              </a:rPr>
              <a:t>del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municipio,</a:t>
            </a:r>
            <a:r>
              <a:rPr sz="18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adicional</a:t>
            </a:r>
            <a:r>
              <a:rPr sz="18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0030B8"/>
                </a:solidFill>
                <a:latin typeface="Verdana"/>
                <a:cs typeface="Verdana"/>
              </a:rPr>
              <a:t>a</a:t>
            </a:r>
            <a:r>
              <a:rPr sz="18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identificar</a:t>
            </a:r>
            <a:r>
              <a:rPr sz="18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8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0030B8"/>
                </a:solidFill>
                <a:latin typeface="Verdana"/>
                <a:cs typeface="Verdana"/>
              </a:rPr>
              <a:t>flujos</a:t>
            </a:r>
            <a:r>
              <a:rPr sz="18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datos</a:t>
            </a:r>
            <a:r>
              <a:rPr sz="1800" spc="-1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8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definir</a:t>
            </a:r>
            <a:r>
              <a:rPr sz="18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65" dirty="0">
                <a:solidFill>
                  <a:srgbClr val="0030B8"/>
                </a:solidFill>
                <a:latin typeface="Verdana"/>
                <a:cs typeface="Verdana"/>
              </a:rPr>
              <a:t>un</a:t>
            </a:r>
            <a:r>
              <a:rPr sz="18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adecuado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gobierno</a:t>
            </a:r>
            <a:r>
              <a:rPr sz="18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0030B8"/>
                </a:solidFill>
                <a:latin typeface="Verdana"/>
                <a:cs typeface="Verdana"/>
              </a:rPr>
              <a:t>datos;</a:t>
            </a:r>
            <a:r>
              <a:rPr sz="18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sin</a:t>
            </a:r>
            <a:r>
              <a:rPr sz="18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embargo,</a:t>
            </a:r>
            <a:r>
              <a:rPr sz="18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una</a:t>
            </a:r>
            <a:r>
              <a:rPr sz="18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45" dirty="0">
                <a:solidFill>
                  <a:srgbClr val="0030B8"/>
                </a:solidFill>
                <a:latin typeface="Verdana"/>
                <a:cs typeface="Verdana"/>
              </a:rPr>
              <a:t>vez</a:t>
            </a:r>
            <a:r>
              <a:rPr sz="18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realizado</a:t>
            </a:r>
            <a:r>
              <a:rPr sz="18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lo</a:t>
            </a:r>
            <a:r>
              <a:rPr sz="18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0030B8"/>
                </a:solidFill>
                <a:latin typeface="Verdana"/>
                <a:cs typeface="Verdana"/>
              </a:rPr>
              <a:t>anterior,</a:t>
            </a:r>
            <a:r>
              <a:rPr sz="18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sin</a:t>
            </a:r>
            <a:r>
              <a:rPr sz="18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previo</a:t>
            </a:r>
            <a:r>
              <a:rPr sz="18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aviso </a:t>
            </a:r>
            <a:r>
              <a:rPr sz="1800" spc="-40" dirty="0">
                <a:solidFill>
                  <a:srgbClr val="0030B8"/>
                </a:solidFill>
                <a:latin typeface="Verdana"/>
                <a:cs typeface="Verdana"/>
              </a:rPr>
              <a:t>se</a:t>
            </a:r>
            <a:r>
              <a:rPr sz="18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envió</a:t>
            </a:r>
            <a:r>
              <a:rPr sz="18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65" dirty="0">
                <a:solidFill>
                  <a:srgbClr val="0030B8"/>
                </a:solidFill>
                <a:latin typeface="Verdana"/>
                <a:cs typeface="Verdana"/>
              </a:rPr>
              <a:t>un</a:t>
            </a:r>
            <a:r>
              <a:rPr sz="18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correo</a:t>
            </a:r>
            <a:r>
              <a:rPr sz="18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0030B8"/>
                </a:solidFill>
                <a:latin typeface="Verdana"/>
                <a:cs typeface="Verdana"/>
              </a:rPr>
              <a:t>a</a:t>
            </a:r>
            <a:r>
              <a:rPr sz="18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toda</a:t>
            </a:r>
            <a:r>
              <a:rPr sz="1800" spc="-11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8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alcaldía</a:t>
            </a:r>
            <a:r>
              <a:rPr sz="18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indicando</a:t>
            </a:r>
            <a:r>
              <a:rPr sz="18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0030B8"/>
                </a:solidFill>
                <a:latin typeface="Verdana"/>
                <a:cs typeface="Verdana"/>
              </a:rPr>
              <a:t>que</a:t>
            </a:r>
            <a:r>
              <a:rPr sz="18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desde</a:t>
            </a:r>
            <a:r>
              <a:rPr sz="18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0030B8"/>
                </a:solidFill>
                <a:latin typeface="Verdana"/>
                <a:cs typeface="Verdana"/>
              </a:rPr>
              <a:t>ese</a:t>
            </a:r>
            <a:r>
              <a:rPr sz="18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65" dirty="0">
                <a:solidFill>
                  <a:srgbClr val="0030B8"/>
                </a:solidFill>
                <a:latin typeface="Verdana"/>
                <a:cs typeface="Verdana"/>
              </a:rPr>
              <a:t>momento</a:t>
            </a:r>
            <a:r>
              <a:rPr sz="1800" spc="-1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0030B8"/>
                </a:solidFill>
                <a:latin typeface="Verdana"/>
                <a:cs typeface="Verdana"/>
              </a:rPr>
              <a:t>no</a:t>
            </a:r>
            <a:r>
              <a:rPr sz="1800" spc="-1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0030B8"/>
                </a:solidFill>
                <a:latin typeface="Verdana"/>
                <a:cs typeface="Verdana"/>
              </a:rPr>
              <a:t>se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iba</a:t>
            </a:r>
            <a:r>
              <a:rPr sz="18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0030B8"/>
                </a:solidFill>
                <a:latin typeface="Verdana"/>
                <a:cs typeface="Verdana"/>
              </a:rPr>
              <a:t>a</a:t>
            </a:r>
            <a:r>
              <a:rPr sz="18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0030B8"/>
                </a:solidFill>
                <a:latin typeface="Verdana"/>
                <a:cs typeface="Verdana"/>
              </a:rPr>
              <a:t>utilizar</a:t>
            </a:r>
            <a:r>
              <a:rPr sz="18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el</a:t>
            </a:r>
            <a:r>
              <a:rPr sz="18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proceso</a:t>
            </a:r>
            <a:r>
              <a:rPr sz="1800" spc="-11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actual</a:t>
            </a:r>
            <a:r>
              <a:rPr sz="1800" spc="-11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18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físico</a:t>
            </a:r>
            <a:r>
              <a:rPr sz="18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0030B8"/>
                </a:solidFill>
                <a:latin typeface="Verdana"/>
                <a:cs typeface="Verdana"/>
              </a:rPr>
              <a:t>si</a:t>
            </a:r>
            <a:r>
              <a:rPr sz="18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0030B8"/>
                </a:solidFill>
                <a:latin typeface="Verdana"/>
                <a:cs typeface="Verdana"/>
              </a:rPr>
              <a:t>no</a:t>
            </a:r>
            <a:r>
              <a:rPr sz="1800" spc="-1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0030B8"/>
                </a:solidFill>
                <a:latin typeface="Verdana"/>
                <a:cs typeface="Verdana"/>
              </a:rPr>
              <a:t>que</a:t>
            </a:r>
            <a:r>
              <a:rPr sz="18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todo</a:t>
            </a:r>
            <a:r>
              <a:rPr sz="18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0030B8"/>
                </a:solidFill>
                <a:latin typeface="Verdana"/>
                <a:cs typeface="Verdana"/>
              </a:rPr>
              <a:t>se</a:t>
            </a:r>
            <a:r>
              <a:rPr sz="18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0030B8"/>
                </a:solidFill>
                <a:latin typeface="Verdana"/>
                <a:cs typeface="Verdana"/>
              </a:rPr>
              <a:t>virtualizaba</a:t>
            </a:r>
            <a:r>
              <a:rPr sz="18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18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0030B8"/>
                </a:solidFill>
                <a:latin typeface="Verdana"/>
                <a:cs typeface="Verdana"/>
              </a:rPr>
              <a:t>la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nueva</a:t>
            </a:r>
            <a:r>
              <a:rPr sz="18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herramienta</a:t>
            </a:r>
            <a:r>
              <a:rPr sz="1800" spc="-1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5" dirty="0">
                <a:solidFill>
                  <a:srgbClr val="0030B8"/>
                </a:solidFill>
                <a:latin typeface="Verdana"/>
                <a:cs typeface="Verdana"/>
              </a:rPr>
              <a:t>SIO-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Data</a:t>
            </a:r>
            <a:r>
              <a:rPr sz="18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0030B8"/>
                </a:solidFill>
                <a:latin typeface="Verdana"/>
                <a:cs typeface="Verdana"/>
              </a:rPr>
              <a:t>con</a:t>
            </a:r>
            <a:r>
              <a:rPr sz="18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65" dirty="0">
                <a:solidFill>
                  <a:srgbClr val="0030B8"/>
                </a:solidFill>
                <a:latin typeface="Verdana"/>
                <a:cs typeface="Verdana"/>
              </a:rPr>
              <a:t>un</a:t>
            </a:r>
            <a:r>
              <a:rPr sz="18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pdf</a:t>
            </a:r>
            <a:r>
              <a:rPr sz="18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0030B8"/>
                </a:solidFill>
                <a:latin typeface="Verdana"/>
                <a:cs typeface="Verdana"/>
              </a:rPr>
              <a:t>con</a:t>
            </a:r>
            <a:r>
              <a:rPr sz="18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0030B8"/>
                </a:solidFill>
                <a:latin typeface="Verdana"/>
                <a:cs typeface="Verdana"/>
              </a:rPr>
              <a:t>vagas</a:t>
            </a:r>
            <a:r>
              <a:rPr sz="18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instrucciones.</a:t>
            </a:r>
            <a:r>
              <a:rPr sz="18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0030B8"/>
                </a:solidFill>
                <a:latin typeface="Verdana"/>
                <a:cs typeface="Verdana"/>
              </a:rPr>
              <a:t>Dado</a:t>
            </a:r>
            <a:r>
              <a:rPr sz="18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esto, </a:t>
            </a:r>
            <a:r>
              <a:rPr sz="1800" spc="55" dirty="0">
                <a:solidFill>
                  <a:srgbClr val="0030B8"/>
                </a:solidFill>
                <a:latin typeface="Verdana"/>
                <a:cs typeface="Verdana"/>
              </a:rPr>
              <a:t>que</a:t>
            </a:r>
            <a:r>
              <a:rPr sz="18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crees</a:t>
            </a:r>
            <a:r>
              <a:rPr sz="18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0030B8"/>
                </a:solidFill>
                <a:latin typeface="Verdana"/>
                <a:cs typeface="Verdana"/>
              </a:rPr>
              <a:t>que</a:t>
            </a:r>
            <a:r>
              <a:rPr sz="18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falto</a:t>
            </a:r>
            <a:r>
              <a:rPr sz="18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18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el</a:t>
            </a:r>
            <a:r>
              <a:rPr sz="18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proceso</a:t>
            </a:r>
            <a:r>
              <a:rPr sz="18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lanzamiento</a:t>
            </a:r>
            <a:r>
              <a:rPr sz="1800" spc="-1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8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0" dirty="0">
                <a:solidFill>
                  <a:srgbClr val="0030B8"/>
                </a:solidFill>
                <a:latin typeface="Verdana"/>
                <a:cs typeface="Verdana"/>
              </a:rPr>
              <a:t>SIO-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Data:</a:t>
            </a:r>
            <a:endParaRPr sz="1800">
              <a:latin typeface="Verdana"/>
              <a:cs typeface="Verdana"/>
            </a:endParaRPr>
          </a:p>
          <a:p>
            <a:pPr marL="281940" indent="-269240">
              <a:lnSpc>
                <a:spcPct val="100000"/>
              </a:lnSpc>
              <a:spcBef>
                <a:spcPts val="2165"/>
              </a:spcBef>
              <a:buAutoNum type="alphaLcParenR"/>
              <a:tabLst>
                <a:tab pos="281940" algn="l"/>
              </a:tabLst>
            </a:pP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Gestión</a:t>
            </a:r>
            <a:r>
              <a:rPr sz="1800" spc="-1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del</a:t>
            </a:r>
            <a:r>
              <a:rPr sz="18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40" dirty="0">
                <a:solidFill>
                  <a:srgbClr val="0030B8"/>
                </a:solidFill>
                <a:latin typeface="Verdana"/>
                <a:cs typeface="Verdana"/>
              </a:rPr>
              <a:t>cambio</a:t>
            </a:r>
            <a:endParaRPr sz="1800">
              <a:latin typeface="Verdana"/>
              <a:cs typeface="Verdana"/>
            </a:endParaRPr>
          </a:p>
          <a:p>
            <a:pPr marL="303530" indent="-290830">
              <a:lnSpc>
                <a:spcPct val="100000"/>
              </a:lnSpc>
              <a:buAutoNum type="alphaLcParenR"/>
              <a:tabLst>
                <a:tab pos="303530" algn="l"/>
              </a:tabLst>
            </a:pP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Mas</a:t>
            </a:r>
            <a:r>
              <a:rPr sz="18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celulares</a:t>
            </a:r>
            <a:endParaRPr sz="1800">
              <a:latin typeface="Verdana"/>
              <a:cs typeface="Verdana"/>
            </a:endParaRPr>
          </a:p>
          <a:p>
            <a:pPr marL="274955" indent="-262255">
              <a:lnSpc>
                <a:spcPct val="100000"/>
              </a:lnSpc>
              <a:buAutoNum type="alphaLcParenR"/>
              <a:tabLst>
                <a:tab pos="274955" algn="l"/>
              </a:tabLst>
            </a:pPr>
            <a:r>
              <a:rPr sz="1800" spc="90" dirty="0">
                <a:solidFill>
                  <a:srgbClr val="0030B8"/>
                </a:solidFill>
                <a:latin typeface="Verdana"/>
                <a:cs typeface="Verdana"/>
              </a:rPr>
              <a:t>Un</a:t>
            </a:r>
            <a:r>
              <a:rPr sz="1800" spc="-1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0030B8"/>
                </a:solidFill>
                <a:latin typeface="Verdana"/>
                <a:cs typeface="Verdana"/>
              </a:rPr>
              <a:t>nombre</a:t>
            </a:r>
            <a:r>
              <a:rPr sz="1800" spc="-1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0030B8"/>
                </a:solidFill>
                <a:latin typeface="Verdana"/>
                <a:cs typeface="Verdana"/>
              </a:rPr>
              <a:t>más</a:t>
            </a:r>
            <a:r>
              <a:rPr sz="1800" spc="-1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novedoso</a:t>
            </a:r>
            <a:endParaRPr sz="1800">
              <a:latin typeface="Verdana"/>
              <a:cs typeface="Verdana"/>
            </a:endParaRPr>
          </a:p>
          <a:p>
            <a:pPr marL="302895" indent="-290195">
              <a:lnSpc>
                <a:spcPct val="100000"/>
              </a:lnSpc>
              <a:buAutoNum type="alphaLcParenR"/>
              <a:tabLst>
                <a:tab pos="302895" algn="l"/>
              </a:tabLst>
            </a:pPr>
            <a:r>
              <a:rPr sz="1800" spc="55" dirty="0">
                <a:solidFill>
                  <a:srgbClr val="0030B8"/>
                </a:solidFill>
                <a:latin typeface="Verdana"/>
                <a:cs typeface="Verdana"/>
              </a:rPr>
              <a:t>Una</a:t>
            </a:r>
            <a:r>
              <a:rPr sz="1800" spc="-1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salida</a:t>
            </a:r>
            <a:r>
              <a:rPr sz="1800" spc="-1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0030B8"/>
                </a:solidFill>
                <a:latin typeface="Verdana"/>
                <a:cs typeface="Verdana"/>
              </a:rPr>
              <a:t>institucional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9930" y="2857957"/>
            <a:ext cx="8945245" cy="3320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0325">
              <a:lnSpc>
                <a:spcPct val="100000"/>
              </a:lnSpc>
              <a:spcBef>
                <a:spcPts val="100"/>
              </a:spcBef>
            </a:pPr>
            <a:r>
              <a:rPr sz="2400" spc="70" dirty="0">
                <a:solidFill>
                  <a:srgbClr val="0030B8"/>
                </a:solidFill>
                <a:latin typeface="Verdana"/>
                <a:cs typeface="Verdana"/>
              </a:rPr>
              <a:t>Luego</a:t>
            </a:r>
            <a:r>
              <a:rPr sz="2400" spc="-1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del</a:t>
            </a:r>
            <a:r>
              <a:rPr sz="2400" spc="-1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0030B8"/>
                </a:solidFill>
                <a:latin typeface="Verdana"/>
                <a:cs typeface="Verdana"/>
              </a:rPr>
              <a:t>lanzamiento,</a:t>
            </a:r>
            <a:r>
              <a:rPr sz="2400" spc="-1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0030B8"/>
                </a:solidFill>
                <a:latin typeface="Verdana"/>
                <a:cs typeface="Verdana"/>
              </a:rPr>
              <a:t>se</a:t>
            </a:r>
            <a:r>
              <a:rPr sz="2400" spc="-1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construyeron</a:t>
            </a:r>
            <a:r>
              <a:rPr sz="2400" spc="-1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60" dirty="0">
                <a:solidFill>
                  <a:srgbClr val="0030B8"/>
                </a:solidFill>
                <a:latin typeface="Verdana"/>
                <a:cs typeface="Verdana"/>
              </a:rPr>
              <a:t>varios</a:t>
            </a:r>
            <a:r>
              <a:rPr sz="2400" spc="-1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0030B8"/>
                </a:solidFill>
                <a:latin typeface="Verdana"/>
                <a:cs typeface="Verdana"/>
              </a:rPr>
              <a:t>tableros</a:t>
            </a:r>
            <a:r>
              <a:rPr sz="2400" spc="-1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0030B8"/>
                </a:solidFill>
                <a:latin typeface="Verdana"/>
                <a:cs typeface="Verdana"/>
              </a:rPr>
              <a:t>de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indicadores</a:t>
            </a:r>
            <a:r>
              <a:rPr sz="2400" spc="-1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2400" spc="-1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cuales</a:t>
            </a:r>
            <a:r>
              <a:rPr sz="2400" spc="-1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fueron</a:t>
            </a:r>
            <a:r>
              <a:rPr sz="2400" spc="-1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enviados</a:t>
            </a:r>
            <a:r>
              <a:rPr sz="2400" spc="-1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por</a:t>
            </a:r>
            <a:r>
              <a:rPr sz="2400" spc="-1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65" dirty="0">
                <a:solidFill>
                  <a:srgbClr val="0030B8"/>
                </a:solidFill>
                <a:latin typeface="Verdana"/>
                <a:cs typeface="Verdana"/>
              </a:rPr>
              <a:t>medio</a:t>
            </a:r>
            <a:r>
              <a:rPr sz="2400" spc="-1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7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2400" spc="-1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65" dirty="0">
                <a:solidFill>
                  <a:srgbClr val="0030B8"/>
                </a:solidFill>
                <a:latin typeface="Verdana"/>
                <a:cs typeface="Verdana"/>
              </a:rPr>
              <a:t>un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link</a:t>
            </a:r>
            <a:r>
              <a:rPr sz="2400" spc="-1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por</a:t>
            </a:r>
            <a:r>
              <a:rPr sz="2400" spc="-1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correo</a:t>
            </a:r>
            <a:r>
              <a:rPr sz="2400" spc="-1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institucional</a:t>
            </a:r>
            <a:r>
              <a:rPr sz="2400" spc="-1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0030B8"/>
                </a:solidFill>
                <a:latin typeface="Verdana"/>
                <a:cs typeface="Verdana"/>
              </a:rPr>
              <a:t>a</a:t>
            </a:r>
            <a:r>
              <a:rPr sz="2400" spc="-1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2400" spc="-1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0030B8"/>
                </a:solidFill>
                <a:latin typeface="Verdana"/>
                <a:cs typeface="Verdana"/>
              </a:rPr>
              <a:t>servidores</a:t>
            </a:r>
            <a:r>
              <a:rPr sz="2400" spc="-1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7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2400" spc="-1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2400" spc="-1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0030B8"/>
                </a:solidFill>
                <a:latin typeface="Verdana"/>
                <a:cs typeface="Verdana"/>
              </a:rPr>
              <a:t>alcaldía.</a:t>
            </a:r>
            <a:endParaRPr sz="2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60" dirty="0">
                <a:solidFill>
                  <a:srgbClr val="0030B8"/>
                </a:solidFill>
                <a:latin typeface="Verdana"/>
                <a:cs typeface="Verdana"/>
              </a:rPr>
              <a:t>¿Qué</a:t>
            </a:r>
            <a:r>
              <a:rPr sz="2400" spc="-1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0030B8"/>
                </a:solidFill>
                <a:latin typeface="Verdana"/>
                <a:cs typeface="Verdana"/>
              </a:rPr>
              <a:t>crees</a:t>
            </a:r>
            <a:r>
              <a:rPr sz="2400" spc="-1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75" dirty="0">
                <a:solidFill>
                  <a:srgbClr val="0030B8"/>
                </a:solidFill>
                <a:latin typeface="Verdana"/>
                <a:cs typeface="Verdana"/>
              </a:rPr>
              <a:t>que</a:t>
            </a:r>
            <a:r>
              <a:rPr sz="2400" spc="-1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debería</a:t>
            </a:r>
            <a:r>
              <a:rPr sz="2400" spc="-2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hacer</a:t>
            </a:r>
            <a:r>
              <a:rPr sz="2400" spc="-1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2400" spc="-1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alcaldía</a:t>
            </a:r>
            <a:r>
              <a:rPr sz="2400" spc="-1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70" dirty="0">
                <a:solidFill>
                  <a:srgbClr val="0030B8"/>
                </a:solidFill>
                <a:latin typeface="Verdana"/>
                <a:cs typeface="Verdana"/>
              </a:rPr>
              <a:t>con</a:t>
            </a:r>
            <a:r>
              <a:rPr sz="2400" spc="-1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0030B8"/>
                </a:solidFill>
                <a:latin typeface="Verdana"/>
                <a:cs typeface="Verdana"/>
              </a:rPr>
              <a:t>este</a:t>
            </a:r>
            <a:r>
              <a:rPr sz="2400" spc="-1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0030B8"/>
                </a:solidFill>
                <a:latin typeface="Verdana"/>
                <a:cs typeface="Verdana"/>
              </a:rPr>
              <a:t>tablero?</a:t>
            </a:r>
            <a:endParaRPr sz="2400">
              <a:latin typeface="Verdana"/>
              <a:cs typeface="Verdana"/>
            </a:endParaRPr>
          </a:p>
          <a:p>
            <a:pPr marL="312420" indent="-299720">
              <a:lnSpc>
                <a:spcPct val="100000"/>
              </a:lnSpc>
              <a:spcBef>
                <a:spcPts val="2415"/>
              </a:spcBef>
              <a:buAutoNum type="alphaLcParenR"/>
              <a:tabLst>
                <a:tab pos="312420" algn="l"/>
              </a:tabLst>
            </a:pPr>
            <a:r>
              <a:rPr sz="2000" dirty="0">
                <a:solidFill>
                  <a:srgbClr val="0030B8"/>
                </a:solidFill>
                <a:latin typeface="Verdana"/>
                <a:cs typeface="Verdana"/>
              </a:rPr>
              <a:t>Monitorear</a:t>
            </a:r>
            <a:r>
              <a:rPr sz="20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2000" spc="-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0030B8"/>
                </a:solidFill>
                <a:latin typeface="Verdana"/>
                <a:cs typeface="Verdana"/>
              </a:rPr>
              <a:t>resultados</a:t>
            </a:r>
            <a:r>
              <a:rPr sz="20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0030B8"/>
                </a:solidFill>
                <a:latin typeface="Verdana"/>
                <a:cs typeface="Verdana"/>
              </a:rPr>
              <a:t>constantemente</a:t>
            </a:r>
            <a:r>
              <a:rPr sz="2000" spc="-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spc="-114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2000" spc="1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0030B8"/>
                </a:solidFill>
                <a:latin typeface="Verdana"/>
                <a:cs typeface="Verdana"/>
              </a:rPr>
              <a:t>tomar</a:t>
            </a:r>
            <a:r>
              <a:rPr sz="2000" spc="-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0030B8"/>
                </a:solidFill>
                <a:latin typeface="Verdana"/>
                <a:cs typeface="Verdana"/>
              </a:rPr>
              <a:t>acciones</a:t>
            </a:r>
            <a:r>
              <a:rPr sz="20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spc="45" dirty="0">
                <a:solidFill>
                  <a:srgbClr val="0030B8"/>
                </a:solidFill>
                <a:latin typeface="Verdana"/>
                <a:cs typeface="Verdana"/>
              </a:rPr>
              <a:t>con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0030B8"/>
                </a:solidFill>
                <a:latin typeface="Verdana"/>
                <a:cs typeface="Verdana"/>
              </a:rPr>
              <a:t>base</a:t>
            </a:r>
            <a:r>
              <a:rPr sz="2000" spc="-1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2000" spc="-1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solidFill>
                  <a:srgbClr val="0030B8"/>
                </a:solidFill>
                <a:latin typeface="Verdana"/>
                <a:cs typeface="Verdana"/>
              </a:rPr>
              <a:t>ello</a:t>
            </a:r>
            <a:endParaRPr sz="2000">
              <a:latin typeface="Verdana"/>
              <a:cs typeface="Verdana"/>
            </a:endParaRPr>
          </a:p>
          <a:p>
            <a:pPr marL="332740" indent="-320040">
              <a:lnSpc>
                <a:spcPct val="100000"/>
              </a:lnSpc>
              <a:buAutoNum type="alphaLcParenR" startAt="2"/>
              <a:tabLst>
                <a:tab pos="332740" algn="l"/>
              </a:tabLst>
            </a:pPr>
            <a:r>
              <a:rPr sz="2000" spc="-10" dirty="0">
                <a:solidFill>
                  <a:srgbClr val="0030B8"/>
                </a:solidFill>
                <a:latin typeface="Verdana"/>
                <a:cs typeface="Verdana"/>
              </a:rPr>
              <a:t>Archivar</a:t>
            </a:r>
            <a:r>
              <a:rPr sz="2000" spc="-1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0030B8"/>
                </a:solidFill>
                <a:latin typeface="Verdana"/>
                <a:cs typeface="Verdana"/>
              </a:rPr>
              <a:t>el</a:t>
            </a:r>
            <a:r>
              <a:rPr sz="2000" spc="-1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0030B8"/>
                </a:solidFill>
                <a:latin typeface="Verdana"/>
                <a:cs typeface="Verdana"/>
              </a:rPr>
              <a:t>correo</a:t>
            </a:r>
            <a:endParaRPr sz="2000">
              <a:latin typeface="Verdana"/>
              <a:cs typeface="Verdana"/>
            </a:endParaRPr>
          </a:p>
          <a:p>
            <a:pPr marL="305435" indent="-292735">
              <a:lnSpc>
                <a:spcPct val="100000"/>
              </a:lnSpc>
              <a:buAutoNum type="alphaLcParenR" startAt="2"/>
              <a:tabLst>
                <a:tab pos="305435" algn="l"/>
              </a:tabLst>
            </a:pPr>
            <a:r>
              <a:rPr sz="2000" spc="-25" dirty="0">
                <a:solidFill>
                  <a:srgbClr val="0030B8"/>
                </a:solidFill>
                <a:latin typeface="Verdana"/>
                <a:cs typeface="Verdana"/>
              </a:rPr>
              <a:t>Revisarlo</a:t>
            </a:r>
            <a:r>
              <a:rPr sz="2000" spc="-1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0030B8"/>
                </a:solidFill>
                <a:latin typeface="Verdana"/>
                <a:cs typeface="Verdana"/>
              </a:rPr>
              <a:t>cada</a:t>
            </a:r>
            <a:r>
              <a:rPr sz="2000" spc="-1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0030B8"/>
                </a:solidFill>
                <a:latin typeface="Verdana"/>
                <a:cs typeface="Verdana"/>
              </a:rPr>
              <a:t>año</a:t>
            </a:r>
            <a:r>
              <a:rPr sz="2000" spc="-1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0030B8"/>
                </a:solidFill>
                <a:latin typeface="Verdana"/>
                <a:cs typeface="Verdana"/>
              </a:rPr>
              <a:t>al</a:t>
            </a:r>
            <a:r>
              <a:rPr sz="2000" spc="-1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spc="80" dirty="0">
                <a:solidFill>
                  <a:srgbClr val="0030B8"/>
                </a:solidFill>
                <a:latin typeface="Verdana"/>
                <a:cs typeface="Verdana"/>
              </a:rPr>
              <a:t>momento</a:t>
            </a:r>
            <a:r>
              <a:rPr sz="2000" spc="-1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spc="6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2000" spc="-1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0030B8"/>
                </a:solidFill>
                <a:latin typeface="Verdana"/>
                <a:cs typeface="Verdana"/>
              </a:rPr>
              <a:t>reportar</a:t>
            </a:r>
            <a:r>
              <a:rPr sz="2000" spc="-1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0030B8"/>
                </a:solidFill>
                <a:latin typeface="Verdana"/>
                <a:cs typeface="Verdana"/>
              </a:rPr>
              <a:t>resultados</a:t>
            </a:r>
            <a:r>
              <a:rPr sz="2000" spc="-1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2000" spc="-1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0030B8"/>
                </a:solidFill>
                <a:latin typeface="Verdana"/>
                <a:cs typeface="Verdana"/>
              </a:rPr>
              <a:t>el</a:t>
            </a:r>
            <a:r>
              <a:rPr sz="2000" spc="-1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0030B8"/>
                </a:solidFill>
                <a:latin typeface="Verdana"/>
                <a:cs typeface="Verdana"/>
              </a:rPr>
              <a:t>FURAG.</a:t>
            </a:r>
            <a:endParaRPr sz="2000">
              <a:latin typeface="Verdana"/>
              <a:cs typeface="Verdana"/>
            </a:endParaRPr>
          </a:p>
          <a:p>
            <a:pPr marL="332740" indent="-320040">
              <a:lnSpc>
                <a:spcPct val="100000"/>
              </a:lnSpc>
              <a:buAutoNum type="alphaLcParenR" startAt="2"/>
              <a:tabLst>
                <a:tab pos="332740" algn="l"/>
              </a:tabLst>
            </a:pPr>
            <a:r>
              <a:rPr sz="2000" spc="65" dirty="0">
                <a:solidFill>
                  <a:srgbClr val="0030B8"/>
                </a:solidFill>
                <a:latin typeface="Verdana"/>
                <a:cs typeface="Verdana"/>
              </a:rPr>
              <a:t>Ninguna</a:t>
            </a:r>
            <a:r>
              <a:rPr sz="2000" spc="-2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spc="6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2000" spc="-1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spc="-40" dirty="0">
                <a:solidFill>
                  <a:srgbClr val="0030B8"/>
                </a:solidFill>
                <a:latin typeface="Verdana"/>
                <a:cs typeface="Verdana"/>
              </a:rPr>
              <a:t>las</a:t>
            </a:r>
            <a:r>
              <a:rPr sz="2000" spc="-1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0030B8"/>
                </a:solidFill>
                <a:latin typeface="Verdana"/>
                <a:cs typeface="Verdana"/>
              </a:rPr>
              <a:t>anteriores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9930" y="2722879"/>
            <a:ext cx="8794750" cy="4051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60" dirty="0">
                <a:solidFill>
                  <a:srgbClr val="0030B8"/>
                </a:solidFill>
                <a:latin typeface="Verdana"/>
                <a:cs typeface="Verdana"/>
              </a:rPr>
              <a:t>Luego</a:t>
            </a:r>
            <a:r>
              <a:rPr sz="2400" spc="-1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7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2400" spc="-1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90" dirty="0">
                <a:solidFill>
                  <a:srgbClr val="0030B8"/>
                </a:solidFill>
                <a:latin typeface="Verdana"/>
                <a:cs typeface="Verdana"/>
              </a:rPr>
              <a:t>un</a:t>
            </a:r>
            <a:r>
              <a:rPr sz="2400" spc="-1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tiempo,</a:t>
            </a:r>
            <a:r>
              <a:rPr sz="2400" spc="-1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55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2400" spc="-1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2400" spc="-1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reunión</a:t>
            </a:r>
            <a:r>
              <a:rPr sz="2400" spc="-1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semanal</a:t>
            </a:r>
            <a:r>
              <a:rPr sz="2400" spc="-1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7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2400" spc="-1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0030B8"/>
                </a:solidFill>
                <a:latin typeface="Verdana"/>
                <a:cs typeface="Verdana"/>
              </a:rPr>
              <a:t>gobierno, </a:t>
            </a:r>
            <a:r>
              <a:rPr sz="2400" spc="-50" dirty="0">
                <a:solidFill>
                  <a:srgbClr val="0030B8"/>
                </a:solidFill>
                <a:latin typeface="Verdana"/>
                <a:cs typeface="Verdana"/>
              </a:rPr>
              <a:t>las</a:t>
            </a:r>
            <a:r>
              <a:rPr sz="2400" spc="-1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0030B8"/>
                </a:solidFill>
                <a:latin typeface="Verdana"/>
                <a:cs typeface="Verdana"/>
              </a:rPr>
              <a:t>personas</a:t>
            </a:r>
            <a:r>
              <a:rPr sz="2400" spc="-1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indicaron</a:t>
            </a:r>
            <a:r>
              <a:rPr sz="2400" spc="-1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70" dirty="0">
                <a:solidFill>
                  <a:srgbClr val="0030B8"/>
                </a:solidFill>
                <a:latin typeface="Verdana"/>
                <a:cs typeface="Verdana"/>
              </a:rPr>
              <a:t>que</a:t>
            </a:r>
            <a:r>
              <a:rPr sz="2400" spc="-1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2400" spc="-1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datos</a:t>
            </a:r>
            <a:r>
              <a:rPr sz="2400" spc="-1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del</a:t>
            </a:r>
            <a:r>
              <a:rPr sz="2400" spc="-1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tablero</a:t>
            </a:r>
            <a:r>
              <a:rPr sz="2400" spc="-1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0030B8"/>
                </a:solidFill>
                <a:latin typeface="Verdana"/>
                <a:cs typeface="Verdana"/>
              </a:rPr>
              <a:t>estaban </a:t>
            </a:r>
            <a:r>
              <a:rPr sz="2400" spc="-55" dirty="0">
                <a:solidFill>
                  <a:srgbClr val="0030B8"/>
                </a:solidFill>
                <a:latin typeface="Verdana"/>
                <a:cs typeface="Verdana"/>
              </a:rPr>
              <a:t>erróneos,</a:t>
            </a:r>
            <a:r>
              <a:rPr sz="2400" spc="-1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45" dirty="0">
                <a:solidFill>
                  <a:srgbClr val="0030B8"/>
                </a:solidFill>
                <a:latin typeface="Verdana"/>
                <a:cs typeface="Verdana"/>
              </a:rPr>
              <a:t>generando</a:t>
            </a:r>
            <a:r>
              <a:rPr sz="2400" spc="-1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discusiones</a:t>
            </a:r>
            <a:r>
              <a:rPr sz="2400" spc="-1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13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2400" spc="-1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0030B8"/>
                </a:solidFill>
                <a:latin typeface="Verdana"/>
                <a:cs typeface="Verdana"/>
              </a:rPr>
              <a:t>falta</a:t>
            </a:r>
            <a:r>
              <a:rPr sz="2400" spc="-1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7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2400" spc="-1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claridad</a:t>
            </a:r>
            <a:r>
              <a:rPr sz="2400" spc="-1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55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2400" spc="-1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0030B8"/>
                </a:solidFill>
                <a:latin typeface="Verdana"/>
                <a:cs typeface="Verdana"/>
              </a:rPr>
              <a:t>las </a:t>
            </a:r>
            <a:r>
              <a:rPr sz="2400" spc="-80" dirty="0">
                <a:solidFill>
                  <a:srgbClr val="0030B8"/>
                </a:solidFill>
                <a:latin typeface="Verdana"/>
                <a:cs typeface="Verdana"/>
              </a:rPr>
              <a:t>cifras.</a:t>
            </a:r>
            <a:r>
              <a:rPr sz="2400" spc="-2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70" dirty="0">
                <a:solidFill>
                  <a:srgbClr val="0030B8"/>
                </a:solidFill>
                <a:latin typeface="Verdana"/>
                <a:cs typeface="Verdana"/>
              </a:rPr>
              <a:t>¿Cómo</a:t>
            </a:r>
            <a:r>
              <a:rPr sz="2400" spc="-2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crees</a:t>
            </a:r>
            <a:r>
              <a:rPr sz="2400" spc="-20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75" dirty="0">
                <a:solidFill>
                  <a:srgbClr val="0030B8"/>
                </a:solidFill>
                <a:latin typeface="Verdana"/>
                <a:cs typeface="Verdana"/>
              </a:rPr>
              <a:t>que</a:t>
            </a:r>
            <a:r>
              <a:rPr sz="2400" spc="-20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0030B8"/>
                </a:solidFill>
                <a:latin typeface="Verdana"/>
                <a:cs typeface="Verdana"/>
              </a:rPr>
              <a:t>se</a:t>
            </a:r>
            <a:r>
              <a:rPr sz="2400" spc="-1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90" dirty="0">
                <a:solidFill>
                  <a:srgbClr val="0030B8"/>
                </a:solidFill>
                <a:latin typeface="Verdana"/>
                <a:cs typeface="Verdana"/>
              </a:rPr>
              <a:t>pudo</a:t>
            </a:r>
            <a:r>
              <a:rPr sz="2400" spc="-2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haber</a:t>
            </a:r>
            <a:r>
              <a:rPr sz="2400" spc="-1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evitado</a:t>
            </a:r>
            <a:r>
              <a:rPr sz="2400" spc="-20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0030B8"/>
                </a:solidFill>
                <a:latin typeface="Verdana"/>
                <a:cs typeface="Verdana"/>
              </a:rPr>
              <a:t>esta </a:t>
            </a:r>
            <a:r>
              <a:rPr sz="2400" spc="-10" dirty="0">
                <a:solidFill>
                  <a:srgbClr val="0030B8"/>
                </a:solidFill>
                <a:latin typeface="Verdana"/>
                <a:cs typeface="Verdana"/>
              </a:rPr>
              <a:t>situación?</a:t>
            </a:r>
            <a:endParaRPr sz="2400">
              <a:latin typeface="Verdana"/>
              <a:cs typeface="Verdana"/>
            </a:endParaRPr>
          </a:p>
          <a:p>
            <a:pPr marL="311785" indent="-299085">
              <a:lnSpc>
                <a:spcPct val="100000"/>
              </a:lnSpc>
              <a:spcBef>
                <a:spcPts val="2900"/>
              </a:spcBef>
              <a:buAutoNum type="alphaLcParenR"/>
              <a:tabLst>
                <a:tab pos="311785" algn="l"/>
              </a:tabLst>
            </a:pPr>
            <a:r>
              <a:rPr sz="2000" dirty="0">
                <a:solidFill>
                  <a:srgbClr val="0030B8"/>
                </a:solidFill>
                <a:latin typeface="Verdana"/>
                <a:cs typeface="Verdana"/>
              </a:rPr>
              <a:t>Enviando</a:t>
            </a:r>
            <a:r>
              <a:rPr sz="2000" spc="-1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0030B8"/>
                </a:solidFill>
                <a:latin typeface="Verdana"/>
                <a:cs typeface="Verdana"/>
              </a:rPr>
              <a:t>correos</a:t>
            </a:r>
            <a:r>
              <a:rPr sz="2000" spc="-1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0030B8"/>
                </a:solidFill>
                <a:latin typeface="Verdana"/>
                <a:cs typeface="Verdana"/>
              </a:rPr>
              <a:t>diarios</a:t>
            </a:r>
            <a:r>
              <a:rPr sz="2000" spc="-1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spc="-30" dirty="0">
                <a:solidFill>
                  <a:srgbClr val="0030B8"/>
                </a:solidFill>
                <a:latin typeface="Verdana"/>
                <a:cs typeface="Verdana"/>
              </a:rPr>
              <a:t>a</a:t>
            </a:r>
            <a:r>
              <a:rPr sz="2000" spc="-1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2000" spc="-1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0030B8"/>
                </a:solidFill>
                <a:latin typeface="Verdana"/>
                <a:cs typeface="Verdana"/>
              </a:rPr>
              <a:t>equipos.</a:t>
            </a:r>
            <a:endParaRPr sz="2000">
              <a:latin typeface="Verdana"/>
              <a:cs typeface="Verdana"/>
            </a:endParaRPr>
          </a:p>
          <a:p>
            <a:pPr marL="332740" indent="-320040">
              <a:lnSpc>
                <a:spcPct val="100000"/>
              </a:lnSpc>
              <a:buAutoNum type="alphaLcParenR"/>
              <a:tabLst>
                <a:tab pos="332740" algn="l"/>
              </a:tabLst>
            </a:pPr>
            <a:r>
              <a:rPr sz="2000" dirty="0">
                <a:solidFill>
                  <a:srgbClr val="0030B8"/>
                </a:solidFill>
                <a:latin typeface="Verdana"/>
                <a:cs typeface="Verdana"/>
              </a:rPr>
              <a:t>Confiando</a:t>
            </a:r>
            <a:r>
              <a:rPr sz="20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0030B8"/>
                </a:solidFill>
                <a:latin typeface="Verdana"/>
                <a:cs typeface="Verdana"/>
              </a:rPr>
              <a:t>ciegamente</a:t>
            </a:r>
            <a:r>
              <a:rPr sz="20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2000" spc="-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2000" spc="-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0030B8"/>
                </a:solidFill>
                <a:latin typeface="Verdana"/>
                <a:cs typeface="Verdana"/>
              </a:rPr>
              <a:t>datos</a:t>
            </a:r>
            <a:r>
              <a:rPr sz="2000" spc="-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0030B8"/>
                </a:solidFill>
                <a:latin typeface="Verdana"/>
                <a:cs typeface="Verdana"/>
              </a:rPr>
              <a:t>del</a:t>
            </a:r>
            <a:r>
              <a:rPr sz="2000" spc="-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0030B8"/>
                </a:solidFill>
                <a:latin typeface="Verdana"/>
                <a:cs typeface="Verdana"/>
              </a:rPr>
              <a:t>tablero.</a:t>
            </a:r>
            <a:endParaRPr sz="2000">
              <a:latin typeface="Verdana"/>
              <a:cs typeface="Verdana"/>
            </a:endParaRPr>
          </a:p>
          <a:p>
            <a:pPr marL="12700" marR="54610" indent="292735">
              <a:lnSpc>
                <a:spcPct val="100000"/>
              </a:lnSpc>
              <a:buAutoNum type="alphaLcParenR"/>
              <a:tabLst>
                <a:tab pos="305435" algn="l"/>
              </a:tabLst>
            </a:pPr>
            <a:r>
              <a:rPr sz="2000" dirty="0">
                <a:solidFill>
                  <a:srgbClr val="0030B8"/>
                </a:solidFill>
                <a:latin typeface="Verdana"/>
                <a:cs typeface="Verdana"/>
              </a:rPr>
              <a:t>Validando</a:t>
            </a:r>
            <a:r>
              <a:rPr sz="20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0030B8"/>
                </a:solidFill>
                <a:latin typeface="Verdana"/>
                <a:cs typeface="Verdana"/>
              </a:rPr>
              <a:t>periódicamente</a:t>
            </a:r>
            <a:r>
              <a:rPr sz="20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20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0030B8"/>
                </a:solidFill>
                <a:latin typeface="Verdana"/>
                <a:cs typeface="Verdana"/>
              </a:rPr>
              <a:t>validez</a:t>
            </a:r>
            <a:r>
              <a:rPr sz="20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spc="6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20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20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0030B8"/>
                </a:solidFill>
                <a:latin typeface="Verdana"/>
                <a:cs typeface="Verdana"/>
              </a:rPr>
              <a:t>resultados</a:t>
            </a:r>
            <a:r>
              <a:rPr sz="20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spc="-114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20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0030B8"/>
                </a:solidFill>
                <a:latin typeface="Verdana"/>
                <a:cs typeface="Verdana"/>
              </a:rPr>
              <a:t>conceptos </a:t>
            </a:r>
            <a:r>
              <a:rPr sz="2000" spc="6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20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0030B8"/>
                </a:solidFill>
                <a:latin typeface="Verdana"/>
                <a:cs typeface="Verdana"/>
              </a:rPr>
              <a:t>negocio,</a:t>
            </a:r>
            <a:r>
              <a:rPr sz="2000" spc="-1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0030B8"/>
                </a:solidFill>
                <a:latin typeface="Verdana"/>
                <a:cs typeface="Verdana"/>
              </a:rPr>
              <a:t>realizando</a:t>
            </a:r>
            <a:r>
              <a:rPr sz="2000" spc="-1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20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0030B8"/>
                </a:solidFill>
                <a:latin typeface="Verdana"/>
                <a:cs typeface="Verdana"/>
              </a:rPr>
              <a:t>cambios</a:t>
            </a:r>
            <a:r>
              <a:rPr sz="2000" spc="-1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0030B8"/>
                </a:solidFill>
                <a:latin typeface="Verdana"/>
                <a:cs typeface="Verdana"/>
              </a:rPr>
              <a:t>pertinentes</a:t>
            </a:r>
            <a:r>
              <a:rPr sz="2000" spc="-1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0030B8"/>
                </a:solidFill>
                <a:latin typeface="Verdana"/>
                <a:cs typeface="Verdana"/>
              </a:rPr>
              <a:t>para</a:t>
            </a:r>
            <a:r>
              <a:rPr sz="2000" spc="-1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0030B8"/>
                </a:solidFill>
                <a:latin typeface="Verdana"/>
                <a:cs typeface="Verdana"/>
              </a:rPr>
              <a:t>alinearse</a:t>
            </a:r>
            <a:r>
              <a:rPr sz="2000" spc="-1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spc="-30" dirty="0">
                <a:solidFill>
                  <a:srgbClr val="0030B8"/>
                </a:solidFill>
                <a:latin typeface="Verdana"/>
                <a:cs typeface="Verdana"/>
              </a:rPr>
              <a:t>a</a:t>
            </a:r>
            <a:r>
              <a:rPr sz="20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0030B8"/>
                </a:solidFill>
                <a:latin typeface="Verdana"/>
                <a:cs typeface="Verdana"/>
              </a:rPr>
              <a:t>la </a:t>
            </a:r>
            <a:r>
              <a:rPr sz="2000" dirty="0">
                <a:solidFill>
                  <a:srgbClr val="0030B8"/>
                </a:solidFill>
                <a:latin typeface="Verdana"/>
                <a:cs typeface="Verdana"/>
              </a:rPr>
              <a:t>realidad</a:t>
            </a:r>
            <a:r>
              <a:rPr sz="2000" spc="-1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spc="6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2000" spc="-1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2000" spc="-1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0030B8"/>
                </a:solidFill>
                <a:latin typeface="Verdana"/>
                <a:cs typeface="Verdana"/>
              </a:rPr>
              <a:t>alcaldía.</a:t>
            </a:r>
            <a:endParaRPr sz="2000">
              <a:latin typeface="Verdana"/>
              <a:cs typeface="Verdana"/>
            </a:endParaRPr>
          </a:p>
          <a:p>
            <a:pPr marL="332740" indent="-320040">
              <a:lnSpc>
                <a:spcPct val="100000"/>
              </a:lnSpc>
              <a:buAutoNum type="alphaLcParenR"/>
              <a:tabLst>
                <a:tab pos="332740" algn="l"/>
              </a:tabLst>
            </a:pPr>
            <a:r>
              <a:rPr sz="2000" dirty="0">
                <a:solidFill>
                  <a:srgbClr val="0030B8"/>
                </a:solidFill>
                <a:latin typeface="Verdana"/>
                <a:cs typeface="Verdana"/>
              </a:rPr>
              <a:t>Solicitando</a:t>
            </a:r>
            <a:r>
              <a:rPr sz="2000" spc="-1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0030B8"/>
                </a:solidFill>
                <a:latin typeface="Verdana"/>
                <a:cs typeface="Verdana"/>
              </a:rPr>
              <a:t>ayuda</a:t>
            </a:r>
            <a:r>
              <a:rPr sz="2000" spc="-1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spc="-30" dirty="0">
                <a:solidFill>
                  <a:srgbClr val="0030B8"/>
                </a:solidFill>
                <a:latin typeface="Verdana"/>
                <a:cs typeface="Verdana"/>
              </a:rPr>
              <a:t>a</a:t>
            </a:r>
            <a:r>
              <a:rPr sz="2000" spc="-1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spc="85" dirty="0">
                <a:solidFill>
                  <a:srgbClr val="0030B8"/>
                </a:solidFill>
                <a:latin typeface="Verdana"/>
                <a:cs typeface="Verdana"/>
              </a:rPr>
              <a:t>un</a:t>
            </a:r>
            <a:r>
              <a:rPr sz="2000" spc="-1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spc="55" dirty="0">
                <a:solidFill>
                  <a:srgbClr val="0030B8"/>
                </a:solidFill>
                <a:latin typeface="Verdana"/>
                <a:cs typeface="Verdana"/>
              </a:rPr>
              <a:t>municipio</a:t>
            </a:r>
            <a:r>
              <a:rPr sz="2000" spc="-1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0030B8"/>
                </a:solidFill>
                <a:latin typeface="Verdana"/>
                <a:cs typeface="Verdana"/>
              </a:rPr>
              <a:t>vecino.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79930" y="2857957"/>
            <a:ext cx="863917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0" spc="70" dirty="0">
                <a:latin typeface="Verdana"/>
                <a:cs typeface="Verdana"/>
              </a:rPr>
              <a:t>Luego</a:t>
            </a:r>
            <a:r>
              <a:rPr sz="2400" b="0" spc="-229" dirty="0">
                <a:latin typeface="Verdana"/>
                <a:cs typeface="Verdana"/>
              </a:rPr>
              <a:t> </a:t>
            </a:r>
            <a:r>
              <a:rPr sz="2400" b="0" spc="70" dirty="0">
                <a:latin typeface="Verdana"/>
                <a:cs typeface="Verdana"/>
              </a:rPr>
              <a:t>de</a:t>
            </a:r>
            <a:r>
              <a:rPr sz="2400" b="0" spc="-200" dirty="0">
                <a:latin typeface="Verdana"/>
                <a:cs typeface="Verdana"/>
              </a:rPr>
              <a:t> </a:t>
            </a:r>
            <a:r>
              <a:rPr sz="2400" b="0" spc="-25" dirty="0">
                <a:latin typeface="Verdana"/>
                <a:cs typeface="Verdana"/>
              </a:rPr>
              <a:t>estos</a:t>
            </a:r>
            <a:r>
              <a:rPr sz="2400" b="0" spc="-200" dirty="0">
                <a:latin typeface="Verdana"/>
                <a:cs typeface="Verdana"/>
              </a:rPr>
              <a:t> </a:t>
            </a:r>
            <a:r>
              <a:rPr sz="2400" b="0" dirty="0">
                <a:latin typeface="Verdana"/>
                <a:cs typeface="Verdana"/>
              </a:rPr>
              <a:t>resultados</a:t>
            </a:r>
            <a:r>
              <a:rPr sz="2400" b="0" spc="-220" dirty="0">
                <a:latin typeface="Verdana"/>
                <a:cs typeface="Verdana"/>
              </a:rPr>
              <a:t> </a:t>
            </a:r>
            <a:r>
              <a:rPr sz="2400" b="0" dirty="0">
                <a:latin typeface="Verdana"/>
                <a:cs typeface="Verdana"/>
              </a:rPr>
              <a:t>el</a:t>
            </a:r>
            <a:r>
              <a:rPr sz="2400" b="0" spc="-200" dirty="0">
                <a:latin typeface="Verdana"/>
                <a:cs typeface="Verdana"/>
              </a:rPr>
              <a:t> </a:t>
            </a:r>
            <a:r>
              <a:rPr sz="2400" b="0" spc="60" dirty="0">
                <a:latin typeface="Verdana"/>
                <a:cs typeface="Verdana"/>
              </a:rPr>
              <a:t>municipio</a:t>
            </a:r>
            <a:r>
              <a:rPr sz="2400" b="0" spc="-215" dirty="0">
                <a:latin typeface="Verdana"/>
                <a:cs typeface="Verdana"/>
              </a:rPr>
              <a:t> </a:t>
            </a:r>
            <a:r>
              <a:rPr sz="2400" b="0" spc="-10" dirty="0">
                <a:latin typeface="Verdana"/>
                <a:cs typeface="Verdana"/>
              </a:rPr>
              <a:t>quisiera </a:t>
            </a:r>
            <a:r>
              <a:rPr sz="2400" b="0" dirty="0">
                <a:latin typeface="Verdana"/>
                <a:cs typeface="Verdana"/>
              </a:rPr>
              <a:t>determinar</a:t>
            </a:r>
            <a:r>
              <a:rPr sz="2400" b="0" spc="-10" dirty="0">
                <a:latin typeface="Verdana"/>
                <a:cs typeface="Verdana"/>
              </a:rPr>
              <a:t> </a:t>
            </a:r>
            <a:r>
              <a:rPr sz="2400" b="0" dirty="0">
                <a:latin typeface="Verdana"/>
                <a:cs typeface="Verdana"/>
              </a:rPr>
              <a:t>quiénes</a:t>
            </a:r>
            <a:r>
              <a:rPr sz="2400" b="0" spc="-35" dirty="0">
                <a:latin typeface="Verdana"/>
                <a:cs typeface="Verdana"/>
              </a:rPr>
              <a:t> </a:t>
            </a:r>
            <a:r>
              <a:rPr sz="2400" b="0" spc="70" dirty="0">
                <a:latin typeface="Verdana"/>
                <a:cs typeface="Verdana"/>
              </a:rPr>
              <a:t>de</a:t>
            </a:r>
            <a:r>
              <a:rPr sz="2400" b="0" spc="-30" dirty="0">
                <a:latin typeface="Verdana"/>
                <a:cs typeface="Verdana"/>
              </a:rPr>
              <a:t> los</a:t>
            </a:r>
            <a:r>
              <a:rPr sz="2400" b="0" spc="-10" dirty="0">
                <a:latin typeface="Verdana"/>
                <a:cs typeface="Verdana"/>
              </a:rPr>
              <a:t> </a:t>
            </a:r>
            <a:r>
              <a:rPr sz="2400" b="0" dirty="0">
                <a:latin typeface="Verdana"/>
                <a:cs typeface="Verdana"/>
              </a:rPr>
              <a:t>ciudadanos</a:t>
            </a:r>
            <a:r>
              <a:rPr sz="2400" b="0" spc="-45" dirty="0">
                <a:latin typeface="Verdana"/>
                <a:cs typeface="Verdana"/>
              </a:rPr>
              <a:t> </a:t>
            </a:r>
            <a:r>
              <a:rPr sz="2400" b="0" dirty="0">
                <a:latin typeface="Verdana"/>
                <a:cs typeface="Verdana"/>
              </a:rPr>
              <a:t>podrían</a:t>
            </a:r>
            <a:r>
              <a:rPr sz="2400" b="0" spc="-35" dirty="0">
                <a:latin typeface="Verdana"/>
                <a:cs typeface="Verdana"/>
              </a:rPr>
              <a:t> </a:t>
            </a:r>
            <a:r>
              <a:rPr sz="2400" b="0" spc="-10" dirty="0">
                <a:latin typeface="Verdana"/>
                <a:cs typeface="Verdana"/>
              </a:rPr>
              <a:t>necesitar </a:t>
            </a:r>
            <a:r>
              <a:rPr sz="2400" b="0" spc="55" dirty="0">
                <a:latin typeface="Verdana"/>
                <a:cs typeface="Verdana"/>
              </a:rPr>
              <a:t>acompañamiento</a:t>
            </a:r>
            <a:r>
              <a:rPr sz="2400" b="0" spc="-190" dirty="0">
                <a:latin typeface="Verdana"/>
                <a:cs typeface="Verdana"/>
              </a:rPr>
              <a:t> </a:t>
            </a:r>
            <a:r>
              <a:rPr sz="2400" b="0" spc="55" dirty="0">
                <a:latin typeface="Verdana"/>
                <a:cs typeface="Verdana"/>
              </a:rPr>
              <a:t>en</a:t>
            </a:r>
            <a:r>
              <a:rPr sz="2400" b="0" spc="-175" dirty="0">
                <a:latin typeface="Verdana"/>
                <a:cs typeface="Verdana"/>
              </a:rPr>
              <a:t> </a:t>
            </a:r>
            <a:r>
              <a:rPr sz="2400" b="0" spc="-60" dirty="0">
                <a:latin typeface="Verdana"/>
                <a:cs typeface="Verdana"/>
              </a:rPr>
              <a:t>salud,</a:t>
            </a:r>
            <a:r>
              <a:rPr sz="2400" b="0" spc="-195" dirty="0">
                <a:latin typeface="Verdana"/>
                <a:cs typeface="Verdana"/>
              </a:rPr>
              <a:t> </a:t>
            </a:r>
            <a:r>
              <a:rPr sz="2400" b="0" dirty="0">
                <a:latin typeface="Verdana"/>
                <a:cs typeface="Verdana"/>
              </a:rPr>
              <a:t>para</a:t>
            </a:r>
            <a:r>
              <a:rPr sz="2400" b="0" spc="-195" dirty="0">
                <a:latin typeface="Verdana"/>
                <a:cs typeface="Verdana"/>
              </a:rPr>
              <a:t> </a:t>
            </a:r>
            <a:r>
              <a:rPr sz="2400" b="0" dirty="0">
                <a:latin typeface="Verdana"/>
                <a:cs typeface="Verdana"/>
              </a:rPr>
              <a:t>lo</a:t>
            </a:r>
            <a:r>
              <a:rPr sz="2400" b="0" spc="-185" dirty="0">
                <a:latin typeface="Verdana"/>
                <a:cs typeface="Verdana"/>
              </a:rPr>
              <a:t> </a:t>
            </a:r>
            <a:r>
              <a:rPr sz="2400" b="0" dirty="0">
                <a:latin typeface="Verdana"/>
                <a:cs typeface="Verdana"/>
              </a:rPr>
              <a:t>cual</a:t>
            </a:r>
            <a:r>
              <a:rPr sz="2400" b="0" spc="-190" dirty="0">
                <a:latin typeface="Verdana"/>
                <a:cs typeface="Verdana"/>
              </a:rPr>
              <a:t> </a:t>
            </a:r>
            <a:r>
              <a:rPr sz="2400" b="0" spc="-25" dirty="0">
                <a:latin typeface="Verdana"/>
                <a:cs typeface="Verdana"/>
              </a:rPr>
              <a:t>ellos</a:t>
            </a:r>
            <a:r>
              <a:rPr sz="2400" b="0" spc="-175" dirty="0">
                <a:latin typeface="Verdana"/>
                <a:cs typeface="Verdana"/>
              </a:rPr>
              <a:t> </a:t>
            </a:r>
            <a:r>
              <a:rPr sz="2400" b="0" spc="-10" dirty="0">
                <a:latin typeface="Verdana"/>
                <a:cs typeface="Verdana"/>
              </a:rPr>
              <a:t>deberían: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79930" y="4262120"/>
            <a:ext cx="8671560" cy="1855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1785" indent="-299085">
              <a:lnSpc>
                <a:spcPct val="100000"/>
              </a:lnSpc>
              <a:spcBef>
                <a:spcPts val="100"/>
              </a:spcBef>
              <a:buAutoNum type="alphaLcParenR"/>
              <a:tabLst>
                <a:tab pos="311785" algn="l"/>
              </a:tabLst>
            </a:pPr>
            <a:r>
              <a:rPr sz="2000" spc="-20" dirty="0">
                <a:solidFill>
                  <a:srgbClr val="0030B8"/>
                </a:solidFill>
                <a:latin typeface="Verdana"/>
                <a:cs typeface="Verdana"/>
              </a:rPr>
              <a:t>Solicitar</a:t>
            </a:r>
            <a:r>
              <a:rPr sz="2000" spc="-1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0030B8"/>
                </a:solidFill>
                <a:latin typeface="Verdana"/>
                <a:cs typeface="Verdana"/>
              </a:rPr>
              <a:t>apoyo</a:t>
            </a:r>
            <a:r>
              <a:rPr sz="2000" spc="-1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spc="6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2000" spc="-1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0030B8"/>
                </a:solidFill>
                <a:latin typeface="Verdana"/>
                <a:cs typeface="Verdana"/>
              </a:rPr>
              <a:t>otros</a:t>
            </a:r>
            <a:r>
              <a:rPr sz="2000" spc="-1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0030B8"/>
                </a:solidFill>
                <a:latin typeface="Verdana"/>
                <a:cs typeface="Verdana"/>
              </a:rPr>
              <a:t>municipios</a:t>
            </a:r>
            <a:endParaRPr sz="2000">
              <a:latin typeface="Verdana"/>
              <a:cs typeface="Verdana"/>
            </a:endParaRPr>
          </a:p>
          <a:p>
            <a:pPr marL="333375" indent="-320675">
              <a:lnSpc>
                <a:spcPct val="100000"/>
              </a:lnSpc>
              <a:buAutoNum type="alphaLcParenR"/>
              <a:tabLst>
                <a:tab pos="333375" algn="l"/>
              </a:tabLst>
            </a:pPr>
            <a:r>
              <a:rPr sz="2000" spc="-10" dirty="0">
                <a:solidFill>
                  <a:srgbClr val="0030B8"/>
                </a:solidFill>
                <a:latin typeface="Verdana"/>
                <a:cs typeface="Verdana"/>
              </a:rPr>
              <a:t>Realizar</a:t>
            </a:r>
            <a:r>
              <a:rPr sz="2000" spc="-11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spc="75" dirty="0">
                <a:solidFill>
                  <a:srgbClr val="0030B8"/>
                </a:solidFill>
                <a:latin typeface="Verdana"/>
                <a:cs typeface="Verdana"/>
              </a:rPr>
              <a:t>un</a:t>
            </a:r>
            <a:r>
              <a:rPr sz="20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spc="55" dirty="0">
                <a:solidFill>
                  <a:srgbClr val="0030B8"/>
                </a:solidFill>
                <a:latin typeface="Verdana"/>
                <a:cs typeface="Verdana"/>
              </a:rPr>
              <a:t>modelo</a:t>
            </a:r>
            <a:r>
              <a:rPr sz="20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spc="6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20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0030B8"/>
                </a:solidFill>
                <a:latin typeface="Verdana"/>
                <a:cs typeface="Verdana"/>
              </a:rPr>
              <a:t>analítica</a:t>
            </a:r>
            <a:r>
              <a:rPr sz="2000" spc="-1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0030B8"/>
                </a:solidFill>
                <a:latin typeface="Verdana"/>
                <a:cs typeface="Verdana"/>
              </a:rPr>
              <a:t>predictiva,</a:t>
            </a:r>
            <a:r>
              <a:rPr sz="2000" spc="-1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0030B8"/>
                </a:solidFill>
                <a:latin typeface="Verdana"/>
                <a:cs typeface="Verdana"/>
              </a:rPr>
              <a:t>identificando</a:t>
            </a:r>
            <a:r>
              <a:rPr sz="2000" spc="-1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0030B8"/>
                </a:solidFill>
                <a:latin typeface="Verdana"/>
                <a:cs typeface="Verdana"/>
              </a:rPr>
              <a:t>posibles</a:t>
            </a:r>
            <a:r>
              <a:rPr sz="20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0030B8"/>
                </a:solidFill>
                <a:latin typeface="Verdana"/>
                <a:cs typeface="Verdana"/>
              </a:rPr>
              <a:t>ciudadanos</a:t>
            </a:r>
            <a:r>
              <a:rPr sz="20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0030B8"/>
                </a:solidFill>
                <a:latin typeface="Verdana"/>
                <a:cs typeface="Verdana"/>
              </a:rPr>
              <a:t>susceptibles</a:t>
            </a:r>
            <a:r>
              <a:rPr sz="20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spc="6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20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spc="50" dirty="0">
                <a:solidFill>
                  <a:srgbClr val="0030B8"/>
                </a:solidFill>
                <a:latin typeface="Verdana"/>
                <a:cs typeface="Verdana"/>
              </a:rPr>
              <a:t>acompañamiento</a:t>
            </a:r>
            <a:r>
              <a:rPr sz="20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20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0030B8"/>
                </a:solidFill>
                <a:latin typeface="Verdana"/>
                <a:cs typeface="Verdana"/>
              </a:rPr>
              <a:t>salud.</a:t>
            </a:r>
            <a:endParaRPr sz="2000">
              <a:latin typeface="Verdana"/>
              <a:cs typeface="Verdana"/>
            </a:endParaRPr>
          </a:p>
          <a:p>
            <a:pPr marL="12700" marR="5080" indent="292735">
              <a:lnSpc>
                <a:spcPct val="100000"/>
              </a:lnSpc>
              <a:buAutoNum type="alphaLcParenR" startAt="3"/>
              <a:tabLst>
                <a:tab pos="305435" algn="l"/>
              </a:tabLst>
            </a:pPr>
            <a:r>
              <a:rPr sz="2000" dirty="0">
                <a:solidFill>
                  <a:srgbClr val="0030B8"/>
                </a:solidFill>
                <a:latin typeface="Verdana"/>
                <a:cs typeface="Verdana"/>
              </a:rPr>
              <a:t>Generación</a:t>
            </a:r>
            <a:r>
              <a:rPr sz="2000" spc="-1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spc="6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20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spc="85" dirty="0">
                <a:solidFill>
                  <a:srgbClr val="0030B8"/>
                </a:solidFill>
                <a:latin typeface="Verdana"/>
                <a:cs typeface="Verdana"/>
              </a:rPr>
              <a:t>un</a:t>
            </a:r>
            <a:r>
              <a:rPr sz="20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0030B8"/>
                </a:solidFill>
                <a:latin typeface="Verdana"/>
                <a:cs typeface="Verdana"/>
              </a:rPr>
              <a:t>tablero</a:t>
            </a:r>
            <a:r>
              <a:rPr sz="20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spc="6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20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0030B8"/>
                </a:solidFill>
                <a:latin typeface="Verdana"/>
                <a:cs typeface="Verdana"/>
              </a:rPr>
              <a:t>control</a:t>
            </a:r>
            <a:r>
              <a:rPr sz="2000" spc="-1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spc="70" dirty="0">
                <a:solidFill>
                  <a:srgbClr val="0030B8"/>
                </a:solidFill>
                <a:latin typeface="Verdana"/>
                <a:cs typeface="Verdana"/>
              </a:rPr>
              <a:t>con</a:t>
            </a:r>
            <a:r>
              <a:rPr sz="20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0030B8"/>
                </a:solidFill>
                <a:latin typeface="Verdana"/>
                <a:cs typeface="Verdana"/>
              </a:rPr>
              <a:t>todos</a:t>
            </a:r>
            <a:r>
              <a:rPr sz="2000" spc="-1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20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0030B8"/>
                </a:solidFill>
                <a:latin typeface="Verdana"/>
                <a:cs typeface="Verdana"/>
              </a:rPr>
              <a:t>ciudadanos</a:t>
            </a:r>
            <a:r>
              <a:rPr sz="2000" spc="-1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spc="-25" dirty="0">
                <a:solidFill>
                  <a:srgbClr val="0030B8"/>
                </a:solidFill>
                <a:latin typeface="Verdana"/>
                <a:cs typeface="Verdana"/>
              </a:rPr>
              <a:t>del </a:t>
            </a:r>
            <a:r>
              <a:rPr sz="2000" spc="45" dirty="0">
                <a:solidFill>
                  <a:srgbClr val="0030B8"/>
                </a:solidFill>
                <a:latin typeface="Verdana"/>
                <a:cs typeface="Verdana"/>
              </a:rPr>
              <a:t>municipio</a:t>
            </a:r>
            <a:endParaRPr sz="2000">
              <a:latin typeface="Verdana"/>
              <a:cs typeface="Verdana"/>
            </a:endParaRPr>
          </a:p>
          <a:p>
            <a:pPr marL="332740" indent="-320040">
              <a:lnSpc>
                <a:spcPct val="100000"/>
              </a:lnSpc>
              <a:buAutoNum type="alphaLcParenR" startAt="3"/>
              <a:tabLst>
                <a:tab pos="332740" algn="l"/>
              </a:tabLst>
            </a:pPr>
            <a:r>
              <a:rPr sz="2000" spc="65" dirty="0">
                <a:solidFill>
                  <a:srgbClr val="0030B8"/>
                </a:solidFill>
                <a:latin typeface="Verdana"/>
                <a:cs typeface="Verdana"/>
              </a:rPr>
              <a:t>Ninguna</a:t>
            </a:r>
            <a:r>
              <a:rPr sz="2000" spc="-2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spc="6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2000" spc="-1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spc="-40" dirty="0">
                <a:solidFill>
                  <a:srgbClr val="0030B8"/>
                </a:solidFill>
                <a:latin typeface="Verdana"/>
                <a:cs typeface="Verdana"/>
              </a:rPr>
              <a:t>las</a:t>
            </a:r>
            <a:r>
              <a:rPr sz="2000" spc="-1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0030B8"/>
                </a:solidFill>
                <a:latin typeface="Verdana"/>
                <a:cs typeface="Verdana"/>
              </a:rPr>
              <a:t>anteriores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9930" y="2857957"/>
            <a:ext cx="8947150" cy="2952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37870" algn="just">
              <a:lnSpc>
                <a:spcPct val="100000"/>
              </a:lnSpc>
              <a:spcBef>
                <a:spcPts val="100"/>
              </a:spcBef>
            </a:pPr>
            <a:r>
              <a:rPr sz="2400" spc="70" dirty="0">
                <a:solidFill>
                  <a:srgbClr val="0030B8"/>
                </a:solidFill>
                <a:latin typeface="Verdana"/>
                <a:cs typeface="Verdana"/>
              </a:rPr>
              <a:t>Luego</a:t>
            </a:r>
            <a:r>
              <a:rPr sz="2400" spc="-2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7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2400" spc="-21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45" dirty="0">
                <a:solidFill>
                  <a:srgbClr val="0030B8"/>
                </a:solidFill>
                <a:latin typeface="Verdana"/>
                <a:cs typeface="Verdana"/>
              </a:rPr>
              <a:t>todo</a:t>
            </a:r>
            <a:r>
              <a:rPr sz="2400" spc="-2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80" dirty="0">
                <a:solidFill>
                  <a:srgbClr val="0030B8"/>
                </a:solidFill>
                <a:latin typeface="Verdana"/>
                <a:cs typeface="Verdana"/>
              </a:rPr>
              <a:t>esto,</a:t>
            </a:r>
            <a:r>
              <a:rPr sz="2400" spc="-2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45" dirty="0">
                <a:solidFill>
                  <a:srgbClr val="0030B8"/>
                </a:solidFill>
                <a:latin typeface="Verdana"/>
                <a:cs typeface="Verdana"/>
              </a:rPr>
              <a:t>las</a:t>
            </a:r>
            <a:r>
              <a:rPr sz="2400" spc="-21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0030B8"/>
                </a:solidFill>
                <a:latin typeface="Verdana"/>
                <a:cs typeface="Verdana"/>
              </a:rPr>
              <a:t>personas</a:t>
            </a:r>
            <a:r>
              <a:rPr sz="2400" spc="-21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involucradas</a:t>
            </a:r>
            <a:r>
              <a:rPr sz="2400" spc="-2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55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2400" spc="-229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15" dirty="0">
                <a:solidFill>
                  <a:srgbClr val="0030B8"/>
                </a:solidFill>
                <a:latin typeface="Verdana"/>
                <a:cs typeface="Verdana"/>
              </a:rPr>
              <a:t>este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10" dirty="0">
                <a:solidFill>
                  <a:srgbClr val="0030B8"/>
                </a:solidFill>
                <a:latin typeface="Verdana"/>
                <a:cs typeface="Verdana"/>
              </a:rPr>
              <a:t>proyecto</a:t>
            </a:r>
            <a:r>
              <a:rPr sz="2400" spc="-229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0030B8"/>
                </a:solidFill>
                <a:latin typeface="Verdana"/>
                <a:cs typeface="Verdana"/>
              </a:rPr>
              <a:t>se</a:t>
            </a:r>
            <a:r>
              <a:rPr sz="2400" spc="-229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15" dirty="0">
                <a:solidFill>
                  <a:srgbClr val="0030B8"/>
                </a:solidFill>
                <a:latin typeface="Verdana"/>
                <a:cs typeface="Verdana"/>
              </a:rPr>
              <a:t>fueron</a:t>
            </a:r>
            <a:r>
              <a:rPr sz="2400" spc="-2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35" dirty="0">
                <a:solidFill>
                  <a:srgbClr val="0030B8"/>
                </a:solidFill>
                <a:latin typeface="Verdana"/>
                <a:cs typeface="Verdana"/>
              </a:rPr>
              <a:t>del</a:t>
            </a:r>
            <a:r>
              <a:rPr sz="2400" spc="-21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65" dirty="0">
                <a:solidFill>
                  <a:srgbClr val="0030B8"/>
                </a:solidFill>
                <a:latin typeface="Verdana"/>
                <a:cs typeface="Verdana"/>
              </a:rPr>
              <a:t>municipio</a:t>
            </a:r>
            <a:r>
              <a:rPr sz="2400" spc="-2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130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2400" spc="-21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el</a:t>
            </a:r>
            <a:r>
              <a:rPr sz="2400" spc="-21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10" dirty="0">
                <a:solidFill>
                  <a:srgbClr val="0030B8"/>
                </a:solidFill>
                <a:latin typeface="Verdana"/>
                <a:cs typeface="Verdana"/>
              </a:rPr>
              <a:t>proyecto</a:t>
            </a:r>
            <a:r>
              <a:rPr sz="2400" spc="-2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70" dirty="0">
                <a:solidFill>
                  <a:srgbClr val="0030B8"/>
                </a:solidFill>
                <a:latin typeface="Verdana"/>
                <a:cs typeface="Verdana"/>
              </a:rPr>
              <a:t>quedo</a:t>
            </a:r>
            <a:r>
              <a:rPr sz="2400" spc="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25" dirty="0">
                <a:solidFill>
                  <a:srgbClr val="0030B8"/>
                </a:solidFill>
                <a:latin typeface="Verdana"/>
                <a:cs typeface="Verdana"/>
              </a:rPr>
              <a:t>estancado</a:t>
            </a:r>
            <a:r>
              <a:rPr sz="2400" spc="-229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65" dirty="0">
                <a:solidFill>
                  <a:srgbClr val="0030B8"/>
                </a:solidFill>
                <a:latin typeface="Verdana"/>
                <a:cs typeface="Verdana"/>
              </a:rPr>
              <a:t>debido</a:t>
            </a:r>
            <a:r>
              <a:rPr sz="2400" spc="-2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30" dirty="0">
                <a:solidFill>
                  <a:srgbClr val="0030B8"/>
                </a:solidFill>
                <a:latin typeface="Verdana"/>
                <a:cs typeface="Verdana"/>
              </a:rPr>
              <a:t>a</a:t>
            </a:r>
            <a:r>
              <a:rPr sz="2400" spc="-21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100" dirty="0">
                <a:solidFill>
                  <a:srgbClr val="0030B8"/>
                </a:solidFill>
                <a:latin typeface="Verdana"/>
                <a:cs typeface="Verdana"/>
              </a:rPr>
              <a:t>que:</a:t>
            </a:r>
            <a:endParaRPr sz="2400">
              <a:latin typeface="Verdana"/>
              <a:cs typeface="Verdana"/>
            </a:endParaRPr>
          </a:p>
          <a:p>
            <a:pPr marL="371475" indent="-358775">
              <a:lnSpc>
                <a:spcPct val="100000"/>
              </a:lnSpc>
              <a:spcBef>
                <a:spcPts val="2885"/>
              </a:spcBef>
              <a:buAutoNum type="alphaLcParenR"/>
              <a:tabLst>
                <a:tab pos="371475" algn="l"/>
              </a:tabLst>
            </a:pPr>
            <a:r>
              <a:rPr sz="2400" spc="80" dirty="0">
                <a:solidFill>
                  <a:srgbClr val="0030B8"/>
                </a:solidFill>
                <a:latin typeface="Verdana"/>
                <a:cs typeface="Verdana"/>
              </a:rPr>
              <a:t>No</a:t>
            </a:r>
            <a:r>
              <a:rPr sz="24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20" dirty="0">
                <a:solidFill>
                  <a:srgbClr val="0030B8"/>
                </a:solidFill>
                <a:latin typeface="Verdana"/>
                <a:cs typeface="Verdana"/>
              </a:rPr>
              <a:t>realizaron</a:t>
            </a:r>
            <a:r>
              <a:rPr sz="24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una</a:t>
            </a:r>
            <a:r>
              <a:rPr sz="24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adecuada</a:t>
            </a:r>
            <a:r>
              <a:rPr sz="2400" spc="-1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gestión</a:t>
            </a:r>
            <a:r>
              <a:rPr sz="24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del</a:t>
            </a:r>
            <a:r>
              <a:rPr sz="24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45" dirty="0">
                <a:solidFill>
                  <a:srgbClr val="0030B8"/>
                </a:solidFill>
                <a:latin typeface="Verdana"/>
                <a:cs typeface="Verdana"/>
              </a:rPr>
              <a:t>conocimiento</a:t>
            </a:r>
            <a:endParaRPr sz="2400">
              <a:latin typeface="Verdana"/>
              <a:cs typeface="Verdana"/>
            </a:endParaRPr>
          </a:p>
          <a:p>
            <a:pPr marL="398145" indent="-385445">
              <a:lnSpc>
                <a:spcPct val="100000"/>
              </a:lnSpc>
              <a:buAutoNum type="alphaLcParenR"/>
              <a:tabLst>
                <a:tab pos="398145" algn="l"/>
              </a:tabLst>
            </a:pP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Ya</a:t>
            </a:r>
            <a:r>
              <a:rPr sz="2400" spc="-1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había</a:t>
            </a:r>
            <a:r>
              <a:rPr sz="2400" spc="-1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pasado</a:t>
            </a:r>
            <a:r>
              <a:rPr sz="2400" spc="-1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90" dirty="0">
                <a:solidFill>
                  <a:srgbClr val="0030B8"/>
                </a:solidFill>
                <a:latin typeface="Verdana"/>
                <a:cs typeface="Verdana"/>
              </a:rPr>
              <a:t>un</a:t>
            </a:r>
            <a:r>
              <a:rPr sz="2400" spc="-1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25" dirty="0">
                <a:solidFill>
                  <a:srgbClr val="0030B8"/>
                </a:solidFill>
                <a:latin typeface="Verdana"/>
                <a:cs typeface="Verdana"/>
              </a:rPr>
              <a:t>año</a:t>
            </a:r>
            <a:endParaRPr sz="2400">
              <a:latin typeface="Verdana"/>
              <a:cs typeface="Verdana"/>
            </a:endParaRPr>
          </a:p>
          <a:p>
            <a:pPr marL="363855" indent="-351155">
              <a:lnSpc>
                <a:spcPct val="100000"/>
              </a:lnSpc>
              <a:buAutoNum type="alphaLcParenR"/>
              <a:tabLst>
                <a:tab pos="363855" algn="l"/>
              </a:tabLst>
            </a:pPr>
            <a:r>
              <a:rPr sz="2400" spc="80" dirty="0">
                <a:solidFill>
                  <a:srgbClr val="0030B8"/>
                </a:solidFill>
                <a:latin typeface="Verdana"/>
                <a:cs typeface="Verdana"/>
              </a:rPr>
              <a:t>No</a:t>
            </a:r>
            <a:r>
              <a:rPr sz="24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35" dirty="0">
                <a:solidFill>
                  <a:srgbClr val="0030B8"/>
                </a:solidFill>
                <a:latin typeface="Verdana"/>
                <a:cs typeface="Verdana"/>
              </a:rPr>
              <a:t>se</a:t>
            </a:r>
            <a:r>
              <a:rPr sz="24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deseaba</a:t>
            </a:r>
            <a:r>
              <a:rPr sz="2400" spc="-1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seguir</a:t>
            </a:r>
            <a:r>
              <a:rPr sz="24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cosechando</a:t>
            </a:r>
            <a:r>
              <a:rPr sz="2400" spc="-1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0030B8"/>
                </a:solidFill>
                <a:latin typeface="Verdana"/>
                <a:cs typeface="Verdana"/>
              </a:rPr>
              <a:t>excelentes</a:t>
            </a:r>
            <a:r>
              <a:rPr sz="24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0030B8"/>
                </a:solidFill>
                <a:latin typeface="Verdana"/>
                <a:cs typeface="Verdana"/>
              </a:rPr>
              <a:t>resultados</a:t>
            </a:r>
            <a:endParaRPr sz="2400">
              <a:latin typeface="Verdana"/>
              <a:cs typeface="Verdana"/>
            </a:endParaRPr>
          </a:p>
          <a:p>
            <a:pPr marL="398145" indent="-385445">
              <a:lnSpc>
                <a:spcPct val="100000"/>
              </a:lnSpc>
              <a:buAutoNum type="alphaLcParenR"/>
              <a:tabLst>
                <a:tab pos="398145" algn="l"/>
              </a:tabLst>
            </a:pPr>
            <a:r>
              <a:rPr sz="2400" spc="60" dirty="0">
                <a:solidFill>
                  <a:srgbClr val="0030B8"/>
                </a:solidFill>
                <a:latin typeface="Verdana"/>
                <a:cs typeface="Verdana"/>
              </a:rPr>
              <a:t>Ninguna</a:t>
            </a:r>
            <a:r>
              <a:rPr sz="2400" spc="-1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7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2400" spc="-1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50" dirty="0">
                <a:solidFill>
                  <a:srgbClr val="0030B8"/>
                </a:solidFill>
                <a:latin typeface="Verdana"/>
                <a:cs typeface="Verdana"/>
              </a:rPr>
              <a:t>las</a:t>
            </a:r>
            <a:r>
              <a:rPr sz="2400" spc="-1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2400" spc="-10" dirty="0">
                <a:solidFill>
                  <a:srgbClr val="0030B8"/>
                </a:solidFill>
                <a:latin typeface="Verdana"/>
                <a:cs typeface="Verdana"/>
              </a:rPr>
              <a:t>anteriores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668771" y="3420617"/>
            <a:ext cx="3343275" cy="1694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/>
              <a:t>04.</a:t>
            </a:r>
            <a:r>
              <a:rPr spc="80" dirty="0"/>
              <a:t> </a:t>
            </a:r>
            <a:r>
              <a:rPr spc="85" dirty="0"/>
              <a:t>Analítica </a:t>
            </a:r>
            <a:r>
              <a:rPr spc="65" dirty="0"/>
              <a:t>institucional</a:t>
            </a: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2200" b="0" spc="-10" dirty="0">
                <a:solidFill>
                  <a:srgbClr val="2CDAFF"/>
                </a:solidFill>
                <a:latin typeface="Verdana"/>
                <a:cs typeface="Verdana"/>
              </a:rPr>
              <a:t>Conclusiones</a:t>
            </a:r>
            <a:endParaRPr sz="2200">
              <a:latin typeface="Verdana"/>
              <a:cs typeface="Verdan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423416" y="2951988"/>
            <a:ext cx="3063240" cy="2811780"/>
            <a:chOff x="1423416" y="2951988"/>
            <a:chExt cx="3063240" cy="28117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23416" y="2951988"/>
              <a:ext cx="1132332" cy="129082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08760" y="4471416"/>
              <a:ext cx="961643" cy="129235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66872" y="3095244"/>
              <a:ext cx="1319784" cy="83515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38500" y="4530852"/>
              <a:ext cx="1176527" cy="11231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64870" y="1235151"/>
            <a:ext cx="467550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85" dirty="0"/>
              <a:t>Analítica</a:t>
            </a:r>
            <a:r>
              <a:rPr sz="3200" spc="-65" dirty="0"/>
              <a:t> </a:t>
            </a:r>
            <a:r>
              <a:rPr sz="3200" spc="65" dirty="0"/>
              <a:t>institucional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664870" y="1835911"/>
            <a:ext cx="905700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Profundizar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5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análisis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información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datos</a:t>
            </a:r>
            <a:r>
              <a:rPr sz="15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que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genera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entidad</a:t>
            </a:r>
            <a:r>
              <a:rPr sz="15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para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fortalecer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el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conocimiento</a:t>
            </a:r>
            <a:r>
              <a:rPr sz="15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1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su</a:t>
            </a:r>
            <a:r>
              <a:rPr sz="1500" spc="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desempeño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1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su</a:t>
            </a:r>
            <a:r>
              <a:rPr sz="1500" spc="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propósito</a:t>
            </a:r>
            <a:r>
              <a:rPr sz="1500" spc="-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fundamental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64155" y="2555494"/>
            <a:ext cx="2889250" cy="804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200"/>
              </a:lnSpc>
              <a:spcBef>
                <a:spcPts val="95"/>
              </a:spcBef>
            </a:pPr>
            <a:r>
              <a:rPr sz="1500" b="1" spc="10" dirty="0">
                <a:solidFill>
                  <a:srgbClr val="0030B8"/>
                </a:solidFill>
                <a:latin typeface="Tahoma"/>
                <a:cs typeface="Tahoma"/>
              </a:rPr>
              <a:t>Diagnóstico</a:t>
            </a:r>
            <a:r>
              <a:rPr sz="1500" b="1" spc="190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1500" b="1" spc="65" dirty="0">
                <a:solidFill>
                  <a:srgbClr val="0030B8"/>
                </a:solidFill>
                <a:latin typeface="Tahoma"/>
                <a:cs typeface="Tahoma"/>
              </a:rPr>
              <a:t>de</a:t>
            </a:r>
            <a:r>
              <a:rPr sz="1500" b="1" spc="185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0030B8"/>
                </a:solidFill>
                <a:latin typeface="Tahoma"/>
                <a:cs typeface="Tahoma"/>
              </a:rPr>
              <a:t>datos: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Identificación,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organización </a:t>
            </a:r>
            <a:r>
              <a:rPr sz="1200" spc="-50" dirty="0">
                <a:solidFill>
                  <a:srgbClr val="0030B8"/>
                </a:solidFill>
                <a:latin typeface="Verdana"/>
                <a:cs typeface="Verdana"/>
              </a:rPr>
              <a:t>y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actualización</a:t>
            </a:r>
            <a:r>
              <a:rPr sz="12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2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2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datos</a:t>
            </a:r>
            <a:r>
              <a:rPr sz="12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producidos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por</a:t>
            </a:r>
            <a:r>
              <a:rPr sz="12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2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entidad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64155" y="4152087"/>
            <a:ext cx="3143250" cy="988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0030B8"/>
                </a:solidFill>
                <a:latin typeface="Tahoma"/>
                <a:cs typeface="Tahoma"/>
              </a:rPr>
              <a:t>Análisis</a:t>
            </a:r>
            <a:r>
              <a:rPr sz="1500" b="1" spc="105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1500" b="1" spc="70" dirty="0">
                <a:solidFill>
                  <a:srgbClr val="0030B8"/>
                </a:solidFill>
                <a:latin typeface="Tahoma"/>
                <a:cs typeface="Tahoma"/>
              </a:rPr>
              <a:t>de</a:t>
            </a:r>
            <a:r>
              <a:rPr sz="1500" b="1" spc="110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0030B8"/>
                </a:solidFill>
                <a:latin typeface="Tahoma"/>
                <a:cs typeface="Tahoma"/>
              </a:rPr>
              <a:t>datos:</a:t>
            </a:r>
            <a:endParaRPr sz="15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15"/>
              </a:spcBef>
            </a:pP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Profundizar</a:t>
            </a:r>
            <a:r>
              <a:rPr sz="12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12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2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análisis</a:t>
            </a:r>
            <a:r>
              <a:rPr sz="12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2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0030B8"/>
                </a:solidFill>
                <a:latin typeface="Verdana"/>
                <a:cs typeface="Verdana"/>
              </a:rPr>
              <a:t>datos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internos</a:t>
            </a:r>
            <a:r>
              <a:rPr sz="12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70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2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35" dirty="0">
                <a:solidFill>
                  <a:srgbClr val="0030B8"/>
                </a:solidFill>
                <a:latin typeface="Verdana"/>
                <a:cs typeface="Verdana"/>
              </a:rPr>
              <a:t>externos,</a:t>
            </a:r>
            <a:r>
              <a:rPr sz="12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haciendo</a:t>
            </a:r>
            <a:r>
              <a:rPr sz="1200" spc="-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cruces</a:t>
            </a:r>
            <a:r>
              <a:rPr sz="1200" spc="-25" dirty="0">
                <a:solidFill>
                  <a:srgbClr val="0030B8"/>
                </a:solidFill>
                <a:latin typeface="Verdana"/>
                <a:cs typeface="Verdana"/>
              </a:rPr>
              <a:t> que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permitan</a:t>
            </a:r>
            <a:r>
              <a:rPr sz="1200" spc="-30" dirty="0">
                <a:solidFill>
                  <a:srgbClr val="0030B8"/>
                </a:solidFill>
                <a:latin typeface="Verdana"/>
                <a:cs typeface="Verdana"/>
              </a:rPr>
              <a:t> extraer</a:t>
            </a:r>
            <a:r>
              <a:rPr sz="12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nuevas</a:t>
            </a:r>
            <a:r>
              <a:rPr sz="1200" spc="-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perspectivas</a:t>
            </a:r>
            <a:r>
              <a:rPr sz="1200" spc="-1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0030B8"/>
                </a:solidFill>
                <a:latin typeface="Verdana"/>
                <a:cs typeface="Verdana"/>
              </a:rPr>
              <a:t>de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2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datos</a:t>
            </a:r>
            <a:r>
              <a:rPr sz="12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70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2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2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2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información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41081" y="4057269"/>
            <a:ext cx="2458720" cy="987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200"/>
              </a:lnSpc>
              <a:spcBef>
                <a:spcPts val="95"/>
              </a:spcBef>
            </a:pPr>
            <a:r>
              <a:rPr sz="1500" b="1" spc="-10" dirty="0">
                <a:solidFill>
                  <a:srgbClr val="0030B8"/>
                </a:solidFill>
                <a:latin typeface="Tahoma"/>
                <a:cs typeface="Tahoma"/>
              </a:rPr>
              <a:t>Visualizaciones: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Visualización</a:t>
            </a:r>
            <a:r>
              <a:rPr sz="12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2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datos</a:t>
            </a:r>
            <a:r>
              <a:rPr sz="12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0030B8"/>
                </a:solidFill>
                <a:latin typeface="Verdana"/>
                <a:cs typeface="Verdana"/>
              </a:rPr>
              <a:t>para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formular</a:t>
            </a:r>
            <a:r>
              <a:rPr sz="12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preguntas</a:t>
            </a:r>
            <a:r>
              <a:rPr sz="12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diferentes</a:t>
            </a:r>
            <a:r>
              <a:rPr sz="1200" spc="-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50" dirty="0">
                <a:solidFill>
                  <a:srgbClr val="0030B8"/>
                </a:solidFill>
                <a:latin typeface="Verdana"/>
                <a:cs typeface="Verdana"/>
              </a:rPr>
              <a:t>y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contar</a:t>
            </a:r>
            <a:r>
              <a:rPr sz="12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historias</a:t>
            </a:r>
            <a:r>
              <a:rPr sz="12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30" dirty="0">
                <a:solidFill>
                  <a:srgbClr val="0030B8"/>
                </a:solidFill>
                <a:latin typeface="Verdana"/>
                <a:cs typeface="Verdana"/>
              </a:rPr>
              <a:t>a</a:t>
            </a:r>
            <a:r>
              <a:rPr sz="12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35" dirty="0">
                <a:solidFill>
                  <a:srgbClr val="0030B8"/>
                </a:solidFill>
                <a:latin typeface="Verdana"/>
                <a:cs typeface="Verdana"/>
              </a:rPr>
              <a:t>través</a:t>
            </a:r>
            <a:r>
              <a:rPr sz="12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2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0030B8"/>
                </a:solidFill>
                <a:latin typeface="Verdana"/>
                <a:cs typeface="Verdana"/>
              </a:rPr>
              <a:t>los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datos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41081" y="2504313"/>
            <a:ext cx="2459355" cy="804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200"/>
              </a:lnSpc>
              <a:spcBef>
                <a:spcPts val="95"/>
              </a:spcBef>
            </a:pPr>
            <a:r>
              <a:rPr sz="1500" b="1" dirty="0">
                <a:solidFill>
                  <a:srgbClr val="0030B8"/>
                </a:solidFill>
                <a:latin typeface="Tahoma"/>
                <a:cs typeface="Tahoma"/>
              </a:rPr>
              <a:t>Tableros</a:t>
            </a:r>
            <a:r>
              <a:rPr sz="1500" b="1" spc="114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1500" b="1" spc="65" dirty="0">
                <a:solidFill>
                  <a:srgbClr val="0030B8"/>
                </a:solidFill>
                <a:latin typeface="Tahoma"/>
                <a:cs typeface="Tahoma"/>
              </a:rPr>
              <a:t>de</a:t>
            </a:r>
            <a:r>
              <a:rPr sz="1500" b="1" spc="100" dirty="0">
                <a:solidFill>
                  <a:srgbClr val="0030B8"/>
                </a:solidFill>
                <a:latin typeface="Tahoma"/>
                <a:cs typeface="Tahoma"/>
              </a:rPr>
              <a:t> </a:t>
            </a:r>
            <a:r>
              <a:rPr sz="1500" b="1" spc="-10" dirty="0">
                <a:solidFill>
                  <a:srgbClr val="0030B8"/>
                </a:solidFill>
                <a:latin typeface="Tahoma"/>
                <a:cs typeface="Tahoma"/>
              </a:rPr>
              <a:t>indicadores: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Generación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200" spc="-1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indicadores</a:t>
            </a:r>
            <a:r>
              <a:rPr sz="1200" spc="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50" dirty="0">
                <a:solidFill>
                  <a:srgbClr val="0030B8"/>
                </a:solidFill>
                <a:latin typeface="Verdana"/>
                <a:cs typeface="Verdana"/>
              </a:rPr>
              <a:t>y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monitoreo</a:t>
            </a:r>
            <a:r>
              <a:rPr sz="12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200" spc="-1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200" spc="-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gestión</a:t>
            </a:r>
            <a:r>
              <a:rPr sz="1200" spc="-1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200" spc="-1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0030B8"/>
                </a:solidFill>
                <a:latin typeface="Verdana"/>
                <a:cs typeface="Verdana"/>
              </a:rPr>
              <a:t>la </a:t>
            </a:r>
            <a:r>
              <a:rPr sz="1200" spc="-10" dirty="0">
                <a:solidFill>
                  <a:srgbClr val="0030B8"/>
                </a:solidFill>
                <a:latin typeface="Verdana"/>
                <a:cs typeface="Verdana"/>
              </a:rPr>
              <a:t>entidad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984503" y="2485644"/>
            <a:ext cx="6471285" cy="2839720"/>
            <a:chOff x="984503" y="2485644"/>
            <a:chExt cx="6471285" cy="283972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4503" y="2485644"/>
              <a:ext cx="1130808" cy="129235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8323" y="4032504"/>
              <a:ext cx="963168" cy="129235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35624" y="2534412"/>
              <a:ext cx="1319783" cy="83362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60591" y="4081272"/>
              <a:ext cx="1176528" cy="112318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95" dirty="0"/>
              <a:t>Analítica</a:t>
            </a:r>
            <a:r>
              <a:rPr spc="-40" dirty="0"/>
              <a:t> </a:t>
            </a:r>
            <a:r>
              <a:rPr spc="65" dirty="0"/>
              <a:t>institucional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73777" y="2459482"/>
            <a:ext cx="6230620" cy="31476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2CDAFF"/>
                </a:solidFill>
                <a:latin typeface="Verdana"/>
                <a:cs typeface="Verdana"/>
              </a:rPr>
              <a:t>Diagnóstico</a:t>
            </a:r>
            <a:r>
              <a:rPr sz="2000" spc="-3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60" dirty="0">
                <a:solidFill>
                  <a:srgbClr val="2CDAFF"/>
                </a:solidFill>
                <a:latin typeface="Verdana"/>
                <a:cs typeface="Verdana"/>
              </a:rPr>
              <a:t>de</a:t>
            </a:r>
            <a:r>
              <a:rPr sz="2000" spc="15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2CDAFF"/>
                </a:solidFill>
                <a:latin typeface="Verdana"/>
                <a:cs typeface="Verdana"/>
              </a:rPr>
              <a:t>datos</a:t>
            </a:r>
            <a:endParaRPr sz="2000">
              <a:latin typeface="Verdana"/>
              <a:cs typeface="Verdana"/>
            </a:endParaRPr>
          </a:p>
          <a:p>
            <a:pPr marL="26034" marR="930910">
              <a:lnSpc>
                <a:spcPct val="100000"/>
              </a:lnSpc>
              <a:spcBef>
                <a:spcPts val="2375"/>
              </a:spcBef>
            </a:pP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Identificación,</a:t>
            </a:r>
            <a:r>
              <a:rPr sz="15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organización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actualización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datos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producidos</a:t>
            </a:r>
            <a:r>
              <a:rPr sz="1500" spc="-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por</a:t>
            </a:r>
            <a:r>
              <a:rPr sz="15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la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entidad</a:t>
            </a:r>
            <a:endParaRPr sz="1500">
              <a:latin typeface="Verdana"/>
              <a:cs typeface="Verdana"/>
            </a:endParaRPr>
          </a:p>
          <a:p>
            <a:pPr marL="312420" indent="-286385">
              <a:lnSpc>
                <a:spcPct val="100000"/>
              </a:lnSpc>
              <a:spcBef>
                <a:spcPts val="1800"/>
              </a:spcBef>
              <a:buClr>
                <a:srgbClr val="2CDAFF"/>
              </a:buClr>
              <a:buFont typeface="Courier New"/>
              <a:buChar char="o"/>
              <a:tabLst>
                <a:tab pos="312420" algn="l"/>
              </a:tabLst>
            </a:pP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Datos</a:t>
            </a:r>
            <a:endParaRPr sz="1500">
              <a:latin typeface="Verdana"/>
              <a:cs typeface="Verdana"/>
            </a:endParaRPr>
          </a:p>
          <a:p>
            <a:pPr marL="312420" indent="-286385">
              <a:lnSpc>
                <a:spcPct val="100000"/>
              </a:lnSpc>
              <a:buClr>
                <a:srgbClr val="2CDAFF"/>
              </a:buClr>
              <a:buFont typeface="Courier New"/>
              <a:buChar char="o"/>
              <a:tabLst>
                <a:tab pos="312420" algn="l"/>
              </a:tabLst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Tipo</a:t>
            </a:r>
            <a:r>
              <a:rPr sz="1500" spc="-11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Dato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(privacidad</a:t>
            </a:r>
            <a:r>
              <a:rPr sz="1500" spc="-1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5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almacenamiento)</a:t>
            </a:r>
            <a:endParaRPr sz="1500">
              <a:latin typeface="Verdana"/>
              <a:cs typeface="Verdana"/>
            </a:endParaRPr>
          </a:p>
          <a:p>
            <a:pPr marL="312420" indent="-286385">
              <a:lnSpc>
                <a:spcPct val="100000"/>
              </a:lnSpc>
              <a:buClr>
                <a:srgbClr val="2CDAFF"/>
              </a:buClr>
              <a:buFont typeface="Courier New"/>
              <a:buChar char="o"/>
              <a:tabLst>
                <a:tab pos="312420" algn="l"/>
              </a:tabLst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Calidad</a:t>
            </a:r>
            <a:r>
              <a:rPr sz="1500" spc="-11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datos</a:t>
            </a:r>
            <a:endParaRPr sz="1500">
              <a:latin typeface="Verdana"/>
              <a:cs typeface="Verdana"/>
            </a:endParaRPr>
          </a:p>
          <a:p>
            <a:pPr marL="311785" indent="-285750">
              <a:lnSpc>
                <a:spcPct val="100000"/>
              </a:lnSpc>
              <a:buClr>
                <a:srgbClr val="2CDAFF"/>
              </a:buClr>
              <a:buFont typeface="Courier New"/>
              <a:buChar char="o"/>
              <a:tabLst>
                <a:tab pos="311785" algn="l"/>
              </a:tabLst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Uso</a:t>
            </a:r>
            <a:r>
              <a:rPr sz="1500" spc="-1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500" spc="-11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propósito</a:t>
            </a:r>
            <a:endParaRPr sz="1500">
              <a:latin typeface="Verdana"/>
              <a:cs typeface="Verdana"/>
            </a:endParaRPr>
          </a:p>
          <a:p>
            <a:pPr marL="312420" indent="-286385">
              <a:lnSpc>
                <a:spcPct val="100000"/>
              </a:lnSpc>
              <a:buClr>
                <a:srgbClr val="2CDAFF"/>
              </a:buClr>
              <a:buFont typeface="Courier New"/>
              <a:buChar char="o"/>
              <a:tabLst>
                <a:tab pos="312420" algn="l"/>
              </a:tabLst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Flujo</a:t>
            </a:r>
            <a:r>
              <a:rPr sz="15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1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información</a:t>
            </a:r>
            <a:endParaRPr sz="1500">
              <a:latin typeface="Verdana"/>
              <a:cs typeface="Verdana"/>
            </a:endParaRPr>
          </a:p>
          <a:p>
            <a:pPr marL="26034" marR="5080">
              <a:lnSpc>
                <a:spcPct val="100000"/>
              </a:lnSpc>
              <a:spcBef>
                <a:spcPts val="1800"/>
              </a:spcBef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Gobierno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Datos:</a:t>
            </a:r>
            <a:r>
              <a:rPr sz="15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50" dirty="0">
                <a:solidFill>
                  <a:srgbClr val="0030B8"/>
                </a:solidFill>
                <a:latin typeface="Verdana"/>
                <a:cs typeface="Verdana"/>
              </a:rPr>
              <a:t>Roles,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responsabilidades,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identificación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de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datos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entidad</a:t>
            </a:r>
            <a:r>
              <a:rPr sz="1500" spc="-1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y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estrategia</a:t>
            </a:r>
            <a:r>
              <a:rPr sz="15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registro</a:t>
            </a:r>
            <a:r>
              <a:rPr sz="1500" spc="-1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y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actualización.</a:t>
            </a:r>
            <a:endParaRPr sz="15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61060" y="2804160"/>
            <a:ext cx="3449320" cy="3061970"/>
            <a:chOff x="861060" y="2804160"/>
            <a:chExt cx="3449320" cy="30619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1060" y="2804160"/>
              <a:ext cx="2682240" cy="306171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24200" y="3150108"/>
              <a:ext cx="1185672" cy="118414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95" dirty="0"/>
              <a:t>Analítica</a:t>
            </a:r>
            <a:r>
              <a:rPr spc="-40" dirty="0"/>
              <a:t> </a:t>
            </a:r>
            <a:r>
              <a:rPr spc="65" dirty="0"/>
              <a:t>institucional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73777" y="2459482"/>
            <a:ext cx="6211570" cy="12674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2CDAFF"/>
                </a:solidFill>
                <a:latin typeface="Verdana"/>
                <a:cs typeface="Verdana"/>
              </a:rPr>
              <a:t>Análisis</a:t>
            </a:r>
            <a:r>
              <a:rPr sz="2000" spc="-204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60" dirty="0">
                <a:solidFill>
                  <a:srgbClr val="2CDAFF"/>
                </a:solidFill>
                <a:latin typeface="Verdana"/>
                <a:cs typeface="Verdana"/>
              </a:rPr>
              <a:t>de</a:t>
            </a:r>
            <a:r>
              <a:rPr sz="2000" spc="-175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-20" dirty="0">
                <a:solidFill>
                  <a:srgbClr val="2CDAFF"/>
                </a:solidFill>
                <a:latin typeface="Verdana"/>
                <a:cs typeface="Verdana"/>
              </a:rPr>
              <a:t>datos</a:t>
            </a:r>
            <a:endParaRPr sz="20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1970"/>
              </a:spcBef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Profundizar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análisis</a:t>
            </a:r>
            <a:r>
              <a:rPr sz="15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datos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internos</a:t>
            </a:r>
            <a:r>
              <a:rPr sz="15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externos,</a:t>
            </a:r>
            <a:r>
              <a:rPr sz="1500" spc="-11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haciendo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cruces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que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permitan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extraer</a:t>
            </a:r>
            <a:r>
              <a:rPr sz="15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nuevas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perspectivas</a:t>
            </a:r>
            <a:r>
              <a:rPr sz="15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datos</a:t>
            </a:r>
            <a:r>
              <a:rPr sz="15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50" dirty="0">
                <a:solidFill>
                  <a:srgbClr val="0030B8"/>
                </a:solidFill>
                <a:latin typeface="Verdana"/>
                <a:cs typeface="Verdana"/>
              </a:rPr>
              <a:t>y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información</a:t>
            </a:r>
            <a:endParaRPr sz="15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7471" y="6340246"/>
            <a:ext cx="954024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0030B8"/>
                </a:solidFill>
                <a:latin typeface="Verdana"/>
                <a:cs typeface="Verdana"/>
              </a:rPr>
              <a:t>Analítica</a:t>
            </a:r>
            <a:r>
              <a:rPr sz="1600" spc="-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600" spc="-40" dirty="0">
                <a:solidFill>
                  <a:srgbClr val="0030B8"/>
                </a:solidFill>
                <a:latin typeface="Verdana"/>
                <a:cs typeface="Verdana"/>
              </a:rPr>
              <a:t>Descriptiva:</a:t>
            </a:r>
            <a:r>
              <a:rPr sz="1600" spc="-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0030B8"/>
                </a:solidFill>
                <a:latin typeface="Verdana"/>
                <a:cs typeface="Verdana"/>
              </a:rPr>
              <a:t>Conocer</a:t>
            </a:r>
            <a:r>
              <a:rPr sz="1600" spc="-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0030B8"/>
                </a:solidFill>
                <a:latin typeface="Verdana"/>
                <a:cs typeface="Verdana"/>
              </a:rPr>
              <a:t>que</a:t>
            </a:r>
            <a:r>
              <a:rPr sz="16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600" spc="-20" dirty="0">
                <a:solidFill>
                  <a:srgbClr val="0030B8"/>
                </a:solidFill>
                <a:latin typeface="Verdana"/>
                <a:cs typeface="Verdana"/>
              </a:rPr>
              <a:t>esta</a:t>
            </a:r>
            <a:r>
              <a:rPr sz="1600" spc="-1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0030B8"/>
                </a:solidFill>
                <a:latin typeface="Verdana"/>
                <a:cs typeface="Verdana"/>
              </a:rPr>
              <a:t>sucediendo</a:t>
            </a:r>
            <a:r>
              <a:rPr sz="1600" spc="-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16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600" dirty="0">
                <a:solidFill>
                  <a:srgbClr val="0030B8"/>
                </a:solidFill>
                <a:latin typeface="Verdana"/>
                <a:cs typeface="Verdana"/>
              </a:rPr>
              <a:t>nuestro</a:t>
            </a:r>
            <a:r>
              <a:rPr sz="1600" spc="-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600" spc="-40" dirty="0">
                <a:solidFill>
                  <a:srgbClr val="0030B8"/>
                </a:solidFill>
                <a:latin typeface="Verdana"/>
                <a:cs typeface="Verdana"/>
              </a:rPr>
              <a:t>territorio,</a:t>
            </a:r>
            <a:r>
              <a:rPr sz="16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0030B8"/>
                </a:solidFill>
                <a:latin typeface="Verdana"/>
                <a:cs typeface="Verdana"/>
              </a:rPr>
              <a:t>entidad,</a:t>
            </a:r>
            <a:r>
              <a:rPr sz="1600" dirty="0">
                <a:solidFill>
                  <a:srgbClr val="0030B8"/>
                </a:solidFill>
                <a:latin typeface="Verdana"/>
                <a:cs typeface="Verdana"/>
              </a:rPr>
              <a:t> con</a:t>
            </a:r>
            <a:r>
              <a:rPr sz="16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0030B8"/>
                </a:solidFill>
                <a:latin typeface="Verdana"/>
                <a:cs typeface="Verdana"/>
              </a:rPr>
              <a:t>nuestro </a:t>
            </a:r>
            <a:r>
              <a:rPr sz="1600" dirty="0">
                <a:solidFill>
                  <a:srgbClr val="0030B8"/>
                </a:solidFill>
                <a:latin typeface="Verdana"/>
                <a:cs typeface="Verdana"/>
              </a:rPr>
              <a:t>ciudadano</a:t>
            </a:r>
            <a:r>
              <a:rPr sz="1600" spc="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600" spc="-204" dirty="0">
                <a:solidFill>
                  <a:srgbClr val="0030B8"/>
                </a:solidFill>
                <a:latin typeface="Verdana"/>
                <a:cs typeface="Verdana"/>
              </a:rPr>
              <a:t>/</a:t>
            </a:r>
            <a:r>
              <a:rPr sz="1600" spc="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600" spc="-10" dirty="0">
                <a:solidFill>
                  <a:srgbClr val="0030B8"/>
                </a:solidFill>
                <a:latin typeface="Verdana"/>
                <a:cs typeface="Verdana"/>
              </a:rPr>
              <a:t>empresa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26207" y="4070603"/>
            <a:ext cx="2630805" cy="2103120"/>
            <a:chOff x="2426207" y="4070603"/>
            <a:chExt cx="2630805" cy="210312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6207" y="4070603"/>
              <a:ext cx="1568195" cy="21031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41875" y="4166615"/>
              <a:ext cx="714755" cy="71475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41875" y="5286755"/>
              <a:ext cx="714755" cy="714756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4610861" y="4893690"/>
            <a:ext cx="1797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05" dirty="0">
                <a:latin typeface="Trebuchet MS"/>
                <a:cs typeface="Trebuchet MS"/>
              </a:rPr>
              <a:t>+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291328" y="4072128"/>
            <a:ext cx="3708400" cy="2082164"/>
            <a:chOff x="5291328" y="4072128"/>
            <a:chExt cx="3708400" cy="2082164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91328" y="4072128"/>
              <a:ext cx="2081783" cy="208178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67956" y="4271772"/>
              <a:ext cx="1731263" cy="172973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95" dirty="0"/>
              <a:t>Analítica</a:t>
            </a:r>
            <a:r>
              <a:rPr spc="-40" dirty="0"/>
              <a:t> </a:t>
            </a:r>
            <a:r>
              <a:rPr spc="65" dirty="0"/>
              <a:t>institucional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73777" y="2459482"/>
            <a:ext cx="5641975" cy="26904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0" dirty="0">
                <a:solidFill>
                  <a:srgbClr val="2CDAFF"/>
                </a:solidFill>
                <a:latin typeface="Verdana"/>
                <a:cs typeface="Verdana"/>
              </a:rPr>
              <a:t>Tableros</a:t>
            </a:r>
            <a:r>
              <a:rPr sz="2000" spc="-200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60" dirty="0">
                <a:solidFill>
                  <a:srgbClr val="2CDAFF"/>
                </a:solidFill>
                <a:latin typeface="Verdana"/>
                <a:cs typeface="Verdana"/>
              </a:rPr>
              <a:t>de</a:t>
            </a:r>
            <a:r>
              <a:rPr sz="2000" spc="-165" dirty="0">
                <a:solidFill>
                  <a:srgbClr val="2CDAFF"/>
                </a:solidFill>
                <a:latin typeface="Verdana"/>
                <a:cs typeface="Verdana"/>
              </a:rPr>
              <a:t> </a:t>
            </a:r>
            <a:r>
              <a:rPr sz="2000" spc="-10" dirty="0">
                <a:solidFill>
                  <a:srgbClr val="2CDAFF"/>
                </a:solidFill>
                <a:latin typeface="Verdana"/>
                <a:cs typeface="Verdana"/>
              </a:rPr>
              <a:t>indicadores</a:t>
            </a:r>
            <a:endParaRPr sz="2000">
              <a:latin typeface="Verdana"/>
              <a:cs typeface="Verdana"/>
            </a:endParaRPr>
          </a:p>
          <a:p>
            <a:pPr marL="26034" marR="76835">
              <a:lnSpc>
                <a:spcPct val="100000"/>
              </a:lnSpc>
              <a:spcBef>
                <a:spcPts val="2375"/>
              </a:spcBef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Generación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indicadores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 y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monitoreo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5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gestión</a:t>
            </a:r>
            <a:r>
              <a:rPr sz="1500" spc="-6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la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entidad</a:t>
            </a:r>
            <a:endParaRPr sz="1500">
              <a:latin typeface="Verdana"/>
              <a:cs typeface="Verdana"/>
            </a:endParaRPr>
          </a:p>
          <a:p>
            <a:pPr marL="312420" indent="-286385">
              <a:lnSpc>
                <a:spcPct val="100000"/>
              </a:lnSpc>
              <a:spcBef>
                <a:spcPts val="1800"/>
              </a:spcBef>
              <a:buClr>
                <a:srgbClr val="2CDAFF"/>
              </a:buClr>
              <a:buFont typeface="Courier New"/>
              <a:buChar char="o"/>
              <a:tabLst>
                <a:tab pos="312420" algn="l"/>
              </a:tabLst>
            </a:pP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Indicadores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SMART</a:t>
            </a:r>
            <a:endParaRPr sz="1500">
              <a:latin typeface="Verdana"/>
              <a:cs typeface="Verdana"/>
            </a:endParaRPr>
          </a:p>
          <a:p>
            <a:pPr marL="312420" indent="-286385">
              <a:lnSpc>
                <a:spcPct val="100000"/>
              </a:lnSpc>
              <a:buClr>
                <a:srgbClr val="2CDAFF"/>
              </a:buClr>
              <a:buFont typeface="Courier New"/>
              <a:buChar char="o"/>
              <a:tabLst>
                <a:tab pos="312420" algn="l"/>
              </a:tabLst>
            </a:pP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Tableros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gestión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operativos</a:t>
            </a:r>
            <a:endParaRPr sz="1500">
              <a:latin typeface="Verdana"/>
              <a:cs typeface="Verdana"/>
            </a:endParaRPr>
          </a:p>
          <a:p>
            <a:pPr marL="312420" indent="-286385">
              <a:lnSpc>
                <a:spcPct val="100000"/>
              </a:lnSpc>
              <a:buClr>
                <a:srgbClr val="2CDAFF"/>
              </a:buClr>
              <a:buFont typeface="Courier New"/>
              <a:buChar char="o"/>
              <a:tabLst>
                <a:tab pos="312420" algn="l"/>
              </a:tabLst>
            </a:pP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Tableros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Gerenciales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que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apoye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la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toma</a:t>
            </a:r>
            <a:r>
              <a:rPr sz="15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decisiones</a:t>
            </a:r>
            <a:endParaRPr sz="1500">
              <a:latin typeface="Verdana"/>
              <a:cs typeface="Verdana"/>
            </a:endParaRPr>
          </a:p>
          <a:p>
            <a:pPr marL="26034" marR="5080">
              <a:lnSpc>
                <a:spcPct val="100000"/>
              </a:lnSpc>
              <a:spcBef>
                <a:spcPts val="1800"/>
              </a:spcBef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Analítica</a:t>
            </a:r>
            <a:r>
              <a:rPr sz="15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Descriptiva: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Generación</a:t>
            </a:r>
            <a:r>
              <a:rPr sz="1500" spc="-114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KPIs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500" spc="-7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Tableros</a:t>
            </a:r>
            <a:r>
              <a:rPr sz="15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para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la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gestión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diaria</a:t>
            </a:r>
            <a:endParaRPr sz="15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0559" y="2837688"/>
            <a:ext cx="4117848" cy="2604516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95" dirty="0"/>
              <a:t>Analítica</a:t>
            </a:r>
            <a:r>
              <a:rPr spc="-40" dirty="0"/>
              <a:t> </a:t>
            </a:r>
            <a:r>
              <a:rPr spc="65" dirty="0"/>
              <a:t>institucional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73777" y="2459482"/>
            <a:ext cx="5710555" cy="26904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2CDAFF"/>
                </a:solidFill>
                <a:latin typeface="Verdana"/>
                <a:cs typeface="Verdana"/>
              </a:rPr>
              <a:t>Visualizaciones</a:t>
            </a:r>
            <a:endParaRPr sz="2000">
              <a:latin typeface="Verdana"/>
              <a:cs typeface="Verdana"/>
            </a:endParaRPr>
          </a:p>
          <a:p>
            <a:pPr marL="26034" marR="5080">
              <a:lnSpc>
                <a:spcPct val="100000"/>
              </a:lnSpc>
              <a:spcBef>
                <a:spcPts val="2375"/>
              </a:spcBef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Visualización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datos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para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formular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preguntas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diferentes</a:t>
            </a:r>
            <a:r>
              <a:rPr sz="15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50" dirty="0">
                <a:solidFill>
                  <a:srgbClr val="0030B8"/>
                </a:solidFill>
                <a:latin typeface="Verdana"/>
                <a:cs typeface="Verdana"/>
              </a:rPr>
              <a:t>y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contar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historias</a:t>
            </a:r>
            <a:r>
              <a:rPr sz="1500" spc="-1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a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través</a:t>
            </a:r>
            <a:r>
              <a:rPr sz="1500" spc="-9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10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los</a:t>
            </a:r>
            <a:r>
              <a:rPr sz="1500" spc="-8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datos</a:t>
            </a:r>
            <a:endParaRPr sz="1500">
              <a:latin typeface="Verdana"/>
              <a:cs typeface="Verdana"/>
            </a:endParaRPr>
          </a:p>
          <a:p>
            <a:pPr marL="312420" indent="-286385">
              <a:lnSpc>
                <a:spcPct val="100000"/>
              </a:lnSpc>
              <a:spcBef>
                <a:spcPts val="1800"/>
              </a:spcBef>
              <a:buClr>
                <a:srgbClr val="2CDAFF"/>
              </a:buClr>
              <a:buFont typeface="Courier New"/>
              <a:buChar char="o"/>
              <a:tabLst>
                <a:tab pos="312420" algn="l"/>
              </a:tabLst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¿Qué</a:t>
            </a:r>
            <a:r>
              <a:rPr sz="1500" spc="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sucede</a:t>
            </a:r>
            <a:r>
              <a:rPr sz="1500" spc="-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 puede</a:t>
            </a:r>
            <a:r>
              <a:rPr sz="1500" spc="-3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suceder?</a:t>
            </a:r>
            <a:endParaRPr sz="1500">
              <a:latin typeface="Verdana"/>
              <a:cs typeface="Verdana"/>
            </a:endParaRPr>
          </a:p>
          <a:p>
            <a:pPr marL="312420" indent="-286385">
              <a:lnSpc>
                <a:spcPct val="100000"/>
              </a:lnSpc>
              <a:buClr>
                <a:srgbClr val="2CDAFF"/>
              </a:buClr>
              <a:buFont typeface="Courier New"/>
              <a:buChar char="o"/>
              <a:tabLst>
                <a:tab pos="312420" algn="l"/>
              </a:tabLst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¿Cuáles</a:t>
            </a:r>
            <a:r>
              <a:rPr sz="1500" spc="-12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decisiones</a:t>
            </a:r>
            <a:r>
              <a:rPr sz="1500" spc="-1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son</a:t>
            </a:r>
            <a:r>
              <a:rPr sz="1500" spc="-9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40" dirty="0">
                <a:solidFill>
                  <a:srgbClr val="0030B8"/>
                </a:solidFill>
                <a:latin typeface="Verdana"/>
                <a:cs typeface="Verdana"/>
              </a:rPr>
              <a:t>las</a:t>
            </a:r>
            <a:r>
              <a:rPr sz="15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más</a:t>
            </a:r>
            <a:r>
              <a:rPr sz="15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adecuadas?</a:t>
            </a:r>
            <a:endParaRPr sz="1500">
              <a:latin typeface="Verdana"/>
              <a:cs typeface="Verdana"/>
            </a:endParaRPr>
          </a:p>
          <a:p>
            <a:pPr marL="312420" indent="-286385">
              <a:lnSpc>
                <a:spcPct val="100000"/>
              </a:lnSpc>
              <a:buClr>
                <a:srgbClr val="2CDAFF"/>
              </a:buClr>
              <a:buFont typeface="Courier New"/>
              <a:buChar char="o"/>
              <a:tabLst>
                <a:tab pos="312420" algn="l"/>
              </a:tabLst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Preguntas</a:t>
            </a:r>
            <a:r>
              <a:rPr sz="1500" spc="-6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más</a:t>
            </a:r>
            <a:r>
              <a:rPr sz="1500" spc="-3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0" dirty="0">
                <a:solidFill>
                  <a:srgbClr val="0030B8"/>
                </a:solidFill>
                <a:latin typeface="Verdana"/>
                <a:cs typeface="Verdana"/>
              </a:rPr>
              <a:t>allá</a:t>
            </a:r>
            <a:r>
              <a:rPr sz="1500" spc="-4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del</a:t>
            </a:r>
            <a:r>
              <a:rPr sz="1500" spc="-5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hoy</a:t>
            </a:r>
            <a:endParaRPr sz="1500">
              <a:latin typeface="Verdana"/>
              <a:cs typeface="Verdana"/>
            </a:endParaRPr>
          </a:p>
          <a:p>
            <a:pPr marL="26034" marR="377190">
              <a:lnSpc>
                <a:spcPct val="100000"/>
              </a:lnSpc>
              <a:spcBef>
                <a:spcPts val="1800"/>
              </a:spcBef>
            </a:pP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Analítica</a:t>
            </a:r>
            <a:r>
              <a:rPr sz="15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Descriptiva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370" dirty="0">
                <a:solidFill>
                  <a:srgbClr val="0030B8"/>
                </a:solidFill>
                <a:latin typeface="Verdana"/>
                <a:cs typeface="Verdana"/>
              </a:rPr>
              <a:t>+</a:t>
            </a:r>
            <a:r>
              <a:rPr sz="1500" spc="-7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Predictiva:</a:t>
            </a:r>
            <a:r>
              <a:rPr sz="1500" spc="-1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Identificación</a:t>
            </a:r>
            <a:r>
              <a:rPr sz="1500" spc="-10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de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comportamientos</a:t>
            </a:r>
            <a:r>
              <a:rPr sz="1500" spc="-5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85" dirty="0">
                <a:solidFill>
                  <a:srgbClr val="0030B8"/>
                </a:solidFill>
                <a:latin typeface="Verdana"/>
                <a:cs typeface="Verdana"/>
              </a:rPr>
              <a:t>y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toma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</a:t>
            </a:r>
            <a:r>
              <a:rPr sz="1500" spc="-1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decisiones</a:t>
            </a:r>
            <a:r>
              <a:rPr sz="1500" spc="-4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basado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dirty="0">
                <a:solidFill>
                  <a:srgbClr val="0030B8"/>
                </a:solidFill>
                <a:latin typeface="Verdana"/>
                <a:cs typeface="Verdana"/>
              </a:rPr>
              <a:t>en</a:t>
            </a:r>
            <a:r>
              <a:rPr sz="1500" spc="-25" dirty="0">
                <a:solidFill>
                  <a:srgbClr val="0030B8"/>
                </a:solidFill>
                <a:latin typeface="Verdana"/>
                <a:cs typeface="Verdana"/>
              </a:rPr>
              <a:t> </a:t>
            </a:r>
            <a:r>
              <a:rPr sz="1500" spc="-10" dirty="0">
                <a:solidFill>
                  <a:srgbClr val="0030B8"/>
                </a:solidFill>
                <a:latin typeface="Verdana"/>
                <a:cs typeface="Verdana"/>
              </a:rPr>
              <a:t>ellos</a:t>
            </a:r>
            <a:endParaRPr sz="15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33400" y="2999232"/>
            <a:ext cx="4272280" cy="3129280"/>
            <a:chOff x="533400" y="2999232"/>
            <a:chExt cx="4272280" cy="31292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3400" y="2999232"/>
              <a:ext cx="2185416" cy="208635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18816" y="4041648"/>
              <a:ext cx="2086356" cy="208635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61713" y="2009012"/>
            <a:ext cx="43072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85" dirty="0"/>
              <a:t>CONCLUSIONES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Clr>
                <a:srgbClr val="2CDAFF"/>
              </a:buClr>
              <a:buFont typeface="Courier New"/>
              <a:buChar char="o"/>
              <a:tabLst>
                <a:tab pos="299085" algn="l"/>
              </a:tabLst>
            </a:pPr>
            <a:r>
              <a:rPr spc="-10" dirty="0"/>
              <a:t>Es</a:t>
            </a:r>
            <a:r>
              <a:rPr spc="-110" dirty="0"/>
              <a:t> </a:t>
            </a:r>
            <a:r>
              <a:rPr dirty="0"/>
              <a:t>necesario</a:t>
            </a:r>
            <a:r>
              <a:rPr spc="-135" dirty="0"/>
              <a:t> </a:t>
            </a:r>
            <a:r>
              <a:rPr dirty="0"/>
              <a:t>considerar</a:t>
            </a:r>
            <a:r>
              <a:rPr spc="-120" dirty="0"/>
              <a:t> </a:t>
            </a:r>
            <a:r>
              <a:rPr spc="-20" dirty="0"/>
              <a:t>la</a:t>
            </a:r>
            <a:r>
              <a:rPr spc="-105" dirty="0"/>
              <a:t> </a:t>
            </a:r>
            <a:r>
              <a:rPr dirty="0"/>
              <a:t>analítica</a:t>
            </a:r>
            <a:r>
              <a:rPr spc="-125" dirty="0"/>
              <a:t> </a:t>
            </a:r>
            <a:r>
              <a:rPr spc="50" dirty="0"/>
              <a:t>como</a:t>
            </a:r>
            <a:r>
              <a:rPr spc="-105" dirty="0"/>
              <a:t> </a:t>
            </a:r>
            <a:r>
              <a:rPr dirty="0"/>
              <a:t>parte</a:t>
            </a:r>
            <a:r>
              <a:rPr spc="-114" dirty="0"/>
              <a:t> </a:t>
            </a:r>
            <a:r>
              <a:rPr dirty="0"/>
              <a:t>de</a:t>
            </a:r>
            <a:r>
              <a:rPr spc="-125" dirty="0"/>
              <a:t> </a:t>
            </a:r>
            <a:r>
              <a:rPr spc="-20" dirty="0"/>
              <a:t>la</a:t>
            </a:r>
            <a:r>
              <a:rPr spc="-100" dirty="0"/>
              <a:t> </a:t>
            </a:r>
            <a:r>
              <a:rPr dirty="0"/>
              <a:t>estrategia</a:t>
            </a:r>
            <a:r>
              <a:rPr spc="-145" dirty="0"/>
              <a:t> </a:t>
            </a:r>
            <a:r>
              <a:rPr spc="-50" dirty="0"/>
              <a:t>y </a:t>
            </a:r>
            <a:r>
              <a:rPr spc="-20" dirty="0"/>
              <a:t>filosofía</a:t>
            </a:r>
            <a:r>
              <a:rPr spc="-85" dirty="0"/>
              <a:t> </a:t>
            </a:r>
            <a:r>
              <a:rPr dirty="0"/>
              <a:t>de</a:t>
            </a:r>
            <a:r>
              <a:rPr spc="-85" dirty="0"/>
              <a:t> </a:t>
            </a:r>
            <a:r>
              <a:rPr spc="-20" dirty="0"/>
              <a:t>trabajo</a:t>
            </a:r>
            <a:r>
              <a:rPr spc="-95" dirty="0"/>
              <a:t> </a:t>
            </a:r>
            <a:r>
              <a:rPr dirty="0"/>
              <a:t>en</a:t>
            </a:r>
            <a:r>
              <a:rPr spc="-95" dirty="0"/>
              <a:t> </a:t>
            </a:r>
            <a:r>
              <a:rPr spc="-20" dirty="0"/>
              <a:t>la</a:t>
            </a:r>
            <a:r>
              <a:rPr spc="-90" dirty="0"/>
              <a:t> </a:t>
            </a:r>
            <a:r>
              <a:rPr spc="-10" dirty="0"/>
              <a:t>entidad.</a:t>
            </a:r>
          </a:p>
          <a:p>
            <a:pPr marL="299085" marR="651510" indent="-287020">
              <a:lnSpc>
                <a:spcPct val="100000"/>
              </a:lnSpc>
              <a:spcBef>
                <a:spcPts val="1800"/>
              </a:spcBef>
              <a:buClr>
                <a:srgbClr val="2CDAFF"/>
              </a:buClr>
              <a:buFont typeface="Courier New"/>
              <a:buChar char="o"/>
              <a:tabLst>
                <a:tab pos="299085" algn="l"/>
              </a:tabLst>
            </a:pPr>
            <a:r>
              <a:rPr dirty="0"/>
              <a:t>La</a:t>
            </a:r>
            <a:r>
              <a:rPr spc="-90" dirty="0"/>
              <a:t> </a:t>
            </a:r>
            <a:r>
              <a:rPr dirty="0"/>
              <a:t>analítica</a:t>
            </a:r>
            <a:r>
              <a:rPr spc="-95" dirty="0"/>
              <a:t> </a:t>
            </a:r>
            <a:r>
              <a:rPr dirty="0"/>
              <a:t>no</a:t>
            </a:r>
            <a:r>
              <a:rPr spc="-105" dirty="0"/>
              <a:t> </a:t>
            </a:r>
            <a:r>
              <a:rPr spc="-25" dirty="0"/>
              <a:t>es</a:t>
            </a:r>
            <a:r>
              <a:rPr spc="-85" dirty="0"/>
              <a:t> </a:t>
            </a:r>
            <a:r>
              <a:rPr dirty="0"/>
              <a:t>ciencia</a:t>
            </a:r>
            <a:r>
              <a:rPr spc="-90" dirty="0"/>
              <a:t> </a:t>
            </a:r>
            <a:r>
              <a:rPr dirty="0"/>
              <a:t>de</a:t>
            </a:r>
            <a:r>
              <a:rPr spc="-90" dirty="0"/>
              <a:t> </a:t>
            </a:r>
            <a:r>
              <a:rPr spc="-20" dirty="0"/>
              <a:t>cohetes,</a:t>
            </a:r>
            <a:r>
              <a:rPr spc="-110" dirty="0"/>
              <a:t> </a:t>
            </a:r>
            <a:r>
              <a:rPr dirty="0"/>
              <a:t>todos</a:t>
            </a:r>
            <a:r>
              <a:rPr spc="-90" dirty="0"/>
              <a:t> </a:t>
            </a:r>
            <a:r>
              <a:rPr dirty="0"/>
              <a:t>lo</a:t>
            </a:r>
            <a:r>
              <a:rPr spc="-90" dirty="0"/>
              <a:t> </a:t>
            </a:r>
            <a:r>
              <a:rPr spc="-10" dirty="0"/>
              <a:t>hacemos,</a:t>
            </a:r>
            <a:r>
              <a:rPr spc="-95" dirty="0"/>
              <a:t> </a:t>
            </a:r>
            <a:r>
              <a:rPr spc="-25" dirty="0"/>
              <a:t>lo </a:t>
            </a:r>
            <a:r>
              <a:rPr dirty="0"/>
              <a:t>importante</a:t>
            </a:r>
            <a:r>
              <a:rPr spc="-110" dirty="0"/>
              <a:t> </a:t>
            </a:r>
            <a:r>
              <a:rPr spc="-25" dirty="0"/>
              <a:t>es</a:t>
            </a:r>
            <a:r>
              <a:rPr spc="-75" dirty="0"/>
              <a:t> </a:t>
            </a:r>
            <a:r>
              <a:rPr dirty="0"/>
              <a:t>hacerlo</a:t>
            </a:r>
            <a:r>
              <a:rPr spc="-90" dirty="0"/>
              <a:t> </a:t>
            </a:r>
            <a:r>
              <a:rPr dirty="0"/>
              <a:t>en</a:t>
            </a:r>
            <a:r>
              <a:rPr spc="-95" dirty="0"/>
              <a:t> </a:t>
            </a:r>
            <a:r>
              <a:rPr dirty="0"/>
              <a:t>el</a:t>
            </a:r>
            <a:r>
              <a:rPr spc="-85" dirty="0"/>
              <a:t> </a:t>
            </a:r>
            <a:r>
              <a:rPr dirty="0"/>
              <a:t>día</a:t>
            </a:r>
            <a:r>
              <a:rPr spc="-80" dirty="0"/>
              <a:t> </a:t>
            </a:r>
            <a:r>
              <a:rPr spc="-25" dirty="0"/>
              <a:t>a</a:t>
            </a:r>
            <a:r>
              <a:rPr spc="-75" dirty="0"/>
              <a:t> </a:t>
            </a:r>
            <a:r>
              <a:rPr spc="-20" dirty="0"/>
              <a:t>día.</a:t>
            </a:r>
          </a:p>
          <a:p>
            <a:pPr marL="299085" marR="557530" indent="-287020">
              <a:lnSpc>
                <a:spcPct val="100000"/>
              </a:lnSpc>
              <a:spcBef>
                <a:spcPts val="1800"/>
              </a:spcBef>
              <a:buClr>
                <a:srgbClr val="2CDAFF"/>
              </a:buClr>
              <a:buFont typeface="Courier New"/>
              <a:buChar char="o"/>
              <a:tabLst>
                <a:tab pos="299085" algn="l"/>
              </a:tabLst>
            </a:pPr>
            <a:r>
              <a:rPr dirty="0"/>
              <a:t>El</a:t>
            </a:r>
            <a:r>
              <a:rPr spc="-30" dirty="0"/>
              <a:t> </a:t>
            </a:r>
            <a:r>
              <a:rPr dirty="0"/>
              <a:t>conocimiento</a:t>
            </a:r>
            <a:r>
              <a:rPr spc="-50" dirty="0"/>
              <a:t> </a:t>
            </a:r>
            <a:r>
              <a:rPr dirty="0"/>
              <a:t>debe</a:t>
            </a:r>
            <a:r>
              <a:rPr spc="-60" dirty="0"/>
              <a:t> </a:t>
            </a:r>
            <a:r>
              <a:rPr spc="-30" dirty="0"/>
              <a:t>replicarse,</a:t>
            </a:r>
            <a:r>
              <a:rPr spc="-60" dirty="0"/>
              <a:t> </a:t>
            </a:r>
            <a:r>
              <a:rPr dirty="0"/>
              <a:t>generar</a:t>
            </a:r>
            <a:r>
              <a:rPr spc="-55" dirty="0"/>
              <a:t> </a:t>
            </a:r>
            <a:r>
              <a:rPr dirty="0"/>
              <a:t>acciones</a:t>
            </a:r>
            <a:r>
              <a:rPr spc="-20" dirty="0"/>
              <a:t> </a:t>
            </a:r>
            <a:r>
              <a:rPr spc="-85" dirty="0"/>
              <a:t>y</a:t>
            </a:r>
            <a:r>
              <a:rPr spc="-20" dirty="0"/>
              <a:t> </a:t>
            </a:r>
            <a:r>
              <a:rPr spc="-35" dirty="0"/>
              <a:t>ser</a:t>
            </a:r>
            <a:r>
              <a:rPr spc="-20" dirty="0"/>
              <a:t> </a:t>
            </a:r>
            <a:r>
              <a:rPr spc="30" dirty="0"/>
              <a:t>un </a:t>
            </a:r>
            <a:r>
              <a:rPr dirty="0"/>
              <a:t>motor</a:t>
            </a:r>
            <a:r>
              <a:rPr spc="-15" dirty="0"/>
              <a:t> </a:t>
            </a:r>
            <a:r>
              <a:rPr spc="-10" dirty="0"/>
              <a:t>movilizador.</a:t>
            </a:r>
          </a:p>
          <a:p>
            <a:pPr marL="297815" marR="58419" indent="-285750" algn="just">
              <a:lnSpc>
                <a:spcPct val="100000"/>
              </a:lnSpc>
              <a:spcBef>
                <a:spcPts val="1800"/>
              </a:spcBef>
              <a:buClr>
                <a:srgbClr val="2CDAFF"/>
              </a:buClr>
              <a:buFont typeface="Courier New"/>
              <a:buChar char="o"/>
              <a:tabLst>
                <a:tab pos="299085" algn="l"/>
              </a:tabLst>
            </a:pPr>
            <a:r>
              <a:rPr dirty="0"/>
              <a:t>Es</a:t>
            </a:r>
            <a:r>
              <a:rPr spc="-145" dirty="0"/>
              <a:t> </a:t>
            </a:r>
            <a:r>
              <a:rPr spc="-5" dirty="0"/>
              <a:t>relevante</a:t>
            </a:r>
            <a:r>
              <a:rPr spc="-175" dirty="0"/>
              <a:t> </a:t>
            </a:r>
            <a:r>
              <a:rPr spc="10" dirty="0"/>
              <a:t>contar</a:t>
            </a:r>
            <a:r>
              <a:rPr spc="-145" dirty="0"/>
              <a:t> </a:t>
            </a:r>
            <a:r>
              <a:rPr spc="40" dirty="0"/>
              <a:t>con</a:t>
            </a:r>
            <a:r>
              <a:rPr spc="-135" dirty="0"/>
              <a:t> </a:t>
            </a:r>
            <a:r>
              <a:rPr spc="35" dirty="0"/>
              <a:t>una</a:t>
            </a:r>
            <a:r>
              <a:rPr spc="-145" dirty="0"/>
              <a:t> </a:t>
            </a:r>
            <a:r>
              <a:rPr spc="-15" dirty="0"/>
              <a:t>hoja</a:t>
            </a:r>
            <a:r>
              <a:rPr spc="-145" dirty="0"/>
              <a:t> </a:t>
            </a:r>
            <a:r>
              <a:rPr spc="45" dirty="0"/>
              <a:t>de</a:t>
            </a:r>
            <a:r>
              <a:rPr spc="-155" dirty="0"/>
              <a:t> </a:t>
            </a:r>
            <a:r>
              <a:rPr dirty="0"/>
              <a:t>ruta</a:t>
            </a:r>
            <a:r>
              <a:rPr spc="-130" dirty="0"/>
              <a:t> </a:t>
            </a:r>
            <a:r>
              <a:rPr spc="45" dirty="0"/>
              <a:t>de</a:t>
            </a:r>
            <a:r>
              <a:rPr spc="-165" dirty="0"/>
              <a:t> </a:t>
            </a:r>
            <a:r>
              <a:rPr spc="35" dirty="0"/>
              <a:t>implementación</a:t>
            </a:r>
            <a:r>
              <a:rPr spc="-185" dirty="0"/>
              <a:t> </a:t>
            </a:r>
            <a:r>
              <a:rPr spc="45" dirty="0"/>
              <a:t>de</a:t>
            </a:r>
            <a:r>
              <a:rPr spc="25" dirty="0"/>
              <a:t> 	</a:t>
            </a:r>
            <a:r>
              <a:rPr spc="10" dirty="0"/>
              <a:t>Analítica</a:t>
            </a:r>
            <a:r>
              <a:rPr spc="-165" dirty="0"/>
              <a:t> </a:t>
            </a:r>
            <a:r>
              <a:rPr spc="-35" dirty="0"/>
              <a:t>(descriptiva,</a:t>
            </a:r>
            <a:r>
              <a:rPr spc="-190" dirty="0"/>
              <a:t> </a:t>
            </a:r>
            <a:r>
              <a:rPr spc="-5" dirty="0"/>
              <a:t>diagnóstica,</a:t>
            </a:r>
            <a:r>
              <a:rPr spc="-155" dirty="0"/>
              <a:t> </a:t>
            </a:r>
            <a:r>
              <a:rPr spc="5" dirty="0"/>
              <a:t>predictiva</a:t>
            </a:r>
            <a:r>
              <a:rPr spc="-175" dirty="0"/>
              <a:t> </a:t>
            </a:r>
            <a:r>
              <a:rPr spc="-80" dirty="0"/>
              <a:t>y</a:t>
            </a:r>
            <a:r>
              <a:rPr spc="-145" dirty="0"/>
              <a:t> </a:t>
            </a:r>
            <a:r>
              <a:rPr spc="-20" dirty="0"/>
              <a:t>prescriptiva)</a:t>
            </a:r>
            <a:r>
              <a:rPr spc="-170" dirty="0"/>
              <a:t> </a:t>
            </a:r>
            <a:r>
              <a:rPr spc="45" dirty="0"/>
              <a:t>que</a:t>
            </a:r>
            <a:r>
              <a:rPr spc="25" dirty="0"/>
              <a:t> 	permita</a:t>
            </a:r>
            <a:r>
              <a:rPr spc="-175" dirty="0"/>
              <a:t> </a:t>
            </a:r>
            <a:r>
              <a:rPr spc="5" dirty="0"/>
              <a:t>sumar</a:t>
            </a:r>
            <a:r>
              <a:rPr spc="-135" dirty="0"/>
              <a:t> </a:t>
            </a:r>
            <a:r>
              <a:rPr spc="-35" dirty="0"/>
              <a:t>esfuerzos.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400" y="2929127"/>
            <a:ext cx="2799588" cy="27980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6350</Words>
  <Application>Microsoft Office PowerPoint</Application>
  <PresentationFormat>Panorámica</PresentationFormat>
  <Paragraphs>722</Paragraphs>
  <Slides>95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95</vt:i4>
      </vt:variant>
    </vt:vector>
  </HeadingPairs>
  <TitlesOfParts>
    <vt:vector size="106" baseType="lpstr">
      <vt:lpstr>Arial</vt:lpstr>
      <vt:lpstr>Arial MT</vt:lpstr>
      <vt:lpstr>Calibri</vt:lpstr>
      <vt:lpstr>Courier New</vt:lpstr>
      <vt:lpstr>Tahoma</vt:lpstr>
      <vt:lpstr>Times New Roman</vt:lpstr>
      <vt:lpstr>Trebuchet MS</vt:lpstr>
      <vt:lpstr>Verdana</vt:lpstr>
      <vt:lpstr>Work Sans Light</vt:lpstr>
      <vt:lpstr>Work Sans SemiBold</vt:lpstr>
      <vt:lpstr>Office Theme</vt:lpstr>
      <vt:lpstr>ANALÍTICA DE DATOS: EL PODER DE LOS DATOSII</vt:lpstr>
      <vt:lpstr>01. Introducción Datos que transforman desde la gestión del conocimiento</vt:lpstr>
      <vt:lpstr>Analítica institucional</vt:lpstr>
      <vt:lpstr>Presentación de PowerPoint</vt:lpstr>
      <vt:lpstr>Presentación de PowerPoint</vt:lpstr>
      <vt:lpstr>1. De las siguientes opciones ¿Cómo se define la analítica?</vt:lpstr>
      <vt:lpstr>1. De las siguientes opciones ¿Cómo se define la analítica?</vt:lpstr>
      <vt:lpstr>2. ¿Cómo se podría dividir la analítica?</vt:lpstr>
      <vt:lpstr>2. ¿Cómo se podría dividir la analítica?</vt:lpstr>
      <vt:lpstr>3. ¿Cuál de las siguientes preguntas corresponden a analítica predictiva?</vt:lpstr>
      <vt:lpstr>3. ¿Cuál de las siguientes preguntas corresponden a analítica predictiva?</vt:lpstr>
      <vt:lpstr>4. ¿Cuál de las siguientes preguntas corresponden a analítica prescriptiva?</vt:lpstr>
      <vt:lpstr>4. ¿Cuál de las siguientes preguntas corresponden a analítica prescriptiva?</vt:lpstr>
      <vt:lpstr>5. ¿Cómo se podría definir Big Data?</vt:lpstr>
      <vt:lpstr>5. ¿Cómo se podría definir Big Data?</vt:lpstr>
      <vt:lpstr>“Bienestar y la Competitividad sostenibles”</vt:lpstr>
      <vt:lpstr>Datos – Información – Decisiones</vt:lpstr>
      <vt:lpstr>Datos – Información – Decisiones</vt:lpstr>
      <vt:lpstr>Datos – Información – Decisiones</vt:lpstr>
      <vt:lpstr>Datos – Información – Decisiones</vt:lpstr>
      <vt:lpstr>Tipos de datos: privacidad</vt:lpstr>
      <vt:lpstr>Tipos de datos: privacidad</vt:lpstr>
      <vt:lpstr>Tipos de datos: variables</vt:lpstr>
      <vt:lpstr>Tipos de datos: variables</vt:lpstr>
      <vt:lpstr>Tableros de indicadores: Generación de indicadores y monitoreo de la gestión de la entidad Tipos de datos: almacenamiento</vt:lpstr>
      <vt:lpstr>Datos: calidad</vt:lpstr>
      <vt:lpstr>Datos: calidad</vt:lpstr>
      <vt:lpstr>Datos: calidad</vt:lpstr>
      <vt:lpstr>Correlación vs Causalidad</vt:lpstr>
      <vt:lpstr>Presentación de PowerPoint</vt:lpstr>
      <vt:lpstr>Importancia</vt:lpstr>
      <vt:lpstr>Principales productos</vt:lpstr>
      <vt:lpstr>KPI: indicadores clave de desempeño</vt:lpstr>
      <vt:lpstr>Ejemplos de Tableros</vt:lpstr>
      <vt:lpstr>Ejemplos de Tableros</vt:lpstr>
      <vt:lpstr>Ejemplos de Tableros</vt:lpstr>
      <vt:lpstr>Ejemplos de Tableros</vt:lpstr>
      <vt:lpstr>Ejemplos de Tableros</vt:lpstr>
      <vt:lpstr>Inteligencia institucional</vt:lpstr>
      <vt:lpstr>¿Por qué conocer no es suficiente?</vt:lpstr>
      <vt:lpstr>Tipos de analítica</vt:lpstr>
      <vt:lpstr>Analítica descriptiva y diagnóstica</vt:lpstr>
      <vt:lpstr>Analítica descriptiva y diagnóstica</vt:lpstr>
      <vt:lpstr>Analítica predictiva</vt:lpstr>
      <vt:lpstr>Analítica predictiva</vt:lpstr>
      <vt:lpstr>Analítica predictiva</vt:lpstr>
      <vt:lpstr>Analítica prescriptiva</vt:lpstr>
      <vt:lpstr>Analítica prescriptiva</vt:lpstr>
      <vt:lpstr>Presentación de PowerPoint</vt:lpstr>
      <vt:lpstr>Ejemplo preguntas</vt:lpstr>
      <vt:lpstr>Ejemplo preguntas</vt:lpstr>
      <vt:lpstr>Ejemplo preguntas</vt:lpstr>
      <vt:lpstr>Analítica: implementación</vt:lpstr>
      <vt:lpstr>Preguntémonos</vt:lpstr>
      <vt:lpstr>¿y como lo logramos..?</vt:lpstr>
      <vt:lpstr>Es necesario…</vt:lpstr>
      <vt:lpstr>Analítica: datos</vt:lpstr>
      <vt:lpstr>Analítica: tecnología</vt:lpstr>
      <vt:lpstr>Analítica: equipos</vt:lpstr>
      <vt:lpstr>Analítica</vt:lpstr>
      <vt:lpstr>Analítica</vt:lpstr>
      <vt:lpstr>Analítica</vt:lpstr>
      <vt:lpstr>Analítica</vt:lpstr>
      <vt:lpstr>Presentación de PowerPoint</vt:lpstr>
      <vt:lpstr>Analítica – Minería de datos – Big Data</vt:lpstr>
      <vt:lpstr>Presentación de PowerPoint</vt:lpstr>
      <vt:lpstr>Minería de datos</vt:lpstr>
      <vt:lpstr>Minería de datos</vt:lpstr>
      <vt:lpstr>Minería de datos</vt:lpstr>
      <vt:lpstr>Minería de datos</vt:lpstr>
      <vt:lpstr>Minería de datos</vt:lpstr>
      <vt:lpstr>Minería de datos</vt:lpstr>
      <vt:lpstr>Minería de datos</vt:lpstr>
      <vt:lpstr>Big Data</vt:lpstr>
      <vt:lpstr>Big Data: arquitectura</vt:lpstr>
      <vt:lpstr>Big Data: lago de datos</vt:lpstr>
      <vt:lpstr>Modelar</vt:lpstr>
      <vt:lpstr>Presentación de PowerPoint</vt:lpstr>
      <vt:lpstr>Presentación de PowerPoint</vt:lpstr>
      <vt:lpstr>Luego de tabular los datos, se requiere entender la distribución de ayudas por cada una de las veredas en los últimos 12 meses, ¿Cuál sería la analítica que da respuesta a esta necesidad?  </vt:lpstr>
      <vt:lpstr>Adicionalmente se identificó que, en una vereda el 80% del total de habitantes se llamaban Juan y adicionalmente requerían apoyo económico, se puede afirmar que existe una alta causalidad entre llamarse Juan y requerir apoyo económico? Si  No 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Luego de estos resultados el municipio quisiera determinar quiénes de los ciudadanos podrían necesitar acompañamiento en salud, para lo cual ellos deberían:</vt:lpstr>
      <vt:lpstr>Presentación de PowerPoint</vt:lpstr>
      <vt:lpstr>04. Analítica institucional Conclusiones</vt:lpstr>
      <vt:lpstr>Analítica institucional</vt:lpstr>
      <vt:lpstr>Analítica institucional</vt:lpstr>
      <vt:lpstr>Analítica institucional</vt:lpstr>
      <vt:lpstr>Analítica institucional</vt:lpstr>
      <vt:lpstr>Analítica institucional</vt:lpstr>
      <vt:lpstr>CONCLUSIONES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José Ramón Iglesias Gamarra</dc:creator>
  <cp:lastModifiedBy>José Ramon Iglesias Gamarra</cp:lastModifiedBy>
  <cp:revision>4</cp:revision>
  <dcterms:created xsi:type="dcterms:W3CDTF">2026-05-27T14:10:59Z</dcterms:created>
  <dcterms:modified xsi:type="dcterms:W3CDTF">2026-05-29T18:26:57Z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2022-06-29T00:00:00Z</vt:filetime>
  </property>
  <property fmtid="{D5CDD505-2E9C-101B-9397-08002B2CF9AE}" pid="4" name="Creator">
    <vt:lpwstr>Microsoft® PowerPoint® para Microsoft 365</vt:lpwstr>
  </property>
  <property fmtid="{D5CDD505-2E9C-101B-9397-08002B2CF9AE}" pid="5" name="LastSaved">
    <vt:filetime>2026-05-27T00:00:00Z</vt:filetime>
  </property>
  <property fmtid="{D5CDD505-2E9C-101B-9397-08002B2CF9AE}" pid="6" name="Producer">
    <vt:lpwstr>Microsoft® PowerPoint® para Microsoft 365</vt:lpwstr>
  </property>
</Properties>
</file>