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</p:sldIdLst>
  <p:sldSz cx="9144000" cy="5143500" type="screen16x9"/>
  <p:notesSz cx="6858000" cy="9144000"/>
  <p:embeddedFontLst>
    <p:embeddedFont>
      <p:font typeface="Gill Sans MT" panose="020B0502020104020203" pitchFamily="34" charset="0"/>
      <p:regular r:id="rId104"/>
      <p:bold r:id="rId105"/>
      <p:italic r:id="rId106"/>
      <p:boldItalic r:id="rId107"/>
    </p:embeddedFont>
    <p:embeddedFont>
      <p:font typeface="Nunito" pitchFamily="2" charset="0"/>
      <p:regular r:id="rId108"/>
      <p:bold r:id="rId109"/>
      <p:italic r:id="rId110"/>
      <p:boldItalic r:id="rId111"/>
    </p:embeddedFont>
    <p:embeddedFont>
      <p:font typeface="Proxima Nova" panose="020B0604020202020204" charset="0"/>
      <p:regular r:id="rId112"/>
      <p:bold r:id="rId113"/>
      <p:italic r:id="rId114"/>
      <p:boldItalic r:id="rId1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B306EB-B816-42E5-86F5-EF4D8F9FAF85}">
  <a:tblStyle styleId="{D3B306EB-B816-42E5-86F5-EF4D8F9FAF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9.fntdata"/><Relationship Id="rId16" Type="http://schemas.openxmlformats.org/officeDocument/2006/relationships/slide" Target="slides/slide15.xml"/><Relationship Id="rId107" Type="http://schemas.openxmlformats.org/officeDocument/2006/relationships/font" Target="fonts/font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10.fntdata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font" Target="fonts/font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1.fntdata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6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7.fntdata"/><Relationship Id="rId115" Type="http://schemas.openxmlformats.org/officeDocument/2006/relationships/font" Target="fonts/font1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8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g.uber.com/uber-big-data-platform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esearch.fb.com/blog/2014/10/facebook-s-top-open-data-problems/" TargetMode="External"/><Relationship Id="rId4" Type="http://schemas.openxmlformats.org/officeDocument/2006/relationships/hyperlink" Target="https://www.zillow.com/tech/pipeline-to-process-clickstream-data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g.uber.com/uber-big-data-platform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esearch.fb.com/blog/2014/10/facebook-s-top-open-data-problems/" TargetMode="External"/><Relationship Id="rId4" Type="http://schemas.openxmlformats.org/officeDocument/2006/relationships/hyperlink" Target="https://www.zillow.com/tech/pipeline-to-process-clickstream-data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g.uber.com/uber-big-data-platform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esearch.fb.com/blog/2014/10/facebook-s-top-open-data-problems/" TargetMode="External"/><Relationship Id="rId4" Type="http://schemas.openxmlformats.org/officeDocument/2006/relationships/hyperlink" Target="https://www.zillow.com/tech/pipeline-to-process-clickstream-data/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1772c27e4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1772c27e4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1772c27e4c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1772c27e4c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772c27e4c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772c27e4c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true for SWE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772c27e4c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772c27e4c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772c27e4c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1772c27e4c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back in 2018, Uber was adding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 of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their data lake, and Zillow’s biggest dataset was bringing in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uncompressed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 contrast, even back in 2014, Facebook was generating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 petabytes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67bbc6659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167bbc6659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back in 2018, Uber was adding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 of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their data lake, and Zillow’s biggest dataset was bringing in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uncompressed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 contrast, even back in 2014, Facebook was generating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 petabytes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67bbc6659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167bbc6659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back in 2018, Uber was adding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 of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their data lake, and Zillow’s biggest dataset was bringing in 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terabytes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uncompressed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 contrast, even back in 2014, Facebook was generating </a:t>
            </a:r>
            <a:r>
              <a:rPr lang="en" sz="1200" b="1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 petabytes</a:t>
            </a: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data a day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772c27e4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772c27e4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Google: 63,000 search queries a second, which translates to 234 million search queries an hour, like Google does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1772c27e4c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1772c27e4c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772c27e4c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772c27e4c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67bbc6659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167bbc6659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1772c27e4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1772c27e4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772c27e4c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772c27e4c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1772c27e4c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1772c27e4c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1772c27e4c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1772c27e4c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772c27e4c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1772c27e4c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1772c27e4c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1772c27e4c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67bbc66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67bbc66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67bbc665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167bbc665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67bbc665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167bbc665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167bbc665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167bbc665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167bbc665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167bbc665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167bbc665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167bbc665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1772c27e4c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1772c27e4c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67bbc665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67bbc665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67bbc665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67bbc665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67bbc6659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167bbc6659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67bbc665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167bbc665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167bbc665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167bbc665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167bbc665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167bbc665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167bbc6659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167bbc6659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167bbc6659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167bbc6659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167bbc665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167bbc665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167bbc6659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167bbc6659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167bbc6659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167bbc6659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67bbc6659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167bbc6659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167bbc665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167bbc665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67bbc6659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67bbc6659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167bbc6659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167bbc6659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167bbc6659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167bbc6659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167bbc6659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167bbc6659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167bbc6659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167bbc6659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167bbc6659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167bbc6659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167bbc6659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167bbc6659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167bbc6659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167bbc6659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167bbc6659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167bbc6659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167bbc6659_0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167bbc6659_0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167bbc6659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167bbc6659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67bbc6659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167bbc6659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167bbc665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167bbc6659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167bbc6659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167bbc6659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167bbc6659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167bbc6659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167bbc6659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167bbc6659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167bbc6659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167bbc6659_0_7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K8s wasn’t created especially for ML. It works but can make life difficult for data scientists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167bbc6659_0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167bbc6659_0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167bbc6659_0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167bbc6659_0_8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167bbc665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167bbc665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167bbc6659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1167bbc6659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167bbc665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167bbc665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167bbc6659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167bbc6659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167bbc665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167bbc665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1167bbc6659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1167bbc6659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167bbc665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167bbc665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167bbc6659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167bbc6659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167bbc6659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167bbc6659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167bbc6659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1167bbc6659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67bbc6659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167bbc6659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167bbc6659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167bbc6659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1167bbc6659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1167bbc6659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167bbc6659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167bbc6659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1167bbc6659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1167bbc6659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167bbc6659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1167bbc6659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167bbc6659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167bbc6659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167bbc6659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167bbc6659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167bbc6659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1167bbc6659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1167bbc6659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1167bbc6659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1167bbc6659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1167bbc6659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167bbc6659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1167bbc6659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1167bbc6659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1167bbc6659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167bbc6659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167bbc6659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167bbc6659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167bbc6659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167bbc6659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167bbc6659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167bbc6659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167bbc6659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167bbc665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1167bbc6659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167bbc6659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1167bbc6659_0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167bbc6659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167bbc6659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167bbc6659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167bbc6659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167bbc6659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167bbc6659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7bbc6659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7bbc6659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167bbc6659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167bbc6659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1167bbc6659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1167bbc6659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167bbc6659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1167bbc6659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167bbc6659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167bbc6659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1167bbc6659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1167bbc6659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1167bbc6659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1167bbc6659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1167bbc6659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1167bbc6659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167bbc6659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167bbc6659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167bbc6659_0_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167bbc6659_0_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1167bbc6659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167bbc6659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79a232354da44e74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79a232354da44e74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Nunito"/>
              <a:buNone/>
              <a:defRPr sz="52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unito"/>
              <a:buNone/>
              <a:defRPr sz="28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 sz="28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Nunito"/>
              <a:buNone/>
              <a:defRPr sz="36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Nunito"/>
              <a:buNone/>
              <a:defRPr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unito"/>
              <a:buChar char="●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■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■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○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Nunito"/>
              <a:buChar char="■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03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03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03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BYxwxJCb7onDemOtAZTmMc50V3tF80BflkuKZCBLUxg/ed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q.com/news/2021/06/cloud-tpu-vms-preview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timdettmers.com/2020/09/07/which-gpu-for-deep-learning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lcommons.org/en/inference-datacenter-11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rgresearch.com/articles/2020-the-year-that-cloud-service-revenues-finally-dwarfed-enterprise-spending-on-data-centers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16z.com/2021/05/27/cost-of-cloud-paradox-market-cap-cloud-lifecycle-scale-growth-repatriation-optimization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16z.com/2021/05/27/cost-of-cloud-paradox-market-cap-cloud-lifecycle-scale-growth-repatriation-optimization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smarterwithgartner/why-organizations-choose-a-multicloud-strategy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netflixtechblog.com/notebook-innovation-591ee3221233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ning.com/books/effective-data-science-infrastructure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44750" y="1499250"/>
            <a:ext cx="7127700" cy="12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Nunito"/>
                <a:ea typeface="Nunito"/>
                <a:cs typeface="Nunito"/>
                <a:sym typeface="Nunito"/>
              </a:rPr>
              <a:t>Machine Learning Systems Design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Nunito"/>
                <a:ea typeface="Nunito"/>
                <a:cs typeface="Nunito"/>
                <a:sym typeface="Nunito"/>
              </a:rPr>
              <a:t>Lecture 15: 	ML Infrastructure &amp; Platform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" name="Google Shape;30;p1">
            <a:extLst>
              <a:ext uri="{FF2B5EF4-FFF2-40B4-BE49-F238E27FC236}">
                <a16:creationId xmlns:a16="http://schemas.microsoft.com/office/drawing/2014/main" id="{55A8BF48-C9AA-AAFC-5DD8-97FB1E7059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999" y="704527"/>
            <a:ext cx="1942857" cy="6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F8A3CCD4-34CE-0DF9-FC4B-0C7C79A4B58A}"/>
              </a:ext>
            </a:extLst>
          </p:cNvPr>
          <p:cNvSpPr txBox="1"/>
          <p:nvPr/>
        </p:nvSpPr>
        <p:spPr>
          <a:xfrm>
            <a:off x="1223023" y="3061068"/>
            <a:ext cx="2656496" cy="121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14350"/>
            <a:r>
              <a:rPr lang="en-US" sz="2025" dirty="0">
                <a:latin typeface="Gill Sans MT" panose="020B0502020104020203" pitchFamily="34" charset="77"/>
              </a:rPr>
              <a:t>Dr. José Ramón Iglesias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514350"/>
            <a:r>
              <a:rPr lang="en-US" sz="105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514350"/>
            <a:endParaRPr lang="en-US" sz="105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infrastructure mean?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713" y="975725"/>
            <a:ext cx="5180578" cy="38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systems are complex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875" y="2180200"/>
            <a:ext cx="1966349" cy="263064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11700" y="1152475"/>
            <a:ext cx="8520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Nunito"/>
              <a:buChar char="●"/>
            </a:pPr>
            <a:r>
              <a:rPr lang="en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More components</a:t>
            </a:r>
            <a:endParaRPr sz="18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unito"/>
              <a:buChar char="○"/>
            </a:pPr>
            <a:r>
              <a:rPr lang="en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A request might jump 20-30 hops before response</a:t>
            </a:r>
            <a:endParaRPr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unito"/>
              <a:buChar char="○"/>
            </a:pPr>
            <a:r>
              <a:rPr lang="en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A problem occurs, but where?</a:t>
            </a:r>
            <a:endParaRPr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8500" y="2114650"/>
            <a:ext cx="2142451" cy="21424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6773250" y="1609350"/>
            <a:ext cx="1248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Containers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216450" y="1984375"/>
            <a:ext cx="1326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Schedulers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717550" y="4195750"/>
            <a:ext cx="1502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Microservices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334525" y="3749350"/>
            <a:ext cx="1248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Load balancers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803225" y="2704300"/>
            <a:ext cx="1248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Lambda functions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840050" y="3141525"/>
            <a:ext cx="1248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Mesh routing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736700" y="2267050"/>
            <a:ext cx="1248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Serverless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More complex systems, better infrastructure needed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929363" y="1785925"/>
            <a:ext cx="1677300" cy="7473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Automate boilerplate code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808538" y="1785925"/>
            <a:ext cx="1677300" cy="7473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Reuse/share code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381113" y="3178500"/>
            <a:ext cx="1677300" cy="747300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Reduce surface area for bugs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7" name="Google Shape;97;p17"/>
          <p:cNvCxnSpPr>
            <a:stCxn id="94" idx="2"/>
            <a:endCxn id="96" idx="0"/>
          </p:cNvCxnSpPr>
          <p:nvPr/>
        </p:nvCxnSpPr>
        <p:spPr>
          <a:xfrm>
            <a:off x="1768013" y="2533225"/>
            <a:ext cx="1451700" cy="64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" name="Google Shape;98;p17"/>
          <p:cNvCxnSpPr>
            <a:stCxn id="95" idx="2"/>
            <a:endCxn id="96" idx="0"/>
          </p:cNvCxnSpPr>
          <p:nvPr/>
        </p:nvCxnSpPr>
        <p:spPr>
          <a:xfrm flipH="1">
            <a:off x="3219788" y="2533225"/>
            <a:ext cx="1427400" cy="64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988" y="1914338"/>
            <a:ext cx="5688027" cy="3229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311700" y="343550"/>
            <a:ext cx="8520600" cy="15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Infrastructure: the set of fundamental facilities and systems that support the sustainable functionality of households and firms.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 infrastructure: the set of </a:t>
            </a:r>
            <a:r>
              <a:rPr lang="en">
                <a:solidFill>
                  <a:srgbClr val="FF00FF"/>
                </a:solidFill>
              </a:rPr>
              <a:t>fundamental facilities that support the development and maintenance of ML systems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company’s infrastructure needs are different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37" y="936025"/>
            <a:ext cx="7690925" cy="420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0700" y="3105925"/>
            <a:ext cx="866900" cy="72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5418850" y="3480400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3608125" y="1328675"/>
            <a:ext cx="4107300" cy="231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company’s infrastructure needs are different</a:t>
            </a: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37" y="936025"/>
            <a:ext cx="7690925" cy="420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0700" y="3105925"/>
            <a:ext cx="866900" cy="72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5418850" y="3480400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796350" y="1962425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63K requests/sec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234M requests/hr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3475" y="1988775"/>
            <a:ext cx="482700" cy="4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 rotWithShape="1">
          <a:blip r:embed="rId6">
            <a:alphaModFix/>
          </a:blip>
          <a:srcRect l="15976" t="21811" r="20952" b="24638"/>
          <a:stretch/>
        </p:blipFill>
        <p:spPr>
          <a:xfrm>
            <a:off x="5719650" y="814000"/>
            <a:ext cx="1510349" cy="72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3608250" y="2714713"/>
            <a:ext cx="2111400" cy="650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company’s infrastructure needs are different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37" y="936025"/>
            <a:ext cx="7690925" cy="420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0700" y="3105925"/>
            <a:ext cx="866900" cy="72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1"/>
          <p:cNvCxnSpPr/>
          <p:nvPr/>
        </p:nvCxnSpPr>
        <p:spPr>
          <a:xfrm rot="10800000">
            <a:off x="5110575" y="3183100"/>
            <a:ext cx="1057200" cy="29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8" name="Google Shape;138;p21"/>
          <p:cNvSpPr txBox="1"/>
          <p:nvPr/>
        </p:nvSpPr>
        <p:spPr>
          <a:xfrm>
            <a:off x="5418850" y="3480400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6796350" y="1962425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63K requests/sec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234M requests/hr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5110576" y="3480400"/>
            <a:ext cx="27357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Nunito"/>
              <a:buChar char="●"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GB - TBs of data daily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Nunito"/>
              <a:buChar char="●"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10s - 100s data scientists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Nunito"/>
              <a:buChar char="●"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3+ models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3475" y="1988775"/>
            <a:ext cx="482700" cy="4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 rotWithShape="1">
          <a:blip r:embed="rId6">
            <a:alphaModFix/>
          </a:blip>
          <a:srcRect l="15976" t="21811" r="20952" b="24638"/>
          <a:stretch/>
        </p:blipFill>
        <p:spPr>
          <a:xfrm>
            <a:off x="5719650" y="814000"/>
            <a:ext cx="1510349" cy="7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company’s infrastructure needs are different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37" y="936025"/>
            <a:ext cx="7690925" cy="4207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3475" y="1988775"/>
            <a:ext cx="482700" cy="4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0700" y="3105925"/>
            <a:ext cx="866900" cy="72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2"/>
          <p:cNvCxnSpPr/>
          <p:nvPr/>
        </p:nvCxnSpPr>
        <p:spPr>
          <a:xfrm rot="10800000">
            <a:off x="5110575" y="3183100"/>
            <a:ext cx="1057200" cy="29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Google Shape;153;p22"/>
          <p:cNvSpPr txBox="1"/>
          <p:nvPr/>
        </p:nvSpPr>
        <p:spPr>
          <a:xfrm>
            <a:off x="5418850" y="3480400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Vast majority of apps (reasonable scale)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6796350" y="1962425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63K requests/sec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234M requests/hr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6">
            <a:alphaModFix/>
          </a:blip>
          <a:srcRect l="15976" t="21811" r="20952" b="24638"/>
          <a:stretch/>
        </p:blipFill>
        <p:spPr>
          <a:xfrm>
            <a:off x="5719650" y="814000"/>
            <a:ext cx="1510349" cy="7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473484" y="364318"/>
            <a:ext cx="84558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25" y="37900"/>
            <a:ext cx="8639425" cy="50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/>
        </p:nvSpPr>
        <p:spPr>
          <a:xfrm>
            <a:off x="6874875" y="4726525"/>
            <a:ext cx="22248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n=66 | claypot.ai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Layers</a:t>
            </a:r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1625"/>
            <a:ext cx="7658976" cy="34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Layers</a:t>
            </a:r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1625"/>
            <a:ext cx="7658976" cy="34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5437350" y="3759125"/>
            <a:ext cx="433200" cy="3936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5482775" y="1330350"/>
            <a:ext cx="433200" cy="3936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5437350" y="2945525"/>
            <a:ext cx="433200" cy="3936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5437350" y="2131913"/>
            <a:ext cx="433200" cy="3936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title"/>
          </p:nvPr>
        </p:nvSpPr>
        <p:spPr>
          <a:xfrm>
            <a:off x="1078350" y="1601150"/>
            <a:ext cx="5598600" cy="16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&amp; Compute Layer</a:t>
            </a:r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</a:t>
            </a:r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data is collected and stored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form: HDD, SSD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complex forms: data lake, data warehouse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S3, Redshift, Snowflake, BigQuery</a:t>
            </a:r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646000" y="3169625"/>
            <a:ext cx="2224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See </a:t>
            </a:r>
            <a:r>
              <a:rPr lang="en" sz="1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Lecture 2</a:t>
            </a:r>
            <a:endParaRPr sz="18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0375" y="3017600"/>
            <a:ext cx="1821174" cy="193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Storage: heavily commoditized</a:t>
            </a:r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Most companies use storage provided by other companies (e.g. cloud)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Storage has become so cheap that most companies just store everything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" name="Google Shape;20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engine to execute your jobs</a:t>
            </a:r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resources a company has access to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 to determine how these resources can be used</a:t>
            </a:r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engine to execute </a:t>
            </a:r>
            <a:r>
              <a:rPr lang="en">
                <a:solidFill>
                  <a:srgbClr val="FF00FF"/>
                </a:solidFill>
              </a:rPr>
              <a:t>jobs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217" name="Google Shape;21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form: a single CPU/GPU core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form: cloud compute</a:t>
            </a:r>
            <a:endParaRPr/>
          </a:p>
        </p:txBody>
      </p:sp>
      <p:sp>
        <p:nvSpPr>
          <p:cNvPr id="218" name="Google Shape;21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unit</a:t>
            </a:r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layer can be sliced into smaller compute units </a:t>
            </a:r>
            <a:r>
              <a:rPr lang="en" b="1"/>
              <a:t>to be used concurrently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CPU core might support 2 concurrent threads, </a:t>
            </a:r>
            <a:r>
              <a:rPr lang="en" b="1"/>
              <a:t>each thread</a:t>
            </a:r>
            <a:r>
              <a:rPr lang="en"/>
              <a:t> is used as a compute unit to execute its own </a:t>
            </a:r>
            <a:r>
              <a:rPr lang="en" b="1">
                <a:solidFill>
                  <a:srgbClr val="FF00FF"/>
                </a:solidFill>
              </a:rPr>
              <a:t>job</a:t>
            </a:r>
            <a:endParaRPr b="1">
              <a:solidFill>
                <a:srgbClr val="FF00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CPUs can be joined to form a </a:t>
            </a:r>
            <a:r>
              <a:rPr lang="en" b="1"/>
              <a:t>large compute unit</a:t>
            </a:r>
            <a:r>
              <a:rPr lang="en"/>
              <a:t> to execute a large </a:t>
            </a:r>
            <a:r>
              <a:rPr lang="en" b="1">
                <a:solidFill>
                  <a:srgbClr val="FF00FF"/>
                </a:solidFill>
              </a:rPr>
              <a:t>job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25" name="Google Shape;22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unit</a:t>
            </a:r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 layer can be sliced into smaller compute units </a:t>
            </a:r>
            <a:r>
              <a:rPr lang="en" b="1"/>
              <a:t>to be used concurrently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CPU core might support 2 concurrent threads, </a:t>
            </a:r>
            <a:r>
              <a:rPr lang="en" b="1"/>
              <a:t>each thread</a:t>
            </a:r>
            <a:r>
              <a:rPr lang="en"/>
              <a:t> is used as a compute unit to execute its own </a:t>
            </a:r>
            <a:r>
              <a:rPr lang="en" b="1">
                <a:solidFill>
                  <a:srgbClr val="FF00FF"/>
                </a:solidFill>
              </a:rPr>
              <a:t>job</a:t>
            </a:r>
            <a:endParaRPr b="1">
              <a:solidFill>
                <a:srgbClr val="FF00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CPUs can be joined to form a </a:t>
            </a:r>
            <a:r>
              <a:rPr lang="en" b="1"/>
              <a:t>large compute unit</a:t>
            </a:r>
            <a:r>
              <a:rPr lang="en"/>
              <a:t> to execute a large </a:t>
            </a:r>
            <a:r>
              <a:rPr lang="en" b="1">
                <a:solidFill>
                  <a:srgbClr val="FF00FF"/>
                </a:solidFill>
              </a:rPr>
              <a:t>job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232" name="Google Shape;23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33" name="Google Shape;2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125" y="4061900"/>
            <a:ext cx="947250" cy="49178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 txBox="1"/>
          <p:nvPr/>
        </p:nvSpPr>
        <p:spPr>
          <a:xfrm>
            <a:off x="579900" y="3136575"/>
            <a:ext cx="1413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Nunito"/>
                <a:ea typeface="Nunito"/>
                <a:cs typeface="Nunito"/>
                <a:sym typeface="Nunito"/>
              </a:rPr>
              <a:t>Unit: job</a:t>
            </a:r>
            <a:endParaRPr sz="21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122" y="3680400"/>
            <a:ext cx="94725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350" y="4618675"/>
            <a:ext cx="1088800" cy="4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/>
          <p:nvPr/>
        </p:nvSpPr>
        <p:spPr>
          <a:xfrm>
            <a:off x="2957100" y="3136575"/>
            <a:ext cx="18222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Nunito"/>
                <a:ea typeface="Nunito"/>
                <a:cs typeface="Nunito"/>
                <a:sym typeface="Nunito"/>
              </a:rPr>
              <a:t>Unit: pod</a:t>
            </a:r>
            <a:endParaRPr sz="21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8" name="Google Shape;23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2733" y="3680400"/>
            <a:ext cx="1822335" cy="39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32"/>
          <p:cNvCxnSpPr/>
          <p:nvPr/>
        </p:nvCxnSpPr>
        <p:spPr>
          <a:xfrm flipH="1">
            <a:off x="4352175" y="3306950"/>
            <a:ext cx="998700" cy="7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32"/>
          <p:cNvSpPr txBox="1"/>
          <p:nvPr/>
        </p:nvSpPr>
        <p:spPr>
          <a:xfrm>
            <a:off x="5350875" y="2985975"/>
            <a:ext cx="18747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Wrapper around container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how to execute jobs</a:t>
            </a:r>
            <a:endParaRPr/>
          </a:p>
        </p:txBody>
      </p:sp>
      <p:sp>
        <p:nvSpPr>
          <p:cNvPr id="246" name="Google Shape;24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Load data into memory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operations on that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Operations: add, subtract, multiply, convolution, etc.</a:t>
            </a:r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48" name="Google Shape;248;p33"/>
          <p:cNvSpPr txBox="1"/>
          <p:nvPr/>
        </p:nvSpPr>
        <p:spPr>
          <a:xfrm>
            <a:off x="759950" y="3458375"/>
            <a:ext cx="35136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 add arrays A and B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Load A &amp; B into memory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Perform addition on A and B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how to execute jobs</a:t>
            </a:r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Load data into memory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operations on that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Operations: add, subtract, multiply, convolution, etc.</a:t>
            </a:r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56" name="Google Shape;256;p34"/>
          <p:cNvSpPr txBox="1"/>
          <p:nvPr/>
        </p:nvSpPr>
        <p:spPr>
          <a:xfrm>
            <a:off x="759950" y="3458375"/>
            <a:ext cx="35136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 add arrays A and B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Load A &amp; B into memory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Perform addition on A and B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57" name="Google Shape;257;p34"/>
          <p:cNvCxnSpPr/>
          <p:nvPr/>
        </p:nvCxnSpPr>
        <p:spPr>
          <a:xfrm flipH="1">
            <a:off x="3381175" y="3271125"/>
            <a:ext cx="1817400" cy="59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8" name="Google Shape;258;p34"/>
          <p:cNvSpPr txBox="1"/>
          <p:nvPr/>
        </p:nvSpPr>
        <p:spPr>
          <a:xfrm>
            <a:off x="5198575" y="2464225"/>
            <a:ext cx="35136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If A &amp; B don’t fit into memory, it’ll be possible to do the ops without out-of-memory algorithms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how to execute jobs</a:t>
            </a:r>
            <a:endParaRPr/>
          </a:p>
        </p:txBody>
      </p:sp>
      <p:sp>
        <p:nvSpPr>
          <p:cNvPr id="264" name="Google Shape;264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Load data into memory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operations on that data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Operations: add, subtract, multiply, convolution, etc.</a:t>
            </a:r>
            <a:endParaRPr/>
          </a:p>
        </p:txBody>
      </p:sp>
      <p:sp>
        <p:nvSpPr>
          <p:cNvPr id="265" name="Google Shape;26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66" name="Google Shape;266;p35"/>
          <p:cNvSpPr txBox="1"/>
          <p:nvPr/>
        </p:nvSpPr>
        <p:spPr>
          <a:xfrm>
            <a:off x="759950" y="3458375"/>
            <a:ext cx="35136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 add arrays A and B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Load A &amp; B into memory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Perform addition on A and B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5143500" y="3458375"/>
            <a:ext cx="36888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Important metrics of compute layer: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Memory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Nunito"/>
              <a:buAutoNum type="arabicPeriod"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Speed of computing ops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8" name="Google Shape;268;p35"/>
          <p:cNvCxnSpPr>
            <a:stCxn id="267" idx="1"/>
          </p:cNvCxnSpPr>
          <p:nvPr/>
        </p:nvCxnSpPr>
        <p:spPr>
          <a:xfrm rot="10800000">
            <a:off x="3667500" y="3854825"/>
            <a:ext cx="147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35"/>
          <p:cNvCxnSpPr/>
          <p:nvPr/>
        </p:nvCxnSpPr>
        <p:spPr>
          <a:xfrm rot="10800000">
            <a:off x="3667500" y="4095325"/>
            <a:ext cx="147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memory</a:t>
            </a:r>
            <a:endParaRPr/>
          </a:p>
        </p:txBody>
      </p:sp>
      <p:sp>
        <p:nvSpPr>
          <p:cNvPr id="275" name="Google Shape;27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Amount of memory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Straightforward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instance with 8GB of memory is more expensive than an instance with 2GB of memory</a:t>
            </a:r>
            <a:endParaRPr/>
          </a:p>
        </p:txBody>
      </p:sp>
      <p:sp>
        <p:nvSpPr>
          <p:cNvPr id="276" name="Google Shape;276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memory</a:t>
            </a:r>
            <a:endParaRPr/>
          </a:p>
        </p:txBody>
      </p:sp>
      <p:sp>
        <p:nvSpPr>
          <p:cNvPr id="282" name="Google Shape;282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Amount of memory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I/O bandwidth: speed at which data can be loaded into memory</a:t>
            </a:r>
            <a:endParaRPr/>
          </a:p>
        </p:txBody>
      </p:sp>
      <p:sp>
        <p:nvSpPr>
          <p:cNvPr id="283" name="Google Shape;28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speed of ops</a:t>
            </a:r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metric: FLOPS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F</a:t>
            </a:r>
            <a:r>
              <a:rPr lang="en"/>
              <a:t>loating </a:t>
            </a:r>
            <a:r>
              <a:rPr lang="en" b="1"/>
              <a:t>P</a:t>
            </a:r>
            <a:r>
              <a:rPr lang="en"/>
              <a:t>oint </a:t>
            </a:r>
            <a:r>
              <a:rPr lang="en" b="1"/>
              <a:t>O</a:t>
            </a:r>
            <a:r>
              <a:rPr lang="en"/>
              <a:t>perations </a:t>
            </a:r>
            <a:r>
              <a:rPr lang="en" b="1"/>
              <a:t>P</a:t>
            </a:r>
            <a:r>
              <a:rPr lang="en"/>
              <a:t>er </a:t>
            </a:r>
            <a:r>
              <a:rPr lang="en" b="1"/>
              <a:t>S</a:t>
            </a:r>
            <a:r>
              <a:rPr lang="en"/>
              <a:t>econd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 i="1"/>
              <a:t>A Cloud TPU v2 can perform up to 180 teraflops,</a:t>
            </a:r>
            <a:br>
              <a:rPr lang="en" i="1"/>
            </a:br>
            <a:r>
              <a:rPr lang="en" i="1"/>
              <a:t>and the TPU v3 up to 420 teraflops.</a:t>
            </a:r>
            <a:r>
              <a:rPr lang="en"/>
              <a:t>”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Google, 2021</a:t>
            </a:r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speed of ops</a:t>
            </a:r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metric: FLOPS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Contentious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exactly is an ops?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2 ops are fused together, is it 1 or 2 ops?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Peak perf at 1 teraFLOPS doesn’t mean your app will run at 1 teraFLOPS</a:t>
            </a:r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utilization</a:t>
            </a:r>
            <a:endParaRPr/>
          </a:p>
        </p:txBody>
      </p:sp>
      <p:sp>
        <p:nvSpPr>
          <p:cNvPr id="303" name="Google Shape;30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Utilization = actual FLOPS / peak FLOPS</a:t>
            </a:r>
            <a:endParaRPr/>
          </a:p>
        </p:txBody>
      </p:sp>
      <p:sp>
        <p:nvSpPr>
          <p:cNvPr id="304" name="Google Shape;30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305" name="Google Shape;305;p40"/>
          <p:cNvSpPr txBox="1"/>
          <p:nvPr/>
        </p:nvSpPr>
        <p:spPr>
          <a:xfrm>
            <a:off x="759950" y="3458375"/>
            <a:ext cx="35136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peak 1 trillion FLOPS but job runs 300 billion FLOPS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-&gt; utilization = 0.3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utilization</a:t>
            </a:r>
            <a:endParaRPr/>
          </a:p>
        </p:txBody>
      </p:sp>
      <p:sp>
        <p:nvSpPr>
          <p:cNvPr id="311" name="Google Shape;311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Utilization = actual FLOPS / peak FLOPS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Dependent on how fast data can be loaded into memory</a:t>
            </a:r>
            <a:endParaRPr/>
          </a:p>
        </p:txBody>
      </p:sp>
      <p:sp>
        <p:nvSpPr>
          <p:cNvPr id="312" name="Google Shape;31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313" name="Google Shape;313;p41"/>
          <p:cNvSpPr txBox="1"/>
          <p:nvPr/>
        </p:nvSpPr>
        <p:spPr>
          <a:xfrm>
            <a:off x="759950" y="3198325"/>
            <a:ext cx="6553200" cy="17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Tensor Cores are very fast. So fast … that they are idle most of the time as </a:t>
            </a:r>
            <a:r>
              <a:rPr lang="en" b="1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they are waiting for memory to arrive from global memory.</a:t>
            </a:r>
            <a:endParaRPr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example, during BERT Large training, which uses huge matrices — the larger, the better for Tensor Cores — </a:t>
            </a:r>
            <a:r>
              <a:rPr lang="en" b="1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we have utilization of about 30%</a:t>
            </a:r>
            <a:r>
              <a:rPr lang="en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 </a:t>
            </a:r>
            <a:r>
              <a:rPr lang="en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Tim Dettmers, 2020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14" name="Google Shape;314;p41"/>
          <p:cNvCxnSpPr/>
          <p:nvPr/>
        </p:nvCxnSpPr>
        <p:spPr>
          <a:xfrm flipH="1">
            <a:off x="6123900" y="1354700"/>
            <a:ext cx="1629900" cy="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5" name="Google Shape;315;p41"/>
          <p:cNvSpPr txBox="1"/>
          <p:nvPr/>
        </p:nvSpPr>
        <p:spPr>
          <a:xfrm>
            <a:off x="7885975" y="1065475"/>
            <a:ext cx="12579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The higher, the better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if not FLOPS, then what? 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if not FLOPS, then what? </a:t>
            </a:r>
            <a:endParaRPr/>
          </a:p>
        </p:txBody>
      </p:sp>
      <p:sp>
        <p:nvSpPr>
          <p:cNvPr id="327" name="Google Shape;327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long it will take this compute unit to do common workloads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MLPerf</a:t>
            </a:r>
            <a:r>
              <a:rPr lang="en"/>
              <a:t> measure hardware on common ML tasks e.g.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 a ResNet-50 model on the ImageNet dataset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a BERT-large model to generate predictions for the SQuAD dataset</a:t>
            </a:r>
            <a:endParaRPr/>
          </a:p>
        </p:txBody>
      </p:sp>
      <p:sp>
        <p:nvSpPr>
          <p:cNvPr id="328" name="Google Shape;32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3178500" cy="7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MLPerf is also contentious</a:t>
            </a:r>
            <a:endParaRPr/>
          </a:p>
        </p:txBody>
      </p:sp>
      <p:sp>
        <p:nvSpPr>
          <p:cNvPr id="334" name="Google Shape;334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335" name="Google Shape;3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075" y="0"/>
            <a:ext cx="5457600" cy="274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0075" y="2529875"/>
            <a:ext cx="5653923" cy="261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layer: evaluation</a:t>
            </a:r>
            <a:endParaRPr/>
          </a:p>
        </p:txBody>
      </p:sp>
      <p:sp>
        <p:nvSpPr>
          <p:cNvPr id="342" name="Google Shape;342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I/O bandwidth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</a:t>
            </a:r>
            <a:endParaRPr/>
          </a:p>
        </p:txBody>
      </p:sp>
      <p:sp>
        <p:nvSpPr>
          <p:cNvPr id="343" name="Google Shape;34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344" name="Google Shape;34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825" y="1279850"/>
            <a:ext cx="6585175" cy="23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Cloud vs. Private Data Centers</a:t>
            </a:r>
            <a:endParaRPr/>
          </a:p>
        </p:txBody>
      </p:sp>
      <p:sp>
        <p:nvSpPr>
          <p:cNvPr id="350" name="Google Shape;350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Like storage, compute is largely commoditized</a:t>
            </a:r>
            <a:endParaRPr/>
          </a:p>
        </p:txBody>
      </p:sp>
      <p:sp>
        <p:nvSpPr>
          <p:cNvPr id="351" name="Google Shape;351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352" name="Google Shape;35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50" y="1701625"/>
            <a:ext cx="4830425" cy="307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3" name="Google Shape;353;p46"/>
          <p:cNvCxnSpPr/>
          <p:nvPr/>
        </p:nvCxnSpPr>
        <p:spPr>
          <a:xfrm>
            <a:off x="337800" y="4869450"/>
            <a:ext cx="7971000" cy="20100"/>
          </a:xfrm>
          <a:prstGeom prst="straightConnector1">
            <a:avLst/>
          </a:prstGeom>
          <a:noFill/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46"/>
          <p:cNvSpPr txBox="1"/>
          <p:nvPr/>
        </p:nvSpPr>
        <p:spPr>
          <a:xfrm>
            <a:off x="337800" y="4922975"/>
            <a:ext cx="698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2020 – The Year that Cloud Service Revenues Finally Dwarfed Enterprise Spending on Data Centers | Synergy Research Group</a:t>
            </a:r>
            <a:r>
              <a:rPr lang="en" sz="900">
                <a:solidFill>
                  <a:srgbClr val="030353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cloud</a:t>
            </a:r>
            <a:endParaRPr/>
          </a:p>
        </p:txBody>
      </p:sp>
      <p:sp>
        <p:nvSpPr>
          <p:cNvPr id="360" name="Google Shape;360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get started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Appealing to variable-sized workloads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Private: would need 100 machines upfront, most will be idle most of the time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Cloud: pay for 100 machines only when needed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61" name="Google Shape;361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pic>
        <p:nvPicPr>
          <p:cNvPr id="362" name="Google Shape;36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025" y="2522400"/>
            <a:ext cx="4157782" cy="262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cloud</a:t>
            </a:r>
            <a:endParaRPr/>
          </a:p>
        </p:txBody>
      </p:sp>
      <p:sp>
        <p:nvSpPr>
          <p:cNvPr id="368" name="Google Shape;368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get started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Appealing to variable-sized workloads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Private: would need 100 machines upfront, most will be idle most of the time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Cloud: pay for 100 machines only when needed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69" name="Google Shape;369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pic>
        <p:nvPicPr>
          <p:cNvPr id="370" name="Google Shape;37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025" y="2522400"/>
            <a:ext cx="4157782" cy="262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8"/>
          <p:cNvSpPr txBox="1"/>
          <p:nvPr/>
        </p:nvSpPr>
        <p:spPr>
          <a:xfrm>
            <a:off x="5380175" y="2723450"/>
            <a:ext cx="12579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Autoscaling!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72" name="Google Shape;372;p48"/>
          <p:cNvCxnSpPr/>
          <p:nvPr/>
        </p:nvCxnSpPr>
        <p:spPr>
          <a:xfrm rot="10800000">
            <a:off x="4625650" y="2336550"/>
            <a:ext cx="621600" cy="55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Drawbacks of cloud: cost</a:t>
            </a:r>
            <a:endParaRPr/>
          </a:p>
        </p:txBody>
      </p:sp>
      <p:sp>
        <p:nvSpPr>
          <p:cNvPr id="378" name="Google Shape;378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 spending: ~50% cost of revenue</a:t>
            </a:r>
            <a:endParaRPr/>
          </a:p>
        </p:txBody>
      </p:sp>
      <p:sp>
        <p:nvSpPr>
          <p:cNvPr id="379" name="Google Shape;379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380" name="Google Shape;3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676" y="1645647"/>
            <a:ext cx="6760525" cy="3241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1" name="Google Shape;381;p49"/>
          <p:cNvCxnSpPr/>
          <p:nvPr/>
        </p:nvCxnSpPr>
        <p:spPr>
          <a:xfrm>
            <a:off x="337800" y="4869450"/>
            <a:ext cx="7971000" cy="20100"/>
          </a:xfrm>
          <a:prstGeom prst="straightConnector1">
            <a:avLst/>
          </a:prstGeom>
          <a:noFill/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2" name="Google Shape;382;p49"/>
          <p:cNvSpPr txBox="1"/>
          <p:nvPr/>
        </p:nvSpPr>
        <p:spPr>
          <a:xfrm>
            <a:off x="337800" y="4922975"/>
            <a:ext cx="698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The Cost of Cloud, a Trillion Dollar Paradox | Andreessen Horowitz</a:t>
            </a:r>
            <a:r>
              <a:rPr lang="en" sz="900">
                <a:solidFill>
                  <a:srgbClr val="030353"/>
                </a:solidFill>
                <a:latin typeface="Nunito"/>
                <a:ea typeface="Nunito"/>
                <a:cs typeface="Nunito"/>
                <a:sym typeface="Nunito"/>
              </a:rPr>
              <a:t> (2021) </a:t>
            </a: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Drawbacks of cloud: cost</a:t>
            </a:r>
            <a:endParaRPr/>
          </a:p>
        </p:txBody>
      </p:sp>
      <p:sp>
        <p:nvSpPr>
          <p:cNvPr id="388" name="Google Shape;388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 i="1"/>
              <a:t>Across 50 of the top public software companies currently utilizing cloud infrastructure, an </a:t>
            </a:r>
            <a:r>
              <a:rPr lang="en" b="1" i="1"/>
              <a:t>estimated $100B of market value is being lost … due to cloud impact on margins</a:t>
            </a:r>
            <a:r>
              <a:rPr lang="en" i="1"/>
              <a:t> — relative to running the infrastructure themselves</a:t>
            </a:r>
            <a:r>
              <a:rPr lang="en"/>
              <a:t>.”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Cost of Cloud, a Trillion Dollar Paradox | Andreessen Horowitz</a:t>
            </a:r>
            <a:r>
              <a:rPr lang="en">
                <a:solidFill>
                  <a:srgbClr val="030353"/>
                </a:solidFill>
              </a:rPr>
              <a:t> (2021) </a:t>
            </a:r>
            <a:endParaRPr>
              <a:solidFill>
                <a:srgbClr val="03035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89" name="Google Shape;389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cxnSp>
        <p:nvCxnSpPr>
          <p:cNvPr id="390" name="Google Shape;390;p50"/>
          <p:cNvCxnSpPr/>
          <p:nvPr/>
        </p:nvCxnSpPr>
        <p:spPr>
          <a:xfrm>
            <a:off x="337800" y="4869450"/>
            <a:ext cx="7971000" cy="20100"/>
          </a:xfrm>
          <a:prstGeom prst="straightConnector1">
            <a:avLst/>
          </a:prstGeom>
          <a:noFill/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1" name="Google Shape;391;p50"/>
          <p:cNvSpPr txBox="1"/>
          <p:nvPr/>
        </p:nvSpPr>
        <p:spPr>
          <a:xfrm>
            <a:off x="337800" y="4922975"/>
            <a:ext cx="6981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900">
              <a:solidFill>
                <a:srgbClr val="03035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repatriation</a:t>
            </a:r>
            <a:endParaRPr/>
          </a:p>
        </p:txBody>
      </p:sp>
      <p:sp>
        <p:nvSpPr>
          <p:cNvPr id="397" name="Google Shape;397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of moving workloads from cloud to private data centers</a:t>
            </a:r>
            <a:endParaRPr/>
          </a:p>
        </p:txBody>
      </p:sp>
      <p:sp>
        <p:nvSpPr>
          <p:cNvPr id="398" name="Google Shape;39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pic>
        <p:nvPicPr>
          <p:cNvPr id="399" name="Google Shape;3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700" y="1717425"/>
            <a:ext cx="4874624" cy="285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1"/>
          <p:cNvSpPr/>
          <p:nvPr/>
        </p:nvSpPr>
        <p:spPr>
          <a:xfrm>
            <a:off x="1096350" y="2951250"/>
            <a:ext cx="4343700" cy="1932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1"/>
          <p:cNvSpPr txBox="1"/>
          <p:nvPr/>
        </p:nvSpPr>
        <p:spPr>
          <a:xfrm>
            <a:off x="6855675" y="2792400"/>
            <a:ext cx="15699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A large chunk due to cloud repatriation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02" name="Google Shape;402;p51"/>
          <p:cNvCxnSpPr/>
          <p:nvPr/>
        </p:nvCxnSpPr>
        <p:spPr>
          <a:xfrm rot="10800000">
            <a:off x="5750324" y="3025050"/>
            <a:ext cx="1105500" cy="4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Multicloud strategy</a:t>
            </a:r>
            <a:endParaRPr/>
          </a:p>
        </p:txBody>
      </p:sp>
      <p:sp>
        <p:nvSpPr>
          <p:cNvPr id="408" name="Google Shape;408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optimize cost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avoid cloud vendor lock-in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09" name="Google Shape;409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410" name="Google Shape;410;p52"/>
          <p:cNvSpPr txBox="1"/>
          <p:nvPr/>
        </p:nvSpPr>
        <p:spPr>
          <a:xfrm>
            <a:off x="1778850" y="2337325"/>
            <a:ext cx="5502000" cy="13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“81% of respondents said they are working with two or more providers”</a:t>
            </a:r>
            <a:endParaRPr sz="1800" i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18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Gartner</a:t>
            </a:r>
            <a:r>
              <a:rPr lang="en" sz="1800">
                <a:latin typeface="Nunito"/>
                <a:ea typeface="Nunito"/>
                <a:cs typeface="Nunito"/>
                <a:sym typeface="Nunito"/>
              </a:rPr>
              <a:t> (2019)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 txBox="1">
            <a:spLocks noGrp="1"/>
          </p:cNvSpPr>
          <p:nvPr>
            <p:ph type="title"/>
          </p:nvPr>
        </p:nvSpPr>
        <p:spPr>
          <a:xfrm>
            <a:off x="1078350" y="1601150"/>
            <a:ext cx="5598600" cy="16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Environment</a:t>
            </a:r>
            <a:endParaRPr/>
          </a:p>
        </p:txBody>
      </p:sp>
      <p:sp>
        <p:nvSpPr>
          <p:cNvPr id="416" name="Google Shape;416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Environment</a:t>
            </a:r>
            <a:endParaRPr/>
          </a:p>
        </p:txBody>
      </p:sp>
      <p:sp>
        <p:nvSpPr>
          <p:cNvPr id="422" name="Google Shape;422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Text editors &amp; notebooks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you write code, e.g. VSCode, Vim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23" name="Google Shape;42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Environment</a:t>
            </a:r>
            <a:endParaRPr/>
          </a:p>
        </p:txBody>
      </p:sp>
      <p:sp>
        <p:nvSpPr>
          <p:cNvPr id="429" name="Google Shape;429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Notebook: Jupyter notebooks, Colab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works with arbitrary artifacts that aren’t code (e.g. images, plots, tabular data)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Stateful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need to run from the failed step instead from the beginning</a:t>
            </a:r>
            <a:endParaRPr/>
          </a:p>
        </p:txBody>
      </p:sp>
      <p:sp>
        <p:nvSpPr>
          <p:cNvPr id="430" name="Google Shape;43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pic>
        <p:nvPicPr>
          <p:cNvPr id="431" name="Google Shape;43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325" y="2469700"/>
            <a:ext cx="6081200" cy="24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Environment</a:t>
            </a:r>
            <a:endParaRPr/>
          </a:p>
        </p:txBody>
      </p:sp>
      <p:sp>
        <p:nvSpPr>
          <p:cNvPr id="437" name="Google Shape;437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Notebook at Netflix</a:t>
            </a:r>
            <a:endParaRPr/>
          </a:p>
        </p:txBody>
      </p:sp>
      <p:sp>
        <p:nvSpPr>
          <p:cNvPr id="438" name="Google Shape;43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439" name="Google Shape;43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875" y="1630274"/>
            <a:ext cx="6249722" cy="35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Environment</a:t>
            </a:r>
            <a:endParaRPr/>
          </a:p>
        </p:txBody>
      </p:sp>
      <p:sp>
        <p:nvSpPr>
          <p:cNvPr id="445" name="Google Shape;445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Text editors &amp; notebooks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Versioning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Git: code versioning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DVC: data versioning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WandB: experiment versioning</a:t>
            </a:r>
            <a:endParaRPr/>
          </a:p>
        </p:txBody>
      </p:sp>
      <p:sp>
        <p:nvSpPr>
          <p:cNvPr id="446" name="Google Shape;44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Environment</a:t>
            </a:r>
            <a:endParaRPr/>
          </a:p>
        </p:txBody>
      </p:sp>
      <p:sp>
        <p:nvSpPr>
          <p:cNvPr id="452" name="Google Shape;452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Text editors &amp; notebooks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Versioning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CI/CD test suite: test your code before pushing it to staging/prod</a:t>
            </a:r>
            <a:endParaRPr/>
          </a:p>
        </p:txBody>
      </p:sp>
      <p:sp>
        <p:nvSpPr>
          <p:cNvPr id="453" name="Google Shape;453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 env: underestimated</a:t>
            </a:r>
            <a:endParaRPr/>
          </a:p>
        </p:txBody>
      </p:sp>
      <p:sp>
        <p:nvSpPr>
          <p:cNvPr id="459" name="Google Shape;459;p59"/>
          <p:cNvSpPr txBox="1">
            <a:spLocks noGrp="1"/>
          </p:cNvSpPr>
          <p:nvPr>
            <p:ph type="body" idx="1"/>
          </p:nvPr>
        </p:nvSpPr>
        <p:spPr>
          <a:xfrm>
            <a:off x="311700" y="1413450"/>
            <a:ext cx="8520600" cy="31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“if you have time to set up only one piece of infrastructure well, make it the development environment for data scientists.”</a:t>
            </a:r>
            <a:endParaRPr sz="2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Ville Tuulos, </a:t>
            </a:r>
            <a:r>
              <a:rPr lang="en" sz="1500" i="1" u="sng">
                <a:solidFill>
                  <a:schemeClr val="hlink"/>
                </a:solidFill>
                <a:hlinkClick r:id="rId3"/>
              </a:rPr>
              <a:t>Effective Data Science Infrastructure</a:t>
            </a:r>
            <a:r>
              <a:rPr lang="en" sz="1500">
                <a:solidFill>
                  <a:schemeClr val="dk1"/>
                </a:solidFill>
              </a:rPr>
              <a:t> (2022)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60" name="Google Shape;46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 dev environments</a:t>
            </a:r>
            <a:endParaRPr/>
          </a:p>
        </p:txBody>
      </p:sp>
      <p:sp>
        <p:nvSpPr>
          <p:cNvPr id="466" name="Google Shape;466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Standardize dependencies with versions</a:t>
            </a:r>
            <a:endParaRPr/>
          </a:p>
        </p:txBody>
      </p:sp>
      <p:sp>
        <p:nvSpPr>
          <p:cNvPr id="467" name="Google Shape;46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pic>
        <p:nvPicPr>
          <p:cNvPr id="468" name="Google Shape;46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851" y="1563825"/>
            <a:ext cx="3744351" cy="319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 dev environments</a:t>
            </a:r>
            <a:endParaRPr/>
          </a:p>
        </p:txBody>
      </p:sp>
      <p:sp>
        <p:nvSpPr>
          <p:cNvPr id="474" name="Google Shape;474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Standardize dependencies with versions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Standardize tools &amp; versions</a:t>
            </a:r>
            <a:endParaRPr/>
          </a:p>
        </p:txBody>
      </p:sp>
      <p:sp>
        <p:nvSpPr>
          <p:cNvPr id="475" name="Google Shape;475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 dev environments</a:t>
            </a:r>
            <a:endParaRPr/>
          </a:p>
        </p:txBody>
      </p:sp>
      <p:sp>
        <p:nvSpPr>
          <p:cNvPr id="481" name="Google Shape;481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Standardize dependencies with versions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Standardize tools &amp; versions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Standardize hardware: cloud dev env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Simplify IT support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Security: revoke access if laptop is stolen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Bring your dev env closer to prod env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debugging easier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82" name="Google Shape;482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 to prod</a:t>
            </a:r>
            <a:endParaRPr/>
          </a:p>
        </p:txBody>
      </p:sp>
      <p:sp>
        <p:nvSpPr>
          <p:cNvPr id="488" name="Google Shape;488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Elastic compute: can stop/start instances at will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recreate the required environment in a new instance?</a:t>
            </a:r>
            <a:endParaRPr/>
          </a:p>
        </p:txBody>
      </p:sp>
      <p:sp>
        <p:nvSpPr>
          <p:cNvPr id="489" name="Google Shape;48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</a:t>
            </a:r>
            <a:endParaRPr/>
          </a:p>
        </p:txBody>
      </p:sp>
      <p:sp>
        <p:nvSpPr>
          <p:cNvPr id="495" name="Google Shape;495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Step-by-step instructions on how to recreate an environment in which your model can run: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install this package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download this pretrained model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environment variables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navigate into a folder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etc.</a:t>
            </a:r>
            <a:endParaRPr/>
          </a:p>
        </p:txBody>
      </p:sp>
      <p:sp>
        <p:nvSpPr>
          <p:cNvPr id="496" name="Google Shape;496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Transformers Dockerfile</a:t>
            </a:r>
            <a:endParaRPr b="1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CUDA/cuDNN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bash/git/python3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Jupyter notebook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TensorFlow/Pytorch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transformers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502" name="Google Shape;502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pic>
        <p:nvPicPr>
          <p:cNvPr id="503" name="Google Shape;50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093" y="0"/>
            <a:ext cx="594691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containers: dependency management</a:t>
            </a:r>
            <a:endParaRPr/>
          </a:p>
        </p:txBody>
      </p:sp>
      <p:sp>
        <p:nvSpPr>
          <p:cNvPr id="509" name="Google Shape;509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sp>
        <p:nvSpPr>
          <p:cNvPr id="510" name="Google Shape;510;p66"/>
          <p:cNvSpPr/>
          <p:nvPr/>
        </p:nvSpPr>
        <p:spPr>
          <a:xfrm>
            <a:off x="4473300" y="1258125"/>
            <a:ext cx="197400" cy="167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66"/>
          <p:cNvSpPr txBox="1"/>
          <p:nvPr/>
        </p:nvSpPr>
        <p:spPr>
          <a:xfrm>
            <a:off x="5235850" y="1873725"/>
            <a:ext cx="3217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NumPy 1.21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2" name="Google Shape;512;p66"/>
          <p:cNvSpPr/>
          <p:nvPr/>
        </p:nvSpPr>
        <p:spPr>
          <a:xfrm>
            <a:off x="4473300" y="3313500"/>
            <a:ext cx="197400" cy="167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66"/>
          <p:cNvSpPr txBox="1"/>
          <p:nvPr/>
        </p:nvSpPr>
        <p:spPr>
          <a:xfrm>
            <a:off x="5235850" y="3929100"/>
            <a:ext cx="3217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Numpy 0.8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14" name="Google Shape;51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75" y="1170125"/>
            <a:ext cx="354551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containers: cost saving</a:t>
            </a:r>
            <a:endParaRPr/>
          </a:p>
        </p:txBody>
      </p:sp>
      <p:sp>
        <p:nvSpPr>
          <p:cNvPr id="520" name="Google Shape;520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  <p:sp>
        <p:nvSpPr>
          <p:cNvPr id="521" name="Google Shape;521;p67"/>
          <p:cNvSpPr/>
          <p:nvPr/>
        </p:nvSpPr>
        <p:spPr>
          <a:xfrm>
            <a:off x="4473300" y="1258125"/>
            <a:ext cx="197400" cy="167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67"/>
          <p:cNvSpPr txBox="1"/>
          <p:nvPr/>
        </p:nvSpPr>
        <p:spPr>
          <a:xfrm>
            <a:off x="5235850" y="1742925"/>
            <a:ext cx="3217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More memory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CPU ok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3" name="Google Shape;523;p67"/>
          <p:cNvSpPr/>
          <p:nvPr/>
        </p:nvSpPr>
        <p:spPr>
          <a:xfrm>
            <a:off x="4473300" y="3313500"/>
            <a:ext cx="197400" cy="167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67"/>
          <p:cNvSpPr txBox="1"/>
          <p:nvPr/>
        </p:nvSpPr>
        <p:spPr>
          <a:xfrm>
            <a:off x="5235850" y="3798300"/>
            <a:ext cx="3217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Less memory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Nunito"/>
              <a:buChar char="●"/>
            </a:pPr>
            <a:r>
              <a:rPr lang="en" sz="17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Need GPU</a:t>
            </a:r>
            <a:endParaRPr sz="17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25" name="Google Shape;52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75" y="1170125"/>
            <a:ext cx="354551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orchestration</a:t>
            </a:r>
            <a:endParaRPr/>
          </a:p>
        </p:txBody>
      </p:sp>
      <p:sp>
        <p:nvSpPr>
          <p:cNvPr id="531" name="Google Shape;531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 </a:t>
            </a:r>
            <a:r>
              <a:rPr lang="en" b="1"/>
              <a:t>deploy and manage containerized applications</a:t>
            </a:r>
            <a:r>
              <a:rPr lang="en"/>
              <a:t> to a </a:t>
            </a:r>
            <a:r>
              <a:rPr lang="en" b="1"/>
              <a:t>serverless </a:t>
            </a:r>
            <a:r>
              <a:rPr lang="en"/>
              <a:t>cluster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Spinning up/down containers</a:t>
            </a:r>
            <a:endParaRPr/>
          </a:p>
        </p:txBody>
      </p:sp>
      <p:sp>
        <p:nvSpPr>
          <p:cNvPr id="532" name="Google Shape;532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pic>
        <p:nvPicPr>
          <p:cNvPr id="533" name="Google Shape;53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50" y="3057215"/>
            <a:ext cx="3172577" cy="161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9"/>
          <p:cNvSpPr txBox="1">
            <a:spLocks noGrp="1"/>
          </p:cNvSpPr>
          <p:nvPr>
            <p:ph type="title"/>
          </p:nvPr>
        </p:nvSpPr>
        <p:spPr>
          <a:xfrm>
            <a:off x="1078350" y="1601150"/>
            <a:ext cx="5598600" cy="16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Breakout exercise</a:t>
            </a:r>
            <a:endParaRPr/>
          </a:p>
        </p:txBody>
      </p:sp>
      <p:sp>
        <p:nvSpPr>
          <p:cNvPr id="539" name="Google Shape;539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of 4, 10 mins</a:t>
            </a:r>
            <a:endParaRPr/>
          </a:p>
        </p:txBody>
      </p:sp>
      <p:sp>
        <p:nvSpPr>
          <p:cNvPr id="545" name="Google Shape;545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has been the most difficult parts of working on the project?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else do you need to work on for the final demo?</a:t>
            </a:r>
            <a:endParaRPr/>
          </a:p>
        </p:txBody>
      </p:sp>
      <p:sp>
        <p:nvSpPr>
          <p:cNvPr id="546" name="Google Shape;546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1"/>
          <p:cNvSpPr txBox="1">
            <a:spLocks noGrp="1"/>
          </p:cNvSpPr>
          <p:nvPr>
            <p:ph type="title"/>
          </p:nvPr>
        </p:nvSpPr>
        <p:spPr>
          <a:xfrm>
            <a:off x="1078350" y="1601150"/>
            <a:ext cx="5598600" cy="16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Management</a:t>
            </a:r>
            <a:endParaRPr/>
          </a:p>
        </p:txBody>
      </p:sp>
      <p:sp>
        <p:nvSpPr>
          <p:cNvPr id="552" name="Google Shape;552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management</a:t>
            </a:r>
            <a:endParaRPr/>
          </a:p>
        </p:txBody>
      </p:sp>
      <p:sp>
        <p:nvSpPr>
          <p:cNvPr id="558" name="Google Shape;558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graphicFrame>
        <p:nvGraphicFramePr>
          <p:cNvPr id="559" name="Google Shape;559;p72"/>
          <p:cNvGraphicFramePr/>
          <p:nvPr/>
        </p:nvGraphicFramePr>
        <p:xfrm>
          <a:off x="500325" y="1929520"/>
          <a:ext cx="6613150" cy="2163800"/>
        </p:xfrm>
        <a:graphic>
          <a:graphicData uri="http://schemas.openxmlformats.org/drawingml/2006/table">
            <a:tbl>
              <a:tblPr>
                <a:noFill/>
                <a:tableStyleId>{D3B306EB-B816-42E5-86F5-EF4D8F9FAF85}</a:tableStyleId>
              </a:tblPr>
              <a:tblGrid>
                <a:gridCol w="13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Pre-cloud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Cloud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Resources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Finite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Practically infinite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Implication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resources for an app = less resources for other apps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resources for an app don’t have to affect other apps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Goal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Utilization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Utilization + cost efficiency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management</a:t>
            </a:r>
            <a:endParaRPr/>
          </a:p>
        </p:txBody>
      </p:sp>
      <p:sp>
        <p:nvSpPr>
          <p:cNvPr id="565" name="Google Shape;565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60</a:t>
            </a:fld>
            <a:endParaRPr/>
          </a:p>
        </p:txBody>
      </p:sp>
      <p:graphicFrame>
        <p:nvGraphicFramePr>
          <p:cNvPr id="566" name="Google Shape;566;p73"/>
          <p:cNvGraphicFramePr/>
          <p:nvPr/>
        </p:nvGraphicFramePr>
        <p:xfrm>
          <a:off x="500325" y="1929520"/>
          <a:ext cx="6613150" cy="2163800"/>
        </p:xfrm>
        <a:graphic>
          <a:graphicData uri="http://schemas.openxmlformats.org/drawingml/2006/table">
            <a:tbl>
              <a:tblPr>
                <a:noFill/>
                <a:tableStyleId>{D3B306EB-B816-42E5-86F5-EF4D8F9FAF85}</a:tableStyleId>
              </a:tblPr>
              <a:tblGrid>
                <a:gridCol w="13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Pre-cloud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Cloud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Resources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Finite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Practically infinite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Implication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resources for an app = less resources for other apps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resources for an app don’t have to affect other apps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Goal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Utilization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Utilization + cost efficiency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67" name="Google Shape;567;p73"/>
          <p:cNvCxnSpPr/>
          <p:nvPr/>
        </p:nvCxnSpPr>
        <p:spPr>
          <a:xfrm flipH="1">
            <a:off x="7215875" y="2722875"/>
            <a:ext cx="452400" cy="38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8" name="Google Shape;568;p73"/>
          <p:cNvSpPr txBox="1"/>
          <p:nvPr/>
        </p:nvSpPr>
        <p:spPr>
          <a:xfrm>
            <a:off x="7770675" y="2214100"/>
            <a:ext cx="12492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Simplify the allocation challenge 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management</a:t>
            </a:r>
            <a:endParaRPr/>
          </a:p>
        </p:txBody>
      </p:sp>
      <p:sp>
        <p:nvSpPr>
          <p:cNvPr id="574" name="Google Shape;574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61</a:t>
            </a:fld>
            <a:endParaRPr/>
          </a:p>
        </p:txBody>
      </p:sp>
      <p:graphicFrame>
        <p:nvGraphicFramePr>
          <p:cNvPr id="575" name="Google Shape;575;p74"/>
          <p:cNvGraphicFramePr/>
          <p:nvPr/>
        </p:nvGraphicFramePr>
        <p:xfrm>
          <a:off x="500325" y="1929520"/>
          <a:ext cx="6613150" cy="2163800"/>
        </p:xfrm>
        <a:graphic>
          <a:graphicData uri="http://schemas.openxmlformats.org/drawingml/2006/table">
            <a:tbl>
              <a:tblPr>
                <a:noFill/>
                <a:tableStyleId>{D3B306EB-B816-42E5-86F5-EF4D8F9FAF85}</a:tableStyleId>
              </a:tblPr>
              <a:tblGrid>
                <a:gridCol w="13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Pre-cloud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Cloud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Resources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Finite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Practically infinite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Implication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resources for an app = less resources for other apps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resources for an app don’t have to affect other apps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Goal</a:t>
                      </a:r>
                      <a:endParaRPr sz="16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Utilization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Utilization + cost efficiency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76" name="Google Shape;576;p74"/>
          <p:cNvCxnSpPr/>
          <p:nvPr/>
        </p:nvCxnSpPr>
        <p:spPr>
          <a:xfrm flipH="1">
            <a:off x="7160500" y="3278550"/>
            <a:ext cx="423000" cy="61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7" name="Google Shape;577;p74"/>
          <p:cNvSpPr txBox="1"/>
          <p:nvPr/>
        </p:nvSpPr>
        <p:spPr>
          <a:xfrm>
            <a:off x="7536400" y="2571750"/>
            <a:ext cx="1485000" cy="14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OK to use more resources if help engineers to be more productive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workloads</a:t>
            </a:r>
            <a:endParaRPr/>
          </a:p>
        </p:txBody>
      </p:sp>
      <p:sp>
        <p:nvSpPr>
          <p:cNvPr id="583" name="Google Shape;583;p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Repetitive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Batch prediction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Periodical retraining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Periodical analytics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Dependencies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train depends on featurize</a:t>
            </a:r>
            <a:endParaRPr/>
          </a:p>
        </p:txBody>
      </p:sp>
      <p:sp>
        <p:nvSpPr>
          <p:cNvPr id="584" name="Google Shape;584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workloads</a:t>
            </a:r>
            <a:endParaRPr/>
          </a:p>
        </p:txBody>
      </p:sp>
      <p:sp>
        <p:nvSpPr>
          <p:cNvPr id="590" name="Google Shape;590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Repetitive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Batch prediction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Periodical retraining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Periodical analytics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Dependencies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train depends on featurize</a:t>
            </a:r>
            <a:endParaRPr/>
          </a:p>
        </p:txBody>
      </p:sp>
      <p:sp>
        <p:nvSpPr>
          <p:cNvPr id="591" name="Google Shape;591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63</a:t>
            </a:fld>
            <a:endParaRPr/>
          </a:p>
        </p:txBody>
      </p:sp>
      <p:pic>
        <p:nvPicPr>
          <p:cNvPr id="592" name="Google Shape;59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950" y="1152475"/>
            <a:ext cx="2153625" cy="27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Cron: extremely simple</a:t>
            </a:r>
            <a:endParaRPr/>
          </a:p>
        </p:txBody>
      </p:sp>
      <p:sp>
        <p:nvSpPr>
          <p:cNvPr id="598" name="Google Shape;598;p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 jobs to run at fixed time intervals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Report the results</a:t>
            </a:r>
            <a:endParaRPr/>
          </a:p>
        </p:txBody>
      </p:sp>
      <p:sp>
        <p:nvSpPr>
          <p:cNvPr id="599" name="Google Shape;599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64</a:t>
            </a:fld>
            <a:endParaRPr/>
          </a:p>
        </p:txBody>
      </p:sp>
      <p:pic>
        <p:nvPicPr>
          <p:cNvPr id="600" name="Google Shape;60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200" y="2063475"/>
            <a:ext cx="3890751" cy="27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Cron: extremely simple</a:t>
            </a:r>
            <a:endParaRPr/>
          </a:p>
        </p:txBody>
      </p:sp>
      <p:sp>
        <p:nvSpPr>
          <p:cNvPr id="606" name="Google Shape;606;p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 jobs to run at fixed time intervals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Report the results</a:t>
            </a:r>
            <a:endParaRPr/>
          </a:p>
        </p:txBody>
      </p:sp>
      <p:sp>
        <p:nvSpPr>
          <p:cNvPr id="607" name="Google Shape;607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65</a:t>
            </a:fld>
            <a:endParaRPr/>
          </a:p>
        </p:txBody>
      </p:sp>
      <p:pic>
        <p:nvPicPr>
          <p:cNvPr id="608" name="Google Shape;60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200" y="2063475"/>
            <a:ext cx="3890751" cy="27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78"/>
          <p:cNvSpPr txBox="1"/>
          <p:nvPr/>
        </p:nvSpPr>
        <p:spPr>
          <a:xfrm>
            <a:off x="4823350" y="2571750"/>
            <a:ext cx="1485000" cy="14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Cron can’t handle this</a:t>
            </a:r>
            <a:endParaRPr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</a:t>
            </a:r>
            <a:endParaRPr/>
          </a:p>
        </p:txBody>
      </p:sp>
      <p:sp>
        <p:nvSpPr>
          <p:cNvPr id="615" name="Google Shape;615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2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Schedulers are cron programs that can handle dependencies</a:t>
            </a:r>
            <a:endParaRPr/>
          </a:p>
        </p:txBody>
      </p:sp>
      <p:sp>
        <p:nvSpPr>
          <p:cNvPr id="616" name="Google Shape;616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66</a:t>
            </a:fld>
            <a:endParaRPr/>
          </a:p>
        </p:txBody>
      </p:sp>
      <p:pic>
        <p:nvPicPr>
          <p:cNvPr id="617" name="Google Shape;61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675" y="0"/>
            <a:ext cx="3648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</a:t>
            </a:r>
            <a:endParaRPr/>
          </a:p>
        </p:txBody>
      </p:sp>
      <p:sp>
        <p:nvSpPr>
          <p:cNvPr id="623" name="Google Shape;623;p8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2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schedulers require you to specify your workloads as DAGs</a:t>
            </a:r>
            <a:endParaRPr/>
          </a:p>
        </p:txBody>
      </p:sp>
      <p:sp>
        <p:nvSpPr>
          <p:cNvPr id="624" name="Google Shape;624;p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67</a:t>
            </a:fld>
            <a:endParaRPr/>
          </a:p>
        </p:txBody>
      </p:sp>
      <p:pic>
        <p:nvPicPr>
          <p:cNvPr id="625" name="Google Shape;6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675" y="0"/>
            <a:ext cx="3648325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6" name="Google Shape;626;p80"/>
          <p:cNvCxnSpPr>
            <a:endCxn id="625" idx="1"/>
          </p:cNvCxnSpPr>
          <p:nvPr/>
        </p:nvCxnSpPr>
        <p:spPr>
          <a:xfrm rot="10800000" flipH="1">
            <a:off x="3956675" y="2571750"/>
            <a:ext cx="1539000" cy="65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7" name="Google Shape;627;p80"/>
          <p:cNvSpPr txBox="1"/>
          <p:nvPr/>
        </p:nvSpPr>
        <p:spPr>
          <a:xfrm>
            <a:off x="2308100" y="2797450"/>
            <a:ext cx="2596500" cy="14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This is a DAG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Directed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Acyclic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600"/>
              <a:buFont typeface="Nunito"/>
              <a:buChar char="●"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Graph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</a:t>
            </a:r>
            <a:endParaRPr/>
          </a:p>
        </p:txBody>
      </p:sp>
      <p:sp>
        <p:nvSpPr>
          <p:cNvPr id="633" name="Google Shape;633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handle event-based &amp; time based triggers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job A whenever X happens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job fails, specify how many times to retry before giving 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Jobs can be queued, prioritized, and allocated resources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job requires 8GB of memory and 2 CPUs, scheduler needs to find an instance with 8GB of memory and 2 CPUs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634" name="Google Shape;634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Scheduler: SLURM example</a:t>
            </a:r>
            <a:endParaRPr/>
          </a:p>
        </p:txBody>
      </p:sp>
      <p:sp>
        <p:nvSpPr>
          <p:cNvPr id="640" name="Google Shape;640;p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#SBATCH -J JobName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#SBATCH --time=11:00:00		# When to start the job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#SBATCH --mem-per-cpu=4096	# Memory, in MB, to be allocated per CPU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#SBATCH --cpus-per-task=4	# Number of cores per task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1" name="Google Shape;641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69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Scheduler: optimize utilization</a:t>
            </a:r>
            <a:endParaRPr/>
          </a:p>
        </p:txBody>
      </p:sp>
      <p:sp>
        <p:nvSpPr>
          <p:cNvPr id="647" name="Google Shape;647;p8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Schedulers aware of: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resources available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resources needed for each job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Sophisticated schedulers (e.g. Google Borg) can reclaim unused resources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 estimate that my job needs 8GB and it only uses 4GB, reclaim 4GB for other jobs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648" name="Google Shape;648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 challenge</a:t>
            </a:r>
            <a:endParaRPr/>
          </a:p>
        </p:txBody>
      </p:sp>
      <p:sp>
        <p:nvSpPr>
          <p:cNvPr id="654" name="Google Shape;654;p8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purpose schedulers are </a:t>
            </a:r>
            <a:r>
              <a:rPr lang="en">
                <a:solidFill>
                  <a:srgbClr val="FF00FF"/>
                </a:solidFill>
              </a:rPr>
              <a:t>extremely hard to design</a:t>
            </a:r>
            <a:endParaRPr>
              <a:solidFill>
                <a:srgbClr val="FF00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handle any workload with any number of concurrent machines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scheduler is down, every workflow this scheduler touches will also be down</a:t>
            </a:r>
            <a:endParaRPr/>
          </a:p>
        </p:txBody>
      </p:sp>
      <p:sp>
        <p:nvSpPr>
          <p:cNvPr id="655" name="Google Shape;655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71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 to Orchestrator</a:t>
            </a:r>
            <a:endParaRPr/>
          </a:p>
        </p:txBody>
      </p:sp>
      <p:sp>
        <p:nvSpPr>
          <p:cNvPr id="661" name="Google Shape;661;p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Scheduler: </a:t>
            </a:r>
            <a:r>
              <a:rPr lang="en" b="1">
                <a:solidFill>
                  <a:srgbClr val="FF00FF"/>
                </a:solidFill>
              </a:rPr>
              <a:t>when</a:t>
            </a:r>
            <a:r>
              <a:rPr lang="en"/>
              <a:t> to run jobs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Orchestrator: </a:t>
            </a:r>
            <a:r>
              <a:rPr lang="en" b="1">
                <a:solidFill>
                  <a:srgbClr val="FF00FF"/>
                </a:solidFill>
              </a:rPr>
              <a:t>where</a:t>
            </a:r>
            <a:r>
              <a:rPr lang="en"/>
              <a:t> to run jobs</a:t>
            </a:r>
            <a:endParaRPr/>
          </a:p>
        </p:txBody>
      </p:sp>
      <p:sp>
        <p:nvSpPr>
          <p:cNvPr id="662" name="Google Shape;662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 to Orchestrator</a:t>
            </a:r>
            <a:endParaRPr/>
          </a:p>
        </p:txBody>
      </p:sp>
      <p:sp>
        <p:nvSpPr>
          <p:cNvPr id="668" name="Google Shape;668;p8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Scheduler: </a:t>
            </a:r>
            <a:r>
              <a:rPr lang="en" b="1">
                <a:solidFill>
                  <a:srgbClr val="FF00FF"/>
                </a:solidFill>
              </a:rPr>
              <a:t>when</a:t>
            </a:r>
            <a:r>
              <a:rPr lang="en"/>
              <a:t> to run jobs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Handle jobs, queues, user-level quotas,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Orchestrator: </a:t>
            </a:r>
            <a:r>
              <a:rPr lang="en" b="1">
                <a:solidFill>
                  <a:srgbClr val="FF00FF"/>
                </a:solidFill>
              </a:rPr>
              <a:t>where</a:t>
            </a:r>
            <a:r>
              <a:rPr lang="en"/>
              <a:t> to run jobs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Handle containers, instances, clusters, replication, etc.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Provision: allocate more instances to the instance pool as needed</a:t>
            </a:r>
            <a:endParaRPr/>
          </a:p>
        </p:txBody>
      </p:sp>
      <p:sp>
        <p:nvSpPr>
          <p:cNvPr id="669" name="Google Shape;669;p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73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 to Orchestrator</a:t>
            </a:r>
            <a:endParaRPr/>
          </a:p>
        </p:txBody>
      </p:sp>
      <p:sp>
        <p:nvSpPr>
          <p:cNvPr id="675" name="Google Shape;675;p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Scheduler: </a:t>
            </a:r>
            <a:r>
              <a:rPr lang="en" b="1">
                <a:solidFill>
                  <a:srgbClr val="FF00FF"/>
                </a:solidFill>
              </a:rPr>
              <a:t>when</a:t>
            </a:r>
            <a:r>
              <a:rPr lang="en"/>
              <a:t> to run jobs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lang="en">
                <a:solidFill>
                  <a:srgbClr val="B7B7B7"/>
                </a:solidFill>
              </a:rPr>
              <a:t>Handle jobs, queues, user-level quotas, etc.</a:t>
            </a:r>
            <a:endParaRPr>
              <a:solidFill>
                <a:srgbClr val="B7B7B7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Typically used for periodical jobs like batch jobs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Orchestrator: </a:t>
            </a:r>
            <a:r>
              <a:rPr lang="en" b="1">
                <a:solidFill>
                  <a:srgbClr val="FF00FF"/>
                </a:solidFill>
              </a:rPr>
              <a:t>where</a:t>
            </a:r>
            <a:r>
              <a:rPr lang="en"/>
              <a:t> to run jobs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Handle containers, instances, clusters, replication, etc.</a:t>
            </a:r>
            <a:endParaRPr>
              <a:solidFill>
                <a:srgbClr val="CCCCCC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Provision: allocate more instances to the instance pool as needed</a:t>
            </a:r>
            <a:endParaRPr>
              <a:solidFill>
                <a:srgbClr val="CCCCCC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Typically used for long-running jobs like services</a:t>
            </a:r>
            <a:endParaRPr/>
          </a:p>
        </p:txBody>
      </p:sp>
      <p:sp>
        <p:nvSpPr>
          <p:cNvPr id="676" name="Google Shape;676;p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74</a:t>
            </a:fld>
            <a:endParaRPr/>
          </a:p>
        </p:txBody>
      </p:sp>
      <p:pic>
        <p:nvPicPr>
          <p:cNvPr id="677" name="Google Shape;67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653" y="3231097"/>
            <a:ext cx="2234993" cy="48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 &amp; orchestrator</a:t>
            </a:r>
            <a:endParaRPr/>
          </a:p>
        </p:txBody>
      </p:sp>
      <p:sp>
        <p:nvSpPr>
          <p:cNvPr id="683" name="Google Shape;683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Schedulers usually have some orchestrating capacity and vice versa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Schedulers like SLURM and Google’s Borg have some orchestrating capacity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Orchestrators like HashiCorp Nomad and K8s come with some scheduling capacity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Often, schedulers are run on top of orchestrators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Spark’s job scheduler on top of K8s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AWS Batch scheduler on top of EKS</a:t>
            </a:r>
            <a:endParaRPr/>
          </a:p>
        </p:txBody>
      </p:sp>
      <p:sp>
        <p:nvSpPr>
          <p:cNvPr id="684" name="Google Shape;684;p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75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workflow management</a:t>
            </a:r>
            <a:endParaRPr/>
          </a:p>
        </p:txBody>
      </p:sp>
      <p:sp>
        <p:nvSpPr>
          <p:cNvPr id="690" name="Google Shape;690;p8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76</a:t>
            </a:fld>
            <a:endParaRPr/>
          </a:p>
        </p:txBody>
      </p:sp>
      <p:pic>
        <p:nvPicPr>
          <p:cNvPr id="691" name="Google Shape;69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638" y="1223776"/>
            <a:ext cx="6526725" cy="32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science workflow</a:t>
            </a:r>
            <a:endParaRPr/>
          </a:p>
        </p:txBody>
      </p:sp>
      <p:sp>
        <p:nvSpPr>
          <p:cNvPr id="697" name="Google Shape;697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defined using: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(Python)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Configuration files (YAML)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Airflow, Argo, KubeFlow, Metaflow</a:t>
            </a:r>
            <a:endParaRPr/>
          </a:p>
        </p:txBody>
      </p:sp>
      <p:sp>
        <p:nvSpPr>
          <p:cNvPr id="698" name="Google Shape;698;p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77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9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Airflow</a:t>
            </a:r>
            <a:endParaRPr/>
          </a:p>
        </p:txBody>
      </p:sp>
      <p:sp>
        <p:nvSpPr>
          <p:cNvPr id="704" name="Google Shape;704;p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60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1st gen data science workflow management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Champion of “configuration-as-code”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Wide range of operators to expand capabilities</a:t>
            </a:r>
            <a:endParaRPr/>
          </a:p>
        </p:txBody>
      </p:sp>
      <p:sp>
        <p:nvSpPr>
          <p:cNvPr id="705" name="Google Shape;705;p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78</a:t>
            </a:fld>
            <a:endParaRPr/>
          </a:p>
        </p:txBody>
      </p:sp>
      <p:pic>
        <p:nvPicPr>
          <p:cNvPr id="706" name="Google Shape;70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200" y="201831"/>
            <a:ext cx="4360800" cy="4941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Airflow: cons</a:t>
            </a:r>
            <a:endParaRPr/>
          </a:p>
        </p:txBody>
      </p:sp>
      <p:sp>
        <p:nvSpPr>
          <p:cNvPr id="712" name="Google Shape;712;p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60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Monolithic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entire workflow as a container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Non-parameterized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need to define another workflow if you want to change learning rate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Static DAG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Can’t handle workloads with unknown number of records</a:t>
            </a:r>
            <a:endParaRPr/>
          </a:p>
        </p:txBody>
      </p:sp>
      <p:sp>
        <p:nvSpPr>
          <p:cNvPr id="713" name="Google Shape;713;p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79</a:t>
            </a:fld>
            <a:endParaRPr/>
          </a:p>
        </p:txBody>
      </p:sp>
      <p:pic>
        <p:nvPicPr>
          <p:cNvPr id="714" name="Google Shape;71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200" y="201831"/>
            <a:ext cx="4360800" cy="4941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Argo: next gen</a:t>
            </a:r>
            <a:endParaRPr/>
          </a:p>
        </p:txBody>
      </p:sp>
      <p:sp>
        <p:nvSpPr>
          <p:cNvPr id="720" name="Google Shape;720;p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596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to address Airflow’s problems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Containerized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Fully parameterized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Dynamic DAG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721" name="Google Shape;721;p9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80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Argo: cons</a:t>
            </a:r>
            <a:endParaRPr/>
          </a:p>
        </p:txBody>
      </p:sp>
      <p:sp>
        <p:nvSpPr>
          <p:cNvPr id="727" name="Google Shape;727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YAML-based configs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get very messy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run on K8s clusters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Can’t easily test in dev environment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728" name="Google Shape;728;p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81</a:t>
            </a:fld>
            <a:endParaRPr/>
          </a:p>
        </p:txBody>
      </p:sp>
      <p:pic>
        <p:nvPicPr>
          <p:cNvPr id="729" name="Google Shape;72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9" y="0"/>
            <a:ext cx="418998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Kubeflow &amp; Metaflow: same code in dev &amp; prod</a:t>
            </a:r>
            <a:endParaRPr/>
          </a:p>
        </p:txBody>
      </p:sp>
      <p:sp>
        <p:nvSpPr>
          <p:cNvPr id="735" name="Google Shape;735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data scientists to use the same code in both dev and prod environments</a:t>
            </a:r>
            <a:endParaRPr/>
          </a:p>
        </p:txBody>
      </p:sp>
      <p:sp>
        <p:nvSpPr>
          <p:cNvPr id="736" name="Google Shape;736;p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82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Kubeflow: more mature but more boilerplate</a:t>
            </a:r>
            <a:endParaRPr/>
          </a:p>
        </p:txBody>
      </p:sp>
      <p:sp>
        <p:nvSpPr>
          <p:cNvPr id="742" name="Google Shape;742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83</a:t>
            </a:fld>
            <a:endParaRPr/>
          </a:p>
        </p:txBody>
      </p:sp>
      <p:pic>
        <p:nvPicPr>
          <p:cNvPr id="743" name="Google Shape;74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00" y="1082000"/>
            <a:ext cx="6481780" cy="406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Metaflow: less mature but cleaner API</a:t>
            </a:r>
            <a:endParaRPr/>
          </a:p>
        </p:txBody>
      </p:sp>
      <p:sp>
        <p:nvSpPr>
          <p:cNvPr id="749" name="Google Shape;749;p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84</a:t>
            </a:fld>
            <a:endParaRPr/>
          </a:p>
        </p:txBody>
      </p:sp>
      <p:pic>
        <p:nvPicPr>
          <p:cNvPr id="750" name="Google Shape;75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450" y="1032125"/>
            <a:ext cx="3865736" cy="4024701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4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note code in cloud with a line of code (@batch)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experiments locally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Once ready, run code on AWS Batch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run different steps of the same workflow in different envs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98"/>
          <p:cNvSpPr txBox="1">
            <a:spLocks noGrp="1"/>
          </p:cNvSpPr>
          <p:nvPr>
            <p:ph type="title"/>
          </p:nvPr>
        </p:nvSpPr>
        <p:spPr>
          <a:xfrm>
            <a:off x="1078350" y="1601150"/>
            <a:ext cx="5598600" cy="16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Platform</a:t>
            </a:r>
            <a:endParaRPr/>
          </a:p>
        </p:txBody>
      </p:sp>
      <p:sp>
        <p:nvSpPr>
          <p:cNvPr id="757" name="Google Shape;757;p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85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platform: story time</a:t>
            </a:r>
            <a:endParaRPr/>
          </a:p>
        </p:txBody>
      </p:sp>
      <p:sp>
        <p:nvSpPr>
          <p:cNvPr id="763" name="Google Shape;763;p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Anna started working on recsys at company X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 deploy recsys, Anna’s team need to build tool like model deployment, model store, feature store,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Other teams at X started deploying models and needed to build the same tools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X decided to have a centralized platform to serve multiple ML use cases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764" name="Google Shape;764;p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86</a:t>
            </a:fld>
            <a:endParaRPr/>
          </a:p>
        </p:txBody>
      </p:sp>
      <p:sp>
        <p:nvSpPr>
          <p:cNvPr id="765" name="Google Shape;765;p99"/>
          <p:cNvSpPr/>
          <p:nvPr/>
        </p:nvSpPr>
        <p:spPr>
          <a:xfrm rot="5400000">
            <a:off x="3728975" y="2133025"/>
            <a:ext cx="253500" cy="2254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99"/>
          <p:cNvSpPr txBox="1"/>
          <p:nvPr/>
        </p:nvSpPr>
        <p:spPr>
          <a:xfrm>
            <a:off x="2930075" y="3481550"/>
            <a:ext cx="18513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ML Platform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platform: key components</a:t>
            </a:r>
            <a:endParaRPr/>
          </a:p>
        </p:txBody>
      </p:sp>
      <p:sp>
        <p:nvSpPr>
          <p:cNvPr id="772" name="Google Shape;772;p1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deployment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store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store</a:t>
            </a:r>
            <a:endParaRPr/>
          </a:p>
        </p:txBody>
      </p:sp>
      <p:sp>
        <p:nvSpPr>
          <p:cNvPr id="773" name="Google Shape;773;p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87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0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Deployment: online | batch prediction </a:t>
            </a:r>
            <a:endParaRPr/>
          </a:p>
        </p:txBody>
      </p:sp>
      <p:sp>
        <p:nvSpPr>
          <p:cNvPr id="779" name="Google Shape;779;p1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Deployment service: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Package your model &amp; dependencies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Push the package to production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Expose an endpoint for prediction</a:t>
            </a:r>
            <a:endParaRPr/>
          </a:p>
        </p:txBody>
      </p:sp>
      <p:sp>
        <p:nvSpPr>
          <p:cNvPr id="780" name="Google Shape;780;p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88</a:t>
            </a:fld>
            <a:endParaRPr/>
          </a:p>
        </p:txBody>
      </p:sp>
      <p:cxnSp>
        <p:nvCxnSpPr>
          <p:cNvPr id="781" name="Google Shape;781;p101"/>
          <p:cNvCxnSpPr/>
          <p:nvPr/>
        </p:nvCxnSpPr>
        <p:spPr>
          <a:xfrm rot="10800000">
            <a:off x="5709825" y="835375"/>
            <a:ext cx="1393200" cy="17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2" name="Google Shape;782;p101"/>
          <p:cNvSpPr txBox="1"/>
          <p:nvPr/>
        </p:nvSpPr>
        <p:spPr>
          <a:xfrm>
            <a:off x="6934100" y="814000"/>
            <a:ext cx="18513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See Lecture 8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0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Deployment: online | batch prediction </a:t>
            </a:r>
            <a:endParaRPr/>
          </a:p>
        </p:txBody>
      </p:sp>
      <p:sp>
        <p:nvSpPr>
          <p:cNvPr id="788" name="Google Shape;788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Deployment service: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Package your model &amp; dependencies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Push the package to production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Expose an endpoint for prediction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common MLOps tool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Cloud providers: SageMaker (AWS), Vertex AI (GCP), AzureML (Azure), etc.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Independent:  MLflow Models, Seldon, Cortex, Ray Serve, etc.</a:t>
            </a:r>
            <a:endParaRPr/>
          </a:p>
        </p:txBody>
      </p:sp>
      <p:sp>
        <p:nvSpPr>
          <p:cNvPr id="789" name="Google Shape;789;p1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89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0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Deployment: online | batch prediction </a:t>
            </a:r>
            <a:endParaRPr/>
          </a:p>
        </p:txBody>
      </p:sp>
      <p:sp>
        <p:nvSpPr>
          <p:cNvPr id="795" name="Google Shape;795;p1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Deployment service: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Package your model &amp; dependencies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Push the package to production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Expose an endpoint for prediction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common MLOps tool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Char char="●"/>
            </a:pPr>
            <a:r>
              <a:rPr lang="en">
                <a:solidFill>
                  <a:srgbClr val="FF00FF"/>
                </a:solidFill>
              </a:rPr>
              <a:t>Not all can do batch + online prediction well</a:t>
            </a:r>
            <a:endParaRPr>
              <a:solidFill>
                <a:srgbClr val="FF00FF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○"/>
            </a:pPr>
            <a:r>
              <a:rPr lang="en">
                <a:solidFill>
                  <a:srgbClr val="FF00FF"/>
                </a:solidFill>
              </a:rPr>
              <a:t>e.g. some companies use Seldon for online prediction, but Databricks for batch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796" name="Google Shape;796;p10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90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04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service: model quality challenge</a:t>
            </a:r>
            <a:endParaRPr/>
          </a:p>
        </p:txBody>
      </p:sp>
      <p:sp>
        <p:nvSpPr>
          <p:cNvPr id="802" name="Google Shape;802;p10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ensure a model’s quality pre- and during deployment?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Traditional code: CI/CD, PR review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ML: ???, ???</a:t>
            </a:r>
            <a:endParaRPr/>
          </a:p>
        </p:txBody>
      </p:sp>
      <p:sp>
        <p:nvSpPr>
          <p:cNvPr id="803" name="Google Shape;803;p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91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5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store</a:t>
            </a:r>
            <a:endParaRPr/>
          </a:p>
        </p:txBody>
      </p:sp>
      <p:sp>
        <p:nvSpPr>
          <p:cNvPr id="809" name="Google Shape;809;p10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form: store all models in blob storage like S3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something happens, how to figure out: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Who/which team is responsible for this model?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 correct model binary was deployed?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 features used are correct?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 code is up-to-date?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something happened with the data pipeline?</a:t>
            </a:r>
            <a:endParaRPr/>
          </a:p>
        </p:txBody>
      </p:sp>
      <p:sp>
        <p:nvSpPr>
          <p:cNvPr id="810" name="Google Shape;810;p1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92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6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store: artifact tracking</a:t>
            </a:r>
            <a:endParaRPr/>
          </a:p>
        </p:txBody>
      </p:sp>
      <p:sp>
        <p:nvSpPr>
          <p:cNvPr id="816" name="Google Shape;816;p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46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Track all metadata necessary to debug a model later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Severely underestimated</a:t>
            </a:r>
            <a:endParaRPr/>
          </a:p>
        </p:txBody>
      </p:sp>
      <p:sp>
        <p:nvSpPr>
          <p:cNvPr id="817" name="Google Shape;817;p10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93</a:t>
            </a:fld>
            <a:endParaRPr/>
          </a:p>
        </p:txBody>
      </p:sp>
      <p:pic>
        <p:nvPicPr>
          <p:cNvPr id="818" name="Google Shape;81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100" y="683875"/>
            <a:ext cx="3611900" cy="40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07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store: artifact tracking at Stitch Fix</a:t>
            </a:r>
            <a:endParaRPr/>
          </a:p>
        </p:txBody>
      </p:sp>
      <p:sp>
        <p:nvSpPr>
          <p:cNvPr id="824" name="Google Shape;824;p10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825" name="Google Shape;825;p1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94</a:t>
            </a:fld>
            <a:endParaRPr/>
          </a:p>
        </p:txBody>
      </p:sp>
      <p:pic>
        <p:nvPicPr>
          <p:cNvPr id="826" name="Google Shape;82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25" y="914400"/>
            <a:ext cx="5943600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8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store: key challenges</a:t>
            </a:r>
            <a:endParaRPr/>
          </a:p>
        </p:txBody>
      </p:sp>
      <p:sp>
        <p:nvSpPr>
          <p:cNvPr id="832" name="Google Shape;832;p10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Feature management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Multiple models might share features, e.g. churn prediction &amp; conversion prediction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How to allow different teams to find &amp; use high-value features discovered by other teams?</a:t>
            </a:r>
            <a:endParaRPr/>
          </a:p>
        </p:txBody>
      </p:sp>
      <p:sp>
        <p:nvSpPr>
          <p:cNvPr id="833" name="Google Shape;833;p10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95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9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store: key challenges</a:t>
            </a:r>
            <a:endParaRPr/>
          </a:p>
        </p:txBody>
      </p:sp>
      <p:sp>
        <p:nvSpPr>
          <p:cNvPr id="839" name="Google Shape;839;p1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en">
                <a:solidFill>
                  <a:srgbClr val="CCCCCC"/>
                </a:solidFill>
              </a:rPr>
              <a:t>Feature management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Feature consistency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During training, features might be written in Python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During deployment, features might be written in Java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How to ensure consistency between different feature pipelines?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0" name="Google Shape;840;p1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96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10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store: key challenges</a:t>
            </a:r>
            <a:endParaRPr/>
          </a:p>
        </p:txBody>
      </p:sp>
      <p:sp>
        <p:nvSpPr>
          <p:cNvPr id="846" name="Google Shape;846;p1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en">
                <a:solidFill>
                  <a:srgbClr val="CCCCCC"/>
                </a:solidFill>
              </a:rPr>
              <a:t>Feature management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AutoNum type="arabicPeriod"/>
            </a:pPr>
            <a:r>
              <a:rPr lang="en">
                <a:solidFill>
                  <a:srgbClr val="CCCCCC"/>
                </a:solidFill>
              </a:rPr>
              <a:t>Feature consistency</a:t>
            </a:r>
            <a:endParaRPr>
              <a:solidFill>
                <a:srgbClr val="CCCCCC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Feature computation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It might be expensive to compute the same feature multiple times for different models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How to store computed features so that other models can use?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7" name="Google Shape;847;p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97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11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store: key challenges</a:t>
            </a:r>
            <a:endParaRPr/>
          </a:p>
        </p:txBody>
      </p:sp>
      <p:sp>
        <p:nvSpPr>
          <p:cNvPr id="853" name="Google Shape;853;p1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Feature management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Feature consistency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Feature computation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4" name="Google Shape;854;p1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98</a:t>
            </a:fld>
            <a:endParaRPr/>
          </a:p>
        </p:txBody>
      </p:sp>
      <p:sp>
        <p:nvSpPr>
          <p:cNvPr id="855" name="Google Shape;855;p111"/>
          <p:cNvSpPr txBox="1"/>
          <p:nvPr/>
        </p:nvSpPr>
        <p:spPr>
          <a:xfrm>
            <a:off x="5498300" y="1152475"/>
            <a:ext cx="18513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Feature catalog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56" name="Google Shape;856;p111"/>
          <p:cNvCxnSpPr/>
          <p:nvPr/>
        </p:nvCxnSpPr>
        <p:spPr>
          <a:xfrm flipH="1">
            <a:off x="3344450" y="1368600"/>
            <a:ext cx="2010300" cy="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7" name="Google Shape;857;p111"/>
          <p:cNvSpPr txBox="1"/>
          <p:nvPr/>
        </p:nvSpPr>
        <p:spPr>
          <a:xfrm>
            <a:off x="5498300" y="1773225"/>
            <a:ext cx="18513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Nunito"/>
                <a:ea typeface="Nunito"/>
                <a:cs typeface="Nunito"/>
                <a:sym typeface="Nunito"/>
              </a:rPr>
              <a:t>Data warehouse</a:t>
            </a:r>
            <a:endParaRPr sz="1600">
              <a:solidFill>
                <a:srgbClr val="FF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58" name="Google Shape;858;p111"/>
          <p:cNvCxnSpPr/>
          <p:nvPr/>
        </p:nvCxnSpPr>
        <p:spPr>
          <a:xfrm flipH="1">
            <a:off x="3344450" y="1989350"/>
            <a:ext cx="2010300" cy="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12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ML platform components</a:t>
            </a:r>
            <a:endParaRPr/>
          </a:p>
        </p:txBody>
      </p:sp>
      <p:sp>
        <p:nvSpPr>
          <p:cNvPr id="864" name="Google Shape;864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Monitoring (ML &amp; ops metrics)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Experimentation platform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Measurement (business metrics)</a:t>
            </a:r>
            <a:endParaRPr/>
          </a:p>
        </p:txBody>
      </p:sp>
      <p:sp>
        <p:nvSpPr>
          <p:cNvPr id="865" name="Google Shape;865;p1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99</a:t>
            </a:fld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13"/>
          <p:cNvSpPr txBox="1">
            <a:spLocks noGrp="1"/>
          </p:cNvSpPr>
          <p:nvPr>
            <p:ph type="title"/>
          </p:nvPr>
        </p:nvSpPr>
        <p:spPr>
          <a:xfrm>
            <a:off x="311700" y="331300"/>
            <a:ext cx="8520600" cy="48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MLOps tools</a:t>
            </a:r>
            <a:endParaRPr/>
          </a:p>
        </p:txBody>
      </p:sp>
      <p:sp>
        <p:nvSpPr>
          <p:cNvPr id="871" name="Google Shape;871;p1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Does it work with your cloud provider?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Open-source or managed service?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security requirements</a:t>
            </a:r>
            <a:endParaRPr/>
          </a:p>
        </p:txBody>
      </p:sp>
      <p:sp>
        <p:nvSpPr>
          <p:cNvPr id="872" name="Google Shape;872;p1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100</a:t>
            </a:fld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14"/>
          <p:cNvSpPr txBox="1"/>
          <p:nvPr/>
        </p:nvSpPr>
        <p:spPr>
          <a:xfrm>
            <a:off x="1344750" y="1499250"/>
            <a:ext cx="7127700" cy="12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Nunito"/>
                <a:ea typeface="Nunito"/>
                <a:cs typeface="Nunito"/>
                <a:sym typeface="Nunito"/>
              </a:rPr>
              <a:t>Machine Learning Systems Design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Nunito"/>
                <a:ea typeface="Nunito"/>
                <a:cs typeface="Nunito"/>
                <a:sym typeface="Nunito"/>
              </a:rPr>
              <a:t>Next class: Final project workshops</a:t>
            </a:r>
            <a:endParaRPr sz="15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" name="Google Shape;30;p1">
            <a:extLst>
              <a:ext uri="{FF2B5EF4-FFF2-40B4-BE49-F238E27FC236}">
                <a16:creationId xmlns:a16="http://schemas.microsoft.com/office/drawing/2014/main" id="{31ABA6DB-1DDA-816A-380B-68ABDE253B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4750" y="3797683"/>
            <a:ext cx="1942857" cy="63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3139</Words>
  <Application>Microsoft Office PowerPoint</Application>
  <PresentationFormat>Presentación en pantalla (16:9)</PresentationFormat>
  <Paragraphs>576</Paragraphs>
  <Slides>101</Slides>
  <Notes>101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101</vt:i4>
      </vt:variant>
    </vt:vector>
  </HeadingPairs>
  <TitlesOfParts>
    <vt:vector size="108" baseType="lpstr">
      <vt:lpstr>Nunito</vt:lpstr>
      <vt:lpstr>Arial</vt:lpstr>
      <vt:lpstr>Gill Sans MT</vt:lpstr>
      <vt:lpstr>Times New Roman</vt:lpstr>
      <vt:lpstr>Proxima Nova</vt:lpstr>
      <vt:lpstr>Courier New</vt:lpstr>
      <vt:lpstr>Simple Light</vt:lpstr>
      <vt:lpstr>Presentación de PowerPoint</vt:lpstr>
      <vt:lpstr>What does infrastructure mean?</vt:lpstr>
      <vt:lpstr>ML systems are complex</vt:lpstr>
      <vt:lpstr>More complex systems, better infrastructure needed</vt:lpstr>
      <vt:lpstr>Presentación de PowerPoint</vt:lpstr>
      <vt:lpstr>Every company’s infrastructure needs are different</vt:lpstr>
      <vt:lpstr>Every company’s infrastructure needs are different</vt:lpstr>
      <vt:lpstr>Every company’s infrastructure needs are different</vt:lpstr>
      <vt:lpstr>Every company’s infrastructure needs are different</vt:lpstr>
      <vt:lpstr>Presentación de PowerPoint</vt:lpstr>
      <vt:lpstr>Infrastructure Layers</vt:lpstr>
      <vt:lpstr>Infrastructure Layers</vt:lpstr>
      <vt:lpstr>Storage &amp; Compute Layer</vt:lpstr>
      <vt:lpstr>Storage</vt:lpstr>
      <vt:lpstr>Storage: heavily commoditized</vt:lpstr>
      <vt:lpstr>Compute layer: engine to execute your jobs</vt:lpstr>
      <vt:lpstr>Compute layer: engine to execute jobs</vt:lpstr>
      <vt:lpstr>Compute unit</vt:lpstr>
      <vt:lpstr>Compute unit</vt:lpstr>
      <vt:lpstr>Compute layer: how to execute jobs</vt:lpstr>
      <vt:lpstr>Compute layer: how to execute jobs</vt:lpstr>
      <vt:lpstr>Compute layer: how to execute jobs</vt:lpstr>
      <vt:lpstr>Compute layer: memory</vt:lpstr>
      <vt:lpstr>Compute layer: memory</vt:lpstr>
      <vt:lpstr>Compute layer: speed of ops</vt:lpstr>
      <vt:lpstr>Compute layer: speed of ops</vt:lpstr>
      <vt:lpstr>Compute layer: utilization</vt:lpstr>
      <vt:lpstr>Compute layer: utilization</vt:lpstr>
      <vt:lpstr>Compute layer: if not FLOPS, then what? </vt:lpstr>
      <vt:lpstr>Compute layer: if not FLOPS, then what? </vt:lpstr>
      <vt:lpstr>MLPerf is also contentious</vt:lpstr>
      <vt:lpstr>Compute layer: evaluation</vt:lpstr>
      <vt:lpstr>Public Cloud vs. Private Data Centers</vt:lpstr>
      <vt:lpstr>Benefits of cloud</vt:lpstr>
      <vt:lpstr>Benefits of cloud</vt:lpstr>
      <vt:lpstr>Drawbacks of cloud: cost</vt:lpstr>
      <vt:lpstr>Drawbacks of cloud: cost</vt:lpstr>
      <vt:lpstr>Cloud repatriation</vt:lpstr>
      <vt:lpstr>Multicloud strategy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Development Environment</vt:lpstr>
      <vt:lpstr>Dev env: underestimated</vt:lpstr>
      <vt:lpstr>Standardize dev environments</vt:lpstr>
      <vt:lpstr>Standardize dev environments</vt:lpstr>
      <vt:lpstr>Standardize dev environments</vt:lpstr>
      <vt:lpstr>Dev to prod</vt:lpstr>
      <vt:lpstr>Container</vt:lpstr>
      <vt:lpstr>Presentación de PowerPoint</vt:lpstr>
      <vt:lpstr>Multiple containers: dependency management</vt:lpstr>
      <vt:lpstr>Multiple containers: cost saving</vt:lpstr>
      <vt:lpstr>Container orchestration</vt:lpstr>
      <vt:lpstr>Breakout exercise</vt:lpstr>
      <vt:lpstr>Group of 4, 10 mins</vt:lpstr>
      <vt:lpstr>Resource Management</vt:lpstr>
      <vt:lpstr>Resource management</vt:lpstr>
      <vt:lpstr>Resource management</vt:lpstr>
      <vt:lpstr>Resource management</vt:lpstr>
      <vt:lpstr>ML workloads</vt:lpstr>
      <vt:lpstr>ML workloads</vt:lpstr>
      <vt:lpstr>Cron: extremely simple</vt:lpstr>
      <vt:lpstr>Cron: extremely simple</vt:lpstr>
      <vt:lpstr>Scheduler</vt:lpstr>
      <vt:lpstr>Scheduler</vt:lpstr>
      <vt:lpstr>Scheduler</vt:lpstr>
      <vt:lpstr>Scheduler: SLURM example</vt:lpstr>
      <vt:lpstr>Scheduler: optimize utilization</vt:lpstr>
      <vt:lpstr>Scheduler challenge</vt:lpstr>
      <vt:lpstr>Scheduler to Orchestrator</vt:lpstr>
      <vt:lpstr>Scheduler to Orchestrator</vt:lpstr>
      <vt:lpstr>Scheduler to Orchestrator</vt:lpstr>
      <vt:lpstr>Scheduler &amp; orchestrator</vt:lpstr>
      <vt:lpstr>Data science workflow management</vt:lpstr>
      <vt:lpstr>Data science workflow</vt:lpstr>
      <vt:lpstr>Airflow</vt:lpstr>
      <vt:lpstr>Airflow: cons</vt:lpstr>
      <vt:lpstr>Argo: next gen</vt:lpstr>
      <vt:lpstr>Argo: cons</vt:lpstr>
      <vt:lpstr>Kubeflow &amp; Metaflow: same code in dev &amp; prod</vt:lpstr>
      <vt:lpstr>Kubeflow: more mature but more boilerplate</vt:lpstr>
      <vt:lpstr>Metaflow: less mature but cleaner API</vt:lpstr>
      <vt:lpstr>ML Platform</vt:lpstr>
      <vt:lpstr>Model platform: story time</vt:lpstr>
      <vt:lpstr>ML platform: key components</vt:lpstr>
      <vt:lpstr>Deployment: online | batch prediction </vt:lpstr>
      <vt:lpstr>Deployment: online | batch prediction </vt:lpstr>
      <vt:lpstr>Deployment: online | batch prediction </vt:lpstr>
      <vt:lpstr>Deployment service: model quality challenge</vt:lpstr>
      <vt:lpstr>Model store</vt:lpstr>
      <vt:lpstr>Model store: artifact tracking</vt:lpstr>
      <vt:lpstr>Model store: artifact tracking at Stitch Fix</vt:lpstr>
      <vt:lpstr>Feature store: key challenges</vt:lpstr>
      <vt:lpstr>Feature store: key challenges</vt:lpstr>
      <vt:lpstr>Feature store: key challenges</vt:lpstr>
      <vt:lpstr>Feature store: key challenges</vt:lpstr>
      <vt:lpstr>Other ML platform components</vt:lpstr>
      <vt:lpstr>Evaluate MLOps tools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José Ramon Iglesias Gamarra</cp:lastModifiedBy>
  <cp:revision>1</cp:revision>
  <dcterms:modified xsi:type="dcterms:W3CDTF">2024-01-18T18:08:34Z</dcterms:modified>
</cp:coreProperties>
</file>